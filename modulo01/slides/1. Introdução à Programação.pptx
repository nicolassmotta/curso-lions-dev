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9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 — Introdução à Programação e Ambiente de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1 (Introdução à Programação e Ambiente de Desenvolvimento). Os módulos com o sinal de visto já passaram; o laranja é o de hoje.
Adiante o próximo passo: o Módulo 2 (Fundamentos de Programação e Debugging com Node.js)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Conhecer a turma, a metodologia e como o curso funciona.
• Entender o que é programação e o que compõe um ambiente de desenvolvimento.
• Instalar e conhecer o VS Code, o Node.js e o npm.
• Usar o terminal do Linux para navegar e manipular pastas e arquivos.
• Personalizar o VS Code com tema, atalhos e extensões.
• Criar um projeto Node.js e instalar pacotes com o npm.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"Apresentações". Antes de avançar, faça uma pergunta rápida que ligue o assunto novo ao que a turma já sabe.
Frase de apoio: Sejam bem-vindos à LionsDev!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da minha primeira experiência com programação (Life Improver, aplicativo para fazer o bem).
Falar sobre meus hobbies: ler, correr, música e arte.
Assim como cálculo pode ser tão difícil quanto o professor queira, programação pode ser tão útil e incrível quanto o professor queira.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dos alunos: pedir, um a um, que respondam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"Do Zero ao Herói do Código". Antes de avançar, faça uma pergunta rápida que ligue o assunto novo ao que a turma já sabe.
Frase de apoio: A trilha JavaScript da LionsDev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metodologia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ementa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como as avaliações funcionarão.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Atualizar o código da turma a cada nova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"Introdução à Programação".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Comentar a existência de diversas linguagens de programação.
Falar como é importante entender bem os fundamentos: eles são aplicados em todas as linguagens.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você sabe programar, você pode criar coisas. Se tem algo que facilitaria o seu dia a dia, você pode fazer. Se tem uma ideia de negócio, pode começar com um protótipo.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conceito de algoritmo com exemplos do dia a dia: receita de bolo, ligar o projetor. Esse passo a passo lógico serve para resolver qualquer problema, não só em programação.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"Ambiente de Desenvolvimento".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ambiente onde os desenvolvedores escrevem e testam o código de suas aplicações.
Pontos para falar:
• Na cozinha: Você tem os utensílios, ingredientes e equipamentos necessários para preparar uma refeição.
• No desenvolvimento: Você tem as ferramentas essenciais para escrever, executar e testar código de maneira eficiente.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Editor de código: Onde você escreve o código, com realce de sintaxe, indentação e autocompletar.
• Compilador ou interpretador: Transforma o seu código em instruções que o computador entende e executa.
• Depurador: Ajuda a encontrar e corrigir erros no código, passo a passo.
• Ambiente de execução: Onde o código roda e é testado, simulando o uso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"Vocês devem ter notado que o sistema do computador é um pouco diferente do que estão acostumados… Alguém aqui já ouviu falar de Linux ou Ubuntu?"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Comentar a existência das IDEs da JetBrains (como o IntelliJ), Atom, Vim, Sublime, Notepad++, Emacs e Eclipse, e dar ênfase no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conhecido pela leveza e rapidez. Tem um ecossistema extenso de extensões, que permite personalizar a experiência. Oferece suporte excelente a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1. Pesquisar: Acesse o site oficial do VS Code.
• 2. Baixar: Baixe o arquivo .deb, o formato do Ubuntu.
• 3. Instalar: Instale pelo terminal, com o apt.
• 4. Abrir: Digite code no terminal.
Mensagem principal: Site: code.visualstudio.com · Instalação, na pasta do download: sudo apt install ./code_*.deb · code . abre o VS Code na pasta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Instalação passo a passo
• 1. Pesquisar o site para download
• 2. Baixar o arquivo .deb para Ubuntu
• 3. Instalar com sudo apt install
• 4. Abrir com o comando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interface do VS Code: navegação de pastas, navegação de arquivos, arquivo aberto, janelas 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pergunta e espere algumas respostas antes de avançar. Deixe a turma chegar lá antes de você responder.
"Escrevemos o código no VS Code. Mas quem vai interpretar e executar esse código?"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é associado ao navegador, onde surgiu, mas o Node.js o levou para o servidor, permitindo aplicações completas. Ótima opção para aplicações web que precisam escalar rapidamente.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é uma linguagem de alto nível, criada para dar interatividade às páginas web. Node.js é um ambiente de execução de JavaScript no servidor, construído sobre o motor V8 do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gerenciamento de dependências: declarar quais pacotes são necessários para rodar o projeto e instalá-los com um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"Como o desenvolvimento web funciona?".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Front-end: Interação direta com o usuário. Botões, formulários, layouts. HTML, CSS e JavaScript. Executado no navegador.
• Back-end: Os "bastidores" da aplicação. Regras de negócio e processamento de dados. JavaScript (Node.js), Python, Java, Ruby… Executado no servidor.
Mensagem principal: Os dois trabalham juntos para criar uma experiência funcional e agradável para 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com um carro: o front-end é aquilo que o usuário vê e interage (painel, luzes, botões). O back-end é o que faz o carro funcionar (motor, transmissão).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Mesmos comandos do script ferramentas/setup_dev.sh do repositório do curso. A versão anterior deste slide usava "sudo apt install nodejs" e "sudo apt install npm", que no Ubuntu instalam versões desatualizadas.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Ao digitar a senha do sudo, nada aparece na tela. O teclado não travou!
• sudo executa o comando como administrador, por isso pede a sua senha.
• Digite a senha normalmente e aperte Enter, mesmo sem ver nada.
• Em algumas versões do Ubuntu aparecem asteriscos; em outras, nem isso.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são ilustrativos. Se aparecer algo abaixo da v22, reinstalar a LTS pelo NodeSource antes do Módulo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Ajudar os alunos na instalação.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 para a turma antes de mostrar as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"Introdução ao Terminal".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terminal é uma forma de interagir com o sistema e permite automatizar tarefas.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Automatização de tarefas: Scripts que fazem sozinhos tarefas repetitivas.
• Gestão de projetos: Criar, navegar e manipular pastas e arquivos.
• Controle de versão: O Git, que veremos no Módulo 4, é usado pelo terminal.
• Instalação de dependências: Instalar e gerenciar os pacotes do projeto com o npm.
• Servidores locais e remotos: Iniciar servidores, rodar testes, ver logs e acessar servidores remotos.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O terminal está sempre dentro de uma pasta, assim como a janela de arquivos.
• O que você vê na janela, o terminal mostra em texto: aqui, ls lista o mesmo conteúdo da pasta Documents.
• Antes de rodar um comando, confira onde você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comando segue esse formato: o nome do comando e, depois, os argumentos separados por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No Linux, Arquivo.txt, arquivo.txt e Arquivo são três arquivos diferentes.
• O Linux diferencia maiúsculas de minúsculas: é case-sensitive.
• A extensão (.txt, .js) faz parte do nome do arquivo.
• Dica: digite o começo do nome e aperte Tab: o terminal completa sozinho e evita erros de digitação.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Ctrl + Shift + C: Copiar o texto selecionado.
• Ctrl + Shift + V: Colar no terminal.
• Ctrl + C: Interrompe o comando que está rodando. Não é copiar!
• Tab: Completa nomes de pastas e arquivos.
• Seta para cima: Traz de volta os comandos anteriores.
• clear: Limpa a tela (ou Ctrl + 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mkdir Minha Pasta cria duas pastas: "Minha" e "Pasta".
• Quando o nome tiver espaço, use aspas: cd "Área de Trabalho".
• Os nomes mudam com o idioma do sistema: Documentos ou Documents, Área de Trabalho ou Desktop.
• Nos seus projetos, prefira nomes sem espaço e sem acento: minha-pasta.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cd: Muda de pasta.
• mkdir: Cria uma pasta.
• ls: Lista o conteúdo da pasta.
• pwd: Mostra onde você está.
• touch: Cria um arquivo vazio.
• cp: Copia um arquivo.
• echo: Escreve uma mensagem.
• rm: Remove um arquivo (pasta com -r).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"Absoluto: começa na raiz ( / )" x "Relativo: a partir de onde você está". Pergunte qual diferença chama mais atenção antes de explicar.
Mensagem principal: O caminho absoluto funciona de qualquer lugar. O relativo depende da pasta atual. O ~ é um atalho para a sua pasta pessoal (/home/aluno).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Mensagem principal: Os dois pontos .. significam "a pasta de cima".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cd: navegando entre pastas
• cd /caminho
• Caminho absoluto: informamos o caminho completo até a pasta.
• cd pasta
• Caminho relativo: para entrar numa pasta que está dentro da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mkdir e ls
• mkdir nome
• Cria uma pasta dentro da pasta atual.
• ls
• Lista o conteúdo da pasta aberta.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pwd e touch
• pwd
• Mostra o caminho completo da pasta aberta.
• touch arquivo
• Cria um arquivo vazio, com qualquer extensão (ou atualiza a data de um que já existe).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rm: removendo
• rm arquivo
• Remove um arquivo. Cuidado: não vai para a lixeira. Apagou, sumiu.
• rm -r pasta
• Remove a pasta e tudo que está dentro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echo: escrevendo mensagens
• echo "Olá"
• Imprime uma mensagem no terminal.
• echo "Oi" &gt; a.txt
• Com &gt;, escreve a mensagem dentro do arquivo, substituindo o conteúdo. Com &gt;&gt;, adiciona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Mensagem principal: O cp sozinho não copia pastas: para isso, use cp -r. E o cat é ótimo para conferir se o echo funcionou.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(Terminal): leia o enunciado em voz alta, combine o tempo (15 a 25 minutos, conforme a turma) e circule pela sala.
• Crie duas pastas: original e copia (mkdir).
• Entre na pasta original (cd).
• Crie o arquivo index.txt (touch).
• Coloque algum conteúdo no index.txt (echo).
• Copie o arquivo para a pasta copia (cp).
• Apague o arquivo da pasta original (rm).
Dica: relembrando: cd Pasta, mkdir Nome, touch arquivo.txt, echo "Mensagem" &gt; arquivo.txt, cp arquivo.txt ../copia, rm arquivo.txt.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Enunciado completo no repositório: modulo01/lista_de_exercicios/terminal_linux.md.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Anote, em ordem, todos os comandos que você usou.
• Salve essa lista num arquivo comandos-usados.txt.
• Confira se as pastas e arquivos ficaram organizados como no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"Tema e Atalhos no VS Code".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Personalização visual: O editor com a sua cara.
• Foco e produtividade: Menos cansaço, mais concentração.
• Preferências individuais: Claro, escuro, alto contraste…
• Identificação de código: Cada parte do código com uma cor.
• Acessibilidade: Temas para daltonismo e baixa visão.
• Estilo e motivação: Um ambiente agradável dá vontade de programar.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Fadiga ocular: Cores fortes cansam a vista em poucas horas.
• Legibilidade: Pouco contraste dificulta ler o código.
• Sintaxe confusa: Fica difícil distinguir cada parte do código.
• Distração: Cores demais tiram o foco do que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os exemplos e perguntar qual a turma escolheria para programar o dia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Correção: a versão anterior indicava o menu do macOS (Code &gt; Configurações). No Ubuntu o caminho é Arquivo &gt; Preferências.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Ctrl + S: Salvar o arquivo. Use sempre!
• Ctrl + W: Fechar a aba aberta.
• Ctrl + B: Esconder ou mostrar o painel lateral.
• Ctrl + `: Esconder ou mostrar o terminal.
• Ctrl + Shift + `: Abrir um novo terminal.
• Ctrl + /: Comentar ou descomentar a linha.
Mensagem principal: A crase ( ` ) fica na tecla ao lado do 1, no teclado brasileiro.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dos motivos mais comuns de "mas eu já arrumei o código!".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"Extensões Úteis". Antes de avançar, faça uma pergunta rápida que ligue o assunto novo ao que a turma já sabe.
Frase de apoio: Para desenvolvimento web e mobile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Complementos que adicionam recursos ao VS Code.
• Ficam na aba Extensões, na barra lateral (Ctrl + Shift + X).
• Instale só o que for usar: extensão demais deixa o editor lento.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Organiza as tarefas pendentes marcadas com TODO: no código.
• Mostra todas elas numa lista, em uma aba própria.
• Exemplo: // TODO: validar a entrada do usuário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Formata o código automaticamente, mantendo um estilo consistente.
• Indentação, aspas e espaços sempre do mesmo jeito, em todo o projeto.
• Dica: ative Format On Save nas configurações para formatar ao salvar.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ESLint precisa de um arquivo de configuração no projeto para funcionar por completo; nesta etapa, basta instalar.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Ajudar os alunos a escolher o tema no marketplace de extensões.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"Comandos Básicos do npm".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Documentos: todos os trabalhos e atividades ficam dentro desta pasta.
• ModuloN: uma pasta para cada módulo do curso.
• por quê?: fica fácil achar as atividades e ninguém mistura arquivos no computador compartilhado.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Crie uma pasta para o projeto.
• Abra essa pasta no terminal.
• Execute npm init -y: ele cria o arquivo de configuração do projeto, o package.json.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Um package.json criado na pasta pessoal vale para todos os projetos dentro dela.
• O npm install pode acabar instalando os pacotes lá na pasta pessoal, e não no seu projeto.
• No Módulo 2, o aviso do import vai apontar justamente para esse arquivo perdido.
• Rode pwd antes. Criou no lugar errado? Apague com rm package.json.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identidade do projeto. É um arquivo JSON: pares de "chave": valor, parecidos com os objetos que veremos no Módulo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Para instalar um pacote, usamos npm install nome-do-pacote.
• Aqui instalamos o hello-world-npm, um pacote de exemplo.
• O npm baixa o pacote e anota no package.json.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Numa pasta chamada prompt-sync, o npm install prompt-sync falha.
• O npm init -y usa o nome da pasta como nome do projeto, e o npm se recusa a instalar um pacote com o mesmo nome do projeto.
• Dê à pasta um nome que descreva o seu projeto: calculadora, atividade-1.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package.json e o package-lock.json vão para o GitHub; a node_modules não, porque é recriada com npm install. Vamos ver isso no conteúdo de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apresentar o campo. No Módulo 2 aparece o warning do Node quando usamos import sem "type": "module".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desinstalar, entenda o impacto: o código que usa o pacote quebra.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Executa um pacote sem precisar instalá-lo no projeto.
• O npm baixa o pacote, roda e descarta.
• Muito usado para ferramentas que você só roda de vez em quando.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node: sem nome de arquivo, abre o REPL: você digita uma linha e vê o resultado na hora.
• para quê: testar uma conta, um método ou uma ideia sem criar arquivo.
• sair: .exit ou Ctrl + C duas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Leia o erro: A mensagem diz o arquivo, a linha e o motivo. Comece por ela.
• Pesquise a mensagem exata: Copie o erro e pesquise: alguém já passou por isso.
• Documentação: developer.mozilla.org para JavaScript e nodejs.org/docs para o Node.
• IA como tutor: Peça para explicar, não para fazer: você precisa entender o código que entrega.
Mensagem principal: No terminal, quase todo comando tem ajuda: ls --help, npm help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Apresentações: A turma, a metodologia e a ementa.
• Programação e ambiente: Algoritmos, editor, interpretador e depurador.
• VS Code, Node.js e npm: Instalação e primeiros passos.
• Terminal: cd, mkdir, ls, pwd, touch, cp, echo e rm.
• Tema, atalhos e extensões: O VS Code do seu jeito.
• npm na prática: init, install, uninstall, npx e package.json.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"Para finalizar o Módulo 1…"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(Módulo 1): leia o enunciado em voz alta, combine o tempo (15 a 25 minutos, conforme a turma) e circule pela sala.
• Abra o terminal e navegue até a pasta Documentos.
• Crie a pasta avaliacao e abra o VS Code dentro dela com code ..
• Abra o terminal do VS Code e inicie um projeto com npm init -y.
• Crie o arquivo seu-nome.js com o touch.
• Com o echo, coloque dentro do arquivo a linha console.log('eu consegui').
• Execute o arquivo pelo terminal: node seu-nome.js.
• Tire um print mostrando o terminal do VS Code, o arquivo e a estrutura de pastas.
Dica: use aspas duplas por fora e simples por dentro: echo "console.log('eu consegui')" &gt; seu-nome.js.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modulo01 no celular agora, antes de ir embora.
Lembre o que tem lá: conteudo, lista_de_exercicios, exercicios_resolvidos. O cheat sheet do módulo fica em conteudo/ e resume a aula em duas páginas.
Link: https://github.com/nicolassmotta/curso-lions-dev/tree/main/modulo01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Dúvidas? Nos vemos no Módulo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5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6-4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4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5.png"/><Relationship Id="rId3" Type="http://schemas.openxmlformats.org/officeDocument/2006/relationships/image" Target="../media/image-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3.png"/><Relationship Id="rId3" Type="http://schemas.openxmlformats.org/officeDocument/2006/relationships/image" Target="../media/image-8-2.png"/><Relationship Id="rId4" Type="http://schemas.openxmlformats.org/officeDocument/2006/relationships/image" Target="../media/image-14-2.png"/><Relationship Id="rId5" Type="http://schemas.openxmlformats.org/officeDocument/2006/relationships/image" Target="../media/image-6-5.png"/><Relationship Id="rId6" Type="http://schemas.openxmlformats.org/officeDocument/2006/relationships/image" Target="../media/image-20-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4.png"/><Relationship Id="rId3" Type="http://schemas.openxmlformats.org/officeDocument/2006/relationships/image" Target="../media/image-22-3.png"/><Relationship Id="rId4" Type="http://schemas.openxmlformats.org/officeDocument/2006/relationships/image" Target="../media/image-13-2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26-3.png"/><Relationship Id="rId4" Type="http://schemas.openxmlformats.org/officeDocument/2006/relationships/image" Target="../media/image-22-3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image" Target="../media/image-26-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2-3.png"/><Relationship Id="rId3" Type="http://schemas.openxmlformats.org/officeDocument/2006/relationships/image" Target="../media/image-28-3.png"/><Relationship Id="rId4" Type="http://schemas.openxmlformats.org/officeDocument/2006/relationships/image" Target="../media/image-14-2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5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7-2.png"/><Relationship Id="rId3" Type="http://schemas.openxmlformats.org/officeDocument/2006/relationships/image" Target="../media/image-37-2.png"/><Relationship Id="rId4" Type="http://schemas.openxmlformats.org/officeDocument/2006/relationships/image" Target="../media/image-37-2.png"/><Relationship Id="rId5" Type="http://schemas.openxmlformats.org/officeDocument/2006/relationships/image" Target="../media/image-3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28-3.png"/><Relationship Id="rId5" Type="http://schemas.openxmlformats.org/officeDocument/2006/relationships/image" Target="../media/image-22-3.png"/><Relationship Id="rId6" Type="http://schemas.openxmlformats.org/officeDocument/2006/relationships/image" Target="../media/image-1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0-2.png"/><Relationship Id="rId3" Type="http://schemas.openxmlformats.org/officeDocument/2006/relationships/image" Target="../media/image-17-3.png"/><Relationship Id="rId4" Type="http://schemas.openxmlformats.org/officeDocument/2006/relationships/image" Target="../media/image-60-4.png"/><Relationship Id="rId5" Type="http://schemas.openxmlformats.org/officeDocument/2006/relationships/image" Target="../media/image-8-5.png"/><Relationship Id="rId6" Type="http://schemas.openxmlformats.org/officeDocument/2006/relationships/image" Target="../media/image-14-2.png"/><Relationship Id="rId7" Type="http://schemas.openxmlformats.org/officeDocument/2006/relationships/image" Target="../media/image-6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3-2.png"/><Relationship Id="rId3" Type="http://schemas.openxmlformats.org/officeDocument/2006/relationships/image" Target="../media/image-33-2.png"/><Relationship Id="rId4" Type="http://schemas.openxmlformats.org/officeDocument/2006/relationships/image" Target="../media/image-33-2.png"/><Relationship Id="rId5" Type="http://schemas.openxmlformats.org/officeDocument/2006/relationships/image" Target="../media/image-3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4.png"/><Relationship Id="rId3" Type="http://schemas.openxmlformats.org/officeDocument/2006/relationships/image" Target="../media/image-14-2.png"/><Relationship Id="rId4" Type="http://schemas.openxmlformats.org/officeDocument/2006/relationships/image" Target="../media/image-13-3.png"/><Relationship Id="rId5" Type="http://schemas.openxmlformats.org/officeDocument/2006/relationships/image" Target="../media/image-4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6-2.png"/><Relationship Id="rId3" Type="http://schemas.openxmlformats.org/officeDocument/2006/relationships/image" Target="../media/image-13-2.png"/><Relationship Id="rId4" Type="http://schemas.openxmlformats.org/officeDocument/2006/relationships/image" Target="../media/image-22-3.png"/><Relationship Id="rId5" Type="http://schemas.openxmlformats.org/officeDocument/2006/relationships/image" Target="../media/image-15-5.png"/><Relationship Id="rId6" Type="http://schemas.openxmlformats.org/officeDocument/2006/relationships/image" Target="../media/image-60-7.png"/><Relationship Id="rId7" Type="http://schemas.openxmlformats.org/officeDocument/2006/relationships/image" Target="../media/image-9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-5.png"/><Relationship Id="rId5" Type="http://schemas.openxmlformats.org/officeDocument/2006/relationships/image" Target="../media/image-8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Programação 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Ambiente de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Desenvolvimento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6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0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43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5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46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8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49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1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Introdução à Programação e Ambiente de Desenvolvimento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Conhecer a turma, a metodologia e como o curso funciona.</a:t>
            </a:r>
            <a:endParaRPr lang="en-US" sz="14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o que é programação e o que compõe um ambiente de desenvolvimento.</a:t>
            </a:r>
            <a:endParaRPr lang="en-US" sz="14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Instalar e conhecer o VS Code, o Node.js e o npm.</a:t>
            </a:r>
            <a:endParaRPr lang="en-US" sz="14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Usar o terminal do Linux para navegar e manipular pastas e arquivos.</a:t>
            </a:r>
            <a:endParaRPr lang="en-US" sz="14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Personalizar o VS Code com tema, atalhos e extensões.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um projeto Node.js e instalar pacotes com o npm.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Apresentações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Sejam bem-vindos à LionsDev!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Prazer, eu sou o Nicolas!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72362"/>
            <a:ext cx="7680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Vou ser o professor de vocês neste curso.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9082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78079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Formação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Graduando em Ciência da Computação na UTFPR.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21458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2503170"/>
            <a:ext cx="69951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Focado em construir projetos dentro da universidade e pessoais. Estamos construindo a primeira empresa júnior de Ciência da Computação e ADS de Ponta Grossa.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78174"/>
            <a:ext cx="502920" cy="502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63040" y="3659886"/>
            <a:ext cx="69951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 me encontrar</a:t>
            </a:r>
            <a:endParaRPr lang="en-US" sz="16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LinkedIn: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linkedin.com/in/nicolassmotta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você?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76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55448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é seu nome?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9514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27685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Quais são seus hobbies? O que você gosta de fazer?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te motivou a se inscrever no curso?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3989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72160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já teve alguma experiência com programação?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Zero ao Herói do Código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trilha JavaScript da LionsDev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Metodologia: Problem Based Learning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106424"/>
            <a:ext cx="2590800" cy="1682496"/>
          </a:xfrm>
          <a:prstGeom prst="roundRect">
            <a:avLst>
              <a:gd name="adj" fmla="val 54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930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89304"/>
            <a:ext cx="1712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Problemas reais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37944"/>
            <a:ext cx="222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Desafios que refletem o mundo real da programação web e mobile.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76600" y="1106424"/>
            <a:ext cx="2590800" cy="1682496"/>
          </a:xfrm>
          <a:prstGeom prst="roundRect">
            <a:avLst>
              <a:gd name="adj" fmla="val 54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28930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28930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Resolução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764792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Resolver os problemas aplicando os conceitos aprendidos.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141720" y="1106424"/>
            <a:ext cx="2590800" cy="1682496"/>
          </a:xfrm>
          <a:prstGeom prst="roundRect">
            <a:avLst>
              <a:gd name="adj" fmla="val 54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89304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28930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Facilitação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764792"/>
            <a:ext cx="222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Espaço para explorar soluções criativas.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11480" y="2990088"/>
            <a:ext cx="2590800" cy="1682496"/>
          </a:xfrm>
          <a:prstGeom prst="roundRect">
            <a:avLst>
              <a:gd name="adj" fmla="val 54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6424" y="3172968"/>
            <a:ext cx="1712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Prática e reflexão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721608"/>
            <a:ext cx="222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Atividades que levam a teoria para a prática.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276600" y="2990088"/>
            <a:ext cx="2590800" cy="1682496"/>
          </a:xfrm>
          <a:prstGeom prst="roundRect">
            <a:avLst>
              <a:gd name="adj" fmla="val 54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1729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7154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Avaliação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3459480" y="3648456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Investigar problemas, trabalhar em equipe e apresentar soluções.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141720" y="2990088"/>
            <a:ext cx="2590800" cy="1682496"/>
          </a:xfrm>
          <a:prstGeom prst="roundRect">
            <a:avLst>
              <a:gd name="adj" fmla="val 54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172968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36664" y="3172968"/>
            <a:ext cx="1712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 contínuo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6324600" y="3721608"/>
            <a:ext cx="222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Autoavaliação e avaliação por pares.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Ementa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61796"/>
            <a:ext cx="2590800" cy="3062224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46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446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Unidade I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20164"/>
            <a:ext cx="2225040" cy="222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da programação em JavaScript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 de desenvolvimento, fundamentos e debugging com Node.js, atividades práticas, Git e GitHub.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76600" y="1161796"/>
            <a:ext cx="2590800" cy="3062224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34467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3446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Unidade II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820164"/>
            <a:ext cx="2225040" cy="158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Programação intermediária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de cadastro e busca, API, MongoDB, deploy no Render e FlutterFlow.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41720" y="1161796"/>
            <a:ext cx="2590800" cy="3062224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3446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3446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Unidade III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820164"/>
            <a:ext cx="2225040" cy="1367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de conclusão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Solução de problemas reais e desenvolvimento de soft skills.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4416552"/>
            <a:ext cx="7863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Aulas intercaladas a cada 15 dias durante todo o curso.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76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55448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Avaliações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Haverá avaliações nas Unidades I, II e III.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9514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27685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Média 7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média para aprovação é 7 pontos de 10.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Presença mínima de 75%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frequência é cobrada em todas as unidades.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3989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72160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 skills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Participação e presença também são avaliadas.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fica o material do curso?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3886200" cy="3474720"/>
          </a:xfrm>
          <a:prstGeom prst="roundRect">
            <a:avLst>
              <a:gd name="adj" fmla="val 263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6" name="Image 0" descr="Google Sala de A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325880"/>
            <a:ext cx="1143000" cy="1143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606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Google Sala de Aula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Código da turma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6118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jc4jza25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709160" y="1143000"/>
            <a:ext cx="3886200" cy="3474720"/>
          </a:xfrm>
          <a:prstGeom prst="roundRect">
            <a:avLst>
              <a:gd name="adj" fmla="val 263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25880"/>
            <a:ext cx="1143000" cy="11430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92040" y="2606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 de apoio no GitHub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Conteúdo, listas e exercícios resolvidos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36118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programação?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Instruções para o computador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forma simplificada, é o processo de criar instruções para que um computador execute tarefas específicas.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Linguagens de programação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Essas instruções são escritas em linguagens de programação, que variam em complexidade e finalidade.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fundamentos valem para todas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conceitos básicos que vamos aprender são os pilares de qualquer linguagem e de qualquer aplicação.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importância da programação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77162"/>
            <a:ext cx="2590800" cy="2424684"/>
          </a:xfrm>
          <a:prstGeom prst="roundRect">
            <a:avLst>
              <a:gd name="adj" fmla="val 377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6004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86004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Está em tudo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35530"/>
            <a:ext cx="2225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Presente em praticamente todas as áreas da nossa vida: do celular aos servidores, até o micro-ondas.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677162"/>
            <a:ext cx="2590800" cy="2424684"/>
          </a:xfrm>
          <a:prstGeom prst="roundRect">
            <a:avLst>
              <a:gd name="adj" fmla="val 377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86004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86004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Muda vidas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335530"/>
            <a:ext cx="2225040" cy="158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Traz liberdade criativa para tornar qualquer ideia realidade: um app, um protótipo, um negócio.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677162"/>
            <a:ext cx="2590800" cy="2424684"/>
          </a:xfrm>
          <a:prstGeom prst="roundRect">
            <a:avLst>
              <a:gd name="adj" fmla="val 377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86004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860042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 de pensar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484882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Vai muito além do código: é uma forma de pensar e resolver problemas.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Algoritmo: um passo a passo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algoritmo é uma sequência de instruções para resolver um problema. Por exemplo, ligar o projetor: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828800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Conectar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Ligar o cabo do projetor no computador.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00710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82880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60604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Energia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267004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Conectar o projetor na tomada.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01878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828800"/>
            <a:ext cx="685800" cy="685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1772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Ligar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468172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Apertar o botão de ligar.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03046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82880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62940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Entrada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669340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Escolher a entrada certa (HDMI).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a ordem mudar ou um passo faltar, não funciona. Com o computador é igual.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Ambiente de Desenvolvimento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 ambiente de desenvolvimento?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96212"/>
            <a:ext cx="786384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ambiente onde os desenvolvedores escrevem e testam o código de suas aplicações.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2321052"/>
            <a:ext cx="402336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3932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25039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cozinha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979420"/>
            <a:ext cx="365760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tem os utensílios, ingredientes e equipamentos necessários para preparar uma refeição.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709160" y="2321052"/>
            <a:ext cx="402336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50393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4104" y="25039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desenvolvimento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2979420"/>
            <a:ext cx="365760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tem as ferramentas essenciais para escrever, executar e testar código de maneira eficiente.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compõe um bom ambiente?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98804"/>
            <a:ext cx="4023360" cy="1690116"/>
          </a:xfrm>
          <a:prstGeom prst="roundRect">
            <a:avLst>
              <a:gd name="adj" fmla="val 541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168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8168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 de código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57172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 você escreve o código, com realce de sintaxe, indentação e autocompletar.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098804"/>
            <a:ext cx="4023360" cy="1690116"/>
          </a:xfrm>
          <a:prstGeom prst="roundRect">
            <a:avLst>
              <a:gd name="adj" fmla="val 541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8168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281684"/>
            <a:ext cx="31455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Compilador ou interpretador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 o seu código em instruções que o computador entende e executa.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690116"/>
          </a:xfrm>
          <a:prstGeom prst="roundRect">
            <a:avLst>
              <a:gd name="adj" fmla="val 541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Depurador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Ajuda a encontrar e corrigir erros no código, passo a passo.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690116"/>
          </a:xfrm>
          <a:prstGeom prst="roundRect">
            <a:avLst>
              <a:gd name="adj" fmla="val 541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 de execução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 o código roda e é testado, simulando o uso real.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sistema operacional vamos usar?</a:t>
            </a:r>
            <a:endParaRPr lang="en-US" sz="2600" dirty="0"/>
          </a:p>
        </p:txBody>
      </p:sp>
      <p:pic>
        <p:nvPicPr>
          <p:cNvPr id="5" name="Image 0" descr="Qual sistema operacional vamos usar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318"/>
            <a:ext cx="4937760" cy="3086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01318"/>
            <a:ext cx="4937760" cy="30861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775968"/>
            <a:ext cx="3200400" cy="242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 computadores do curso usamos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Linux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na distribuição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Ubuntu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gratuito, de código aberto e muito usado em servidores.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Grande parte do backend roda em servidores Linux: aprender a usá-lo desde já é uma vantagem.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Editores e IDEs mais usados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430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IntelliJ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280160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IntelliJ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697480" y="11430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9" name="Image 1" descr="Sublime 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28016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4320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Sublime Text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709160" y="11430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2" descr="Vi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280160"/>
            <a:ext cx="914400" cy="914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7548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Vim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720840" y="11430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3" descr="Ato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280160"/>
            <a:ext cx="914400" cy="914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76656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Atom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85800" y="29718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4" descr="Emac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3108960"/>
            <a:ext cx="914400" cy="914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31520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Emacs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2697480" y="29718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1" name="Image 5" descr="Eclip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248" y="3108960"/>
            <a:ext cx="914400" cy="9144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2743200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Eclipse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4709160" y="29718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4" name="Image 6" descr="Notepad++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8928" y="3108960"/>
            <a:ext cx="914400" cy="9144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754880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Notepad++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6720840" y="29718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1A1A1A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27" name="Image 7" descr="VS Cod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608" y="3108960"/>
            <a:ext cx="914400" cy="9144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766560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 Code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o Visual Studio Code?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128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43000"/>
            <a:ext cx="4754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Leve e rápido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Abre rápido e consome poucos recursos do computador.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071116"/>
            <a:ext cx="4754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Ecossistema de extensões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Milhares de extensões para personalizar o editor do seu jeito.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4754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Código aberto e comunidade ativa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Gratuito, atualizado todo mês e com muito conteúdo na internet.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56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927348"/>
            <a:ext cx="4754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Suporte a JavaScript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Autocompletar, realce de sintaxe e depurador integrados.</a:t>
            </a:r>
            <a:endParaRPr lang="en-US" sz="1650" dirty="0"/>
          </a:p>
        </p:txBody>
      </p:sp>
      <p:pic>
        <p:nvPicPr>
          <p:cNvPr id="13" name="Image 4" descr="Logo do VS Co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920240"/>
            <a:ext cx="1737360" cy="1737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instalar o VS Code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Pesquisar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Acesse o site oficial do VS Code.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Baixar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Baixe o arquivo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.deb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formato do Ubuntu.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Instalar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pelo terminal, com o apt.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Abrir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Digite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terminal.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code.visualstudio.com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Instalação, na pasta do download: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./code_*.deb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abre o VS Code na pasta atual.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Instalação passo a passo</a:t>
            </a:r>
            <a:endParaRPr lang="en-US" sz="3000" dirty="0"/>
          </a:p>
        </p:txBody>
      </p:sp>
      <p:pic>
        <p:nvPicPr>
          <p:cNvPr id="4" name="Image 0" descr="1. Pesquisar o site para down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588" y="1024128"/>
            <a:ext cx="2340864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75588" y="1024128"/>
            <a:ext cx="2340864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523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Pesquisar o site para download</a:t>
            </a:r>
            <a:endParaRPr lang="en-US" sz="1250" dirty="0"/>
          </a:p>
        </p:txBody>
      </p:sp>
      <p:pic>
        <p:nvPicPr>
          <p:cNvPr id="7" name="Image 1" descr="2. Baixar o arquivo .deb para Ubunt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548" y="1024128"/>
            <a:ext cx="2340864" cy="1463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27548" y="1024128"/>
            <a:ext cx="2340864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09160" y="2523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Baixar o arquivo .deb para Ubuntu</a:t>
            </a:r>
            <a:endParaRPr lang="en-US" sz="1250" dirty="0"/>
          </a:p>
        </p:txBody>
      </p:sp>
      <p:pic>
        <p:nvPicPr>
          <p:cNvPr id="10" name="Image 2" descr="3. Instalar com sudo apt insta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88" y="2926080"/>
            <a:ext cx="2340864" cy="1463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275588" y="2926080"/>
            <a:ext cx="2340864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4425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Instalar com sudo apt install</a:t>
            </a:r>
            <a:endParaRPr lang="en-US" sz="1250" dirty="0"/>
          </a:p>
        </p:txBody>
      </p:sp>
      <p:pic>
        <p:nvPicPr>
          <p:cNvPr id="13" name="Image 3" descr="4. Abrir com o comando 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548" y="2926080"/>
            <a:ext cx="2340864" cy="1463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527548" y="2926080"/>
            <a:ext cx="2340864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709160" y="4425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Abrir com o comando code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Conhecendo o VS Code</a:t>
            </a:r>
            <a:endParaRPr lang="en-US" sz="3000" dirty="0"/>
          </a:p>
        </p:txBody>
      </p:sp>
      <p:pic>
        <p:nvPicPr>
          <p:cNvPr id="5" name="Image 0" descr="Conhecendo o VS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318"/>
            <a:ext cx="4937760" cy="3086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01318"/>
            <a:ext cx="4937760" cy="30861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882648"/>
            <a:ext cx="3200400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Explorer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(à esquerda): navega pelas pastas e arquivos do projeto.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(ao centro): o arquivo aberto, com uma aba para cada arquivo.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 integrado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(embaixo): o terminal dentro do próprio VS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Escrevemos o código no VS Code. Mas quem vai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interpretar e executar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esse código?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10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92758"/>
            <a:ext cx="4846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 fora do navegador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Permite executar código JavaScript no servidor, indo além do navegador.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1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20874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Eficiente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Lida com um grande número de conexões simultâneas sem sobrecarregar o sistema.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4846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Pacotes prontos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Milhares de pacotes disponíveis através do npm.</a:t>
            </a:r>
            <a:endParaRPr lang="en-US" sz="1650" dirty="0"/>
          </a:p>
        </p:txBody>
      </p:sp>
      <p:pic>
        <p:nvPicPr>
          <p:cNvPr id="11" name="Image 3" descr="Logo do Node.j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473698"/>
            <a:ext cx="2103120" cy="6304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o JavaScript se relaciona com o Node.js?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11480" y="1302766"/>
            <a:ext cx="4023360" cy="2551684"/>
          </a:xfrm>
          <a:prstGeom prst="roundRect">
            <a:avLst>
              <a:gd name="adj" fmla="val 358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/home/claude/gerador-slides-lions-dev/j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1485646"/>
            <a:ext cx="868680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44576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Linguagem de programação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803906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Desenvolvida para ser usada no navegador.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 usada no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front-end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302766"/>
            <a:ext cx="4023360" cy="2551684"/>
          </a:xfrm>
          <a:prstGeom prst="roundRect">
            <a:avLst>
              <a:gd name="adj" fmla="val 358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/home/claude/gerador-slides-lions-dev/n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909" y="1485646"/>
            <a:ext cx="2897862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92040" y="244576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 de execução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803906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Permite executar JavaScript fora do navegador.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 usado no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back-end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Comparar os dois é como comparar maçãs e laranjas: um é a língua, o outro é onde ela é falada.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npm: o gerenciador de pacotes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21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7099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Gerenciador de pacotes do Node.js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Vem instalado junto com o Node.js.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059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32304"/>
            <a:ext cx="4846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 e organiza pacotes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Bibliotecas e frameworks prontos, instalados com um comando.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870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360420"/>
            <a:ext cx="4846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npm Registry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repositório online onde qualquer pessoa pode publicar e usar pacotes.</a:t>
            </a:r>
            <a:endParaRPr lang="en-US" sz="1650" dirty="0"/>
          </a:p>
        </p:txBody>
      </p:sp>
      <p:pic>
        <p:nvPicPr>
          <p:cNvPr id="11" name="Image 3" descr="Logo do np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451882"/>
            <a:ext cx="2103120" cy="6740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o desenvolvimento web funciona?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Front-end x Back-end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00556"/>
            <a:ext cx="4023360" cy="2356104"/>
          </a:xfrm>
          <a:prstGeom prst="roundRect">
            <a:avLst>
              <a:gd name="adj" fmla="val 388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834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5834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Front-end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058924"/>
            <a:ext cx="36576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Interação direta com o usuário.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Botões, formulários, layouts.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HTML, CSS e JavaScript.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Executado no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navegador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400556"/>
            <a:ext cx="4023360" cy="2356104"/>
          </a:xfrm>
          <a:prstGeom prst="roundRect">
            <a:avLst>
              <a:gd name="adj" fmla="val 388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834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5834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Back-end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058924"/>
            <a:ext cx="365760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"bastidores" da aplicação.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Regras de negócio e processamento de dados.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 (Node.js), Python, Java, Ruby…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Executado no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servidor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dois trabalham juntos para criar uma experiência funcional e agradável para o usuário.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Pense em um carro</a:t>
            </a:r>
            <a:endParaRPr lang="en-US" sz="3000" dirty="0"/>
          </a:p>
        </p:txBody>
      </p:sp>
      <p:pic>
        <p:nvPicPr>
          <p:cNvPr id="5" name="Image 0" descr="Carro dividido entre front-end e back-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61282"/>
            <a:ext cx="4572000" cy="28552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361282"/>
            <a:ext cx="4572000" cy="2855276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Front-end</a:t>
            </a:r>
            <a:endParaRPr lang="en-US" sz="17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o usuário vê e toca: o painel, as luzes, os botões.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2926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Back-end</a:t>
            </a:r>
            <a:endParaRPr lang="en-US" sz="17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faz tudo funcionar: o motor e a transmissão.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Instalando o Node.js e o npm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instalação é feita pelo terminal. Usamos o repositório do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NodeSource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que traz a versão LTS (estável) mais recente: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554224"/>
            <a:ext cx="832104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2671267"/>
            <a:ext cx="802843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-fsSL https://deb.nodesource.com/setup_lts.x | sudo -E bash -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-y nodejs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Node.js do NodeSource já vem com o npm.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nodejs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direto do Ubuntu costuma instalar uma versão antiga.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senha do sudo não aparece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Ao digitar a senha do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nada aparece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tela. O teclado não travou!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executa o comando como administrador, por isso pede a sua senha.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Digite a senha normalmente e aperte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mesmo sem ver nada.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algumas versões do Ubuntu aparecem asteriscos; em outras, nem isso.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47065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8769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-y nodejs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[sudo] password for aluno: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Conferindo a instalação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090928"/>
            <a:ext cx="4023360" cy="1624584"/>
          </a:xfrm>
          <a:prstGeom prst="roundRect">
            <a:avLst>
              <a:gd name="adj" fmla="val 45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207971"/>
            <a:ext cx="3730752" cy="139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-v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v24.x.x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-v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11.x.x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821180"/>
            <a:ext cx="411480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mostra a versão do Node.js instalada.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mostra a versão do npm.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versão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número depende da LTS do momento: 24 até outubro de 2026, depois 26. Anote a sua: alguns comportamentos mudam entre versões.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estiver usando máquina virtual, importe a VM no VirtualBox.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o VS Code e abra-o pelo terminal com o comando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o Node.js (o npm vem junto).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as versões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469136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201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520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é programação?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12750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instruções para o computador executar tarefas.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709160" y="1469136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5201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4104" y="1652016"/>
            <a:ext cx="31455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 é o nosso ambiente?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2276856"/>
            <a:ext cx="3657600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VS Code, rodando no Ubuntu.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411480" y="2990088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executa o código?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Node.js, nosso ambiente de execução.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4709160" y="2990088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é o npm?</a:t>
            </a:r>
            <a:endParaRPr lang="en-US" sz="1750" dirty="0"/>
          </a:p>
        </p:txBody>
      </p:sp>
      <p:sp>
        <p:nvSpPr>
          <p:cNvPr id="21" name="Text 14"/>
          <p:cNvSpPr txBox="1"/>
          <p:nvPr/>
        </p:nvSpPr>
        <p:spPr>
          <a:xfrm>
            <a:off x="489204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gerenciador de pacotes do Node.js.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ao Terminal</a:t>
            </a:r>
            <a:endParaRPr lang="en-US" sz="3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o terminal?</a:t>
            </a:r>
            <a:endParaRPr lang="en-US" sz="3000" dirty="0"/>
          </a:p>
        </p:txBody>
      </p:sp>
      <p:pic>
        <p:nvPicPr>
          <p:cNvPr id="5" name="Image 0" descr="O que é o terminal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318"/>
            <a:ext cx="4937760" cy="3086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01318"/>
            <a:ext cx="4937760" cy="30861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775968"/>
            <a:ext cx="3200400" cy="242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interface de texto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permite interagir com o sistema.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Nele executamos comandos e automatizamos tarefas.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Curiosidade: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usamos o terminal para configurar todos os PCs desta sala. Ele nos economizou muitas horas!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terminal no desenvolvimento web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159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7330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Automatização de tarefas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Scripts que fazem sozinhos tarefas repetitivas.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2526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190423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Gestão de projetos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Criar, navegar e manipular pastas e arquivos.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53517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Controle de versão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Git, que veremos no Módulo 4, é usado pelo terminal.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84398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16611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Instalação de dependências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Instalar e gerenciar os pacotes do projeto com o npm.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15334"/>
            <a:ext cx="502920" cy="50292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463040" y="379704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Servidores locais e remotos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Iniciar servidores, rodar testes, ver logs e acessar servidores remotos.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ele funciona?</a:t>
            </a:r>
            <a:endParaRPr lang="en-US" sz="3000" dirty="0"/>
          </a:p>
        </p:txBody>
      </p:sp>
      <p:pic>
        <p:nvPicPr>
          <p:cNvPr id="5" name="Image 0" descr="Como ele funciona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88130"/>
            <a:ext cx="4937760" cy="27124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588130"/>
            <a:ext cx="4937760" cy="2712476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775968"/>
            <a:ext cx="3200400" cy="242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terminal está sempre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 de uma pasta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assim como a janela de arquivos.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você vê na janela, o terminal mostra em texto: aqui,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lista o mesmo conteúdo da pasta Documents.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 de rodar um comando, confira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você está.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Anatomia de um comando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67740" y="132588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~/Desktop$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05940" y="1874520"/>
            <a:ext cx="0" cy="3200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82980" y="2212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 você está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811780" y="1325880"/>
            <a:ext cx="38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979420" y="1874520"/>
            <a:ext cx="0" cy="68580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56460" y="25786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Comando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314700" y="1325880"/>
            <a:ext cx="289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pasta/arquivo.txt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739640" y="1874520"/>
            <a:ext cx="0" cy="320040"/>
          </a:xfrm>
          <a:prstGeom prst="line">
            <a:avLst/>
          </a:prstGeom>
          <a:noFill/>
          <a:ln w="19050">
            <a:solidFill>
              <a:srgbClr val="E16D3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16680" y="2212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Argumento 1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332220" y="1325880"/>
            <a:ext cx="188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outra-pasta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254240" y="1874520"/>
            <a:ext cx="0" cy="685800"/>
          </a:xfrm>
          <a:prstGeom prst="line">
            <a:avLst/>
          </a:prstGeom>
          <a:noFill/>
          <a:ln w="19050">
            <a:solidFill>
              <a:srgbClr val="F7A07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31280" y="25786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Argumento 2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737360" y="2971800"/>
            <a:ext cx="566928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83664" y="3088843"/>
            <a:ext cx="537667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nova-pasta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pasta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pasta/arquivo.txt outra-pasta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"Texto aqui!" &gt; arquivo.txt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argumentos são separados por 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espaço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Atenção: maiúsculas e extensões importam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Linux,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Arquivo.txt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arquivo.txt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são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três arquivos diferentes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13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Linux diferencia maiúsculas de minúsculas: é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case-sensitive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extensão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.txt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faz parte do nome do arquivo.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digite o começo do nome e aperte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terminal completa sozinho e evita erros de digitação.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Atalhos do terminal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16736"/>
            <a:ext cx="259080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49961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C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75104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Copiar o texto selecionado.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316736"/>
            <a:ext cx="259080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9480" y="149961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V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459480" y="1975104"/>
            <a:ext cx="222504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Colar no terminal.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41720" y="1316736"/>
            <a:ext cx="259080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600" y="149961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C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24600" y="1975104"/>
            <a:ext cx="2225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Interrompe o comando que está rodando. Não é copiar!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2990088"/>
            <a:ext cx="259080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648456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Completa nomes de pastas e arquivos.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76600" y="2990088"/>
            <a:ext cx="259080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5948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 para cima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459480" y="3648456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Traz de volta os comandos anteriores.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41720" y="2990088"/>
            <a:ext cx="259080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60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324600" y="3648456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Limpa a tela (ou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L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espaços e acentos nos nomes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478536"/>
          </a:xfrm>
          <a:prstGeom prst="roundRect">
            <a:avLst>
              <a:gd name="adj" fmla="val 1528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Minha Pasta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cria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duas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pastas: "Minha" e "Pasta".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177698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o nome tiver espaço, use aspas: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"Área de Trabalho"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nomes mudam com o idioma do sistema: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 de Trabalho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 seus projetos, prefira nomes sem espaço e sem acento: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minha-pasta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21157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32861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Minha Pasta      # cria "Minha" e "Pasta"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"Minha Pasta"    # cria uma pasta só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minha-pasta      # melhor ainda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Comandos básicos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16736"/>
            <a:ext cx="187452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4996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75104"/>
            <a:ext cx="150876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Muda de pasta.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0" y="1316736"/>
            <a:ext cx="187452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14996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1975104"/>
            <a:ext cx="150876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 uma pasta.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316736"/>
            <a:ext cx="187452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4996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975104"/>
            <a:ext cx="1508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 o conteúdo da pasta.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16736"/>
            <a:ext cx="187452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40880" y="14996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1975104"/>
            <a:ext cx="150876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Mostra onde você está.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2990088"/>
            <a:ext cx="187452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172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648456"/>
            <a:ext cx="150876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 um arquivo vazio.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560320" y="2990088"/>
            <a:ext cx="187452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0" y="3172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743200" y="3648456"/>
            <a:ext cx="150876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Copia um arquivo.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09160" y="2990088"/>
            <a:ext cx="187452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3172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892040" y="3648456"/>
            <a:ext cx="150876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Escreve uma mensagem.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858000" y="2990088"/>
            <a:ext cx="1874520" cy="1472184"/>
          </a:xfrm>
          <a:prstGeom prst="roundRect">
            <a:avLst>
              <a:gd name="adj" fmla="val 62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40880" y="3172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3648456"/>
            <a:ext cx="1508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um arquivo (pasta com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Caminho absoluto x relativo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21549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Absoluto: começa na raiz ( / 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529840"/>
            <a:ext cx="4069080" cy="557784"/>
          </a:xfrm>
          <a:prstGeom prst="roundRect">
            <a:avLst>
              <a:gd name="adj" fmla="val 1311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646883"/>
            <a:ext cx="3776472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/home/aluno/Documentos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21549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Relativo: a partir de onde você está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529840"/>
            <a:ext cx="4069080" cy="557784"/>
          </a:xfrm>
          <a:prstGeom prst="roundRect">
            <a:avLst>
              <a:gd name="adj" fmla="val 1311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646883"/>
            <a:ext cx="3776472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Documentos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caminho absoluto funciona de qualquer lugar. O relativo depende da pasta atual.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um atalho para a sua pasta pessoal (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/home/aluno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voltar?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2174748"/>
            <a:ext cx="8321040" cy="1106424"/>
          </a:xfrm>
          <a:prstGeom prst="roundRect">
            <a:avLst>
              <a:gd name="adj" fmla="val 661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291791"/>
            <a:ext cx="8028432" cy="872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..            # volta uma pasta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../Desktop    # volta uma pasta e entra em Desktop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             # vai direto para a pasta pessoal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dois pontos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significam "a pasta de cima".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cd: navegando entre pastas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/caminho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Caminho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absoluto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informamos o caminho completo até a pasta.</a:t>
            </a:r>
            <a:endParaRPr lang="en-US" sz="1350" dirty="0"/>
          </a:p>
        </p:txBody>
      </p:sp>
      <p:pic>
        <p:nvPicPr>
          <p:cNvPr id="6" name="Image 0" descr="Terminal com o comando cd /caminh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16823"/>
            <a:ext cx="4892040" cy="852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1516823"/>
            <a:ext cx="4892040" cy="852555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pasta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429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Caminho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relativo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para entrar numa pasta que está dentro da atual.</a:t>
            </a:r>
            <a:endParaRPr lang="en-US" sz="1350" dirty="0"/>
          </a:p>
        </p:txBody>
      </p:sp>
      <p:pic>
        <p:nvPicPr>
          <p:cNvPr id="10" name="Image 1" descr="Terminal com o comando cd pas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177496"/>
            <a:ext cx="4892040" cy="128024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86200" y="3177496"/>
            <a:ext cx="4892040" cy="1280247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mkdir e 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nome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 uma pasta dentro da pasta atual.</a:t>
            </a:r>
            <a:endParaRPr lang="en-US" sz="1350" dirty="0"/>
          </a:p>
        </p:txBody>
      </p:sp>
      <p:pic>
        <p:nvPicPr>
          <p:cNvPr id="6" name="Image 0" descr="Terminal com o comando mkdir n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28686"/>
            <a:ext cx="4892040" cy="12288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1328686"/>
            <a:ext cx="4892040" cy="1228828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429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 o conteúdo da pasta aberta.</a:t>
            </a:r>
            <a:endParaRPr lang="en-US" sz="1350" dirty="0"/>
          </a:p>
        </p:txBody>
      </p:sp>
      <p:pic>
        <p:nvPicPr>
          <p:cNvPr id="10" name="Image 1" descr="Terminal com o comando 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047664"/>
            <a:ext cx="4892040" cy="153991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86200" y="3047664"/>
            <a:ext cx="4892040" cy="1539913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pwd e touch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Mostra o caminho completo da pasta aberta.</a:t>
            </a:r>
            <a:endParaRPr lang="en-US" sz="1350" dirty="0"/>
          </a:p>
        </p:txBody>
      </p:sp>
      <p:pic>
        <p:nvPicPr>
          <p:cNvPr id="6" name="Image 0" descr="Terminal com o comando pw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472802"/>
            <a:ext cx="4892040" cy="9405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1472802"/>
            <a:ext cx="4892040" cy="940595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arquivo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429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 um arquivo vazio, com qualquer extensão (ou atualiza a data de um que já existe).</a:t>
            </a:r>
            <a:endParaRPr lang="en-US" sz="1350" dirty="0"/>
          </a:p>
        </p:txBody>
      </p:sp>
      <p:pic>
        <p:nvPicPr>
          <p:cNvPr id="10" name="Image 1" descr="Terminal com o comando touch arqu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129316"/>
            <a:ext cx="4892040" cy="1376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86200" y="3129316"/>
            <a:ext cx="4892040" cy="1376608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rm: removendo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arquivo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um arquivo.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vai para a lixeira. Apagou, sumiu.</a:t>
            </a:r>
            <a:endParaRPr lang="en-US" sz="1350" dirty="0"/>
          </a:p>
        </p:txBody>
      </p:sp>
      <p:pic>
        <p:nvPicPr>
          <p:cNvPr id="6" name="Image 0" descr="Terminal com o comando rm arqu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35063"/>
            <a:ext cx="4892040" cy="12160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1335063"/>
            <a:ext cx="4892040" cy="1216074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 pasta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429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a pasta e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tudo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está dentro dela.</a:t>
            </a:r>
            <a:endParaRPr lang="en-US" sz="1350" dirty="0"/>
          </a:p>
        </p:txBody>
      </p:sp>
      <p:pic>
        <p:nvPicPr>
          <p:cNvPr id="10" name="Image 1" descr="Terminal com o comando rm -r pas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188970"/>
            <a:ext cx="4892040" cy="12573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86200" y="3188970"/>
            <a:ext cx="4892040" cy="12573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echo: escrevendo mensagens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"Olá"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Imprime uma mensagem no terminal.</a:t>
            </a:r>
            <a:endParaRPr lang="en-US" sz="1350" dirty="0"/>
          </a:p>
        </p:txBody>
      </p:sp>
      <p:pic>
        <p:nvPicPr>
          <p:cNvPr id="6" name="Image 0" descr="Terminal com o comando echo &quot;Olá&quot;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24702"/>
            <a:ext cx="4892040" cy="8367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1524702"/>
            <a:ext cx="4892040" cy="836796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"Oi" &gt; a.txt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429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escreve a mensagem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arquivo, substituindo o conteúdo. Com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adiciona no final.</a:t>
            </a:r>
            <a:endParaRPr lang="en-US" sz="1350" dirty="0"/>
          </a:p>
        </p:txBody>
      </p:sp>
      <p:pic>
        <p:nvPicPr>
          <p:cNvPr id="10" name="Image 1" descr="Terminal com o comando echo &quot;Oi&quot; &gt; a.t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13112"/>
            <a:ext cx="4892040" cy="1209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86200" y="3213112"/>
            <a:ext cx="4892040" cy="1209017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comandos úteis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79448"/>
            <a:ext cx="8321040" cy="1883664"/>
          </a:xfrm>
          <a:prstGeom prst="roundRect">
            <a:avLst>
              <a:gd name="adj" fmla="val 38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796491"/>
            <a:ext cx="8028432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BoasVindas.txt          # mostra o conteúdo do arquivo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Bem-vindos à Estação Espacial!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velho.txt novo.txt       # renomeia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novo.txt Laboratorio/    # move para outra pasta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-r Habitacao Backup      # copia uma pasta inteira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sozinho não copia pastas: para isso, use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ótimo para conferir se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funcionou.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duas pastas: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(mkdir).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 na pasta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(cd).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arquivo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index.txt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(touch).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Coloque algum conteúdo no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index.txt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(echo).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Copie o arquivo para a pasta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(cp).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Apague o arquivo da pasta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(rm).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997708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2537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089148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relembrando: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Pasta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Nome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arquivo.txt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"Mensagem" &gt; arquivo.txt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arquivo.txt ../copia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arquivo.txt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 · Explorando o Espaço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Represente uma 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estação espacial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pastas e arquivos, usando só o terminal: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53896"/>
            <a:ext cx="8138160" cy="2049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 pasta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EstacaoEspacial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e, dentro dela,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Habitacao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Hangar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Habitacao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crie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Quarto1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Quarto2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Quarto3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Em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crie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Pesquisa1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Pesquisa2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Hangar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crie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Nave1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Nave2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Nave3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Depois, remova o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Hangar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inteiro.</a:t>
            </a:r>
            <a:endParaRPr lang="en-US" sz="13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raiz, crie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BoasVindas.txt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"Bem-vindos à Estação Espacial!" e copie para o </a:t>
            </a: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5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Bônus:</a:t>
            </a:r>
            <a:r>
              <a:rPr lang="en-US" sz="13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altere a cópia do Laboratório para "Bem-vindos à Estação Espacial! Este é o laboratório!".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3777996"/>
            <a:ext cx="8138160" cy="809244"/>
          </a:xfrm>
          <a:prstGeom prst="roundRect">
            <a:avLst>
              <a:gd name="adj" fmla="val 9040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99973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869436"/>
            <a:ext cx="736092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onde você está (</a:t>
            </a: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antes de cada comando e use </a:t>
            </a: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conferir o conteúdo dos arquivos. Errou? Corrija com os próprios comandos.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Desafio: o que entregar</a:t>
            </a:r>
            <a:endParaRPr lang="en-US" sz="3000" dirty="0"/>
          </a:p>
        </p:txBody>
      </p:sp>
      <p:pic>
        <p:nvPicPr>
          <p:cNvPr id="5" name="Image 0" descr="Desafio: o que entreg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25" y="1115568"/>
            <a:ext cx="4721629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3825" y="1115568"/>
            <a:ext cx="4721629" cy="36576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882648"/>
            <a:ext cx="3200400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Anote, em ordem,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todos os comandos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você usou.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Salve essa lista num arquivo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comandos-usados.txt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se as pastas e arquivos ficaram organizados como no enunciado.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Tema e Atalhos no VS Code</a:t>
            </a:r>
            <a:endParaRPr lang="en-US" sz="3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um tema é importante?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51204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408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4084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Personalização visual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979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editor com a sua cara.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76600" y="1251204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43408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434084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Foco e produtividade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9979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Menos cansaço, mais concentração.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41720" y="1251204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434084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434084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Preferências individuais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9979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Claro, escuro, alto contraste…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11480" y="2990088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6424" y="3172968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Identificação de código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736848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parte do código com uma cor.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3276600" y="2990088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1729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71544" y="3172968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Acessibilidade</a:t>
            </a:r>
            <a:endParaRPr lang="en-US" sz="1550" dirty="0"/>
          </a:p>
        </p:txBody>
      </p:sp>
      <p:sp>
        <p:nvSpPr>
          <p:cNvPr id="24" name="Text 16"/>
          <p:cNvSpPr txBox="1"/>
          <p:nvPr/>
        </p:nvSpPr>
        <p:spPr>
          <a:xfrm>
            <a:off x="3459480" y="3736848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Temas para daltonismo e baixa visão.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141720" y="2990088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172968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36664" y="3172968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Estilo e motivação</a:t>
            </a:r>
            <a:endParaRPr lang="en-US" sz="1550" dirty="0"/>
          </a:p>
        </p:txBody>
      </p:sp>
      <p:sp>
        <p:nvSpPr>
          <p:cNvPr id="28" name="Text 19"/>
          <p:cNvSpPr txBox="1"/>
          <p:nvPr/>
        </p:nvSpPr>
        <p:spPr>
          <a:xfrm>
            <a:off x="6324600" y="3736848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ambiente agradável dá vontade de programar.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se eu escolher um tema ruim?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69136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201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6520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Fadiga ocular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2750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Cores fortes cansam a vista em poucas horas.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469136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520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6520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Legibilidade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12750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Pouco contraste dificulta ler o código.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Sintaxe confusa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Fica difícil distinguir cada parte do código.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Distração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Cores demais tiram o foco do que importa.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Exemplos de temas</a:t>
            </a:r>
            <a:endParaRPr lang="en-US" sz="3000" dirty="0"/>
          </a:p>
        </p:txBody>
      </p:sp>
      <p:pic>
        <p:nvPicPr>
          <p:cNvPr id="5" name="Image 0" descr="Vermelho inten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93" y="1024128"/>
            <a:ext cx="2327455" cy="1463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82293" y="1024128"/>
            <a:ext cx="2327455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2523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Vermelho intenso</a:t>
            </a:r>
            <a:endParaRPr lang="en-US" sz="1250" dirty="0"/>
          </a:p>
        </p:txBody>
      </p:sp>
      <p:pic>
        <p:nvPicPr>
          <p:cNvPr id="8" name="Image 1" descr="Tons de cinza e ver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971" y="1024128"/>
            <a:ext cx="2338019" cy="14630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528971" y="1024128"/>
            <a:ext cx="2338019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709160" y="2523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Tons de cinza e verde</a:t>
            </a:r>
            <a:endParaRPr lang="en-US" sz="1250" dirty="0"/>
          </a:p>
        </p:txBody>
      </p:sp>
      <p:pic>
        <p:nvPicPr>
          <p:cNvPr id="11" name="Image 2" descr="Tons de marro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46" y="2926080"/>
            <a:ext cx="2349948" cy="14630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271046" y="2926080"/>
            <a:ext cx="2349948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457200" y="4425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Tons de marrom</a:t>
            </a:r>
            <a:endParaRPr lang="en-US" sz="1250" dirty="0"/>
          </a:p>
        </p:txBody>
      </p:sp>
      <p:pic>
        <p:nvPicPr>
          <p:cNvPr id="14" name="Image 3" descr="Alto contras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6584" y="2926080"/>
            <a:ext cx="2342792" cy="146304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526584" y="2926080"/>
            <a:ext cx="2342792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4709160" y="4425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Alto contraste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escolher meu tema?</a:t>
            </a:r>
            <a:endParaRPr lang="en-US" sz="3000" dirty="0"/>
          </a:p>
        </p:txBody>
      </p:sp>
      <p:pic>
        <p:nvPicPr>
          <p:cNvPr id="5" name="Image 0" descr="Como escolher meu tema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318"/>
            <a:ext cx="4937760" cy="3086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01318"/>
            <a:ext cx="4937760" cy="30861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989328"/>
            <a:ext cx="3200400" cy="200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Menu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Arquivo &gt; Preferências &gt; Tema &gt; Tema de Cores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 pelo atalho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K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e, em seguida,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T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as setas para testar os temas antes de confirmar.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Atalhos úteis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18260"/>
            <a:ext cx="2590800" cy="1274064"/>
          </a:xfrm>
          <a:prstGeom prst="roundRect">
            <a:avLst>
              <a:gd name="adj" fmla="val 717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01140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76628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Salvar o arquivo. Use sempre!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318260"/>
            <a:ext cx="2590800" cy="1274064"/>
          </a:xfrm>
          <a:prstGeom prst="roundRect">
            <a:avLst>
              <a:gd name="adj" fmla="val 717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9480" y="1501140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W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459480" y="1976628"/>
            <a:ext cx="222504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Fechar a aba aberta.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41720" y="1318260"/>
            <a:ext cx="2590800" cy="1274064"/>
          </a:xfrm>
          <a:prstGeom prst="roundRect">
            <a:avLst>
              <a:gd name="adj" fmla="val 717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600" y="1501140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24600" y="1976628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Esconder ou mostrar o painel lateral.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2793492"/>
            <a:ext cx="2590800" cy="1274064"/>
          </a:xfrm>
          <a:prstGeom prst="roundRect">
            <a:avLst>
              <a:gd name="adj" fmla="val 717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297637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`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451860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Esconder ou mostrar o terminal.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76600" y="2793492"/>
            <a:ext cx="2590800" cy="1274064"/>
          </a:xfrm>
          <a:prstGeom prst="roundRect">
            <a:avLst>
              <a:gd name="adj" fmla="val 717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59480" y="297637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`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459480" y="3451860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Abrir um novo terminal.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41720" y="2793492"/>
            <a:ext cx="2590800" cy="1274064"/>
          </a:xfrm>
          <a:prstGeom prst="roundRect">
            <a:avLst>
              <a:gd name="adj" fmla="val 717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600" y="297637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/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324600" y="3451860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Comentar ou descomentar a linha.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4416552"/>
            <a:ext cx="7863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crase ( ` ) fica na tecla ao lado do 1, no teclado brasileiro.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bolinha na aba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bolinha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lugar do X da aba indica que o arquivo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foi salvo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executa o que está salvo no disco: sem salvar, você roda a versão antiga do código.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Salve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ative o salvamento automático 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Arquivo &gt; Salvamento Automático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Extensões Úteis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desenvolvimento web e mobile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são extensões?</a:t>
            </a:r>
            <a:endParaRPr lang="en-US" sz="3000" dirty="0"/>
          </a:p>
        </p:txBody>
      </p:sp>
      <p:pic>
        <p:nvPicPr>
          <p:cNvPr id="5" name="Image 0" descr="O que são extensões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318"/>
            <a:ext cx="4937760" cy="3086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01318"/>
            <a:ext cx="4937760" cy="30861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989328"/>
            <a:ext cx="3200400" cy="200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Complementos que adicionam recursos ao VS Code.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Ficam na aba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Extensões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na barra lateral (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X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só o que for usar: extensão demais deixa o editor lento.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Tree</a:t>
            </a:r>
            <a:endParaRPr lang="en-US" sz="3000" dirty="0"/>
          </a:p>
        </p:txBody>
      </p:sp>
      <p:pic>
        <p:nvPicPr>
          <p:cNvPr id="5" name="Image 0" descr="Todo T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318"/>
            <a:ext cx="4937760" cy="3086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01318"/>
            <a:ext cx="4937760" cy="30861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2096008"/>
            <a:ext cx="3200400" cy="178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 as tarefas pendentes marcadas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TODO: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código.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Mostra todas elas numa lista, em uma aba própria.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Exemplo: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validar a entrada do usuário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Prettier</a:t>
            </a:r>
            <a:endParaRPr lang="en-US" sz="3000" dirty="0"/>
          </a:p>
        </p:txBody>
      </p:sp>
      <p:pic>
        <p:nvPicPr>
          <p:cNvPr id="5" name="Image 0" descr="Pretti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318"/>
            <a:ext cx="4937760" cy="3086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01318"/>
            <a:ext cx="4937760" cy="30861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882648"/>
            <a:ext cx="3200400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Formata o código automaticamente, mantendo um estilo consistente.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Indentação, aspas e espaços sempre do mesmo jeito, em todo o projeto.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ative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Format On Save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nas configurações para formatar ao salvar.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ESLint</a:t>
            </a:r>
            <a:endParaRPr lang="en-US" sz="3000" dirty="0"/>
          </a:p>
        </p:txBody>
      </p:sp>
      <p:pic>
        <p:nvPicPr>
          <p:cNvPr id="5" name="Image 0" descr="ESLi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318"/>
            <a:ext cx="4937760" cy="3086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01318"/>
            <a:ext cx="4937760" cy="30861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882648"/>
            <a:ext cx="3200400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Analisa o código e aponta padrões problemáticos e possíveis erros.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Ajuda a manter o código consistente, principalmente em equipe.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avisos aparecem sublinhados direto no editor.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 Code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VS Code.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as extensões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 Tree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Prettier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ESLint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Escolha e instale um tema.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10616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555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19760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procure temas no próprio marketplace de extensões, pesquisando por "theme".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Comandos Básicos do npm</a:t>
            </a:r>
            <a:endParaRPr lang="en-US" sz="3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mais nada…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129028"/>
            <a:ext cx="3840480" cy="1548384"/>
          </a:xfrm>
          <a:prstGeom prst="roundRect">
            <a:avLst>
              <a:gd name="adj" fmla="val 472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246071"/>
            <a:ext cx="3547872" cy="131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Documentos/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Modulo1/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Modulo2/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Modulo3/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1821180"/>
            <a:ext cx="429768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todos os trabalhos e atividades ficam dentro desta pasta.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uma pasta para cada módulo do curso.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quê?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fica fácil achar as atividades e ninguém mistura arquivos no computador compartilhado.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iniciar um projeto Node.js?</a:t>
            </a:r>
            <a:endParaRPr lang="en-US" sz="2900" dirty="0"/>
          </a:p>
        </p:txBody>
      </p:sp>
      <p:pic>
        <p:nvPicPr>
          <p:cNvPr id="5" name="Image 0" descr="Como iniciar um projeto Node.js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41197"/>
            <a:ext cx="4937760" cy="300634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441197"/>
            <a:ext cx="4937760" cy="3006343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989328"/>
            <a:ext cx="3200400" cy="200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pasta para o projeto.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essa pasta no terminal.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ele cria o arquivo de configuração do projeto,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package.json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confira a pasta antes do npm init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criado na pasta pessoal vale para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os projetos dentro dela.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pode acabar instalando os pacotes lá na pasta pessoal, e não no seu projeto.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2, o aviso 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vai apontar justamente para esse arquivo perdido.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antes. Criou no lugar errado? Apague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package.json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6992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8162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/home/aluno/Documentos/Modulo1/meu-projeto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init -y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o package.json?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824228"/>
            <a:ext cx="4846320" cy="2157984"/>
          </a:xfrm>
          <a:prstGeom prst="roundRect">
            <a:avLst>
              <a:gd name="adj" fmla="val 339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941271"/>
            <a:ext cx="4553712" cy="192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"npm"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"index.js"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"echo \"Error: no test specified\" &amp;&amp; exit 1"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"keywords"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"license"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"ISC"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524000"/>
            <a:ext cx="3291840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/ version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nome e a versão do projeto.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arquivo principal.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atalhos de comandos (veremos mais adiante).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aparece quando você instala o primeiro pacote.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Instalando um pacote</a:t>
            </a:r>
            <a:endParaRPr lang="en-US" sz="3000" dirty="0"/>
          </a:p>
        </p:txBody>
      </p:sp>
      <p:pic>
        <p:nvPicPr>
          <p:cNvPr id="5" name="Image 0" descr="Instalando um paco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8905"/>
            <a:ext cx="4937760" cy="12109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2338905"/>
            <a:ext cx="4937760" cy="1210927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989328"/>
            <a:ext cx="3200400" cy="200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instalar um pacote, usamos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nome-do-pacote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Aqui instalamos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hello-world-npm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um pacote de exemplo.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npm baixa o pacote e anota no package.json.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pasta não pode ter o nome do pacote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Numa pasta chamada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prompt-sync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prompt-sync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falha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29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usa o nome da pasta como nome do projeto, e o npm se recusa a instalar um pacote com o mesmo nome do projeto.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Dê à pasta um nome que descreva o seu projeto: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atividade-1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407156"/>
            <a:ext cx="8046720" cy="1182624"/>
          </a:xfrm>
          <a:prstGeom prst="roundRect">
            <a:avLst>
              <a:gd name="adj" fmla="val 6186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24199"/>
            <a:ext cx="7754112" cy="94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prompt-sync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error code ENOSELF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error Refusing to install package with name "prompt-sync" under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error a package also called "prompt-sync"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 npm install cria?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243328"/>
            <a:ext cx="4937760" cy="1319784"/>
          </a:xfrm>
          <a:prstGeom prst="roundRect">
            <a:avLst>
              <a:gd name="adj" fmla="val 554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60371"/>
            <a:ext cx="4645152" cy="10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prompt-sync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3 packages in 1s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  package.json  package-lock.json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413510"/>
            <a:ext cx="3200400" cy="297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pasta com os pacotes baixados. Não precisa mexer nela.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package-lock.json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guarda as versões exatas que foram instaladas.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pacote é anotado no package.json.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apagou?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baixa tudo de novo, lendo o package.json.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campo "type"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572768"/>
            <a:ext cx="4023360" cy="2660904"/>
          </a:xfrm>
          <a:prstGeom prst="roundRect">
            <a:avLst>
              <a:gd name="adj" fmla="val 274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689811"/>
            <a:ext cx="3730752" cy="242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"meu-projeto"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"index.js"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"commonjs"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"prompt-sync"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"^4.2.0"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855470"/>
            <a:ext cx="41148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diz ao Node.js como ler os arquivos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projeto.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"commonjs"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usa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É o padrão quando o campo não existe.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"module"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usa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2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vamos usar isso quando formos importar pacotes.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Desinstalando um pacote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620518"/>
            <a:ext cx="4023360" cy="565404"/>
          </a:xfrm>
          <a:prstGeom prst="roundRect">
            <a:avLst>
              <a:gd name="adj" fmla="val 129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737561"/>
            <a:ext cx="3730752" cy="331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uninstall hello-world-npm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821180"/>
            <a:ext cx="411480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uninstall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remove o pacote e as dependências dele da pasta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entrada do pacote sai 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cuidado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se o seu código usa esse pacote, ele vai parar de funcionar.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Comando npx</a:t>
            </a:r>
            <a:endParaRPr lang="en-US" sz="3000" dirty="0"/>
          </a:p>
        </p:txBody>
      </p:sp>
      <p:pic>
        <p:nvPicPr>
          <p:cNvPr id="5" name="Image 0" descr="Comando np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30230"/>
            <a:ext cx="4937760" cy="10282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2430230"/>
            <a:ext cx="4937760" cy="1028276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989328"/>
            <a:ext cx="3200400" cy="200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 um pacote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precisar instalá-lo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projeto.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npm baixa o pacote, roda e descarta.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 usado para ferramentas que você só roda de vez em quando.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rápido: o modo interativo do Node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961388"/>
            <a:ext cx="4023360" cy="1883664"/>
          </a:xfrm>
          <a:prstGeom prst="roundRect">
            <a:avLst>
              <a:gd name="adj" fmla="val 38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078431"/>
            <a:ext cx="3730752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2 + 3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"Lions" + " Dev"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'Lions Dev'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.exit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821180"/>
            <a:ext cx="411480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sem nome de arquivo, abre 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você digita uma linha e vê o resultado na hora.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quê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testar uma conta, um método ou uma ideia sem criar arquivo.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.exit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C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duas vezes.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Aprendendo a aprender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74420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73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5730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Leia o erro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32788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mensagem diz o arquivo, a linha e o motivo. Comece por ela.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709160" y="1074420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5730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25730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Pesquise a mensagem exata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732788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Copie o erro e pesquise: alguém já passou por isso.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11480" y="2679192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620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Documentação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337560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JavaScript e </a:t>
            </a:r>
            <a:r>
              <a:rPr lang="en-US" sz="11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nodejs.org/docs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o Node.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709160" y="2679192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620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IA como tutor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337560"/>
            <a:ext cx="36576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para explicar, não para fazer: você precisa entender o código que entrega.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terminal, quase todo comando tem ajuda: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--help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help install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251204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4084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43408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Apresentações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1909572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turma, a metodologia e a ementa.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76600" y="1251204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43408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434084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Programação e ambiente</a:t>
            </a:r>
            <a:endParaRPr lang="en-US" sz="15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1997964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Algoritmos, editor, interpretador e depurador.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41720" y="1251204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434084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434084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 Code, Node.js e npm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19979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Instalação e primeiros passos.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11480" y="2990088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0642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550" dirty="0"/>
          </a:p>
        </p:txBody>
      </p:sp>
      <p:sp>
        <p:nvSpPr>
          <p:cNvPr id="21" name="Text 14"/>
          <p:cNvSpPr txBox="1"/>
          <p:nvPr/>
        </p:nvSpPr>
        <p:spPr>
          <a:xfrm>
            <a:off x="594360" y="3648456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cd, mkdir, ls, pwd, touch, cp, echo e rm.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3276600" y="2990088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172968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71544" y="3172968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Tema, atalhos e extensões</a:t>
            </a:r>
            <a:endParaRPr lang="en-US" sz="1550" dirty="0"/>
          </a:p>
        </p:txBody>
      </p:sp>
      <p:sp>
        <p:nvSpPr>
          <p:cNvPr id="25" name="Text 17"/>
          <p:cNvSpPr txBox="1"/>
          <p:nvPr/>
        </p:nvSpPr>
        <p:spPr>
          <a:xfrm>
            <a:off x="3459480" y="3736848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VS Code do seu jeito.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141720" y="2990088"/>
            <a:ext cx="2590800" cy="1537716"/>
          </a:xfrm>
          <a:prstGeom prst="roundRect">
            <a:avLst>
              <a:gd name="adj" fmla="val 59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172968"/>
            <a:ext cx="384048" cy="38404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836664" y="3172968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npm na prática</a:t>
            </a:r>
            <a:endParaRPr lang="en-US" sz="1550" dirty="0"/>
          </a:p>
        </p:txBody>
      </p:sp>
      <p:sp>
        <p:nvSpPr>
          <p:cNvPr id="29" name="Text 20"/>
          <p:cNvSpPr txBox="1"/>
          <p:nvPr/>
        </p:nvSpPr>
        <p:spPr>
          <a:xfrm>
            <a:off x="6324600" y="3736848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init, install, uninstall, npx e package.json.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finalizar o Módulo 1…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Avaliativa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terminal e navegue até a pasta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 pasta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avaliacao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abra o VS Code dentro dela com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terminal do VS Code e inicie um projeto com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arquivo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seu-nome.js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o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coloque dentro do arquivo a linha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console.log('eu consegui')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Execute o arquivo pelo terminal: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seu-nome.js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Tire um print mostrando o terminal do VS Code, o arquivo e a estrutura de pastas.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416356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3129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425500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aspas duplas por fora e simples por dentro: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"console.log('eu consegui')" &gt; seu-nome.js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modulo01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64261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5968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319272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2735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Dúvidas? Nos vemos no Módulo 2.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 — Introdução à Programação e Ambiente de Desenvolvimento</dc:title>
  <dc:subject>PptxGenJS Presentation</dc:subject>
  <dc:creator>Nicolas Cardoso Motta</dc:creator>
  <cp:lastModifiedBy>Nicolas Cardoso Motta</cp:lastModifiedBy>
  <cp:revision>1</cp:revision>
  <dcterms:created xsi:type="dcterms:W3CDTF">2026-09-27T23:25:18Z</dcterms:created>
  <dcterms:modified xsi:type="dcterms:W3CDTF">2026-09-27T23:25:18Z</dcterms:modified>
</cp:coreProperties>
</file>