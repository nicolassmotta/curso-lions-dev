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</p:sldIdLst>
  <p:notesMasterIdLst>
    <p:notesMasterId r:id="rId2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notesMaster" Target="notesMasters/notesMaster1.xml"/><Relationship Id="rId212" Type="http://schemas.openxmlformats.org/officeDocument/2006/relationships/presProps" Target="presProps.xml"/><Relationship Id="rId213" Type="http://schemas.openxmlformats.org/officeDocument/2006/relationships/viewProps" Target="viewProps.xml"/><Relationship Id="rId214" Type="http://schemas.openxmlformats.org/officeDocument/2006/relationships/theme" Target="theme/theme1.xml"/><Relationship Id="rId2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2 — Fundamentos de Programação e Introdução ao Debugging com Node.js.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de abertura (5 minutos) do Módulo 1. Peça para a turma explicar cada cartão com as próprias palavras antes de você falar.
Termine com a pergunta do rodapé. Resposta esperada: a pasta atual (pwd e ls) e o nome do arquivo. Quase sempre o terminal está na pasta errada.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curso: hoje é o Módulo 2 (Fundamentos de Programação e Debugging com Node.js). Os módulos com o sinal de visto já passaram; o laranja é o de hoje.
Adiante o próximo passo: o Módulo 3 (Calculadora e Clínica Médica) depende do que a turma aprender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No fim da aula, volte a este slide e peça para cada um dizer qual item já consegue fazer sozinho.
• Entender o que são JavaScript e Node.js e onde cada um roda.
• Criar variáveis e trabalhar com tipos de dados, operadores e entrada e saída no terminal.
• Controlar o fluxo do programa com condicionais, laços, switch e funções.
• Organizar informações com arrays e objetos.
• Encontrar e corrigir erros usando o debugger do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"No módulo anterior preparamos o ambiente de desenvolvimento. Agora vamos voltar ao JavaScript e ao Node.js para escrever nossos primeiros programas de verdade."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 foi criada por Brendan Eich na Netscape em 1995, em cerca de 10 dias. A ideia inicial era validar formulários direto no navegador, sem precisar enviar os dados ao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deve ser confundida com Java. A semelhança no nome foi estratégia de marketing da época.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 é uma linguagem de programação originalmente usada para o desenvolvimento de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Assembly é uma linguagem de baixo nível, muito próxima das instruções do processador. Mostrar como o JavaScript nos poupa desse nível de detalhe.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Podemos entender como os sites são desenvolvidos com uma analogia a uma casa em construção.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concreto é o esqueleto da casa: paredes, portas e janelas — assim como o HTML.
O CSS é a pintura e a decoração — cores, fontes e layouts.
JavaScript é a eletricidade e o encanamento: dá vida à casa, permitindo interatividade como botões que mudam de cor, mensagens de erro, formulários,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Exemplo: a mesma página só com HTML, com HTML + CSS e com HTML + CSS +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 é uma linguagem robusta, flexível e “fácil” de usar, e tem um potencial muito maior do que só dar interatividade a websites.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Aplicações de servidor usando o Node.js; aplicativos móveis com React Native; aplicações de desktop com Electron (o próprio VS Code é feito com Electron).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 nasceu no navegador, mas o Node.js o levou para o servidor, permitindo aplicações completas.
O Node lida bem com muitas conexões simultâneas sem sobrecarregar o sistema, o que o torna ótimo para aplicações web que precisam escalar.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 é uma linguagem de alto nível, originalmente executada no navegador para criar interatividade em páginas web.
Node.js é um ambiente de execução de JavaScript no servidor, construído sobre o motor V8 do Chrome. É usado para APIs, serviços web e outras aplicações de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"Como um programa funciona?".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Voltando ao exemplo da cozinha…
Explique o fluxo da esquerda para a direita:
• Entrada: Os ingredientes: leite, ovos, farinha…
• Programa: A receita: a sequência de passos que transforma a entrada.
• Saída: O bolo pronto: o resultado que queríamos.
Mensagem principal: Todo programa recebe dados, processa esses dados e devolve um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programa que calcula a média dos alunos:
Explique o fluxo da esquerda para a direita:
• Entrada: As três notas: nota1, nota2 e nota3.
• Programa: Soma as três notas e divide o total por 3.
• Saída: O resultado: a média do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"soma, nota1, nota2, nota3 e resultado guardam valores enquanto o programa roda. Todos eles são variáveis."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"Variáveis". Antes de avançar, faça uma pergunta rápida que ligue o assunto novo ao que a turma já sabe.
Frase de apoio: O que são e como criar variáveis em JavaScript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Variáveis são elementos fundamentais que permitem armazenar e manipular dados em um programa. Elas representam locais na memória onde valores podem ser armazenados e depois recuperados ou modificados.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em relação à versão anterior: const NÃO tem escopo global. let e const têm escopo de bloco (valem só dentro das chaves onde foram criadas). var tem escopo de função e é considerado legado.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let: aceita um novo valor a qualquer momento.
• const: tentar trocar o valor gera TypeError: Assignment to constant variable.
• dica: se o valor não vai mudar (um nome, o ano atual, uma taxa), use const.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muito comum no laboratório: o aluno resolve as atividades uma embaixo da outra no mesmo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Nomear variáveis de forma clara e estruturada é essencial para a leitura e compreensão do código, pelo próprio autor e por outros programadores. A maioria dos erros de iniciantes vem de problemas de sintaxe e de nomes confusos.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camelCase: Primeira letra minúscula e a inicial das outras palavras maiúscula: nomeCompleto. É o padrão para variáveis e funções em JavaScript.
• PascalCase (UpperCamelCase): Todas as iniciais maiúsculas: NomeCompleto. Usado em classes.
• snake_case: Underscore no lugar dos espaços: nome_completo. Comum em Python e bancos de dados.
Mensagem principal: Nomes de arquivos: terminam em .js e não usam acentos nem espaços (ex.: saudacao.js).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"Agora vamos executar nosso primeiro código!"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O primeiro programa: Em quase todas as linguagens, o primeiro programa exibe "Hello World" (Olá, Mundo).
• Curiosidade: Diz a lenda que quem não começa por ele terá má sorte aprendendo a linguagem!
• Objetivo: Fazer o computador exibir uma mensagem com console.log().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(Primeiro código): leia o enunciado em voz alta, combine o tempo (15 a 25 minutos, conforme a turma) e circule pela sala.
• No VS Code, abra o arquivo que você criou (ou crie um chamado teste.js).
• Escreva o comando para exibir a frase: "Estou programando em JavaScript!".
• Salve o arquivo.
• No terminal, execute usando o Node: node teste.js.
Quem terminar antes: tente imprimir o resultado de uma conta, como console.log(10 + 5). O que acontece?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(Variáveis): leia o enunciado em voz alta, combine o tempo (15 a 25 minutos, conforme a turma) e circule pela sala.
• Crie três variáveis: nomeCurso (texto), anoAtual (número) e estaAtivo (verdadeiro ou falso).
• Imprima cada uma no console com uma mensagem explicando o que ela guarda.
Dica: use let para as que podem mudar e const para as que não mudam.
Quem terminar antes: tente alterar o valor de uma variável criada com const e veja o erro que aparece.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(Variáveis): leia o enunciado em voz alta, combine o tempo (15 a 25 minutos, conforme a turma) e circule pela sala.
• Crie duas variáveis, a e b, com os valores 10 e 3.
• Imprima no console: a soma, a diferença, o produto, a divisão e o resto da divisão entre elas.
Dica: cada resultado pode ficar em uma variável própria antes do console.log().
Quem terminar antes: troque os valores de a e b entre si usando uma terceira variável auxiliar.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"Strings". Antes de avançar, faça uma pergunta rápida que ligue o assunto novo ao que a turma já sabe.
Frase de apoio: Nosso primeiro tipo de dado. Alguém sabe o que é uma string?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Uma cadeia de caracteres: Em inglês, "string" é um cordão: uma sequência de letras, números e símbolos.
• Serve para guardar texto: Nomes, mensagens, endereços… tudo que é texto é string.
• Sempre entre aspas: Aspas simples ' ' ou duplas " ". (A crase ` ` veremos logo adiante.)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texto precisa ter aspas, use o outro tipo de aspas por fora:
Digite o código ao vivo, em vez de colar, e explique linha a linha.
Mensagem principal: A barra invertida \ "escapa" o caractere: ele passa a fazer parte do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Concatenar é juntar duas ou mais strings em uma nova, usando o operador +.
Digite o código ao vivo, em vez de colar, e explique linha a linha.
Antes de rodar, peça para a turma prever a saída. Saída esperada:
Olá, João! Hoje é um belo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Interpolação foi trazida para cá porque as atividades desta aula já usam crase e ${ }. Na versão anterior ela só aparecia na aula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Com aspas simples ou duplas, o ${nome} é impresso exatamente do jeito que foi escrito.
• O ${ } só é interpretado dentro da crase ` `.
• Com aspas normais, o JavaScript entende tudo como texto comum.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novo: as atividades de strings já pedem .length e .toUpperCase(), e o switch vai precisar de trim/toLowerCase.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(Strings): leia o enunciado em voz alta, combine o tempo (15 a 25 minutos, conforme a turma) e circule pela sala.
• Abra o terminal e navegue até a pasta do módulo dentro de Documentos.
• Crie uma pasta chamada variaveis e abra o VS Code dentro dela.
• Crie o arquivo saudacao.js e, nele, uma variável nome com o seu nome.
• Crie uma variável mensagem com uma mensagem de olá.
• Use concatenação para unir a mensagem e o nome no formato: Olá, nome.
• Imprima com console.log() e execute o programa com o Node.js.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(Strings): leia o enunciado em voz alta, combine o tempo (15 a 25 minutos, conforme a turma) e circule pela sala.
• Crie as variáveis nome e sobrenome com seus próprios dados.
• Monte uma variável nomeCompleto juntando as duas com um espaço no meio, usando concatenação (+).
• Depois monte a mesma frase usando interpolação (crase e ${ }) e imprima as duas no console.
Quem terminar antes: imprima quantas letras tem o seu nome completo usando .length.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(Strings): leia o enunciado em voz alta, combine o tempo (15 a 25 minutos, conforme a turma) e circule pela sala.
• Crie uma variável cidade com o nome da sua cidade e outra estado com a sigla do estado.
• Imprima uma frase no formato: "Eu moro em [cidade], [estado]." usando interpolação.
Dica: a crase ( ` ) fica na tecla ao lado do 1 no teclado brasileiro.
Quem terminar antes: use .toUpperCase() para imprimir a sigla do estado em letras maiúsculas.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"Interação com o Usuário".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pergunta e espere algumas respostas antes de avançar. Deixe a turma chegar lá antes de você responder.
"Até agora, os valores já estavam escritos nas variáveis. Como fazer o usuário digitar algo (entrada) e o programa responder (saída)?"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O programa passa a "ouvir": Até agora o código era fixo. Agora o usuário digita e o programa usa a resposta.
• A ferramenta: O pacote prompt-sync, instalado pelo npm.
• Instalação (no terminal): Dentro da pasta do projeto, rode os dois comandos ao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CommonJS · require: O padrão tradicional do Node.js. Funciona sem nenhuma configuração extra. (com o código do card)
• ES Modules · import: O padrão moderno. Precisa de "type": "module" no package.json. (com o código do card)
Mensagem principal: Neste módulo vamos usar require. As duas formas fazem a mesma coisa: importar uma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aparece depende da versão do Node (confira com node -v). O warning só aparece quando existe um package.json sem o campo "type"; sem package.json nenhum, o Node recente roda o import sem avisar.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"Antes" x "Depois". Pergunte qual diferença chama mais atenção antes de explicar.
Mensagem principal: Adicione a linha "type": "module", (com a vírgula no final), salve o arquivo e rode de novo: o aviso some.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O projeto inteiro passa a usar import: qualquer require dá ReferenceError.
• Cada projeto usa um sistema só: ou require (CommonJS), ou import (ES Modules).
• Quer testar o import? Crie uma pasta nova, com o próprio package.json, sem mexer no projeto das atividades.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Qual seu nome? Ana
Onde você mora? Ponta Grossa
Olá, Ana, de Ponta Grossa!
Mensagem principal: Com sigint: true, o Ctrl + C encerra o programa. Sem isso, o prompt devolve null e o programa continua rodando.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(Entrada e saída): leia o enunciado em voz alta, combine o tempo (15 a 25 minutos, conforme a turma) e circule pela sala.
• Inicialize o projeto com npm init -y.
• Instale o prompt-sync na sua pasta: npm install prompt-sync.
• Crie um arquivo .js e peça ao usuário o nome do pet e a idade do pet.
• Exiba: "O [NOME] tem [IDADE] anos!".
• Execute com o comando node nomeDoArquivo.js.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(Entrada e saída): leia o enunciado em voz alta, combine o tempo (15 a 25 minutos, conforme a turma) e circule pela sala.
• Peça ao usuário o nome de um produto e o preço dele.
• Imprima no console: "O produto [nome] custa R$ [preço]."
Cuidado: para fazer contas, converta o preço com parseFloat(). Se o usuário digitar vírgula (19,90), troque por ponto antes com .replace(",", ".").
Quem terminar antes: pergunte também a quantidade e mostre o valor total da compra.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(Entrada e saída): leia o enunciado em voz alta, combine o tempo (15 a 25 minutos, conforme a turma) e circule pela sala.
• Peça ao usuário o ano em que ele nasceu e calcule a idade dele.
• Imprima: "Você tem [idade] anos." — lembre-se de converter a entrada com parseInt().
Dica: idade = anoAtual - anoNascimento
Quem terminar antes: informe também em quantos anos a pessoa completará 100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dê uns 30 segundos para a turma pensar e colete palpites (mão levantada ou chat) antes de avançar. Depois da resposta, se der tempo, rode o código na frente de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Imprime 105, e não 15.
• O prompt-sync sempre devolve String. Com texto no meio, o + deixa de somar e passa a juntar (concatenar).
• Converta antes da conta: parseInt() para inteiros, parseFloat() para decimais ou Number().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Pegadinha típica de aluno brasileiro: várias atividades pedem notas e preços com decimais.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"Além do prompt-sync, o Node.js tem uma forma nativa de interagir com o usuário…"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"Stdin e Stdout (extra)". Antes de avançar, faça uma pergunta rápida que ligue o assunto novo ao que a turma já sabe.
Frase de apoio: Conteúdo extra: não será cobrado nas atividades nem na avaliação. É a forma nativa do Node.js de ler e escrever — vale conhecer, mas usaremos o prompt-sync.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que você está digitando uma mensagem. O que você digita é a entrada. O stdin espera pacientemente até você pressionar Enter e então entrega ao programa o que você escreveu.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stdin.on('data'): escuta o que o usuário digita.
• toString(): converte os dados recebidos (Buffer) em texto; trim() tira o Enter do final.
• stdout.write: escreve sem pular linha; por isso o \n.
• process.exit(): encerra o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(Não será cobrada): leia o enunciado em voz alta, combine o tempo (15 a 25 minutos, conforme a turma) e circule pela sala.
• Na pasta variaveis, crie um novo arquivo chamado boas-vindas.js.
• Use o console.log() para perguntar o nome do usuário.
• Usando o stdin, colete o nome digitado e guarde em uma variável nome.
• Crie uma variável saudacao no formato "Olá, Nome".
• Imprima a saudação no console e execute o programa com o Node.js.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Variáveis: Caixas com nome que guardam valores. (com o código do card)
• Strings: Texto entre aspas, que pode ser concatenado ou interpolado. (com o código do card)
• Entrada e Saída: O usuário digita, o programa responde. (com o código do card)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"Concatenação (+)" x "Interpolação (crase e ${ })". Pergunte qual diferença chama mais atenção antes de explicar.
Mensagem principal: As duas geram o mesmo texto: "Olá, João!". A interpolação fica mais legível quando há muitas variáveis.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"Tipos de Dados".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Number: inteiros (int), reais (float), NaN (Not a Number, resultado de contas inválidas como "abc" * 2) e Infinity (ex.: 1 /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novo: a Atividade 2 desta aula pede typeof, que não aparecia em nenhum slide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"Operadores".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+ Adição: (com o código do card)
• - Subtração: (com o código do card)
• * Multiplicação: (com o código do card)
• / Divisão: (com o código do card)
• % Módulo (resto): (com o código do card)
Mensagem principal: Funcionam como na matemática. O % devolve o resto da divisão: ótimo para saber se um número é 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erro de média mais comum entre iniciantes.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Node leu: let soma = nota1 + nota2(nota1 + nota2) / 2. Como nota2 é um número, "chamar" nota2 dá TypeError. O mesmo acontece com uma linha que começa com [ (vira acesso a índice da linha anterior).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0.1 + 0.2: o computador guarda decimais em binário, e alguns valores ficam com uma "sobra" minúscula. Não é bug do seu código.
• toFixed(2): arredonda para 2 casas na hora de mostrar.
• texto: o toFixed devolve string: use só para exibir, não para continuar fazendo contas.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Se houver um texto no meio de uma soma, o JavaScript desiste da matemática e gruda os valores.
• É por isso que usamos parseInt(), parseFloat() ou Number() nas respostas do prompt-sync.
• Eles garantem que o texto vire número de verdade antes da conta acontecer.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(Operadores): leia o enunciado em voz alta, combine o tempo (15 a 25 minutos, conforme a turma) e circule pela sala.
• Usando entrada e saída, desenvolva um programa que peça ao usuário duas notas e calcule a média entre elas.
Cuidado: a nota pode ter casas decimais. Converta com parseFloat(), trocando a vírgula por ponto, e mostre a média com .toFixed(1).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(Tipos de dados): leia o enunciado em voz alta, combine o tempo (15 a 25 minutos, conforme a turma) e circule pela sala.
• Crie uma variável para cada tipo de dado que vimos: string, number, boolean e undefined.
• Use o operador typeof para imprimir o tipo de cada uma no console.
Dica: console.log(typeof minhaVariavel) mostra o tipo em forma de texto.
Quem terminar antes: crie uma variável com o valor "7" (com aspas) e outra com 7 (sem aspas) e compare os tipos.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Strings: Concatenação com + ou interpolação com crase. (com o código do card)
• Tipos: string, number, boolean, undefined, null e object. (com o código do card)
• Operadores: Contas como na matemática, e % para o resto. (com o código do card)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"Mais alguns operadores bem úteis…"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"Forma longa" x "Forma curta". Pergunte qual diferença chama mais atenção antes de explicar.
Mensagem principal: Também existem *= e /=. O ++ e o -- somam ou subtraem exatamente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"Condicionais". Antes de avançar, faça uma pergunta rápida que ligue o assunto novo ao que a turma já sabe.
Frase de apoio: Fazendo o programa tomar decisões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Se: Se (alguma condição), então { uma ação }.
• Senão: Se nenhuma condição for verdadeira, faça { uma ação geral }.
• Senão, se: Testa outra condição quando a anterior foi falsa. Pode haver quantos você precisar.
Mensagem principal: O JavaScript testa de cima para baixo e executa só o primeiro bloco cuja condição for verdadeira.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Recuperação
Destaques:
• if (nota &gt;= 7): falso para 6: pula este bloco.
• else if (nota &gt;= 5): verdadeiro: imprime "Recuperação" e para aqui.
• else: só roda se todas as condições anteriores forem falsas.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"Assim dá erro" x "Assim funciona". Pergunte qual diferença chama mais atenção antes de explicar.
Mensagem principal: Com let ou const, a variável criada dentro de { } só existe dentro dessas chaves. Declare antes do bloco e atribua o valor dentro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"Operadores de Comparação". Antes de avançar, faça uma pergunta rápida que ligue o assunto novo ao que a turma já sabe.
Frase de apoio: Eles comparam valores e sempre devolvem true ou false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Correção: na versão anterior, o exemplo do !== repetia o !=.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&gt; Maior: (com o código do card)
• &lt; Menor: (com o código do card)
• &gt;= Maior ou igual: (com o código do card)
• &lt;= Menor ou igual: (com o código do card)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Entre textos, "10" &gt; "9" é false: a comparação é caractere por caractere, como no dicionário.
• O "1" vem antes do "9", então o texto "10" é considerado "menor".
• Tudo que vem do prompt é texto: converta antes de comparar números.
• Em textos, maiúsculas contam: "Ana" === "ana" é false.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"Operadores Lógicos". Antes de avançar, faça uma pergunta rápida que ligue o assunto novo ao que a turma já sabe.
Frase de apoio: Combinando várias condições em uma só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Correção: a versão anterior dizia que o &amp;&amp; "retorna verdadeiro se ambos tiverem o mesmo valor", o que é falso (false &amp;&amp; false é false).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do ar-condicionado: para ligar com &amp;&amp;, porta E janela precisam estar fechadas. Com ||, basta estar frio OU abafado.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&amp;&amp;: a janela está aberta, então o resultado é false.
• ||: está abafado, então já é true.
• !: inverte: !false vira true.
• !( ): os parênteses fazem o ! inverter o resultado da expressão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Podemos juntar várias condições em uma só:
Digite o código ao vivo, em vez de colar, e explique linha a linha.
Mensagem principal: Os parênteses definem a ordem: primeiro o ||, depois os &amp;&amp;. Liga se estiver frio ou abafado, e tudo estiver fechado.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novo: o próximo quiz (= × ==) depende desse conceito.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dê uns 30 segundos para a turma pensar e colete palpites (mão levantada ou chat) antes de avançar. Depois da resposta, se der tempo, rode o código na frente de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Imprime "Tem 20 anos" — mesmo a idade sendo 18!
• O = sozinho atribui: troca o valor de idade para 20 e devolve 20, que é truthy.
• O == compara valores (18 == "18" é verdadeiro). O === compara valor e tipo (18 === "18" é falso).
• Dentro de um if, use sempre == ou ===. Um = ali é quase sempre um bug.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atividade estava na prática de Operadores, antes de condicionais serem ensinadas. Foi movida para cá.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(Condicionais): leia o enunciado em voz alta, combine o tempo (15 a 25 minutos, conforme a turma) e circule pela sala.
• Desenvolva um programa que peça ao usuário um número e diga se ele é ímpar ou par.
Dica: use o operador módulo (%): se numero % 2 === 0, o número é par. Não se esqueça de tratar o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(Condicionais): leia o enunciado em voz alta, combine o tempo (15 a 25 minutos, conforme a turma) e circule pela sala.
• Pergunte se o usuário gosta de café.
• Use uma condicional para salvar a resposta em uma variável booleana gostaDeCafe.
• Com base nela, crie outra condicional para imprimir uma mensagem personalizada caso ele goste e outra caso não goste.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(Condicionais): leia o enunciado em voz alta, combine o tempo (15 a 25 minutos, conforme a turma) e circule pela sala.
• Peça o nome e a idade do usuário e imprima em que ano ele nasceu.
• Para facilitar, crie uma constante com o ano atual: assim não é preciso pedir mais uma entrada.
Cuidado: a idade deve ser um número inteiro. Na mensagem, fale das duas possibilidades: se ele já fez aniversário este ano ou se ainda não fez (um ano a menos).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(Condicionais): leia o enunciado em voz alta, combine o tempo (15 a 25 minutos, conforme a turma) e circule pela sala.
• Pergunte o nome e a idade do usuário.
• Se for maior de idade, imprima: "Nome, você já é maior de idade."
• Se for menor, imprima: "Nome, você vai ser maior de idade em X anos." (calcule quantos anos faltam).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if / else: Executa um bloco ou outro, dependendo de um teste. (com o código do card)
• Comparação: Sempre devolve true ou false. Prefira === e !==. (com o código do card)
• Lógicos: &amp;&amp;: as duas. ||: basta uma. !: inverte. (com o código do card)
Mensagem principal: Dentro de um if, um único = é quase sempre um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"Arrays". Antes de avançar, faça uma pergunta rápida que ligue o assunto novo ao que a turma já sabe.
Frase de apoio: Guardando vários valores em uma só variável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Uma lista de valores: Permite armazenar vários valores em uma única variável.
• Qualquer tipo: Números, strings, booleanos, objetos e até outros arrays.
• Como um conjunto da matemática: Os elementos ficam entre colchetes [ ], separados por vírgula.
• Acessado por índice: Cada elemento tem uma posição, e a contagem começa no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Colchetes [ ] abrem e fecham o array. Cada item é separado por vírgula.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o índice começa em 0: o primeiro elemento é exemplo[0] e o último é exemplo[exemplo.length - 1].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Acessar uma posição que não existe não dá erro: devolve undefined.
• O último índice é sempre length - 1: num array de 3 itens, os índices vão de 0 a 2.
• Guarde isso para os laços: percorrer com i &lt;= lista.length faz a última volta imprimir undefined.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push: Adiciona no fim.
• pop: Remove o último.
• unshift: Adiciona no início.
• shift: Remove o primeiro.
• splice: Remove itens de uma posição específica.
• includes: O item existe? (true/false)
• indexOf: Em que posição está? (-1 se não existe)
• length: Quantos itens o array 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push e pop trabalham no fim do array; unshift e shift no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O const impede trocar o array por outro, mas não impede mudar o que tem dentro.
• push, pop e splice funcionam normalmente num array criado com const.
• O que dá erro é reatribuir: lista = [...]. Vale o mesmo para objetos.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Correção: na versão anterior, o exemplo com o array numeros chamava personagensPrincipais.splice.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(Arrays): leia o enunciado em voz alta, combine o tempo (15 a 25 minutos, conforme a turma) e circule pela sala.
Vamos praticar arrays com uma dinâmica entre vocês! Esta atividade não precisa de entrada do usuário.
• Crie um array minhaMesa com os nomes dos alunos que sentam na sua mesa, incluindo você.
• Imprima: "Meu nome é NOME, meus colegas são COLEGA, COLEGA, COLEGA."
• Use interpolação e acesse cada nome pela posição no array, da esquerda para a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(Arrays): leia o enunciado em voz alta, combine o tempo (15 a 25 minutos, conforme a turma) e circule pela sala.
• Peça ao usuário duas notas (prova1 e prova2), uma de cada vez.
• Guarde as notas em um array notas e calcule a média usando as posições do array.
• Imprima uma mensagem com o resultado da média.
Dica: crie o array notas vazio, converta cada entrada com parseFloat() (trocando vírgula por ponto) e use push() para adicionar as notas.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(Arrays): leia o enunciado em voz alta, combine o tempo (15 a 25 minutos, conforme a turma) e circule pela sala.
Vamos criar um pequeno gerenciador de tarefas!
• Comece com um array vazio listaTarefas e peça ao usuário 3 tarefas do dia, uma de cada vez.
• Imprima: "Você tem X tarefas na sua lista."
• Simule que a última tarefa foi concluída: remova o último item e imprima a lista atualizada.
Dica: use push() para adicionar, .length para contar e pop() para remover. Para imprimir a lista de um jeito mais legível, pesquise o método join().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Criar e acessar: Vários valores em uma variável. Índices começam no 0. (com o código do card)
• Adicionar e remover: Nas pontas ou em uma posição específica. (com o código do card)
• Consultar: Existe? Onde está? Quantos são? (com o código do card)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"Objetos". Antes de avançar, faça uma pergunta rápida que ligue o assunto novo ao que a turma já sabe.
Frase de apoio: Guardando informações relacionadas com nome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Informações relacionadas juntas: Permite armazenar e organizar dados que pertencem à mesma "coisa": um carro, uma pessoa.
• Pares de chave e valor: Cada propriedade tem um nome (a chave) e um valor associado.
• Valores de qualquer tipo: As propriedades podem guardar strings, números, arrays e até funções.
• Notação de ponto: Acessamos e alteramos com objeto.propriedade.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Array: lista numerada: Cada valor é acessado pela posição (índice). (com o código do card)
• Objeto: lista nomeada: Cada valor é acessado pelo nome da chave. (com o código do card)
Mensagem principal: Parecidos, mas com funções diferentes: com um objeto, você não precisa lembrar em que posição cada informação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{ }: as chaves abrem e fecham o objeto.
• chave: valor: cada propriedade tem um nome, dois-pontos e o valor.
• ,: a vírgula separa uma propriedade da outra.
• nomes: as chaves seguem as regras de variáveis: camelCase, sem acento e sem espaço.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Correção: a versão anterior tinha "horário: manhã" — sem aspas, manhã seria tratado como variável e daria ReferenceError; e o acento na chave foge da convenção.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Colocar o objeto inteiro dentro de um texto imprime [object Object].
• Na interpolação, acesse as propriedades: `${carro.modelo}`.
• Para ver o objeto inteiro, passe ele sozinho: console.log(carro).
• Propriedade que não existe devolve undefined, sem erro: confira o nome da chave.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latir: uma propriedade cujo valor é uma função: chamamos isso de método.
• cachorro.latir(): os parênteses executam o método.
• console.log: você já usa um método desde a primeira aula: log é um método do objeto console!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(Objetos): leia o enunciado em voz alta, combine o tempo (15 a 25 minutos, conforme a turma) e circule pela sala.
Esta atividade não precisa de entrada do usuário.
• Crie um objeto com as informações da sua pintura favorita (se ainda não tiver uma, pesquise e escolha).
• Ele deve ter as propriedades: nomePintura, nomeArtista, ano e significado (uma frase curta).
• Imprima: "Minha pintura favorita é … feita por … em … e significa …".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(Objetos): leia o enunciado em voz alta, combine o tempo (15 a 25 minutos, conforme a turma) e circule pela sala.
• Crie um objeto livro com as propriedades: titulo, autor, ano e paginas.
• Imprima usando interpolação: "[titulo], de [autor], tem [paginas] páginas."
Dica: acesse cada valor com a notação de ponto, como livro.titulo.
Quem terminar antes: adicione a propriedade lido com valor booleano e imprima se você já leu 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Chave e valor: Informações relacionadas, cada uma com um nome. (com o código do card)
• Notação de ponto: No array o acesso é por índice; no objeto, pelo nome. (com o código do card)
• Métodos: Funções guardadas dentro do objeto. (com o código do card)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"Laços de Repetição". Antes de avançar, faça uma pergunta rápida que ligue o assunto novo ao que a turma já sabe.
Frase de apoio: Fazendo o computador repetir o trabalho por nós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Repetir comandos: Executam o mesmo bloco de código várias vezes, sem precisar copiar e colar.
• Enquanto a condição for verdadeira: A repetição continua enquanto uma condição for satisfeita e para quando ela fica falsa.
• Principais laços: for, while, do…while e forEach.
• Muito usados com arrays: Percorrer listas, processar dados e fazer contas sequenciais.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for quando você sabe de antemão quantas repetições são necessárias.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i &lt;= 5: com &lt;=, o laço imprime de 0 a 5: 6 voltas.
• i = i + 1: i += 1 e i++ fazem exatamente a mesma coisa.
• let i: declarada fora, a variável continua existindo depois do laço.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bom dia
Destaques:
• while: repete enquanto a condição for verdadeira.
• horas &lt; 12: é testada antes de cada volta: se já começar falsa, o bloco nem executa.
• horas++: sem isso, a condição nunca fica falsa.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do…while
Destaques:
• do { }: executa o bloco primeiro e testa a condição depois.
• diferença: o do…while sempre roda pelo menos uma vez, mesmo com a condição falsa.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11
12
13
Destaques:
• forEach: passa por todos os elementos do array, um por um.
• (hora) =&gt;: uma função curta que recebe cada elemento. Veremos em detalhes na parte de Funções.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maçã
banana
abacaxi
Destaques:
• for...of: passa por cada elemento do array, sem precisar de índice.
• let fruta: a cada volta, recebe o próximo elemento.
• quando usar: quando você só precisa dos valores. Se precisar da posição, use o for com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1
2
4
5
Destaques:
• continue: pula o resto desta volta e vai direto para a próxima.
• break: encerra o laço na hora. É o mesmo break que aparece no switch.
• uso comum: parar um laço de palpites quando o usuário acerta.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dê uns 30 segundos para a turma pensar e colete palpites (mão levantada ou chat) antes de avançar. Depois da resposta, se der tempo, rode o código na frente de todos.
Pergunta do slide: Olhe com atenção o que acontece com a variável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Infinitas vezes: o programa trava e você precisa parar com Ctrl + C no terminal.
• A variável i nunca muda de valor, então i &lt; 5 é verdadeiro para sempre.
• Todo while precisa de algo que faça a condição virar falsa: i++ ou i = i + 1 dentro do bloco.
• No for isso já vem embutido na terceira parte: for (let i = 0; i &lt; 5; i++).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(Laços): leia o enunciado em voz alta, combine o tempo (15 a 25 minutos, conforme a turma) e circule pela sala.
• Pergunte ao usuário qual tabuada ele deseja ver e salve o número em uma variável.
• Use um laço for para calcular e mostrar a tabuada de forma formatada no console.
Dica: a condição do for vai de 1 (ou 0) até 10, e a conta é tabuada * i.
Quem terminar antes: faça o programa calcular até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(Laços): leia o enunciado em voz alta, combine o tempo (15 a 25 minutos, conforme a turma) e circule pela sala.
• Crie um array listaDeCompras com quatro itens: "Arroz", "Feijão", "Macarrão" e "Carne".
• Use um laço for que vá de 0 até o tamanho do array (usando .length).
• Imprima cada item no formato: "Item: [nome do item]".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(Laços): leia o enunciado em voz alta, combine o tempo (15 a 25 minutos, conforme a turma) e circule pela sala.
• Crie uma variável temperaturaAgua começando em 90.
• Use um laço while que se repita enquanto a temperatura for menor que 100.
• Dentro do laço, imprima "A temperatura está em [valor] graus. Aquecendo..." e aumente a temperatura em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(Laços): leia o enunciado em voz alta, combine o tempo (15 a 25 minutos, conforme a turma) e circule pela sala.
• Um evento vendeu ingressos em cinco lotes: lotes = [50, 40, 60, 30, 70].
• Crie uma variável totalIngressos começando em 0.
• Use um laço for para percorrer o array e somar todos os valores em totalIngressos.
• Ao final, imprima: "O total de ingressos vendidos foi: [total]".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(Laços): leia o enunciado em voz alta, combine o tempo (15 a 25 minutos, conforme a turma) e circule pela sala.
Agora vamos trabalhar a lógica!
• Percorra os números de 0 a 999 com um for.
• Some separadamente os pares e os ímpares (se numero % 2 === 0, é par) e conte quantos há de cada.
• Mostre as duas somas e os dois totais.
Dica: crie somaPares, somaImpares, totalPares e totalImpares. Use += nas somas e ++ nos totais.
Quem terminar antes: calcule a média de pares e de ímpares (somaPares / totalPares) e imprima qual das duas somas foi maior.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atividade estava na prática de Objetos, mas usa laço, que ainda não tinha sido ensinado. Foi movida para cá.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for: Quando você sabe quantas vezes vai repetir. (com o código do card)
• while: Repete enquanto a condição for verdadeira; pode nem executar. (com o código do card)
• do…while: Executa pelo menos uma vez antes de testar. (com o código do card)
• forEach: Percorre todos os elementos de um array. (com o código do card)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"Switch". Antes de avançar, faça uma pergunta rápida que ligue o assunto novo ao que a turma já sabe.
Frase de apoio: Uma alternativa a vários if encadeados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comparamos a mesma variável com vários valores, os if se acumulam:
Digite o código ao vivo, em vez de colar, e explique linha a linha.
Mensagem principal: O switch organiza esse tipo de decisão de um jeito mais limpo.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"switch" x "if … else if". Pergunte qual diferença chama mais atenção antes de explicar.
Mensagem principal: Cada case é um valor possível; o default é o "senão".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"switch" x "if … else if". Pergunte qual diferença chama mais atenção antes de explicar.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"switch (true)" x "if … else if". Pergunte qual diferença chama mais atenção antes de explicar.
Mensagem principal: Com switch (true), entra no primeiro case cuja condição for verdadeira.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dê uns 30 segundos para a turma pensar e colete palpites (mão levantada ou chat) antes de avançar. Depois da resposta, se der tempo, rode o código na frente de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Imprime "Siga!" e "Pare!" — os dois, mesmo a cor sendo verde.
• Quando um case dá certo, o switch continua executando os casos seguintes até encontrar um break.
• Isso se chama fall-through e é uma das maiores pegadinhas do switch.
• Coloque break ao final de cada case,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(Switch): leia o enunciado em voz alta, combine o tempo (15 a 25 minutos, conforme a turma) e circule pela sala.
• Receba do usuário (prompt-sync ou stdin) o gênero do filme: "Ação", "Comédia", "Terror" ou "Animação".
• Use switch para imprimir em qual sala o filme passará: Ação → Sala 1, Comédia → Sala 2, Terror → Sala 3, Animação → Sala 4.
• No default, imprima: "Gênero não encontrado. Verifique as opções válidas."
Dica: use genero.trim().toLowerCase() e escreva os cases em minúsculas (case "ação":). Assim, "Ação", "AÇÃO" ou " ação " funcionam.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(Switch): leia o enunciado em voz alta, combine o tempo (15 a 25 minutos, conforme a turma) e circule pela sala.
• Receba uma nota de 0 a 100 e, usando switch, devolva a classificação:
• 90 a 100 → "A" · 80 a 89 → "B" · 70 a 79 → "C" · 60 a 69 → "D" · 0 a 59 → "F".
• Caso padrão: "Nota inválida".
Dica: use switch (true) e, em cada caso, condições como case (nota &gt;= 90 &amp;&amp; nota &lt;= 100):.
Quem terminar antes: peça a nota ao usuário e diga também se ele foi aprovado (C para cima) ou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(Switch): leia o enunciado em voz alta, combine o tempo (15 a 25 minutos, conforme a turma) e circule pela sala.
• Crie uma variável codigoProduto com o valor "A1", "B2" ou "C3".
• Use switch para imprimir o salgadinho escolhido: A1 → Batata Chips, B2 → Amendoim, C3 → Biscoito de Chocolate.
• No default: "Código inválido. Tente novamente."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Estrutura: Compara a mesma variável com vários valores possíveis. (com o código do card)
• break: Impede que os casos seguintes executem. Sem ele, acontece o fall-through.
• default: O caminho "senão": roda quando nenhum case bateu.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"Funções". Antes de avançar, faça uma pergunta rápida que ligue o assunto novo ao que a turma já sabe.
Frase de apoio: Escreva uma vez, use quantas vezes quiser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Um bloco reutilizável: Agrupa instruções para realizar uma tarefa específica. Você escreve uma vez e "chama" quantas vezes precisar.
• Entrada e saída: Recebe dados (parâmetros), processa de forma isolada e devolve um resultado (retorno).
• Uma mini-fábrica: Você define como ela funciona uma vez; depois é só enviar os materiais para ela fazer o trabalho pesado.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function: palavra que cria a função.
• nomeDaFuncao: segue as regras de variáveis (camelCase). Use um verbo: calcularMedia.
• (parametros): os valores que entram. Pode não ter nenhum.
• return: o valor que sai. Também é opcional.
• nomeDaFuncao(): a função só executa quando é chamada.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Sistema iniciado com sucesso!
Bem-vindo(a), Ana!
Bem-vindo(a), Carlos!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return: devolve o valor para quem chamou a função e encerra a execução dela.
• let resultado: o valor devolvido pode ser guardado em uma variável e usado depois.
• sem return: a função só executa uma ação (como um console.log) e devolve undefined.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confusão número um de quem está aprendendo funções.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Correção: na versão anterior este slide tinha o título "Por que usar funções?", mas o conteúdo era sobre arrow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"O jeito tradicional" x "Arrow Function". Pergunte qual diferença chama mais atenção antes de explicar.
Mensagem principal: Na arrow function, a função é guardada em uma const, e os parâmetros vêm antes da flecha =&gt;.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(Funções): leia o enunciado em voz alta, combine o tempo (15 a 25 minutos, conforme a turma) e circule pela sala.
• Crie uma função calcularMedia que receba três notas como parâmetros e retorne a média delas.
• Chame a função com as notas 7, 8.5 e 6 e imprima: "A média é [valor]".
Dica: some os três parâmetros, divida por 3 e use return para devolver o resultado.
Quem terminar antes: faça a função retornar também "Aprovado" (média maior ou igual a 7) ou "Reprovado".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(Funções): leia o enunciado em voz alta, combine o tempo (15 a 25 minutos, conforme a turma) e circule pela sala.
• Crie uma função saudacao que receba o nome do usuário e imprima "Bem-vindo(a), [nome]!".
• Use o prompt-sync para perguntar o nome e passe esse valor para a função.
Dica: a função não precisa de return, pois ela mesma faz o console.log().
Quem terminar antes: adicione um segundo parâmetro com o período do dia (manhã, tarde ou noite) e monte a saudação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(Funções): leia o enunciado em voz alta, combine o tempo (15 a 25 minutos, conforme a turma) e circule pela sala.
• Crie uma função verificarIdade que receba a idade e retorne se a pessoa é maior ou menor de idade.
• Peça a idade pelo console e converta a entrada com parseInt() antes de passar para a função.
Dica: use uma condicional dentro da função e return para devolver o texto.
Quem terminar antes: reescreva a mesma função usando Arrow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(Funções): leia o enunciado em voz alta, combine o tempo (15 a 25 minutos, conforme a turma) e circule pela sala.
• Crie uma função somarLista que receba um array de números e retorne a soma de todos os elementos.
• Teste com [10, 20, 30, 40, 50] e imprima o total no console.
Dica: crie total começando em 0, percorra o array com um laço e vá somando.
Quem terminar antes: crie outra função que receba o mesmo array e retorne o maior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Declaração: Bloco reutilizável, executado quando é chamado. (com o código do card)
• Parâmetros e retorno: Parâmetros entram; o return sai. Sem return, a função só executa uma ação. (com o código do card)
• Arrow Function: A forma moderna e mais curta. (com o código do card)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"Debug". Antes de avançar, faça uma pergunta rápida que ligue o assunto novo ao que a turma já sabe.
Frase de apoio: Encontrando e corrigindo erros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maioria dos erros de iniciantes é de sintaxe. Erros de sintaxe e de execução aparecem no terminal com o número da linha; erros de lógica exigem investigação.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soma: 78
39
Destaques:
• console.log: a forma mais simples de depurar: imprimir o valor no meio do código.
• '7': o log mostra soma: 78: o 7 chegou como texto e foi concatenado!
• correção: converter a entrada com parseFloat() antes da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da esquerda para a direita:
• 1. Breakpoint: Clique à esquerda do número da linha para marcar onde pausar.
• 2. Iniciar: Menu Run and Debug (Ctrl + Shift + D) → Node.js, ou F5.
• 3. Avançar: F10 passa por cima da linha; F11 entra na função.
• 4. Observar: Veja os valores em VARIABLES e WATCH a cada passo.
Mensagem principal: O Node.js também tem um debugger no terminal: node inspect arquivo.js.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isso, os alunos não conseguem depurar nenhuma das atividades com entrada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O ponto vermelho na margem é um breakpoint: a execução pausa naquela linha.
• Em VARIABLES você vê o valor real de cada variável no momento da pausa.
• Aqui a = 4 e b = 5: exatamente o que foi passado para multiplicar(4,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Os botões no topo avançam o código uma linha por vez (step over / step into).
• A cada passo, o painel mostra como as variáveis mudam de valor.
• Repare que resultado ficou -1: sinal de que a lógica da conta está errada.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O programa não quebrou e não mostrou erro: ele apenas devolveu o valor errado.
• 4 x 5 deveria dar 20, mas o retorno foi -1 porque a função subtrai em vez de multiplicar.
• Esse é o tipo de bug que o debug encontra: o console sozinho não acusa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"Ferramentas Úteis". Antes de avançar, faça uma pergunta rápida que ligue o assunto novo ao que a turma já sabe.
Frase de apoio: Recursos nativos que vão aparecer bastante daqui pra frente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Para humanos, não para máquinas: Anotações para você mesmo no futuro ou para a sua equipe.
• O Node.js ignora: Comentários não afetam a velocidade nem o resultado do programa.
• // e /* */: // para recados curtos; /* */ para textos longos ou para "desligar" um trecho durante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Math é a biblioteca matemática nativa do JavaScript — muito mais do que números aleatórios.
Pontos para falar:
• Constantes: Valores universais como o Pi: Math.PI.
• Arredondamentos: Mais próximo (round), para cima (ceil), para baixo (floor) ou cortar as decimais (trunc).
• Potências e raízes: Raiz quadrada (sqrt), raiz cúbica (cbrt) e potência (pow).
• Valor absoluto: A distância até o zero, ignorando o sinal: 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novo: o Exercício 6 usa essa fórmula.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Proteção contra erros: Captura erros e impede que o programa feche sozinho no meio da execução.
• try: O bloco com o código que vamos "tentar" executar (e que tem risco de falhar).
• catch: Se der erro no try, o programa não quebra: ele cai no catch, onde avisamos o usuário de forma elegante.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Ops! Aconteceu um erro, mas o sistema continua.
O que falhou: palavra.funcaoInexistente is not a function
O programa chegou ao fim, sem fechar no meio!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Atrasar ou repetir: Executam código com base no tempo real do relógio, em milissegundos (1000 ms = 1 s).
• setTimeout: Executa uma ação uma única vez depois de X milissegundos (ex.: tela de "carregando").
• setInterval: Repete uma ação a cada X milissegundos (ex.: um cronômetro). Para parar: clearInterval.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Preparando o ambiente...
Passou 1 segundo(s)...
Passou 2 segundo(s)...
Ambiente carregado após 3 segundos!
Passou 3 segundo(s)...
Passou 4 segundo(s)...
Passou 5 segundo(s)...
O tempo esgotou!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Strings têm métodos nativos (funções prontas) para manipular, limpar e formatar texto.
Pontos para falar:
• trim, toLowerCase e toUpperCase: Limpam os espaços das pontas e padronizam tudo em minúsculas ou maiúsculas.
• split: Corta uma frase e transforma as palavras em um array.
• replace: Substitui uma palavra por outra dentro do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Texto limpo: "sim, eu quero aprender node.js!"
Palavras separadas: [ 'A', 'turma', 'é', 'espetacular' ]
Frase com censura: A turma é ***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File System: O fs é o módulo nativo do Node.js para ler e escrever arquivos no computador.
• Os dados não se perdem: O que o programa salva continua lá mesmo depois que você fecha o terminal.
• De script a software: Transforma um script temporário em um programa que guarda informações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Ajuste: a versão anterior usava import fs from "fs", mas o módulo inteiro usa require. Sem "type": "module" no package.json, o import quebra. O arquivo tarefas.txt aparece na pasta do projeto depois da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"Revisão Geral".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Lembra da receita de bolo? O programa é essa sequência de passos.
Explique o fluxo da esquerda para a direita:
• Entrada: O que o usuário digita ou o que já está nas variáveis.
• Algoritmo: A sequência de passos: condicionais, laços, funções…
• Saída: O resultado exibido no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Mapear com a turma: entrada (prompt), algoritmo (função + condicional) e saída (console.log). É a Atividade 5 de Condicionais, agora organizada em uma função.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Cheat sheet para os alunos fotografarem ou imprimirem.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"Exercícios de Revisão para Avaliação".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(Revisão): leia o enunciado em voz alta, combine o tempo (15 a 25 minutos, conforme a turma) e circule pela sala.
Lógica · Par ou ímpar sem %
• Peça um número ao usuário e descubra se ele é par usando apenas subtrações sucessivas em um laço.
• Enquanto o número for maior ou igual a 2, subtraia 2. Ao final, se sobrar 0 é par; se sobrar 1 é ímpar.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(Revisão): leia o enunciado em voz alta, combine o tempo (15 a 25 minutos, conforme a turma) e circule pela sala.
Boletim da turma
• Crie um array com 5 notas. Percorra com um laço e calcule a média.
• Ao final, imprima: "Aprovado" (média maior ou igual a 7), "Recuperação" (entre 5 e 7) ou "Reprovado" (abaixo de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(Revisão): leia o enunciado em voz alta, combine o tempo (15 a 25 minutos, conforme a turma) e circule pela sala.
Contador de palavras
• Peça uma frase ao usuário e descubra quantas palavras ela tem.
Dica: use .split(" ") para transformar a frase em um array e .length para contar os itens.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(Revisão): leia o enunciado em voz alta, combine o tempo (15 a 25 minutos, conforme a turma) e circule pela sala.
Cadastro de produtos
• Crie uma função cadastrarProduto(nome, preco, quantidade) que devolva um objeto com essas três propriedades.
• Chame a função três vezes, guarde os objetos em um array e imprima o valor total do estoque (preço x quantidade de cada um, somados).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(Revisão): leia o enunciado em voz alta, combine o tempo (15 a 25 minutos, conforme a turma) e circule pela sala.
Lógica · Tabuada com switch
• Peça ao usuário um número de 1 a 5 e, usando switch, imprima a tabuada correspondente com um laço.
• Se o número estiver fora do intervalo, o default deve avisar o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(Revisão): leia o enunciado em voz alta, combine o tempo (15 a 25 minutos, conforme a turma) e circule pela sala.
Lógica · Adivinhe o número
• Sorteie um número de 1 a 10 com Math.floor(Math.random() * 10) + 1.
• Use um laço para pedir palpites até o usuário acertar, avisando se o palpite foi alto ou baixo. No final, mostre quantas tentativas ele usou.
Dica: use break para sair do laço quando acertar, e sigint: true no prompt-sync para conseguir encerrar com Ctrl +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QR code e peça para a turma abrir a pasta modulo02 no celular agora, antes de ir embora.
Lembre o que tem lá: conteudo, exercicios_slides, lista_de_exercicios, exercicios_resolvidos. O cheat sheet do módulo fica em conteudo/ e resume a aula em duas páginas.
Link: https://github.com/nicolassmotta/curso-lions-dev/tree/main/modulo02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retome os objetivos do começo, abra para dúvidas e lembre onde ficam a lista de exercícios e o material no repositório.
Frase de saída: Dúvidas? Bora praticar: é programando que se aprende a programar.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4-2.jp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jp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2-2.png"/><Relationship Id="rId4" Type="http://schemas.openxmlformats.org/officeDocument/2006/relationships/image" Target="../media/image-2-4.png"/><Relationship Id="rId5" Type="http://schemas.openxmlformats.org/officeDocument/2006/relationships/image" Target="../media/image-1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3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4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6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7-2.png"/><Relationship Id="rId3" Type="http://schemas.openxmlformats.org/officeDocument/2006/relationships/image" Target="../media/image-2-4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2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2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5-3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4.png"/><Relationship Id="rId3" Type="http://schemas.openxmlformats.org/officeDocument/2006/relationships/image" Target="../media/image-35-4.png"/><Relationship Id="rId4" Type="http://schemas.openxmlformats.org/officeDocument/2006/relationships/image" Target="../media/image-3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5-4.png"/><Relationship Id="rId3" Type="http://schemas.openxmlformats.org/officeDocument/2006/relationships/image" Target="../media/image-68-3.png"/><Relationship Id="rId4" Type="http://schemas.openxmlformats.org/officeDocument/2006/relationships/image" Target="../media/image-68-4.png"/><Relationship Id="rId5" Type="http://schemas.openxmlformats.org/officeDocument/2006/relationships/image" Target="../media/image-68-5.png"/><Relationship Id="rId6" Type="http://schemas.openxmlformats.org/officeDocument/2006/relationships/image" Target="../media/image-68-6.png"/><Relationship Id="rId7" Type="http://schemas.openxmlformats.org/officeDocument/2006/relationships/image" Target="../media/image-6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5-4.png"/><Relationship Id="rId3" Type="http://schemas.openxmlformats.org/officeDocument/2006/relationships/image" Target="../media/image-22-5.png"/><Relationship Id="rId4" Type="http://schemas.openxmlformats.org/officeDocument/2006/relationships/image" Target="../media/image-1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6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2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04-2.png"/><Relationship Id="rId3" Type="http://schemas.openxmlformats.org/officeDocument/2006/relationships/image" Target="../media/image-104-3.png"/><Relationship Id="rId4" Type="http://schemas.openxmlformats.org/officeDocument/2006/relationships/image" Target="../media/image-10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06-2.png"/><Relationship Id="rId3" Type="http://schemas.openxmlformats.org/officeDocument/2006/relationships/image" Target="../media/image-22-5.png"/><Relationship Id="rId4" Type="http://schemas.openxmlformats.org/officeDocument/2006/relationships/image" Target="../media/image-106-4.png"/><Relationship Id="rId5" Type="http://schemas.openxmlformats.org/officeDocument/2006/relationships/image" Target="../media/image-10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06-2.png"/><Relationship Id="rId3" Type="http://schemas.openxmlformats.org/officeDocument/2006/relationships/image" Target="../media/image-119-3.png"/><Relationship Id="rId4" Type="http://schemas.openxmlformats.org/officeDocument/2006/relationships/image" Target="../media/image-1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21-2.png"/><Relationship Id="rId3" Type="http://schemas.openxmlformats.org/officeDocument/2006/relationships/image" Target="../media/image-121-3.png"/><Relationship Id="rId4" Type="http://schemas.openxmlformats.org/officeDocument/2006/relationships/image" Target="../media/image-22-5.png"/><Relationship Id="rId5" Type="http://schemas.openxmlformats.org/officeDocument/2006/relationships/image" Target="../media/image-1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06-2.png"/><Relationship Id="rId3" Type="http://schemas.openxmlformats.org/officeDocument/2006/relationships/image" Target="../media/image-68-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21-3.png"/><Relationship Id="rId3" Type="http://schemas.openxmlformats.org/officeDocument/2006/relationships/image" Target="../media/image-121-5.png"/><Relationship Id="rId4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32-2.png"/><Relationship Id="rId3" Type="http://schemas.openxmlformats.org/officeDocument/2006/relationships/image" Target="../media/image-57-2.png"/><Relationship Id="rId4" Type="http://schemas.openxmlformats.org/officeDocument/2006/relationships/image" Target="../media/image-132-4.png"/><Relationship Id="rId5" Type="http://schemas.openxmlformats.org/officeDocument/2006/relationships/image" Target="../media/image-1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04-2.png"/><Relationship Id="rId3" Type="http://schemas.openxmlformats.org/officeDocument/2006/relationships/image" Target="../media/image-161-3.png"/><Relationship Id="rId4" Type="http://schemas.openxmlformats.org/officeDocument/2006/relationships/image" Target="../media/image-1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4.png"/><Relationship Id="rId4" Type="http://schemas.openxmlformats.org/officeDocument/2006/relationships/image" Target="../media/image-16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2-4.png"/><Relationship Id="rId3" Type="http://schemas.openxmlformats.org/officeDocument/2006/relationships/image" Target="../media/image-168-3.png"/><Relationship Id="rId4" Type="http://schemas.openxmlformats.org/officeDocument/2006/relationships/image" Target="../media/image-16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175-3.png"/><Relationship Id="rId4" Type="http://schemas.openxmlformats.org/officeDocument/2006/relationships/image" Target="../media/image-17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77-2.png"/><Relationship Id="rId3" Type="http://schemas.openxmlformats.org/officeDocument/2006/relationships/image" Target="../media/image-177-3.png"/><Relationship Id="rId4" Type="http://schemas.openxmlformats.org/officeDocument/2006/relationships/image" Target="../media/image-16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79-2.png"/><Relationship Id="rId3" Type="http://schemas.openxmlformats.org/officeDocument/2006/relationships/image" Target="../media/image-179-3.png"/><Relationship Id="rId4" Type="http://schemas.openxmlformats.org/officeDocument/2006/relationships/image" Target="../media/image-179-4.png"/><Relationship Id="rId5" Type="http://schemas.openxmlformats.org/officeDocument/2006/relationships/image" Target="../media/image-17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6-2.png"/><Relationship Id="rId3" Type="http://schemas.openxmlformats.org/officeDocument/2006/relationships/image" Target="../media/image-8-4.png"/><Relationship Id="rId4" Type="http://schemas.openxmlformats.org/officeDocument/2006/relationships/image" Target="../media/image-17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85-3.png"/><Relationship Id="rId4" Type="http://schemas.openxmlformats.org/officeDocument/2006/relationships/image" Target="../media/image-18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6-2.png"/><Relationship Id="rId3" Type="http://schemas.openxmlformats.org/officeDocument/2006/relationships/image" Target="../media/image-186-3.png"/><Relationship Id="rId4" Type="http://schemas.openxmlformats.org/officeDocument/2006/relationships/image" Target="../media/image-186-4.png"/><Relationship Id="rId5" Type="http://schemas.openxmlformats.org/officeDocument/2006/relationships/image" Target="../media/image-18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9-2.png"/><Relationship Id="rId3" Type="http://schemas.openxmlformats.org/officeDocument/2006/relationships/image" Target="../media/image-189-3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91-2.png"/><Relationship Id="rId3" Type="http://schemas.openxmlformats.org/officeDocument/2006/relationships/image" Target="../media/image-68-5.png"/><Relationship Id="rId4" Type="http://schemas.openxmlformats.org/officeDocument/2006/relationships/image" Target="../media/image-13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93-2.png"/><Relationship Id="rId3" Type="http://schemas.openxmlformats.org/officeDocument/2006/relationships/image" Target="../media/image-168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95-2.png"/><Relationship Id="rId3" Type="http://schemas.openxmlformats.org/officeDocument/2006/relationships/image" Target="../media/image-195-3.png"/><Relationship Id="rId4" Type="http://schemas.openxmlformats.org/officeDocument/2006/relationships/image" Target="../media/image-19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5-3.png"/><Relationship Id="rId3" Type="http://schemas.openxmlformats.org/officeDocument/2006/relationships/image" Target="../media/image-106-2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18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3.png"/><Relationship Id="rId2" Type="http://schemas.openxmlformats.org/officeDocument/2006/relationships/image" Target="../media/image-18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08-2.png"/><Relationship Id="rId3" Type="http://schemas.openxmlformats.org/officeDocument/2006/relationships/image" Target="../media/image-18-3.png"/><Relationship Id="rId4" Type="http://schemas.openxmlformats.org/officeDocument/2006/relationships/image" Target="../media/image-208-4.png"/><Relationship Id="rId5" Type="http://schemas.openxmlformats.org/officeDocument/2006/relationships/image" Target="../media/image-19-2.png"/><Relationship Id="rId6" Type="http://schemas.openxmlformats.org/officeDocument/2006/relationships/image" Target="../media/image-3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40233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1500" b="1" spc="3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060704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Curso de Programação</a:t>
            </a:r>
            <a:endParaRPr lang="en-US" sz="950" dirty="0"/>
          </a:p>
        </p:txBody>
      </p:sp>
      <p:pic>
        <p:nvPicPr>
          <p:cNvPr id="6" name="Image 1" descr="Símbolo Lions Dev em degrad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01047"/>
            <a:ext cx="3520440" cy="400084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2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938528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de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Programação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Nicolas Cardoso Motta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Revisando o Módulo 1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7012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Node.js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245614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Roda JavaScript fora do navegador: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arquivo.js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executa um arquivo.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77012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2245614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saiba onde você está antes de rodar qualquer coisa.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770126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npm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2245614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cria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;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baixa as dependências.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 para abrir: o terminal respondeu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Cannot find module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que você confere primeiro?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do curso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86107" y="1133856"/>
            <a:ext cx="6771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BASE: JAVASCRIPT, GIT E ORGANIZAÇÃO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186107" y="1389888"/>
            <a:ext cx="6771785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342" y="2779776"/>
            <a:ext cx="5622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342" y="3035808"/>
            <a:ext cx="5622254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8999" y="2779776"/>
            <a:ext cx="21736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PROJETO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8999" y="3035808"/>
            <a:ext cx="2173659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6107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6107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1827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15" y="153619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5639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5639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381359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de JS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485170" y="148132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19" name="Text 15"/>
          <p:cNvSpPr txBox="1"/>
          <p:nvPr/>
        </p:nvSpPr>
        <p:spPr>
          <a:xfrm>
            <a:off x="3485170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3530890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634702" y="148132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22" name="Text 18"/>
          <p:cNvSpPr txBox="1"/>
          <p:nvPr/>
        </p:nvSpPr>
        <p:spPr>
          <a:xfrm>
            <a:off x="4634702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4680422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e GitHub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784233" y="148132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5784233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5829953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933765" y="148132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28" name="Text 24"/>
          <p:cNvSpPr txBox="1"/>
          <p:nvPr/>
        </p:nvSpPr>
        <p:spPr>
          <a:xfrm>
            <a:off x="6933765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5"/>
          <p:cNvSpPr txBox="1"/>
          <p:nvPr/>
        </p:nvSpPr>
        <p:spPr>
          <a:xfrm>
            <a:off x="6979485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11342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1" name="Text 27"/>
          <p:cNvSpPr txBox="1"/>
          <p:nvPr/>
        </p:nvSpPr>
        <p:spPr>
          <a:xfrm>
            <a:off x="611342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657062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Express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1760873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4" name="Text 30"/>
          <p:cNvSpPr txBox="1"/>
          <p:nvPr/>
        </p:nvSpPr>
        <p:spPr>
          <a:xfrm>
            <a:off x="1760873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400" dirty="0"/>
          </a:p>
        </p:txBody>
      </p:sp>
      <p:sp>
        <p:nvSpPr>
          <p:cNvPr id="35" name="Text 31"/>
          <p:cNvSpPr txBox="1"/>
          <p:nvPr/>
        </p:nvSpPr>
        <p:spPr>
          <a:xfrm>
            <a:off x="1806593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2910405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7" name="Text 33"/>
          <p:cNvSpPr txBox="1"/>
          <p:nvPr/>
        </p:nvSpPr>
        <p:spPr>
          <a:xfrm>
            <a:off x="2910405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400" dirty="0"/>
          </a:p>
        </p:txBody>
      </p:sp>
      <p:sp>
        <p:nvSpPr>
          <p:cNvPr id="38" name="Text 34"/>
          <p:cNvSpPr txBox="1"/>
          <p:nvPr/>
        </p:nvSpPr>
        <p:spPr>
          <a:xfrm>
            <a:off x="2956125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 MVC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059936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0" name="Text 36"/>
          <p:cNvSpPr txBox="1"/>
          <p:nvPr/>
        </p:nvSpPr>
        <p:spPr>
          <a:xfrm>
            <a:off x="4059936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9B</a:t>
            </a:r>
            <a:endParaRPr lang="en-US" sz="2400" dirty="0"/>
          </a:p>
        </p:txBody>
      </p:sp>
      <p:sp>
        <p:nvSpPr>
          <p:cNvPr id="41" name="Text 37"/>
          <p:cNvSpPr txBox="1"/>
          <p:nvPr/>
        </p:nvSpPr>
        <p:spPr>
          <a:xfrm>
            <a:off x="410565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5209467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3" name="Text 39"/>
          <p:cNvSpPr txBox="1"/>
          <p:nvPr/>
        </p:nvSpPr>
        <p:spPr>
          <a:xfrm>
            <a:off x="5209467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44" name="Text 40"/>
          <p:cNvSpPr txBox="1"/>
          <p:nvPr/>
        </p:nvSpPr>
        <p:spPr>
          <a:xfrm>
            <a:off x="5255187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6358999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6" name="Text 42"/>
          <p:cNvSpPr txBox="1"/>
          <p:nvPr/>
        </p:nvSpPr>
        <p:spPr>
          <a:xfrm>
            <a:off x="6358999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400" dirty="0"/>
          </a:p>
        </p:txBody>
      </p:sp>
      <p:sp>
        <p:nvSpPr>
          <p:cNvPr id="47" name="Text 43"/>
          <p:cNvSpPr txBox="1"/>
          <p:nvPr/>
        </p:nvSpPr>
        <p:spPr>
          <a:xfrm>
            <a:off x="6404719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7508530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9" name="Text 45"/>
          <p:cNvSpPr txBox="1"/>
          <p:nvPr/>
        </p:nvSpPr>
        <p:spPr>
          <a:xfrm>
            <a:off x="7508530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400" dirty="0"/>
          </a:p>
        </p:txBody>
      </p:sp>
      <p:sp>
        <p:nvSpPr>
          <p:cNvPr id="50" name="Text 46"/>
          <p:cNvSpPr txBox="1"/>
          <p:nvPr/>
        </p:nvSpPr>
        <p:spPr>
          <a:xfrm>
            <a:off x="7554250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final</a:t>
            </a:r>
            <a:endParaRPr lang="en-US" sz="950" dirty="0"/>
          </a:p>
        </p:txBody>
      </p:sp>
      <p:sp>
        <p:nvSpPr>
          <p:cNvPr id="51" name="Text 4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está aqui: 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2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Fundamentos de Programação e Debugging com Node.js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868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858768" y="1417320"/>
            <a:ext cx="4846320" cy="45720"/>
          </a:xfrm>
          <a:prstGeom prst="rect">
            <a:avLst/>
          </a:prstGeom>
          <a:solidFill>
            <a:srgbClr val="E16D34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58768" y="157276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Entender o que são JavaScript e Node.js e onde cada um roda.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 variáveis e trabalhar com tipos de dados, operadores e entrada e saída no terminal.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Controlar o fluxo do programa com condicionais, laços, switch e funções.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Organizar informações com arrays e objetos.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Encontrar e corrigir erros usando o debugger do VS Code.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anterior preparamos o ambiente de desenvolvimento. Agora vamos voltar ao JavaScript e ao Node.js para escrever nossos primeiros programas de verdade.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pouco de história</a:t>
            </a:r>
            <a:endParaRPr lang="en-US" sz="3000" dirty="0"/>
          </a:p>
        </p:txBody>
      </p:sp>
      <p:pic>
        <p:nvPicPr>
          <p:cNvPr id="5" name="Image 0" descr="Formulário HTML anti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63" y="1097280"/>
            <a:ext cx="2991434" cy="36118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15963" y="1097280"/>
            <a:ext cx="2991434" cy="361188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188720"/>
            <a:ext cx="45720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0" y="115214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Surgiu em 1995</a:t>
            </a:r>
            <a:endParaRPr lang="en-US" sz="160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Criada por Brendan Eich, na Netscape, em cerca de 10 dias.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377440"/>
            <a:ext cx="457200" cy="4572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572000" y="234086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Validar formulários</a:t>
            </a:r>
            <a:endParaRPr lang="en-US" sz="160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objetivo era ser uma linguagem fácil para validar formulários HTML direto no navegador.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3566160"/>
            <a:ext cx="457200" cy="4572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4572000" y="352958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Revolucionária</a:t>
            </a:r>
            <a:endParaRPr lang="en-US" sz="160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Pela primeira vez, as páginas podiam reagir ao usuário sem recarregar.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JavaScript não é Java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331976"/>
            <a:ext cx="4023360" cy="2721864"/>
          </a:xfrm>
          <a:prstGeom prst="roundRect">
            <a:avLst>
              <a:gd name="adj" fmla="val 335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/home/claude/gerador-slides-lions-dev/ja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630" y="1514856"/>
            <a:ext cx="475059" cy="868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47497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833116"/>
            <a:ext cx="365760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Linguagem muito popular em 1995. O nome "JavaScript" foi uma jogada de marketing para pegar carona nessa fama.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331976"/>
            <a:ext cx="4023360" cy="2721864"/>
          </a:xfrm>
          <a:prstGeom prst="roundRect">
            <a:avLst>
              <a:gd name="adj" fmla="val 335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/home/claude/gerador-slides-lions-dev/j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514856"/>
            <a:ext cx="868680" cy="8686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92040" y="247497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JavaScript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833116"/>
            <a:ext cx="365760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Criada para o navegador. Apesar do nome parecido, funciona de um jeito completamente diferente do Java.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416552"/>
            <a:ext cx="7863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 está para JavaScript assim como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carro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está para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carpete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JavaScript?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linguagem da web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Originalmente usada para dar interatividade aos sites: botões, formulários, animações.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Roda no navegador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únicas linguagens que o navegador executa diretamente são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JavaScript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WebAssembly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Interpretada e de alto nível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escreve algo próximo da linguagem humana e o interpretador traduz para a máquina.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Curiosidade: isso é Assembly</a:t>
            </a:r>
            <a:endParaRPr lang="en-US" sz="3000" dirty="0"/>
          </a:p>
        </p:txBody>
      </p:sp>
      <p:pic>
        <p:nvPicPr>
          <p:cNvPr id="5" name="Image 0" descr="Código Assemb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10" y="1051560"/>
            <a:ext cx="4653659" cy="3749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7810" y="1051560"/>
            <a:ext cx="4653659" cy="3749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463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Baixo nível</a:t>
            </a:r>
            <a:endParaRPr lang="en-US" sz="16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linha é uma instrução quase direta para o processador.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577840" y="28346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Alto nível</a:t>
            </a:r>
            <a:endParaRPr lang="en-US" sz="16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JavaScript, um simples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console.log("Oi")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faz todo esse trabalho por você.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um site é desenvolvido?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site é como uma casa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737360"/>
            <a:ext cx="2590800" cy="2304288"/>
          </a:xfrm>
          <a:prstGeom prst="roundRect">
            <a:avLst>
              <a:gd name="adj" fmla="val 396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6" y="192024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359152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HTML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717292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estrutura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paredes, portas e janelas. Define o que existe na página.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276600" y="1737360"/>
            <a:ext cx="2590800" cy="2304288"/>
          </a:xfrm>
          <a:prstGeom prst="roundRect">
            <a:avLst>
              <a:gd name="adj" fmla="val 396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92024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59480" y="2359152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CSS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2717292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pintura e a decoração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cores, fontes e layout. Deixa tudo bonito.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141720" y="1737360"/>
            <a:ext cx="2590800" cy="2304288"/>
          </a:xfrm>
          <a:prstGeom prst="roundRect">
            <a:avLst>
              <a:gd name="adj" fmla="val 396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096" y="192024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324600" y="2359152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JavaScript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2717292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eletricidade e o encanamento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dá vida à casa com interatividade.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prática</a:t>
            </a:r>
            <a:endParaRPr lang="en-US" sz="3000" dirty="0"/>
          </a:p>
        </p:txBody>
      </p:sp>
      <p:pic>
        <p:nvPicPr>
          <p:cNvPr id="5" name="Image 0" descr="Página com HTML, HTML + CSS e HTML + CSS + J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1051560"/>
            <a:ext cx="5105400" cy="3063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019300" y="1051560"/>
            <a:ext cx="5105400" cy="30632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4224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HTML: funciona, mas é cru. Com CSS: fica bonito. Com JavaScript: ganha vida.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JavaScript está em todo lugar</a:t>
            </a:r>
            <a:endParaRPr lang="en-US" sz="3000" dirty="0"/>
          </a:p>
        </p:txBody>
      </p:sp>
      <p:pic>
        <p:nvPicPr>
          <p:cNvPr id="5" name="Image 0" descr="Meme JavaScript everywhe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394" y="1005840"/>
            <a:ext cx="5125212" cy="2697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009394" y="1005840"/>
            <a:ext cx="5125212" cy="269748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37947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"Tudo que puder ser escrito com JavaScript, eventualmente será escrito com JavaScript."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343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Lei de Atwood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o JavaScript roda hoje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2606040" cy="370332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6" name="Image 0" descr="Servido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33024"/>
            <a:ext cx="2331720" cy="1311593"/>
          </a:xfrm>
          <a:prstGeom prst="rect">
            <a:avLst/>
          </a:prstGeom>
        </p:spPr>
      </p:pic>
      <p:pic>
        <p:nvPicPr>
          <p:cNvPr id="7" name="Image 1" descr="Node.j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19983"/>
            <a:ext cx="1508760" cy="45227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0292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Servidores</a:t>
            </a:r>
            <a:endParaRPr lang="en-US" sz="1700" dirty="0"/>
          </a:p>
        </p:txBody>
      </p:sp>
      <p:sp>
        <p:nvSpPr>
          <p:cNvPr id="9" name="Text 4"/>
          <p:cNvSpPr txBox="1"/>
          <p:nvPr/>
        </p:nvSpPr>
        <p:spPr>
          <a:xfrm>
            <a:off x="502920" y="4023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Node.js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3246120" y="1051560"/>
            <a:ext cx="2606040" cy="370332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Image 2" descr="Celular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11200"/>
            <a:ext cx="2331720" cy="1555239"/>
          </a:xfrm>
          <a:prstGeom prst="rect">
            <a:avLst/>
          </a:prstGeom>
        </p:spPr>
      </p:pic>
      <p:pic>
        <p:nvPicPr>
          <p:cNvPr id="12" name="Image 3" descr="React Nativ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1121" y="2926080"/>
            <a:ext cx="736038" cy="64008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333756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Celulares</a:t>
            </a:r>
            <a:endParaRPr lang="en-US" sz="1700" dirty="0"/>
          </a:p>
        </p:txBody>
      </p:sp>
      <p:sp>
        <p:nvSpPr>
          <p:cNvPr id="14" name="Text 7"/>
          <p:cNvSpPr txBox="1"/>
          <p:nvPr/>
        </p:nvSpPr>
        <p:spPr>
          <a:xfrm>
            <a:off x="3337560" y="4023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Native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6080760" y="1051560"/>
            <a:ext cx="2606040" cy="370332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6" name="Image 4" descr="Deskto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466" y="1188720"/>
            <a:ext cx="1280629" cy="1600200"/>
          </a:xfrm>
          <a:prstGeom prst="rect">
            <a:avLst/>
          </a:prstGeom>
        </p:spPr>
      </p:pic>
      <p:pic>
        <p:nvPicPr>
          <p:cNvPr id="17" name="Image 5" descr="Electron (ex.: VS Code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3740" y="2926080"/>
            <a:ext cx="640080" cy="64008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617220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Desktop</a:t>
            </a:r>
            <a:endParaRPr lang="en-US" sz="1700" dirty="0"/>
          </a:p>
        </p:txBody>
      </p:sp>
      <p:sp>
        <p:nvSpPr>
          <p:cNvPr id="19" name="Text 10"/>
          <p:cNvSpPr txBox="1"/>
          <p:nvPr/>
        </p:nvSpPr>
        <p:spPr>
          <a:xfrm>
            <a:off x="6172200" y="4023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Electron (ex.: VS Code)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24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264158"/>
            <a:ext cx="4846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JavaScript fora do navegador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Permite executar JavaScript no servidor, indo além do contexto tradicional do navegador.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91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420874"/>
            <a:ext cx="4846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 de execução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ele que executa (interpreta) o código que vamos escrever, usando o motor V8 do Google Chrome.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958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577590"/>
            <a:ext cx="4846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npm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Milhares de pacotes prontos, instalados com um comando: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nome-do-pacote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pic>
        <p:nvPicPr>
          <p:cNvPr id="11" name="Image 3" descr="Logo Node.j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473698"/>
            <a:ext cx="2103120" cy="6304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JavaScript x Node.js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302766"/>
            <a:ext cx="4023360" cy="2551684"/>
          </a:xfrm>
          <a:prstGeom prst="roundRect">
            <a:avLst>
              <a:gd name="adj" fmla="val 358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/home/claude/gerador-slides-lions-dev/j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820" y="1485646"/>
            <a:ext cx="868680" cy="868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44576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Linguagem de programação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803906"/>
            <a:ext cx="3657600" cy="75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Criada para ser usada no navegador.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Muito usada no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front-end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302766"/>
            <a:ext cx="4023360" cy="2551684"/>
          </a:xfrm>
          <a:prstGeom prst="roundRect">
            <a:avLst>
              <a:gd name="adj" fmla="val 358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/home/claude/gerador-slides-lions-dev/n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909" y="1485646"/>
            <a:ext cx="2897862" cy="8686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92040" y="244576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 de execução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803906"/>
            <a:ext cx="3657600" cy="75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Permite rodar JavaScript fora do navegador.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Muito usado no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back-end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Comparar os dois é como comparar maçãs e laranjas: um é a língua, o outro é onde ela é falada.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um programa funciona?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Entrada, processamento e saída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Voltando ao exemplo da cozinha…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420" y="1828800"/>
            <a:ext cx="868680" cy="868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Entrada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ingredientes: leite, ovos, farinha…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433828" y="2263140"/>
            <a:ext cx="159410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1828800"/>
            <a:ext cx="868680" cy="8686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27660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Programa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334060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receita: a sequência de passos que transforma a entrada.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116068" y="2263140"/>
            <a:ext cx="159410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1828800"/>
            <a:ext cx="868680" cy="8686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95884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602284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bolo pronto: o resultado que queríamos.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 programa recebe dados, processa esses dados e devolve um resultado.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Exemplo: média de três notas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programa que calcula a média dos alunos: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420" y="1828800"/>
            <a:ext cx="868680" cy="868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Entrada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três notas: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nota2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nota3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433828" y="2263140"/>
            <a:ext cx="159410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1828800"/>
            <a:ext cx="868680" cy="8686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27660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Programa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334060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Soma as três notas e divide o total por 3.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116068" y="2263140"/>
            <a:ext cx="159410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1828800"/>
            <a:ext cx="868680" cy="8686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95884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602284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 média do aluno.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soma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nota1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nota2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nota3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resultado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guardam valores enquanto o programa roda. Todos eles são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variáveis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Variáveis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são e como criar variáveis em JavaScript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são variáveis?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651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078230"/>
            <a:ext cx="448056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caixa com etiqueta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espaço na memória do computador onde guardamos um valor para usar depois.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2275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20446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Têm um nome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nome é o identificador que usamos para acessar o valor de forma fácil.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2801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10972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valor pode mudar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Podemos ler, alterar e reaproveitar o valor durante a execução do programa.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3326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401497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Têm um tipo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valor tem um tipo de dado: texto, número, verdadeiro/falso…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6446520" y="196596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1A1A1A"/>
          </a:solidFill>
          <a:ln w="25400">
            <a:solidFill>
              <a:srgbClr val="E16D34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6675120" y="1664208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6D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endParaRPr lang="en-US" sz="1600" dirty="0"/>
          </a:p>
        </p:txBody>
      </p:sp>
      <p:sp>
        <p:nvSpPr>
          <p:cNvPr id="15" name="Text 8"/>
          <p:cNvSpPr txBox="1"/>
          <p:nvPr/>
        </p:nvSpPr>
        <p:spPr>
          <a:xfrm>
            <a:off x="6446520" y="22402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4400" dirty="0"/>
          </a:p>
        </p:txBody>
      </p:sp>
      <p:sp>
        <p:nvSpPr>
          <p:cNvPr id="16" name="Text 9"/>
          <p:cNvSpPr txBox="1"/>
          <p:nvPr/>
        </p:nvSpPr>
        <p:spPr>
          <a:xfrm>
            <a:off x="617220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idade = 20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formas de criar uma variável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116584"/>
            <a:ext cx="2590800" cy="2924048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9946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74952"/>
            <a:ext cx="2225040" cy="146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Forma antiga.</a:t>
            </a:r>
            <a:endParaRPr lang="en-US" sz="14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Escopo de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função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; pode ser redeclarada.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Evite em código novo.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4360" y="3330448"/>
            <a:ext cx="2225040" cy="527304"/>
          </a:xfrm>
          <a:prstGeom prst="roundRect">
            <a:avLst>
              <a:gd name="adj" fmla="val 1387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" y="3447491"/>
            <a:ext cx="1932432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'João'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76600" y="1116584"/>
            <a:ext cx="2590800" cy="2924048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9480" y="129946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750" dirty="0"/>
          </a:p>
        </p:txBody>
      </p:sp>
      <p:sp>
        <p:nvSpPr>
          <p:cNvPr id="12" name="Text 9"/>
          <p:cNvSpPr txBox="1"/>
          <p:nvPr/>
        </p:nvSpPr>
        <p:spPr>
          <a:xfrm>
            <a:off x="3459480" y="1774952"/>
            <a:ext cx="222504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Escopo de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{ }.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valor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pode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ser alterado.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3459480" y="2837688"/>
            <a:ext cx="2225040" cy="527304"/>
          </a:xfrm>
          <a:prstGeom prst="roundRect">
            <a:avLst>
              <a:gd name="adj" fmla="val 1387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05784" y="2954731"/>
            <a:ext cx="1932432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'João'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41720" y="1116584"/>
            <a:ext cx="2590800" cy="2924048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600" y="1299464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750" dirty="0"/>
          </a:p>
        </p:txBody>
      </p:sp>
      <p:sp>
        <p:nvSpPr>
          <p:cNvPr id="17" name="Text 14"/>
          <p:cNvSpPr txBox="1"/>
          <p:nvPr/>
        </p:nvSpPr>
        <p:spPr>
          <a:xfrm>
            <a:off x="6324600" y="1774952"/>
            <a:ext cx="222504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Escopo de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{ }.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valor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pode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ser reatribuído.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324600" y="2837688"/>
            <a:ext cx="2225040" cy="519684"/>
          </a:xfrm>
          <a:prstGeom prst="roundRect">
            <a:avLst>
              <a:gd name="adj" fmla="val 1407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70904" y="2954731"/>
            <a:ext cx="1932432" cy="28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'João'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Regra prática: use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por padrão 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quando o valor precisar mudar.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 muda, const não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243328"/>
            <a:ext cx="4823460" cy="1319784"/>
          </a:xfrm>
          <a:prstGeom prst="roundRect">
            <a:avLst>
              <a:gd name="adj" fmla="val 554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360371"/>
            <a:ext cx="4530852" cy="108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idade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ok: let pode mudar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pais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'Brasil'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'Argentina'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erro!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63540" y="1710690"/>
            <a:ext cx="33147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aceita um novo valor a qualquer momento.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tentar trocar o valor gera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Assignment to constant variable.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se o valor não vai mudar (um nome, o ano atual, uma taxa), use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let não se declara duas vezes</a:t>
            </a:r>
            <a:endParaRPr lang="en-US" sz="23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 de novo uma variável que já existe dá erro, e o programa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nem roda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Acontece muito quando resolvemos várias atividades no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mesmo arquivo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cada uma cria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 novo.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mudar o valor, escreva só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...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sem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Ou crie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arquivo por atividade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923544"/>
          </a:xfrm>
          <a:prstGeom prst="roundRect">
            <a:avLst>
              <a:gd name="adj" fmla="val 792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'Bia'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SyntaxError: Identifier 'nome' has already been declared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'Bia'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correto: só troca o valor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Muito cuidado com os nomes!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11224"/>
            <a:ext cx="4023360" cy="2334768"/>
          </a:xfrm>
          <a:prstGeom prst="roundRect">
            <a:avLst>
              <a:gd name="adj" fmla="val 391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94104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59410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Evite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069592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Nomes genéricos ou abreviações que ninguém entende.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94360" y="2639568"/>
            <a:ext cx="3657600" cy="923544"/>
          </a:xfrm>
          <a:prstGeom prst="roundRect">
            <a:avLst>
              <a:gd name="adj" fmla="val 792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" y="2756611"/>
            <a:ext cx="336499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n1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dt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09160" y="1411224"/>
            <a:ext cx="4023360" cy="2334768"/>
          </a:xfrm>
          <a:prstGeom prst="roundRect">
            <a:avLst>
              <a:gd name="adj" fmla="val 391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9410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04104" y="159410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Prefira</a:t>
            </a:r>
            <a:endParaRPr lang="en-US" sz="175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2069592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Nomes descritivos, que dizem o que a variável guarda.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892040" y="2639568"/>
            <a:ext cx="3657600" cy="923544"/>
          </a:xfrm>
          <a:prstGeom prst="roundRect">
            <a:avLst>
              <a:gd name="adj" fmla="val 792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038344" y="2756611"/>
            <a:ext cx="336499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idadeMinima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nomeAluno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anoAtual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Bons nomes facilitam a leitura para você e para quem vai revisar ou dar manutenção no seu código.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Convenções de nomenclatura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9100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172718"/>
            <a:ext cx="69951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camelCase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Primeira letra minúscula e a inicial das outras palavras maiúscula: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nomeCompleto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É o padrão para variáveis e funções em JavaScript.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4772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32943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PascalCase (UpperCamelCase)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Todas as iniciais maiúsculas: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NomeCompleto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Usado em classes.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583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25755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snake_case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Underscore no lugar dos espaços: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nome_completo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Comum em Python e bancos de dados.</a:t>
            </a:r>
            <a:endParaRPr lang="en-US" sz="1650" dirty="0"/>
          </a:p>
        </p:txBody>
      </p:sp>
      <p:sp>
        <p:nvSpPr>
          <p:cNvPr id="11" name="Text 5"/>
          <p:cNvSpPr txBox="1"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Nomes de arquivos: terminam em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não usam acentos nem espaços (ex.: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saudacao.js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Agora vamos executar nosso primeiro código!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tradição: Hello World!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81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149858"/>
            <a:ext cx="35204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primeiro programa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quase todas as linguagens, o primeiro programa exibe "Hello World" (Olá, Mundo).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3520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Curiosidade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Diz a lenda que quem não começa por ele terá má sorte aprendendo a linguagem!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101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691890"/>
            <a:ext cx="35204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Objetivo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Fazer o computador exibir uma mensagem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11" name="Shape 5"/>
          <p:cNvSpPr/>
          <p:nvPr/>
        </p:nvSpPr>
        <p:spPr>
          <a:xfrm>
            <a:off x="5257800" y="1600200"/>
            <a:ext cx="3520440" cy="542544"/>
          </a:xfrm>
          <a:prstGeom prst="roundRect">
            <a:avLst>
              <a:gd name="adj" fmla="val 1348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5404104" y="1717243"/>
            <a:ext cx="3227832" cy="308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"Olá, mundo!"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5257800" y="2514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5257800" y="2816352"/>
            <a:ext cx="3520440" cy="755904"/>
          </a:xfrm>
          <a:prstGeom prst="roundRect">
            <a:avLst>
              <a:gd name="adj" fmla="val 9677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5404104" y="2933395"/>
            <a:ext cx="322783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teste.js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Olá, mundo!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Primeiro código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VS Code, abra o arquivo que você criou (ou crie um chamado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teste.js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Escreva o comando para exibir a frase: "Estou programando em JavaScript!".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Salve o arquivo.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terminal, execute usando o Node: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teste.js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921508"/>
            <a:ext cx="8138160" cy="664464"/>
          </a:xfrm>
          <a:prstGeom prst="roundRect">
            <a:avLst>
              <a:gd name="adj" fmla="val 110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0708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012948"/>
            <a:ext cx="736092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tente imprimir o resultado de uma conta, como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console.log(10 + 5)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que acontece?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Variáveis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três variáveis: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nomeCurso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(texto),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anoAtual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(número)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estaAtivo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(verdadeiro ou falso).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 cada uma no console com uma mensagem explicando o que ela guarda.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6898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as que podem mudar 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as que não mudam.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3271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6898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4185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tente alterar o valor de uma variável criada com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veja o erro que aparece.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Variáveis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861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duas variáveis,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 os valores 10 e 3.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 no console: a soma, a diferença, o produto, a divisão e o resto da divisão entre elas.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06806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4307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15950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resultado pode ficar em uma variável própria antes do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06806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4307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15950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troque os valores de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entre si usando uma terceira variável auxiliar.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Strings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Nosso primeiro tipo de dado. Alguém sabe o que é uma string?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uma String?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10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492758"/>
            <a:ext cx="429768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cadeia de caracteres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inglês, "string" é um cordão: uma sequência de letras, números e símbolos.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677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649474"/>
            <a:ext cx="42976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 para guardar texto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Nomes, mensagens, endereços… tudo que é texto é string.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958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577590"/>
            <a:ext cx="42976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Sempre entre aspas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Aspas simples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duplas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(A crase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 `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veremos logo adiante.)</a:t>
            </a:r>
            <a:endParaRPr lang="en-US" sz="1650" dirty="0"/>
          </a:p>
        </p:txBody>
      </p:sp>
      <p:sp>
        <p:nvSpPr>
          <p:cNvPr id="11" name="Shape 5"/>
          <p:cNvSpPr/>
          <p:nvPr/>
        </p:nvSpPr>
        <p:spPr>
          <a:xfrm>
            <a:off x="5577840" y="1965960"/>
            <a:ext cx="3246120" cy="786384"/>
          </a:xfrm>
          <a:prstGeom prst="roundRect">
            <a:avLst>
              <a:gd name="adj" fmla="val 930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5724144" y="2083003"/>
            <a:ext cx="2953512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'João'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mensagem =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 comigo!"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idade =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'20'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também é texto!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Aspas dentro de strings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o texto precisa ter aspas, use o outro tipo de aspas por fora: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2276094"/>
            <a:ext cx="8321040" cy="1083564"/>
          </a:xfrm>
          <a:prstGeom prst="roundRect">
            <a:avLst>
              <a:gd name="adj" fmla="val 675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2393137"/>
            <a:ext cx="8028432" cy="84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exemplo1 = 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'Isso é uma "string" com aspas duplas dentro.'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exemplo2 = 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"Isso é uma 'string' com aspas simples dentro."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exemplo3 = 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\' para escapar a mesma aspa.'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barra invertida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"escapa" o caractere: ele passa a fazer parte do texto.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Concatenação de Strings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Concatenar é juntar duas ou mais strings em uma nova, usando o operador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1847088"/>
            <a:ext cx="8321040" cy="1624584"/>
          </a:xfrm>
          <a:prstGeom prst="roundRect">
            <a:avLst>
              <a:gd name="adj" fmla="val 45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1964131"/>
            <a:ext cx="8028432" cy="1390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"João"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saudacao =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"Olá, 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nome +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"!"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fraseCompleta = saudacao +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Hoje é um belo dia."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(fraseCompleta)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3581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3855720"/>
            <a:ext cx="8321040" cy="725424"/>
          </a:xfrm>
          <a:prstGeom prst="roundRect">
            <a:avLst>
              <a:gd name="adj" fmla="val 10084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7784" y="3972763"/>
            <a:ext cx="8028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strings.js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Olá, João! Hoje é um belo dia.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Interpolação com crase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a crase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 `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colocamos variáveis direto dentro do texto usando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 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}: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1847088"/>
            <a:ext cx="8321040" cy="1624584"/>
          </a:xfrm>
          <a:prstGeom prst="roundRect">
            <a:avLst>
              <a:gd name="adj" fmla="val 45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1964131"/>
            <a:ext cx="8028432" cy="1390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"João"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idade =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mensagem =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`Olá, ${nome}! Você tem ${idade} anos.`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(mensagem)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3581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3855720"/>
            <a:ext cx="8321040" cy="725424"/>
          </a:xfrm>
          <a:prstGeom prst="roundRect">
            <a:avLst>
              <a:gd name="adj" fmla="val 10084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7784" y="3972763"/>
            <a:ext cx="8028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strings.js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Olá, João! Você tem 20 anos.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interpolação só funciona com crase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aspas simples ou duplas, 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${nome}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impresso exatamente do jeito que foi escrito.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 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} só é interpretado dentro da crase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 `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aspas normais, o JavaScript entende tudo como texto comum.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7213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28383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'Olá, ${nome}!'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Olá, ${nome}!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`Olá, ${nome}!`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Olá, Ana!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Métodos básicos de strings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847088"/>
            <a:ext cx="5021580" cy="2112264"/>
          </a:xfrm>
          <a:prstGeom prst="roundRect">
            <a:avLst>
              <a:gd name="adj" fmla="val 34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964131"/>
            <a:ext cx="4728972" cy="187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 Ana Souza  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nome.length    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(os espaços contam!)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'Ana Souza'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toUpperCase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  ANA SOUZA  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  ana souza  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resposta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 SIM 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'sim'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1660" y="1192530"/>
            <a:ext cx="3116580" cy="3421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quantos caracteres o texto tem. Espaços também contam.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tira os espaços do começo e do fim.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toUpperCase()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deixa tudo maiúsculo;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toLowerCase()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tudo minúsculo.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encadear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dá para usar um depois do outro. Ótimo para comparar respostas do usuário.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o terminal e navegue até a pasta do módulo dentro de Documentos.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pasta chamada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variaveis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abra o VS Code dentro dela.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 arquivo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saudacao.js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e, nele, uma variável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o seu nome.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variável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mensagem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uma mensagem de olá.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concatenação para unir a mensagem e o nome no formato: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Olá, nome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execute o programa com o Node.js.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as variáveis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sobrenome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seus próprios dados.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Monte uma variável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nomeCompleto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juntando as duas com um espaço no meio, usando concatenação (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Depois monte a mesma frase usando interpolação (crase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}) e imprima as duas no console.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883408"/>
            <a:ext cx="8138160" cy="664464"/>
          </a:xfrm>
          <a:prstGeom prst="roundRect">
            <a:avLst>
              <a:gd name="adj" fmla="val 110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032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974848"/>
            <a:ext cx="736092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 quantas letras tem o seu nome completo usando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.length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variável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o nome da sua cidade e outra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a sigla do estado.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 uma frase no formato: "Eu moro em [cidade], [estado]." usando interpolação.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6898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crase ( ` ) fica na tecla ao lado do 1 no teclado brasileiro.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3271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6898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4185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.toUpperCase()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imprimir a sigla do estado em letras maiúsculas.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Interação com o Usuário</a:t>
            </a:r>
            <a:endParaRPr lang="en-US" sz="3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Até agora, os valores já estavam escritos nas variáveis. Como fazer o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usuário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digitar algo (entrada) e o programa responder (saída)?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Entrada de dados com prompt-sync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10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492758"/>
            <a:ext cx="411480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programa passa a "ouvir"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Até agora o código era fixo. Agora o usuário digita e o programa usa a resposta.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677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649474"/>
            <a:ext cx="4114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ferramenta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pacote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prompt-sync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instalado pelo npm.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958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577590"/>
            <a:ext cx="4114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Instalação (no terminal)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Dentro da pasta do projeto, rode os dois comandos ao lado.</a:t>
            </a:r>
            <a:endParaRPr lang="en-US" sz="1650" dirty="0"/>
          </a:p>
        </p:txBody>
      </p:sp>
      <p:sp>
        <p:nvSpPr>
          <p:cNvPr id="11" name="Shape 5"/>
          <p:cNvSpPr/>
          <p:nvPr/>
        </p:nvSpPr>
        <p:spPr>
          <a:xfrm>
            <a:off x="5440680" y="1828800"/>
            <a:ext cx="3383280" cy="1243584"/>
          </a:xfrm>
          <a:prstGeom prst="roundRect">
            <a:avLst>
              <a:gd name="adj" fmla="val 5882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5586984" y="1945843"/>
            <a:ext cx="3090672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init -y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Wrote to package.json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prompt-sync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 3 packages in 1s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trazer pacotes para o código?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415034"/>
            <a:ext cx="4023360" cy="2327148"/>
          </a:xfrm>
          <a:prstGeom prst="roundRect">
            <a:avLst>
              <a:gd name="adj" fmla="val 39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59791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CommonJS · </a:t>
            </a:r>
            <a:r>
              <a:rPr lang="en-US" sz="1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073402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padrão tradicional do Node.js. Funciona sem nenhuma configuração extra.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4360" y="2864358"/>
            <a:ext cx="3657600" cy="496824"/>
          </a:xfrm>
          <a:prstGeom prst="roundRect">
            <a:avLst>
              <a:gd name="adj" fmla="val 1472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" y="2981401"/>
            <a:ext cx="3364992" cy="26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 =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'prompt-sync'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415034"/>
            <a:ext cx="4023360" cy="2327148"/>
          </a:xfrm>
          <a:prstGeom prst="roundRect">
            <a:avLst>
              <a:gd name="adj" fmla="val 39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59791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 Modules · </a:t>
            </a:r>
            <a:r>
              <a:rPr lang="en-US" sz="17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175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2073402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padrão moderno. Precisa de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"type": "module"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package.json.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892040" y="2864358"/>
            <a:ext cx="3657600" cy="694944"/>
          </a:xfrm>
          <a:prstGeom prst="roundRect">
            <a:avLst>
              <a:gd name="adj" fmla="val 1052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38344" y="2981401"/>
            <a:ext cx="336499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promptSync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'prompt-sync'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 =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promptSync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Neste módulo vamos usar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As duas formas fazem a mesma coisa: importar uma ferramenta.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Usou import sem configurar? Olhe o terminal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11480" y="1163574"/>
            <a:ext cx="4023360" cy="2830068"/>
          </a:xfrm>
          <a:prstGeom prst="roundRect">
            <a:avLst>
              <a:gd name="adj" fmla="val 323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46454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346454"/>
            <a:ext cx="3145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Node.js recente: roda, mas avisa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25574"/>
            <a:ext cx="365760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Aparece um </a:t>
            </a: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warning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amarelo antes da saída do programa: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94360" y="2449830"/>
            <a:ext cx="3657600" cy="1335024"/>
          </a:xfrm>
          <a:prstGeom prst="roundRect">
            <a:avLst>
              <a:gd name="adj" fmla="val 547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" y="2566873"/>
            <a:ext cx="3364992" cy="1100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[MODULE_TYPELESS_PACKAGE_JSON] Warning: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type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.../index.js is not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specified and it doesn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 parse as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CommonJS. Reparsing as ES module...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eliminate this warning, add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"module"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 package.json.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09160" y="1163574"/>
            <a:ext cx="4023360" cy="2830068"/>
          </a:xfrm>
          <a:prstGeom prst="roundRect">
            <a:avLst>
              <a:gd name="adj" fmla="val 323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4645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04104" y="134645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Node.js antigo: nem roda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1821942"/>
            <a:ext cx="36576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programa para com erro: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92040" y="2148078"/>
            <a:ext cx="3657600" cy="1662684"/>
          </a:xfrm>
          <a:prstGeom prst="roundRect">
            <a:avLst>
              <a:gd name="adj" fmla="val 440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038344" y="2265121"/>
            <a:ext cx="3364992" cy="142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To load an ES module,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"module"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 or use the .mjs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extension.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SyntaxError: Cannot use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 outside a module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Nos dois casos, a correção é a mesma: avisar ao Node, no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package.json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que o projeto usa import.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Corrigindo no package.json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2405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615440"/>
            <a:ext cx="4069080" cy="2386584"/>
          </a:xfrm>
          <a:prstGeom prst="roundRect">
            <a:avLst>
              <a:gd name="adj" fmla="val 306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732483"/>
            <a:ext cx="3776472" cy="215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"variaveis"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"1.0.0"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"index.js"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"dependencies"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"prompt-sync"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"^4.2.0"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2405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Depois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615440"/>
            <a:ext cx="4069080" cy="2386584"/>
          </a:xfrm>
          <a:prstGeom prst="roundRect">
            <a:avLst>
              <a:gd name="adj" fmla="val 306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1732483"/>
            <a:ext cx="3776472" cy="215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"variaveis"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"1.0.0"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"index.js"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"module"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"dependencies"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"prompt-sync"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"^4.2.0"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Adicione a linha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"type": "module",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(com a vírgula no final), salve o arquivo e rode de novo: o aviso some.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com "type": "module", o require para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projeto inteiro passa a usar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import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qualquer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dá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ReferenceError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projeto usa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sistema só: ou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(CommonJS), ou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(ES Modules).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Quer testar o import? Crie uma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pasta nova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 o próprio package.json, sem mexer no projeto das atividades.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 com "type": "module"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 =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'prompt-sync'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ReferenceError: require is not defined in ES module scope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de uso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94232"/>
            <a:ext cx="8321040" cy="1670304"/>
          </a:xfrm>
          <a:prstGeom prst="roundRect">
            <a:avLst>
              <a:gd name="adj" fmla="val 438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11275"/>
            <a:ext cx="8028432" cy="1436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Prepara a ferramenta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 =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'prompt-sync'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)({ sigint: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Pergunta e guarda a resposta (sempre vira String!)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'Qual seu nome? 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cidade =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'Onde você mora? 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'Olá, 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nome +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 de 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cidade +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'!'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8742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148584"/>
            <a:ext cx="8321040" cy="999744"/>
          </a:xfrm>
          <a:prstGeom prst="roundRect">
            <a:avLst>
              <a:gd name="adj" fmla="val 7317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" y="3265627"/>
            <a:ext cx="8028432" cy="7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prompt.js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 seu nome? Ana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Onde você mora? Ponta Grossa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Olá, Ana, de Ponta Grossa!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sigint: true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C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encerra o programa. Sem isso, o prompt devolve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 programa continua rodando.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Entrada e saída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Inicialize o projeto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Instale o prompt-sync na sua pasta: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prompt-sync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arquivo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peça ao usuário o nome do pet e a idade do pet.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Exiba: "O [NOME] tem [IDADE] anos!".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Execute com o comando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nomeDoArquivo.js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Entrada e saída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Peça ao usuário o nome de um produto e o preço dele.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 no console: "O produto [nome] custa R$ [preço]."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1808988"/>
            <a:ext cx="3954780" cy="1517904"/>
          </a:xfrm>
          <a:prstGeom prst="roundRect">
            <a:avLst>
              <a:gd name="adj" fmla="val 481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3850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900428"/>
            <a:ext cx="31775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Cuidado: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fazer contas, converta o preço com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parseFloat()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Se o usuário digitar vírgula (19,90), troque por ponto antes com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.replace(",", ".")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1808988"/>
            <a:ext cx="3954780" cy="1517904"/>
          </a:xfrm>
          <a:prstGeom prst="roundRect">
            <a:avLst>
              <a:gd name="adj" fmla="val 481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3850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1900428"/>
            <a:ext cx="31775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pergunte também a quantidade e mostre o valor total da compra.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Entrada e saída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Peça ao usuário o ano em que ele nasceu e calcule a idade dele.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Imprima: "Você tem [idade] anos." — lembre-se de converter a entrada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parseInt()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395478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5831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3177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anoAtual - anoNascimento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327148"/>
            <a:ext cx="395478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5831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418588"/>
            <a:ext cx="3177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informe também em quantos anos a pessoa completará 100 anos.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usuário digita 10 e depois 5. O que aparece?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1554480" y="1719072"/>
            <a:ext cx="6035040" cy="1975104"/>
          </a:xfrm>
          <a:prstGeom prst="roundRect">
            <a:avLst>
              <a:gd name="adj" fmla="val 370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700784" y="1836115"/>
            <a:ext cx="5742432" cy="1741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 = 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"prompt-sync"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"Primeiro número: "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= 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"Segundo número: "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+ b)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38313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Pense antes de rodar: qual é a saída?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tudo que entra pelo prompt é texto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478536"/>
          </a:xfrm>
          <a:prstGeom prst="roundRect">
            <a:avLst>
              <a:gd name="adj" fmla="val 1528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105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 não 15.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177698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prompt-sync sempre devolve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Com texto no meio,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deixa de somar e passa 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juntar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(concatenar).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Converta antes da conta: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parseInt()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inteiros,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parseFloat()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decimais ou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1947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3651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=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"Primeiro número: 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=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"Segundo número: 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+ b)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aqui a vírgula não é decimal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o JavaScript, o separador decimal é 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ponto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Quem digita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7,5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recebe 7 ou NaN.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parseFloat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lê até encontrar a vírgula e para ali: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parseFloat("7,5")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dá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Number("7,5")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não entende o texto e devolve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(Not a Number).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Solução: troque a vírgula por ponto antes de converter,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.replace(",", ".")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699256"/>
            <a:ext cx="8046720" cy="755904"/>
          </a:xfrm>
          <a:prstGeom prst="roundRect">
            <a:avLst>
              <a:gd name="adj" fmla="val 967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816299"/>
            <a:ext cx="775411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entrada =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"Nota: 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 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"7,5"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 =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parseFloat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(entrada.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7.5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Além do prompt-sync, o Node.js tem uma forma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nativa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 interagir com o usuário…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Stdin e Stdout (extra)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Conteúdo extra: não será cobrado nas atividades nem na avaliação. É a forma nativa do Node.js de ler e escrever — vale conhecer, mas usaremos o prompt-sync.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Stdin e Stdout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872742"/>
            <a:ext cx="4023360" cy="2033524"/>
          </a:xfrm>
          <a:prstGeom prst="roundRect">
            <a:avLst>
              <a:gd name="adj" fmla="val 449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562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205562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stdin · entrada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531110"/>
            <a:ext cx="3657600" cy="119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Fluxo de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entrada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padrão, geralmente o teclado.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o "ouvido" do computador: espera você apertar Enter e entrega o que foi digitado.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872742"/>
            <a:ext cx="4023360" cy="2033524"/>
          </a:xfrm>
          <a:prstGeom prst="roundRect">
            <a:avLst>
              <a:gd name="adj" fmla="val 449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05562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205562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stdout · saída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531110"/>
            <a:ext cx="3657600" cy="119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Fluxo de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padrão, geralmente o console.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onde as mensagens do programa aparecem.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usa ele por baixo dos panos.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com entrada e saída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098548"/>
            <a:ext cx="4937760" cy="1609344"/>
          </a:xfrm>
          <a:prstGeom prst="roundRect">
            <a:avLst>
              <a:gd name="adj" fmla="val 454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215591"/>
            <a:ext cx="4645152" cy="1375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'Digite algo e pressione Enter:'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process.stdin.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(data)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entrada = data.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process.stdout.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'Olá, 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entrada +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'!\n'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524000"/>
            <a:ext cx="3200400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stdin.on('data')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escuta o que o usuário digita.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toString()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converte os dados recebidos (Buffer) em texto;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trim()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tira o Enter do final.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stdout.write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escreve sem pular linha; por isso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\n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process.exit()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encerra o programa.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extra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será cobrada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2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pasta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variaveis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crie um novo arquivo chamado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boas-vindas.js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perguntar o nome do usuário.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Usando o stdin, colete o nome digitado e guarde em uma variável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variável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saudacao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formato "Olá, Nome".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 a saudação no console e execute o programa com o Node.js.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600200"/>
            <a:ext cx="2590800" cy="2578608"/>
          </a:xfrm>
          <a:prstGeom prst="roundRect">
            <a:avLst>
              <a:gd name="adj" fmla="val 35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78308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Variáveis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258568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Caixas com nome que guardam valores.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3049524"/>
            <a:ext cx="222504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0664" y="3166567"/>
            <a:ext cx="1932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idade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76600" y="1600200"/>
            <a:ext cx="2590800" cy="2578608"/>
          </a:xfrm>
          <a:prstGeom prst="roundRect">
            <a:avLst>
              <a:gd name="adj" fmla="val 35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7830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71544" y="178308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Strings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3459480" y="2258568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 entre aspas, que pode ser concatenado ou interpolado.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3459480" y="3270504"/>
            <a:ext cx="222504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605784" y="3387547"/>
            <a:ext cx="1932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'Olá, 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`Olá, ${nome}`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41720" y="1600200"/>
            <a:ext cx="2590800" cy="2578608"/>
          </a:xfrm>
          <a:prstGeom prst="roundRect">
            <a:avLst>
              <a:gd name="adj" fmla="val 35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78308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36664" y="178308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Entrada e Saída</a:t>
            </a:r>
            <a:endParaRPr lang="en-US" sz="1750" dirty="0"/>
          </a:p>
        </p:txBody>
      </p:sp>
      <p:sp>
        <p:nvSpPr>
          <p:cNvPr id="21" name="Text 15"/>
          <p:cNvSpPr txBox="1"/>
          <p:nvPr/>
        </p:nvSpPr>
        <p:spPr>
          <a:xfrm>
            <a:off x="6324600" y="2407920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usuário digita, o programa responde.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324600" y="3198876"/>
            <a:ext cx="222504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70904" y="3315919"/>
            <a:ext cx="1932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'Nome? 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(nome)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Concatenação x Interpolação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205587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Concatenação (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2430780"/>
            <a:ext cx="4069080" cy="755904"/>
          </a:xfrm>
          <a:prstGeom prst="roundRect">
            <a:avLst>
              <a:gd name="adj" fmla="val 967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2064" y="2547823"/>
            <a:ext cx="377647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"João"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mensagem =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"Olá, 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nome +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"!"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709160" y="205587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Interpolação (crase 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})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09160" y="2430780"/>
            <a:ext cx="4069080" cy="755904"/>
          </a:xfrm>
          <a:prstGeom prst="roundRect">
            <a:avLst>
              <a:gd name="adj" fmla="val 967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55464" y="2547823"/>
            <a:ext cx="377647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"João"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mensagem =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`Olá, ${nome}!`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duas geram o mesmo texto: "Olá, João!". A interpolação fica mais legível quando há muitas variáveis.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Tipos de Dados</a:t>
            </a:r>
            <a:endParaRPr lang="en-US" sz="3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Tipos de dados em JavaScript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259080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2728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25272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728216"/>
            <a:ext cx="2225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Texto: uma cadeia de caracteres.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94360" y="2161032"/>
            <a:ext cx="2225040" cy="445008"/>
          </a:xfrm>
          <a:prstGeom prst="roundRect">
            <a:avLst>
              <a:gd name="adj" fmla="val 1643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" y="2278075"/>
            <a:ext cx="1932432" cy="21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'João'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76600" y="1069848"/>
            <a:ext cx="259080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25272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71544" y="125272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3459480" y="1728216"/>
            <a:ext cx="2225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Inteiros, decimais, </a:t>
            </a: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Infinity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459480" y="2161032"/>
            <a:ext cx="2225040" cy="445008"/>
          </a:xfrm>
          <a:prstGeom prst="roundRect">
            <a:avLst>
              <a:gd name="adj" fmla="val 1643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605784" y="2278075"/>
            <a:ext cx="1932432" cy="21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idade =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media =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141720" y="1069848"/>
            <a:ext cx="259080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25272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36664" y="125272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Boolean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6324600" y="1728216"/>
            <a:ext cx="2225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Verdadeiro (</a:t>
            </a: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ou falso (</a:t>
            </a: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324600" y="2161032"/>
            <a:ext cx="2225040" cy="445008"/>
          </a:xfrm>
          <a:prstGeom prst="roundRect">
            <a:avLst>
              <a:gd name="adj" fmla="val 1643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470904" y="2278075"/>
            <a:ext cx="1932432" cy="21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portaAberta =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11480" y="2990088"/>
            <a:ext cx="259080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0642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Undefined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594360" y="3648456"/>
            <a:ext cx="2225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variável existe, mas ainda não recebeu valor.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94360" y="4081272"/>
            <a:ext cx="2225040" cy="445008"/>
          </a:xfrm>
          <a:prstGeom prst="roundRect">
            <a:avLst>
              <a:gd name="adj" fmla="val 1643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40664" y="4198315"/>
            <a:ext cx="1932432" cy="21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aindaNaoSei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276600" y="2990088"/>
            <a:ext cx="259080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480" y="3172968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97154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Null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3459480" y="3648456"/>
            <a:ext cx="2225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Ausência de valor, colocada de propósito.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459480" y="4081272"/>
            <a:ext cx="2225040" cy="445008"/>
          </a:xfrm>
          <a:prstGeom prst="roundRect">
            <a:avLst>
              <a:gd name="adj" fmla="val 1643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3605784" y="4198315"/>
            <a:ext cx="1932432" cy="21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vazio =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141720" y="2990088"/>
            <a:ext cx="259080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3172968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83666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Object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324600" y="3648456"/>
            <a:ext cx="2225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Coleção de propriedades: nome e valor.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324600" y="4081272"/>
            <a:ext cx="2225040" cy="445008"/>
          </a:xfrm>
          <a:prstGeom prst="roundRect">
            <a:avLst>
              <a:gd name="adj" fmla="val 1643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6470904" y="4198315"/>
            <a:ext cx="1932432" cy="21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carro = { marca: </a:t>
            </a:r>
            <a:r>
              <a:rPr lang="en-US" sz="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'Ford'</a:t>
            </a:r>
            <a:r>
              <a:rPr lang="en-US" sz="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Descobrindo o tipo com typeof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946148"/>
            <a:ext cx="4823460" cy="1914144"/>
          </a:xfrm>
          <a:prstGeom prst="roundRect">
            <a:avLst>
              <a:gd name="adj" fmla="val 382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063191"/>
            <a:ext cx="4530852" cy="1680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aindaNaoSei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'João'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number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boolean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aindaNaoSei)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a: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(!)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63540" y="1600200"/>
            <a:ext cx="33147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devolve, em forma de texto, o tipo do valor.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null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dá "object" por um erro histórico da linguagem, que nunca foi corrigido para não quebrar sites antigos.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'7' x 7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com aspas é string; sem aspas é number. O typeof mostra a diferença.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Operadores</a:t>
            </a:r>
            <a:endParaRPr lang="en-US" sz="3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Operadores aritméticos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71372"/>
            <a:ext cx="2590800" cy="1406652"/>
          </a:xfrm>
          <a:prstGeom prst="roundRect">
            <a:avLst>
              <a:gd name="adj" fmla="val 650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54252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Adição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" y="1729740"/>
            <a:ext cx="2225040" cy="473964"/>
          </a:xfrm>
          <a:prstGeom prst="roundRect">
            <a:avLst>
              <a:gd name="adj" fmla="val 1543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0664" y="1846783"/>
            <a:ext cx="1932432" cy="23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76600" y="1071372"/>
            <a:ext cx="2590800" cy="1406652"/>
          </a:xfrm>
          <a:prstGeom prst="roundRect">
            <a:avLst>
              <a:gd name="adj" fmla="val 650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9480" y="1254252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Subtração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59480" y="1729740"/>
            <a:ext cx="2225040" cy="473964"/>
          </a:xfrm>
          <a:prstGeom prst="roundRect">
            <a:avLst>
              <a:gd name="adj" fmla="val 1543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05784" y="1846783"/>
            <a:ext cx="1932432" cy="23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41720" y="1071372"/>
            <a:ext cx="2590800" cy="1406652"/>
          </a:xfrm>
          <a:prstGeom prst="roundRect">
            <a:avLst>
              <a:gd name="adj" fmla="val 650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4600" y="1254252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Multiplicação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24600" y="1729740"/>
            <a:ext cx="2225040" cy="473964"/>
          </a:xfrm>
          <a:prstGeom prst="roundRect">
            <a:avLst>
              <a:gd name="adj" fmla="val 1543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70904" y="1846783"/>
            <a:ext cx="1932432" cy="23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50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844040" y="2679192"/>
            <a:ext cx="2590800" cy="1406652"/>
          </a:xfrm>
          <a:prstGeom prst="roundRect">
            <a:avLst>
              <a:gd name="adj" fmla="val 650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26920" y="2862072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Divisão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026920" y="3337560"/>
            <a:ext cx="2225040" cy="473964"/>
          </a:xfrm>
          <a:prstGeom prst="roundRect">
            <a:avLst>
              <a:gd name="adj" fmla="val 1543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173224" y="3454603"/>
            <a:ext cx="1932432" cy="23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09160" y="2679192"/>
            <a:ext cx="2590800" cy="1406652"/>
          </a:xfrm>
          <a:prstGeom prst="roundRect">
            <a:avLst>
              <a:gd name="adj" fmla="val 650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92040" y="2862072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Módulo (resto)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892040" y="3337560"/>
            <a:ext cx="2225040" cy="473964"/>
          </a:xfrm>
          <a:prstGeom prst="roundRect">
            <a:avLst>
              <a:gd name="adj" fmla="val 1543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38344" y="3454603"/>
            <a:ext cx="1932432" cy="23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Funcionam como na matemática.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devolve 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resto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 divisão: ótimo para saber se um número é par.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 com a ordem das operações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Como na matemática,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multiplicação e divisão vêm antes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 soma e subtração.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parênteses,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 + nota2 / 2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divide só a nota2 e depois soma a nota1.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parênteses para dizer o que deve ser calculado primeiro.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49956"/>
            <a:ext cx="8046720" cy="1182624"/>
          </a:xfrm>
          <a:prstGeom prst="roundRect">
            <a:avLst>
              <a:gd name="adj" fmla="val 618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66999"/>
            <a:ext cx="7754112" cy="948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nota1 =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nota2 =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(nota1 + nota2 /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 (errado: 7 + 4)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((nota1 + nota2) /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7.5  (correto)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linha que começa com ( ou [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ponto e vírgula, o Node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junta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 linha com a anterior quando ela começa com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JavaScript coloca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sozinho no fim de cada linha,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menos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quando a próxima começa com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aí ele lê as duas como uma instrução só.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nosso estilo, sem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não comece uma linha com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guarde o valor numa variável ou coloque dentro do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3369056"/>
            <a:ext cx="8046720" cy="1182624"/>
          </a:xfrm>
          <a:prstGeom prst="roundRect">
            <a:avLst>
              <a:gd name="adj" fmla="val 618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486099"/>
            <a:ext cx="7754112" cy="948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 = nota1 + nota2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(nota1 + nota2) /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TypeError: nota2 is not a function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media = (nota1 + nota2) /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Casas decimais: 0.1 + 0.2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976628"/>
            <a:ext cx="5577840" cy="1853184"/>
          </a:xfrm>
          <a:prstGeom prst="roundRect">
            <a:avLst>
              <a:gd name="adj" fmla="val 39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093671"/>
            <a:ext cx="5285232" cy="161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</a:t>
            </a: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0.30000000000000004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media =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(media)              </a:t>
            </a: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6.666666666666667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(media.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toFixed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</a:t>
            </a: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6.67 (é texto!)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preco =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19.9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`R$ ${preco.toFixed(2)}`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R$ 19.90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104900"/>
            <a:ext cx="2560320" cy="3596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 + 0.2  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computador guarda decimais em binário, e alguns valores ficam com uma "sobra" minúscula. Não é bug do seu código.</a:t>
            </a:r>
            <a:endParaRPr lang="en-US" sz="14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toFixed(2)  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arredonda para 2 casas na hora de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mostrar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 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toFixed devolve string: use só para exibir, não para continuar fazendo contas.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quando 10 + 5 vira 105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houver um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meio de uma soma, o JavaScript desiste da matemática 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gruda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os valores.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por isso que usamos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parseInt()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parseFloat()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nas respostas do prompt-sync.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Eles garantem que o texto vire número de verdade antes da conta acontecer.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755904"/>
          </a:xfrm>
          <a:prstGeom prst="roundRect">
            <a:avLst>
              <a:gd name="adj" fmla="val 967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"105"  texto + número = junta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   agora sim, matemática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Operadores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Usando entrada e saída, desenvolva um programa que peça ao usuário duas notas e calcule a média entre elas.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1770888"/>
            <a:ext cx="813816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0269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862328"/>
            <a:ext cx="7360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Cuidado: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nota pode ter casas decimais. Converta com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parseFloat()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trocando a vírgula por ponto, e mostre a média com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.toFixed(1)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Tipos de dados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variável para cada tipo de dado que vimos: string, number, boolean e undefined.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o operador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imprimir o tipo de cada uma no console.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6898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minhaVariavel)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mostra o tipo em forma de texto.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3271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6898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4185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variável com o valor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"7"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(com aspas) e outra com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(sem aspas) e compare os tipos.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600200"/>
            <a:ext cx="2590800" cy="2578608"/>
          </a:xfrm>
          <a:prstGeom prst="roundRect">
            <a:avLst>
              <a:gd name="adj" fmla="val 35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78308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Strings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258568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Concatenação com + ou interpolação com crase.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3049524"/>
            <a:ext cx="222504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0664" y="3166567"/>
            <a:ext cx="1932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"Olá, 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`Olá, ${nome}`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76600" y="1600200"/>
            <a:ext cx="2590800" cy="2578608"/>
          </a:xfrm>
          <a:prstGeom prst="roundRect">
            <a:avLst>
              <a:gd name="adj" fmla="val 35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7830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71544" y="178308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Tipos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3459480" y="2258568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string, number, boolean, undefined, null e object.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3459480" y="3270504"/>
            <a:ext cx="222504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605784" y="3387547"/>
            <a:ext cx="1932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'number'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41720" y="1600200"/>
            <a:ext cx="2590800" cy="2578608"/>
          </a:xfrm>
          <a:prstGeom prst="roundRect">
            <a:avLst>
              <a:gd name="adj" fmla="val 35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78308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36664" y="178308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Operadores</a:t>
            </a:r>
            <a:endParaRPr lang="en-US" sz="1750" dirty="0"/>
          </a:p>
        </p:txBody>
      </p:sp>
      <p:sp>
        <p:nvSpPr>
          <p:cNvPr id="21" name="Text 15"/>
          <p:cNvSpPr txBox="1"/>
          <p:nvPr/>
        </p:nvSpPr>
        <p:spPr>
          <a:xfrm>
            <a:off x="6324600" y="2258568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Contas como na matemática, e % para o resto.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324600" y="3049524"/>
            <a:ext cx="222504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70904" y="3166567"/>
            <a:ext cx="1932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Mais alguns operadores bem úteis…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Operadores de atribuição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5758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Forma longa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950720"/>
            <a:ext cx="4069080" cy="1929384"/>
          </a:xfrm>
          <a:prstGeom prst="roundRect">
            <a:avLst>
              <a:gd name="adj" fmla="val 37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067763"/>
            <a:ext cx="3776472" cy="16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ano =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 = ano +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2024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alunos =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 = alunos -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57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 = alunos +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58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 = alunos -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57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5758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Forma curta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950720"/>
            <a:ext cx="4069080" cy="1929384"/>
          </a:xfrm>
          <a:prstGeom prst="roundRect">
            <a:avLst>
              <a:gd name="adj" fmla="val 37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067763"/>
            <a:ext cx="3776472" cy="16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ano =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 +=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2024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alunos =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 -=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57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alunos++          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58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alunos--          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57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Também existem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/=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somam ou subtraem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exatamente 1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Condicionais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Fazendo o programa tomar decisões</a:t>
            </a:r>
            <a:endParaRPr lang="en-US" sz="1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if, else if e else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3385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111556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(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alguma condição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), então { uma ação }.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7627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57984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Senão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nenhuma condição for verdadeira, faça { uma ação geral }.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21868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32004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Senão, se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 outra condição quando a anterior foi falsa. Pode haver quantos você precisar.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JavaScript testa de cima para baixo e executa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o primeiro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bloco cuja condição for verdadeira.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Condicionais na prática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086612"/>
            <a:ext cx="4023360" cy="2523744"/>
          </a:xfrm>
          <a:prstGeom prst="roundRect">
            <a:avLst>
              <a:gd name="adj" fmla="val 289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203655"/>
            <a:ext cx="3730752" cy="228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 =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 &gt;=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'Aprovado'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 &gt;=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'Recuperação'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'Reprovado'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7200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994404"/>
            <a:ext cx="4023360" cy="725424"/>
          </a:xfrm>
          <a:prstGeom prst="roundRect">
            <a:avLst>
              <a:gd name="adj" fmla="val 10084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4111447"/>
            <a:ext cx="373075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condicionais.js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Recuperação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042160"/>
            <a:ext cx="411480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(nota &gt;= 7)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falso para 6: pula este bloco.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(nota &gt;= 5)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verdadeiro: imprime "Recuperação" e para aqui.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só roda se todas as condições anteriores forem falsas.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variável criada dentro de um bloco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4691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Assim dá erro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844040"/>
            <a:ext cx="4069080" cy="1929384"/>
          </a:xfrm>
          <a:prstGeom prst="roundRect">
            <a:avLst>
              <a:gd name="adj" fmla="val 37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961083"/>
            <a:ext cx="3776472" cy="16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 &gt;=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situacao =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'Aprovado'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(situacao)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ReferenceError: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situacao is not defined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4691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Assim funciona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844040"/>
            <a:ext cx="4069080" cy="1929384"/>
          </a:xfrm>
          <a:prstGeom prst="roundRect">
            <a:avLst>
              <a:gd name="adj" fmla="val 37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1961083"/>
            <a:ext cx="3776472" cy="16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situacao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 &gt;=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situacao =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'Aprovado'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(situacao)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Aprovado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a variável criada dentro de { }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existe dentro dessas chaves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Declare antes do bloco e atribua o valor dentro dele.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Operadores de Comparação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Eles comparam valores e sempre devolvem </a:t>
            </a:r>
            <a:r>
              <a:rPr lang="en-US" sz="16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6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Igualdade e diferença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402336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527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Igual (valor)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" y="1728216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0664" y="1845259"/>
            <a:ext cx="3364992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069848"/>
            <a:ext cx="402336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2527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Igual (valor e tipo)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92040" y="1728216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38344" y="1845259"/>
            <a:ext cx="3364992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1480" y="2679192"/>
            <a:ext cx="402336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8620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Diferente (valor)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333756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0664" y="3454603"/>
            <a:ext cx="3364992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2679192"/>
            <a:ext cx="402336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92040" y="28620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!==</a:t>
            </a: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Diferente (valor e tipo)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92040" y="333756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38344" y="3454603"/>
            <a:ext cx="3364992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'5'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confunda com 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atribuição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 Prefira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!==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eles não fazem conversões escondidas.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Maior e menor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46048"/>
            <a:ext cx="4023360" cy="1642872"/>
          </a:xfrm>
          <a:prstGeom prst="roundRect">
            <a:avLst>
              <a:gd name="adj" fmla="val 556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28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Maior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" y="1804416"/>
            <a:ext cx="3657600" cy="710184"/>
          </a:xfrm>
          <a:prstGeom prst="roundRect">
            <a:avLst>
              <a:gd name="adj" fmla="val 1030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0664" y="1921459"/>
            <a:ext cx="3364992" cy="47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146048"/>
            <a:ext cx="4023360" cy="1642872"/>
          </a:xfrm>
          <a:prstGeom prst="roundRect">
            <a:avLst>
              <a:gd name="adj" fmla="val 556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328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Menor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92040" y="1804416"/>
            <a:ext cx="3657600" cy="710184"/>
          </a:xfrm>
          <a:prstGeom prst="roundRect">
            <a:avLst>
              <a:gd name="adj" fmla="val 1030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38344" y="1921459"/>
            <a:ext cx="3364992" cy="47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" y="2990088"/>
            <a:ext cx="4023360" cy="1642872"/>
          </a:xfrm>
          <a:prstGeom prst="roundRect">
            <a:avLst>
              <a:gd name="adj" fmla="val 556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3172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Maior ou igual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" y="3648456"/>
            <a:ext cx="3657600" cy="710184"/>
          </a:xfrm>
          <a:prstGeom prst="roundRect">
            <a:avLst>
              <a:gd name="adj" fmla="val 1030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0664" y="3765499"/>
            <a:ext cx="3364992" cy="47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709160" y="2990088"/>
            <a:ext cx="4023360" cy="1642872"/>
          </a:xfrm>
          <a:prstGeom prst="roundRect">
            <a:avLst>
              <a:gd name="adj" fmla="val 556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92040" y="3172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Menor ou igual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892040" y="3648456"/>
            <a:ext cx="3657600" cy="710184"/>
          </a:xfrm>
          <a:prstGeom prst="roundRect">
            <a:avLst>
              <a:gd name="adj" fmla="val 1030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38344" y="3765499"/>
            <a:ext cx="3364992" cy="47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comparar texto não é comparar número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 textos,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 &gt; "9"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false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 comparação é caractere por caractere, como no dicionário.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vem antes do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"9"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então o texto "10" é considerado "menor".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Tudo que vem do prompt é texto: converta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 comparar números.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textos, maiúsculas contam: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 === "ana"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470656"/>
            <a:ext cx="8046720" cy="755904"/>
          </a:xfrm>
          <a:prstGeom prst="roundRect">
            <a:avLst>
              <a:gd name="adj" fmla="val 967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587699"/>
            <a:ext cx="775411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&gt;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Operadores Lógicos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Combinando várias condições em uma só</a:t>
            </a:r>
            <a:endParaRPr lang="en-US" sz="1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E, OU e NÃO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65732"/>
            <a:ext cx="2590800" cy="2447544"/>
          </a:xfrm>
          <a:prstGeom prst="roundRect">
            <a:avLst>
              <a:gd name="adj" fmla="val 373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848612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34412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(E)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892552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Devolve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só se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duas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condições forem verdadeiras.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276600" y="1665732"/>
            <a:ext cx="2590800" cy="2447544"/>
          </a:xfrm>
          <a:prstGeom prst="roundRect">
            <a:avLst>
              <a:gd name="adj" fmla="val 373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9480" y="1848612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3459480" y="2534412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 (OU)</a:t>
            </a:r>
            <a:endParaRPr lang="en-US" sz="1750" dirty="0"/>
          </a:p>
        </p:txBody>
      </p:sp>
      <p:sp>
        <p:nvSpPr>
          <p:cNvPr id="12" name="Text 9"/>
          <p:cNvSpPr txBox="1"/>
          <p:nvPr/>
        </p:nvSpPr>
        <p:spPr>
          <a:xfrm>
            <a:off x="3459480" y="2892552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Devolve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pelo menos uma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condição for verdadeira.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41720" y="1665732"/>
            <a:ext cx="2590800" cy="2447544"/>
          </a:xfrm>
          <a:prstGeom prst="roundRect">
            <a:avLst>
              <a:gd name="adj" fmla="val 373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4600" y="1848612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324600" y="2534412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(NÃO)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6324600" y="2892552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Inverte o valor: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!true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!false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Tabela verdade: posso ligar o ar?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portaFechada 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janelaFechada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estaFrio 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estaAbafado</a:t>
            </a:r>
            <a:endParaRPr lang="en-US" sz="15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5448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porta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janela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&amp;&amp;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55448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frio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abafado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||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B9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51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basta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falso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dar falso. No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basta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verdadeiro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dar verdadeiro.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Operadores lógicos na prática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648968"/>
            <a:ext cx="5417820" cy="2508504"/>
          </a:xfrm>
          <a:prstGeom prst="roundRect">
            <a:avLst>
              <a:gd name="adj" fmla="val 291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766011"/>
            <a:ext cx="5125212" cy="227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portaFechada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janelaFechada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estaFrio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estaAbafado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portaFechada &amp;&amp; janelaFechada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estaFrio || estaAbafado  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!estaFrio                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naoPodeLigar = !(portaFechada &amp;&amp; janelaFechada)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naoPodeLigar = true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057900" y="1413510"/>
            <a:ext cx="2720340" cy="297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janela está aberta, então o resultado é false.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está abafado, então já é true.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inverte: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!false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vira true.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!( 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os parênteses fazem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inverter o resultado da expressão inteira.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Combinando expressões lógicas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Podemos juntar várias condições em uma só: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2043684"/>
            <a:ext cx="8321040" cy="1548384"/>
          </a:xfrm>
          <a:prstGeom prst="roundRect">
            <a:avLst>
              <a:gd name="adj" fmla="val 472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2160727"/>
            <a:ext cx="8028432" cy="131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((estaFrio || estaAbafado) &amp;&amp; portaFechada &amp;&amp; janelaFechada)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ligarArCondicionado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desligarArCondicionado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parênteses definem a ordem: primeiro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depois os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Liga se estiver frio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abafado,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tudo estiver fechado.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Truthy e falsy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14044"/>
            <a:ext cx="4023360" cy="2929128"/>
          </a:xfrm>
          <a:prstGeom prst="roundRect">
            <a:avLst>
              <a:gd name="adj" fmla="val 312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6924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29692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Falsy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772412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Valores que o if trata como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falso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94360" y="2342388"/>
            <a:ext cx="3657600" cy="1517904"/>
          </a:xfrm>
          <a:prstGeom prst="roundRect">
            <a:avLst>
              <a:gd name="adj" fmla="val 481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" y="2459431"/>
            <a:ext cx="3364992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texto vazio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09160" y="1114044"/>
            <a:ext cx="4023360" cy="2929128"/>
          </a:xfrm>
          <a:prstGeom prst="roundRect">
            <a:avLst>
              <a:gd name="adj" fmla="val 312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9692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04104" y="129692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Truthy</a:t>
            </a:r>
            <a:endParaRPr lang="en-US" sz="175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1772412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 o resto é tratado como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verdadeiro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892040" y="2342388"/>
            <a:ext cx="3657600" cy="1517904"/>
          </a:xfrm>
          <a:prstGeom prst="roundRect">
            <a:avLst>
              <a:gd name="adj" fmla="val 481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038344" y="2459431"/>
            <a:ext cx="3364992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é texto!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isso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(nome)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verifica se o usuário digitou algo: se ele só apertar Enter, o texto vem vazio e cai no else.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aparece no console?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554480" y="1581912"/>
            <a:ext cx="6035040" cy="2249424"/>
          </a:xfrm>
          <a:prstGeom prst="roundRect">
            <a:avLst>
              <a:gd name="adj" fmla="val 325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700784" y="1698955"/>
            <a:ext cx="5742432" cy="2015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idade = </a:t>
            </a:r>
            <a:r>
              <a:rPr lang="en-US" sz="18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(idade = </a:t>
            </a:r>
            <a:r>
              <a:rPr lang="en-US" sz="18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 20 anos"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"Não tem 20 anos"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39684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Pense antes de rodar: qual é a saída?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= não é o mesmo que ==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478536"/>
          </a:xfrm>
          <a:prstGeom prst="roundRect">
            <a:avLst>
              <a:gd name="adj" fmla="val 1528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"Tem 20 anos"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mesmo a idade sendo 18!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177698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sozinho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atribui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troca o valor de idade para 20 e devolve 20, que é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truthy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valores (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== "18"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verdadeiro).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compara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valor e tipo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=== "18"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falso).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Dentro de um if, use sempre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Um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ali é quase sempre um bug.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440176"/>
            <a:ext cx="8046720" cy="542544"/>
          </a:xfrm>
          <a:prstGeom prst="roundRect">
            <a:avLst>
              <a:gd name="adj" fmla="val 1348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557219"/>
            <a:ext cx="7754112" cy="308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(idade ===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compara, não altera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Condicionais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Peça ao usuário dois números e mostre qual é o maior deles.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uma condicional com os operadores de comparação (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6898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Cuidado: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converta as duas entradas antes de comparar. Como texto,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 &gt; "9"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dá false.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3271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6898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4185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trate também o caso em que os dois números são iguais.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Condicionais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Desenvolva um programa que peça ao usuário um número e diga se ele é ímpar ou par.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1770888"/>
            <a:ext cx="8138160" cy="664464"/>
          </a:xfrm>
          <a:prstGeom prst="roundRect">
            <a:avLst>
              <a:gd name="adj" fmla="val 110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9202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862328"/>
            <a:ext cx="736092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o operador módulo (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): 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 % 2 === 0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número é par. Não se esqueça de tratar o 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Condicionais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Pergunte se o usuário gosta de café.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uma condicional para salvar a resposta em uma variável booleana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gostaDeCafe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base nela, crie outra condicional para imprimir uma mensagem personalizada caso ele goste e outra caso não goste.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4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Condicionais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Peça o nome e a idade do usuário e imprima em que ano ele nasceu.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facilitar, crie uma constante com o ano atual: assim não é preciso pedir mais uma entrada.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813816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5831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7360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Cuidado: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idade deve ser um número inteiro. Na mensagem, fale das duas possibilidades: se ele já fez aniversário este ano ou se ainda não fez (um ano a menos).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5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Condicionais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Pergunte o nome e a idade do usuário.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for maior de idade, imprima: "Nome, você já é maior de idade."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for menor, imprima: "Nome, você vai ser maior de idade em X anos." (calcule quantos anos faltam).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Revisão: condicionais e lógica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403604"/>
            <a:ext cx="2590800" cy="2578608"/>
          </a:xfrm>
          <a:prstGeom prst="roundRect">
            <a:avLst>
              <a:gd name="adj" fmla="val 35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86484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586484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/ else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061972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Executa um bloco ou outro, dependendo de um teste.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3073908"/>
            <a:ext cx="222504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0664" y="3190951"/>
            <a:ext cx="1932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(ok) { …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… }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76600" y="1403604"/>
            <a:ext cx="2590800" cy="2578608"/>
          </a:xfrm>
          <a:prstGeom prst="roundRect">
            <a:avLst>
              <a:gd name="adj" fmla="val 35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5864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71544" y="1586484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Comparação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3459480" y="2061972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Sempre devolve true ou false. Prefira === e !==.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3459480" y="2852928"/>
            <a:ext cx="222504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605784" y="2969971"/>
            <a:ext cx="1932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===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&gt;=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41720" y="1403604"/>
            <a:ext cx="2590800" cy="2578608"/>
          </a:xfrm>
          <a:prstGeom prst="roundRect">
            <a:avLst>
              <a:gd name="adj" fmla="val 354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586484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36664" y="1586484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Lógicos</a:t>
            </a:r>
            <a:endParaRPr lang="en-US" sz="1750" dirty="0"/>
          </a:p>
        </p:txBody>
      </p:sp>
      <p:sp>
        <p:nvSpPr>
          <p:cNvPr id="21" name="Text 15"/>
          <p:cNvSpPr txBox="1"/>
          <p:nvPr/>
        </p:nvSpPr>
        <p:spPr>
          <a:xfrm>
            <a:off x="6324600" y="2061972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&amp;&amp;: as duas. ||: basta uma. !: inverte.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324600" y="2852928"/>
            <a:ext cx="2225040" cy="527304"/>
          </a:xfrm>
          <a:prstGeom prst="roundRect">
            <a:avLst>
              <a:gd name="adj" fmla="val 1387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70904" y="2969971"/>
            <a:ext cx="1932432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|| b) &amp;&amp; c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4416552"/>
            <a:ext cx="7863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Dentro de um if, um único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quase sempre um bug.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Arrays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Guardando vários valores em uma só variável</a:t>
            </a:r>
            <a:endParaRPr lang="en-US" sz="16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um Array?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989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45161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lista de valores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Permite armazenar vários valores em uma única variável.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227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17398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Qualquer tipo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Números, strings, booleanos, objetos e até outros arrays.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1465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896362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Como um conjunto da matemática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elementos ficam entre colchetes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separados por vírgula.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4276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82447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Acessado por índice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elemento tem uma posição, e a contagem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começa no 0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Criando arrays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808988"/>
            <a:ext cx="8321040" cy="1624584"/>
          </a:xfrm>
          <a:prstGeom prst="roundRect">
            <a:avLst>
              <a:gd name="adj" fmla="val 45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926031"/>
            <a:ext cx="8028432" cy="1390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professores = [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'João'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'Edson'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'Jhonatan'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'Eduardo'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turmas = [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'manhã'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'tarde'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'noite'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frutas = [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'maçã'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'banana'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'abacaxi'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numeros = [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misturado = [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Colchetes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abrem e fecham o array. Cada item é separado por vírgula.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Índices: acessando elementos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143000" y="11430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11430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11430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0" y="11430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977640" y="11430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77640" y="11430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97764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94960" y="11430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94960" y="11430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12280" y="11430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12280" y="11430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1965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143000" y="2468880"/>
            <a:ext cx="6903720" cy="1822704"/>
          </a:xfrm>
          <a:prstGeom prst="roundRect">
            <a:avLst>
              <a:gd name="adj" fmla="val 401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89304" y="2585923"/>
            <a:ext cx="6611112" cy="158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exemplo = [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(exemplo[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(exemplo[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segundo = exemplo[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 primeiro elemento é ${exemplo[0]}.`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índice que não existe</a:t>
            </a:r>
            <a:endParaRPr lang="en-US" sz="29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Acessar uma posição que não existe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dá erro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devolve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último índice é sempre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- 1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num array de 3 itens, os índices vão de 0 a 2.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Guarde isso para os laços: percorrer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lista.length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faz a última volta imprimir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frutas = [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'maçã'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'banana'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'abacaxi'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frutas[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     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frutas[frutas.length -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'abacaxi' (o último)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Métodos para manipular arrays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339596"/>
            <a:ext cx="187452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5224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97964"/>
            <a:ext cx="150876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Adiciona no 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fim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560320" y="1339596"/>
            <a:ext cx="187452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43200" y="15224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1997964"/>
            <a:ext cx="150876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 o 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último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09160" y="1339596"/>
            <a:ext cx="187452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15224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unshift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997964"/>
            <a:ext cx="150876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Adiciona no 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início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0" y="1339596"/>
            <a:ext cx="187452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40880" y="15224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1997964"/>
            <a:ext cx="150876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 o </a:t>
            </a: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primeiro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11480" y="2990088"/>
            <a:ext cx="187452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1729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3648456"/>
            <a:ext cx="15087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 itens de uma posição específica.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560320" y="2990088"/>
            <a:ext cx="187452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43200" y="31729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2743200" y="3648456"/>
            <a:ext cx="150876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item existe? (</a:t>
            </a: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</a:t>
            </a: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709160" y="2990088"/>
            <a:ext cx="187452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92040" y="31729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4892040" y="3648456"/>
            <a:ext cx="150876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que posição está? (</a:t>
            </a: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 não existe)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858000" y="2990088"/>
            <a:ext cx="187452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40880" y="31729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endParaRPr lang="en-US" sz="155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3648456"/>
            <a:ext cx="150876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Quantos itens o array tem.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Adicionar e remover nas pontas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56588"/>
            <a:ext cx="8321040" cy="2142744"/>
          </a:xfrm>
          <a:prstGeom prst="roundRect">
            <a:avLst>
              <a:gd name="adj" fmla="val 341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773631"/>
            <a:ext cx="8028432" cy="190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personagens = [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'Shrek'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'Fiona'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personagens.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'Burro'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['Shrek', 'Fiona', 'Burro']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personagens.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     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['Shrek', 'Fiona']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personagens.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unshift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'Gato'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['Gato', 'Shrek', 'Fiona']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personagens.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   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['Shrek', 'Fiona']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trabalham no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fim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array;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unshift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início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const com array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impede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trocar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array por outro, mas não impede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mudar o que tem dentro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funcionam normalmente num array criado com const.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dá erro é reatribuir: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= [...]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Vale o mesmo para objetos.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lista = [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'Shrek'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'Fiona'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ok: ['Shrek', 'Fiona']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= [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'Burro'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TypeError: Assignment to constant variable.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splice: removendo do meio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03248"/>
            <a:ext cx="8321040" cy="2036064"/>
          </a:xfrm>
          <a:prstGeom prst="roundRect">
            <a:avLst>
              <a:gd name="adj" fmla="val 359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720291"/>
            <a:ext cx="8028432" cy="180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numeros = [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</a:t>
            </a:r>
            <a:r>
              <a:rPr lang="en-US" sz="16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partir do índice 2, remove 1 item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(numeros)      </a:t>
            </a:r>
            <a:r>
              <a:rPr lang="en-US" sz="16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[10, 20, 40, 50]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personagens = [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'Shrek'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'Fiona'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'Príncipe Encantado'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personagens.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r>
              <a:rPr lang="en-US" sz="16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partir do índice 0, remove 2 itens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(personagens)  </a:t>
            </a:r>
            <a:r>
              <a:rPr lang="en-US" sz="16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['Príncipe Encantado']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splice(posição, quantidade)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primeiro número diz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onde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começar e o segundo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quantos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remover.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Consultando: includes, indexOf e length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1443228"/>
            <a:ext cx="8321040" cy="2919984"/>
          </a:xfrm>
          <a:prstGeom prst="roundRect">
            <a:avLst>
              <a:gd name="adj" fmla="val 250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560271"/>
            <a:ext cx="8028432" cy="268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personagens = [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'Príncipe Encantado'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'Fiona'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personagens.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'Fiona'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personagens.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'Príncipe Encantado'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personagens.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'Shrek'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-1 (não existe)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personagens.length                       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(personagens.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'Príncipe Encantado'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 filme é Shrek 2 ou 3'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Vamos praticar arrays com uma dinâmica entre vocês! Esta atividade não precisa de entrada do usuário.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60576"/>
            <a:ext cx="813816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array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minhaMesa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os nomes dos alunos que sentam na sua mesa, incluindo você.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Imprima: "Meu nome é NOME, meus colegas são COLEGA, COLEGA, COLEGA."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interpolação e acesse cada nome pela posição no array, da esquerda para a direita.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Peça ao usuário duas notas (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prova1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prova2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), uma de cada vez.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Guarde as notas em um array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calcule a média usando as posições do array.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 uma mensagem com o resultado da média.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624328"/>
            <a:ext cx="813816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8803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715768"/>
            <a:ext cx="7360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 array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vazio, converta cada entrada com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parseFloat()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(trocando vírgula por ponto) e use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adicionar as notas.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Vamos criar um pequeno gerenciador de tarefas!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01496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Comece com um array vazio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listaTarefas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peça ao usuário 3 tarefas do dia, uma de cada vez.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Imprima: "Você tem X tarefas na sua lista."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Simule que a última tarefa foi concluída: remova o último item e imprima a lista atualizada.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2993136"/>
            <a:ext cx="813816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2491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084576"/>
            <a:ext cx="7360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adicionar,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.length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contar 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remover. Para imprimir a lista de um jeito mais legível, pesquise o método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join()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Revisão: arrays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495044"/>
            <a:ext cx="2590800" cy="2788920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77924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677924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 e acessar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302764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Vários valores em uma variável. Índices começam no 0.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3314700"/>
            <a:ext cx="2225040" cy="786384"/>
          </a:xfrm>
          <a:prstGeom prst="roundRect">
            <a:avLst>
              <a:gd name="adj" fmla="val 930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0664" y="3431743"/>
            <a:ext cx="1932432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lista = [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lista[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</a:t>
            </a:r>
            <a:r>
              <a:rPr lang="en-US" sz="10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lista[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</a:t>
            </a:r>
            <a:r>
              <a:rPr lang="en-US" sz="10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76600" y="1495044"/>
            <a:ext cx="2590800" cy="2788920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67792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71544" y="1677924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Adicionar e remover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3459480" y="2302764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Nas pontas ou em uma posição específica.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3459480" y="3093720"/>
            <a:ext cx="2225040" cy="923544"/>
          </a:xfrm>
          <a:prstGeom prst="roundRect">
            <a:avLst>
              <a:gd name="adj" fmla="val 792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605784" y="3210763"/>
            <a:ext cx="193243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/ unshift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/ shift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(pos, qtd)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41720" y="1495044"/>
            <a:ext cx="2590800" cy="2788920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677924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36664" y="1677924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Consultar</a:t>
            </a:r>
            <a:endParaRPr lang="en-US" sz="1750" dirty="0"/>
          </a:p>
        </p:txBody>
      </p:sp>
      <p:sp>
        <p:nvSpPr>
          <p:cNvPr id="21" name="Text 15"/>
          <p:cNvSpPr txBox="1"/>
          <p:nvPr/>
        </p:nvSpPr>
        <p:spPr>
          <a:xfrm>
            <a:off x="6324600" y="2153412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Existe? Onde está? Quantos são?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324600" y="2723388"/>
            <a:ext cx="2225040" cy="923544"/>
          </a:xfrm>
          <a:prstGeom prst="roundRect">
            <a:avLst>
              <a:gd name="adj" fmla="val 792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70904" y="2840431"/>
            <a:ext cx="193243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(item)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(item)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Objetos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Guardando informações relacionadas com nome</a:t>
            </a:r>
            <a:endParaRPr lang="en-US" sz="16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um Objeto?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415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24587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Informações relacionadas juntas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Permite armazenar e organizar dados que pertencem à mesma "coisa": um carro, uma pessoa.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227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173986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Pares de chave e valor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propriedade tem um nome (a chave) e um valor associado.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2039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102102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Valores de qualquer tipo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propriedades podem guardar strings, números, arrays e até funções.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4850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403021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Notação de ponto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Acessamos e alteramos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objeto.propriedade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objeto não é array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510284"/>
            <a:ext cx="4023360" cy="2136648"/>
          </a:xfrm>
          <a:prstGeom prst="roundRect">
            <a:avLst>
              <a:gd name="adj" fmla="val 428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3164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69316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Array: lista numerada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168652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valor é acessado pela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posição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(índice).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94360" y="2738628"/>
            <a:ext cx="365760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" y="2855671"/>
            <a:ext cx="336499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carro = [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'Ford'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'Ka'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2009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carro[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'Ka'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09160" y="1510284"/>
            <a:ext cx="4023360" cy="2136648"/>
          </a:xfrm>
          <a:prstGeom prst="roundRect">
            <a:avLst>
              <a:gd name="adj" fmla="val 428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9316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04104" y="169316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Objeto: lista nomeada</a:t>
            </a:r>
            <a:endParaRPr lang="en-US" sz="175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2168652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valor é acessado pelo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nome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 chave.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892040" y="2738628"/>
            <a:ext cx="365760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038344" y="2855671"/>
            <a:ext cx="336499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carro = { modelo: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'Ka'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carro.modelo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'Ka'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Parecidos, mas com funções diferentes: com um objeto, você não precisa lembrar em que posição cada informação está.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Criando objetos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481328"/>
            <a:ext cx="4023360" cy="2843784"/>
          </a:xfrm>
          <a:prstGeom prst="roundRect">
            <a:avLst>
              <a:gd name="adj" fmla="val 257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598371"/>
            <a:ext cx="3730752" cy="260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carro =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fabricante: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'Ford'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modelo: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'Ka'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ano: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2009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pessoa =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'João Pedro dos Santos'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idade: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cidadeNatal: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'Ponta Grossa'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524000"/>
            <a:ext cx="4114800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as chaves abrem e fecham o objeto.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chave: valor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cada propriedade tem um nome, dois-pontos e o valor.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vírgula separa uma propriedade da outra.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as chaves seguem as regras de variáveis: camelCase, sem acento e sem espaço.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Acessando e alterando valores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01852"/>
            <a:ext cx="8321040" cy="2691384"/>
          </a:xfrm>
          <a:prstGeom prst="roundRect">
            <a:avLst>
              <a:gd name="adj" fmla="val 271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18895"/>
            <a:ext cx="8028432" cy="245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(carro.ano)        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2009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(carro[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'modelo'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 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Ka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turma = { totalAlunos: 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horario: 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'manhã'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turma.totalAlunos = turma.totalAlunos - 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(turma.totalAlunos)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50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turma.sala = 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'Lab 2'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cria uma nova propriedade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(turma)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9029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4177284"/>
            <a:ext cx="8321040" cy="527304"/>
          </a:xfrm>
          <a:prstGeom prst="roundRect">
            <a:avLst>
              <a:gd name="adj" fmla="val 13873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" y="4294327"/>
            <a:ext cx="8028432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totalAlunos: 50, horario: 'manhã', sala: 'Lab 2' 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 ao imprimir objetos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Colocar o objeto inteiro dentro de um texto imprime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[object Object]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interpolação, acesse as propriedades: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`${carro.modelo}`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ver o objeto inteiro, passe ele sozinho: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console.log(carro)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Propriedade que não existe devolve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sem erro: confira o nome da chave.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4706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5876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`Carro: ${carro}`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Carro: [object Object]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`Carro: ${carro.modelo}`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Carro: Ka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(carro.cor)             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Objetos podem ter métodos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702308"/>
            <a:ext cx="4023360" cy="2401824"/>
          </a:xfrm>
          <a:prstGeom prst="roundRect">
            <a:avLst>
              <a:gd name="adj" fmla="val 304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819351"/>
            <a:ext cx="3730752" cy="216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cachorro =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'Rex'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latir: </a:t>
            </a: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 au!'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cachorro.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latir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 au!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821180"/>
            <a:ext cx="4114800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latir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uma propriedade cujo valor é uma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função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chamamos isso de método.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cachorro.latir()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os parênteses executam o método.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você já usa um método desde a primeira aula: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um método do objeto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Objetos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Esta atividade não precisa de entrada do usuário.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01496"/>
            <a:ext cx="813816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objeto com as informações da sua pintura favorita (se ainda não tiver uma, pesquise e escolha).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 deve ter as propriedades: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nomePintura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nomeArtista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significado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(uma frase curta).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Imprima: "Minha pintura favorita é … feita por … em … e significa …".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Objetos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objeto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as propriedades: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 usando interpolação: "[titulo], de [autor], tem [paginas] páginas."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6898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acesse cada valor com a notação de ponto, como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livro.titulo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3271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6898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4185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adicione a propriedade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lido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valor booleano e imprima se você já leu o livro.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Revisão: objetos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483614"/>
            <a:ext cx="2590800" cy="2811780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66494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666494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Chave e valor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291334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Informações relacionadas, cada uma com um nome.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3082290"/>
            <a:ext cx="2225040" cy="1030224"/>
          </a:xfrm>
          <a:prstGeom prst="roundRect">
            <a:avLst>
              <a:gd name="adj" fmla="val 710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0664" y="3199333"/>
            <a:ext cx="1932432" cy="796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carro =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fabricante: </a:t>
            </a:r>
            <a:r>
              <a:rPr lang="en-US" sz="11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'Ford'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modelo: </a:t>
            </a:r>
            <a:r>
              <a:rPr lang="en-US" sz="11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'Ka'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76600" y="1483614"/>
            <a:ext cx="2590800" cy="2811780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66649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71544" y="1666494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Notação de ponto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3459480" y="2291334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array o acesso é por índice; no objeto, pelo nome.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3459480" y="3082290"/>
            <a:ext cx="2225040" cy="679704"/>
          </a:xfrm>
          <a:prstGeom prst="roundRect">
            <a:avLst>
              <a:gd name="adj" fmla="val 1076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605784" y="3199333"/>
            <a:ext cx="1932432" cy="44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carro.modelo  </a:t>
            </a:r>
            <a:r>
              <a:rPr lang="en-US" sz="11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'Ka'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carro.ano = </a:t>
            </a:r>
            <a:r>
              <a:rPr lang="en-US" sz="11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2009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41720" y="1483614"/>
            <a:ext cx="2590800" cy="2811780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666494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36664" y="1666494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Métodos</a:t>
            </a:r>
            <a:endParaRPr lang="en-US" sz="1750" dirty="0"/>
          </a:p>
        </p:txBody>
      </p:sp>
      <p:sp>
        <p:nvSpPr>
          <p:cNvPr id="21" name="Text 15"/>
          <p:cNvSpPr txBox="1"/>
          <p:nvPr/>
        </p:nvSpPr>
        <p:spPr>
          <a:xfrm>
            <a:off x="6324600" y="2141982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Funções guardadas dentro do objeto.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324600" y="2711958"/>
            <a:ext cx="222504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70904" y="2829001"/>
            <a:ext cx="1932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cachorro.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Laços de Repetição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Fazendo o computador repetir o trabalho por nós</a:t>
            </a:r>
            <a:endParaRPr lang="en-US" sz="16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são laços de repetição?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415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24587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Repetir comandos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Executam o mesmo bloco de código várias vezes, sem precisar copiar e colar.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227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173986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Enquanto a condição for verdadeira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repetição continua enquanto uma condição for satisfeita e para quando ela fica falsa.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2039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10210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Principais laços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do…while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4276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82447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Muito usados com arrays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Percorrer listas, processar dados e fazer contas sequenciais.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Anatomia do for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410462"/>
            <a:ext cx="4023360" cy="1083564"/>
          </a:xfrm>
          <a:prstGeom prst="roundRect">
            <a:avLst>
              <a:gd name="adj" fmla="val 675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527505"/>
            <a:ext cx="3730752" cy="84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6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</a:t>
            </a:r>
            <a:r>
              <a:rPr lang="en-US" sz="16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260375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878074"/>
            <a:ext cx="4023360" cy="1517904"/>
          </a:xfrm>
          <a:prstGeom prst="roundRect">
            <a:avLst>
              <a:gd name="adj" fmla="val 4819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2995117"/>
            <a:ext cx="3730752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for.js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524000"/>
            <a:ext cx="4114800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= 0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inicialização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roda uma única vez, no começo.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5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condição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testada antes de cada volta. Se for falsa, o laço termina.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atualização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roda no fim de cada volta.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as três partes são separadas por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ponto e vírgula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não por vírgula.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Outras formas de escrever o for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252728"/>
            <a:ext cx="4023360" cy="3300984"/>
          </a:xfrm>
          <a:prstGeom prst="roundRect">
            <a:avLst>
              <a:gd name="adj" fmla="val 221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369771"/>
            <a:ext cx="3730752" cy="306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atualização com i = i + 1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= i +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atualização com i += 1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+=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variável declarada fora do laço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931670"/>
            <a:ext cx="41148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com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laço imprime de 0 a 5: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voltas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i + 1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+= 1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fazem exatamente a mesma coisa.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declarada fora, a variável continua existindo depois do laço.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101852"/>
            <a:ext cx="4023360" cy="2523744"/>
          </a:xfrm>
          <a:prstGeom prst="roundRect">
            <a:avLst>
              <a:gd name="adj" fmla="val 289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218895"/>
            <a:ext cx="3730752" cy="228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estrutura: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(condição)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código aqui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exemplo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horas =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(horas &lt;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'bom dia'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horas++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7353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4009644"/>
            <a:ext cx="4023360" cy="694944"/>
          </a:xfrm>
          <a:prstGeom prst="roundRect">
            <a:avLst>
              <a:gd name="adj" fmla="val 10526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4126687"/>
            <a:ext cx="373075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while.js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bom dia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931670"/>
            <a:ext cx="41148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repete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enquanto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 condição for verdadeira.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horas &lt; 12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é testada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 cada volta: se já começar falsa, o bloco nem executa.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horas++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sem isso, a condição nunca fica falsa.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do…while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101852"/>
            <a:ext cx="4023360" cy="2523744"/>
          </a:xfrm>
          <a:prstGeom prst="roundRect">
            <a:avLst>
              <a:gd name="adj" fmla="val 289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218895"/>
            <a:ext cx="3730752" cy="228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horas =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não executa nenhuma vez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(horas &lt;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'while'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executa 1 vez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'do…while'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horas++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(horas &lt;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7353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4009644"/>
            <a:ext cx="4023360" cy="694944"/>
          </a:xfrm>
          <a:prstGeom prst="roundRect">
            <a:avLst>
              <a:gd name="adj" fmla="val 10526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4126687"/>
            <a:ext cx="373075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dowhile.js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do…while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228850"/>
            <a:ext cx="411480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 }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executa o bloco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primeiro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testa a condição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depois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diferença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do…while sempre roda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pelo menos uma vez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mesmo com a condição falsa.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forEach: percorrendo um array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338072"/>
            <a:ext cx="4023360" cy="1624584"/>
          </a:xfrm>
          <a:prstGeom prst="roundRect">
            <a:avLst>
              <a:gd name="adj" fmla="val 45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455115"/>
            <a:ext cx="3730752" cy="1390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horas = [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((hora) =&gt;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(hora)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0723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346704"/>
            <a:ext cx="4023360" cy="1121664"/>
          </a:xfrm>
          <a:prstGeom prst="roundRect">
            <a:avLst>
              <a:gd name="adj" fmla="val 6522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3463747"/>
            <a:ext cx="373075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foreach.js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228850"/>
            <a:ext cx="411480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passa por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os elementos do array, um por um.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(hora) =&gt;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uma função curta que recebe cada elemento. Veremos em detalhes na parte de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Funções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for...of: o jeito simples de percorrer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65760" y="1490472"/>
            <a:ext cx="4526280" cy="1319784"/>
          </a:xfrm>
          <a:prstGeom prst="roundRect">
            <a:avLst>
              <a:gd name="adj" fmla="val 554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607515"/>
            <a:ext cx="4233672" cy="108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frutas = [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'maçã'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'banana'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'abacaxi'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fruta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frutas)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(fruta)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291998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194304"/>
            <a:ext cx="4526280" cy="1121664"/>
          </a:xfrm>
          <a:prstGeom prst="roundRect">
            <a:avLst>
              <a:gd name="adj" fmla="val 6522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3311347"/>
            <a:ext cx="423367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forof.js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maçã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abacaxi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1710690"/>
            <a:ext cx="361188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for...of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passa por cada elemento do array, sem precisar de índice.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fruta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cada volta, recebe o próximo elemento.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 usar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quando você só precisa dos valores. Se precisar da posição, use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 e continue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391412"/>
            <a:ext cx="4130040" cy="1319784"/>
          </a:xfrm>
          <a:prstGeom prst="roundRect">
            <a:avLst>
              <a:gd name="adj" fmla="val 554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508455"/>
            <a:ext cx="3837432" cy="108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===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pula o 3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===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no 6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2820924"/>
            <a:ext cx="413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095244"/>
            <a:ext cx="4130040" cy="1319784"/>
          </a:xfrm>
          <a:prstGeom prst="roundRect">
            <a:avLst>
              <a:gd name="adj" fmla="val 5543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3212287"/>
            <a:ext cx="3837432" cy="108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break.js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770120" y="1931670"/>
            <a:ext cx="400812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pula o resto desta volta e vai direto para a próxima.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encerra o laço na hora. É o mesmo break que aparece no switch.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 comum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parar um laço de palpites quando o usuário acerta.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Quantas vezes esse laço executa?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1554480" y="1856232"/>
            <a:ext cx="6035040" cy="1700784"/>
          </a:xfrm>
          <a:prstGeom prst="roundRect">
            <a:avLst>
              <a:gd name="adj" fmla="val 430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700784" y="1973275"/>
            <a:ext cx="5742432" cy="146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8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&lt; </a:t>
            </a:r>
            <a:r>
              <a:rPr lang="en-US" sz="18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"Rodando..."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369417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Olhe com atenção o que acontece com a variável 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laço infinito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Infinitas vezes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programa trava e você precisa parar com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C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terminal.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variável </a:t>
            </a:r>
            <a:r>
              <a:rPr lang="en-US" sz="13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nunca muda de valor, então </a:t>
            </a:r>
            <a:r>
              <a:rPr lang="en-US" sz="13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5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verdadeiro para sempre.</a:t>
            </a:r>
            <a:endParaRPr lang="en-US" sz="135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 while precisa de algo que faça a condição virar falsa: </a:t>
            </a:r>
            <a:r>
              <a:rPr lang="en-US" sz="13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3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i + 1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dentro do bloco.</a:t>
            </a:r>
            <a:endParaRPr lang="en-US" sz="1350" dirty="0"/>
          </a:p>
          <a:p>
            <a:pPr algn="l" marL="177800" indent="-177800">
              <a:buSzPct val="100000"/>
              <a:buChar char="●"/>
            </a:pP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for isso já vem embutido na terceira parte: </a:t>
            </a:r>
            <a:r>
              <a:rPr lang="en-US" sz="13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5; i++)</a:t>
            </a:r>
            <a:r>
              <a:rPr lang="en-US" sz="13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3562096"/>
            <a:ext cx="8046720" cy="1182624"/>
          </a:xfrm>
          <a:prstGeom prst="roundRect">
            <a:avLst>
              <a:gd name="adj" fmla="val 618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679139"/>
            <a:ext cx="7754112" cy="948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&lt;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"Rodando..."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i++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agora o laço termina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Laços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Pergunte ao usuário qual tabuada ele deseja ver e salve o número em uma variável.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um laço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calcular e mostrar a tabuada de forma formatada no console.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395478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5831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3177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condição do for vai de 1 (ou 0) até 10, e a conta é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tabuada * i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327148"/>
            <a:ext cx="395478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5831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418588"/>
            <a:ext cx="3177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faça o programa calcular até 100.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Laços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array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listaDeCompras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quatro itens: "Arroz", "Feijão", "Macarrão" e "Carne".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um laço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vá de 0 até o tamanho do array (usando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.length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Imprima cada item no formato: "Item: [nome do item]".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Laços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variável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temperaturaAgua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começando em 90.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um laço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se repita enquanto a temperatura for menor que 100.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Dentro do laço, imprima "A temperatura está em [valor] graus. Aquecendo..." e aumente a temperatura em 2.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4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Laços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97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evento vendeu ingressos em cinco lotes: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lotes = [50, 40, 60, 30, 70]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variável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totalIngressos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começando em 0.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um laço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percorrer o array e somar todos os valores em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totalIngressos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Ao final, imprima: "O total de ingressos vendidos foi: [total]".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5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Laços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Agora vamos trabalhar a lógica!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01496"/>
            <a:ext cx="81381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Percorra os números de 0 a 999 com um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Some separadamente os pares e os ímpares (se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 % 2 === 0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é par) e conte quantos há de cada.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Mostre as duas somas e os dois totais.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2734056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20344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825496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somaPares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somaImpares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totalPares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totalImpares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Use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nas somas 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nos totais.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86300" y="2734056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320344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26380" y="2825496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calcule a média de pares e de ímpares (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somaPares / totalPares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e imprima qual das duas somas foi maior.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6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Laços + Objetos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array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três objetos, cada um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 um aluno.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um laço para percorrer o array e imprimir "Aluno: [nome] — Nota: [nota]".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395478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5831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3177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dentro do laço, acesse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turma[i].nome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turma[i].nota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327148"/>
            <a:ext cx="395478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5831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418588"/>
            <a:ext cx="3177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calcule e imprima a média das notas da turma ao final.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Revisão: laços de repetição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069848"/>
            <a:ext cx="402336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2527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28216"/>
            <a:ext cx="36576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Quando você sabe quantas vezes vai repetir.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008632"/>
            <a:ext cx="3657600" cy="473964"/>
          </a:xfrm>
          <a:prstGeom prst="roundRect">
            <a:avLst>
              <a:gd name="adj" fmla="val 1543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" y="2125675"/>
            <a:ext cx="3364992" cy="23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9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1069848"/>
            <a:ext cx="402336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12527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728216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Repete enquanto a condição for verdadeira; pode nem executar.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92040" y="2161032"/>
            <a:ext cx="3657600" cy="445008"/>
          </a:xfrm>
          <a:prstGeom prst="roundRect">
            <a:avLst>
              <a:gd name="adj" fmla="val 1643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38344" y="2278075"/>
            <a:ext cx="3364992" cy="21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(condição) { … }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1480" y="2990088"/>
            <a:ext cx="402336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172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do…while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648456"/>
            <a:ext cx="36576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Executa pelo menos uma vez antes de testar.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" y="3928872"/>
            <a:ext cx="3657600" cy="473964"/>
          </a:xfrm>
          <a:prstGeom prst="roundRect">
            <a:avLst>
              <a:gd name="adj" fmla="val 1543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0664" y="4045915"/>
            <a:ext cx="3364992" cy="23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… } </a:t>
            </a:r>
            <a:r>
              <a:rPr lang="en-US" sz="9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(condição)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09160" y="2990088"/>
            <a:ext cx="4023360" cy="1719072"/>
          </a:xfrm>
          <a:prstGeom prst="roundRect">
            <a:avLst>
              <a:gd name="adj" fmla="val 531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92040" y="31729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892040" y="3648456"/>
            <a:ext cx="36576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Percorre todos os elementos de um array.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92040" y="3928872"/>
            <a:ext cx="3657600" cy="473964"/>
          </a:xfrm>
          <a:prstGeom prst="roundRect">
            <a:avLst>
              <a:gd name="adj" fmla="val 1543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38344" y="4045915"/>
            <a:ext cx="3364992" cy="23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lista.</a:t>
            </a:r>
            <a:r>
              <a:rPr lang="en-US" sz="9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((item) =&gt; …)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Switch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alternativa a vários if encadeados</a:t>
            </a:r>
            <a:endParaRPr lang="en-US" sz="16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existe o switch?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Quando comparamos 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mesma variável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vários valores, os if se acumulam: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1708404"/>
            <a:ext cx="8321040" cy="2660904"/>
          </a:xfrm>
          <a:prstGeom prst="roundRect">
            <a:avLst>
              <a:gd name="adj" fmla="val 274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1825447"/>
            <a:ext cx="8028432" cy="242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(variavel ==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ação 1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(variavel ==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ação 2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(variavel == 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ação 3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ação geral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switch organiza esse tipo de decisão de um jeito mais limpo.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151</a:t>
            </a:fld>
            <a:endParaRPr 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switch x if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881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4069080" cy="2904744"/>
          </a:xfrm>
          <a:prstGeom prst="roundRect">
            <a:avLst>
              <a:gd name="adj" fmla="val 251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580083"/>
            <a:ext cx="3776472" cy="2670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(variavel)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ação 1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ação 2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ação 3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ação geral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0881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… else if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463040"/>
            <a:ext cx="4069080" cy="2904744"/>
          </a:xfrm>
          <a:prstGeom prst="roundRect">
            <a:avLst>
              <a:gd name="adj" fmla="val 251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1580083"/>
            <a:ext cx="3776472" cy="2670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(variavel ==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ação 1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(variavel ==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ação 2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(variavel ==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ação 3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ação geral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um valor possível;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o "senão".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152</a:t>
            </a:fld>
            <a:endParaRPr 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Exemplo: semáforo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12242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497330"/>
            <a:ext cx="4069080" cy="3186684"/>
          </a:xfrm>
          <a:prstGeom prst="roundRect">
            <a:avLst>
              <a:gd name="adj" fmla="val 229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614373"/>
            <a:ext cx="3776472" cy="295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 =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'vermelho'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(cor)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'vermelho'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'Pare!'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'amarelo'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'Atenção!'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'verde'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'Siga!'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'Cor desconhecida!'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12242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… else if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497330"/>
            <a:ext cx="4069080" cy="3186684"/>
          </a:xfrm>
          <a:prstGeom prst="roundRect">
            <a:avLst>
              <a:gd name="adj" fmla="val 229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1614373"/>
            <a:ext cx="3776472" cy="295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 =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'vermelho'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(cor ===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'vermelho'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'Pare!'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(cor ===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'amarelo'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'Atenção!'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(cor ===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'verde'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'Siga!'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'Cor desconhecida!'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153</a:t>
            </a:fld>
            <a:endParaRPr lang="en-US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switch (true): faixas de valores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47675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 (true)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851660"/>
            <a:ext cx="4069080" cy="1914144"/>
          </a:xfrm>
          <a:prstGeom prst="roundRect">
            <a:avLst>
              <a:gd name="adj" fmla="val 382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968703"/>
            <a:ext cx="3776472" cy="1680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 &gt;=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nota &lt;=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 A"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 &gt;=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nota &lt;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 B"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47675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… else if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851660"/>
            <a:ext cx="4069080" cy="1914144"/>
          </a:xfrm>
          <a:prstGeom prst="roundRect">
            <a:avLst>
              <a:gd name="adj" fmla="val 382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1968703"/>
            <a:ext cx="3776472" cy="1680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 &gt;=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nota &lt;=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 A"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 &gt;=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nota &lt;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 B"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(true)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entra no primeiro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cuja condição for verdadeira.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154</a:t>
            </a:fld>
            <a:endParaRPr lang="en-US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aparece no console?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554480" y="1444752"/>
            <a:ext cx="6035040" cy="2523744"/>
          </a:xfrm>
          <a:prstGeom prst="roundRect">
            <a:avLst>
              <a:gd name="adj" fmla="val 289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700784" y="1561795"/>
            <a:ext cx="5742432" cy="228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 = 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'verde'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(cor) {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'verde'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"Siga!"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'vermelho'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"Pare!"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41056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Pense antes de rodar: qual é a saída?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155</a:t>
            </a:fld>
            <a:endParaRPr lang="en-US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switch sem break não para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Imprime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"Siga!"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"Pare!"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os dois, mesmo a cor sendo verde.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Quando um case dá certo, o switch continua executando os casos seguintes até encontrar um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Isso se chama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fall-through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é uma das maiores pegadinhas do switch.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Coloque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ao final de cada case, sempre.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156</a:t>
            </a:fld>
            <a:endParaRPr lang="en-US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93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Receba do usuário (prompt-sync ou stdin) o gênero do filme: "Ação", "Comédia", "Terror" ou "Animação".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imprimir em qual sala o filme passará: Ação → Sala 1, Comédia → Sala 2, Terror → Sala 3, Animação → Sala 4.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imprima: "Gênero não encontrado. Verifique as opções válidas."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3142488"/>
            <a:ext cx="813816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3985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233928"/>
            <a:ext cx="7360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genero.trim().toLowerCase()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escreva os cases em minúsculas (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"ação":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 Assim, "Ação", "AÇÃO" ou " ação " funcionam.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158</a:t>
            </a:fld>
            <a:endParaRPr lang="en-US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Receba uma nota de 0 a 100 e, usando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devolva a classificação: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 a 100 → "A" · 80 a 89 → "B" · 70 a 79 → "C" · 60 a 69 → "D" · 0 a 59 → "F".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Caso padrão: "Nota inválida".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62432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870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71576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(true)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e, em cada caso, condições como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(nota &gt;= 90 &amp;&amp; nota &lt;= 100):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62432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98704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71576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peça a nota ao usuário e diga também se ele foi aprovado (C para cima) ou não.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159</a:t>
            </a:fld>
            <a:endParaRPr lang="en-US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variável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codigoProduto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o valor "A1", "B2" ou "C3".</a:t>
            </a:r>
            <a:endParaRPr lang="en-US" sz="17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imprimir o salgadinho escolhido: A1 → Batata Chips, B2 → Amendoim, C3 → Biscoito de Chocolate.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"Código inválido. Tente novamente."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160</a:t>
            </a:fld>
            <a:endParaRPr lang="en-US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Revisão: switch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131570"/>
            <a:ext cx="2590800" cy="3515868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1445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31445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Estrutura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1789938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Compara a mesma variável com vários valores possíveis.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2801874"/>
            <a:ext cx="2225040" cy="1662684"/>
          </a:xfrm>
          <a:prstGeom prst="roundRect">
            <a:avLst>
              <a:gd name="adj" fmla="val 440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0664" y="2918917"/>
            <a:ext cx="1932432" cy="142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(variavel)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valor: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276600" y="1131570"/>
            <a:ext cx="2590800" cy="3515868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31445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71544" y="131445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break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3459480" y="1789938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Impede que os casos seguintes executem. Sem ele, acontece o fall-through.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141720" y="1131570"/>
            <a:ext cx="2590800" cy="3515868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31445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36664" y="131445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default</a:t>
            </a:r>
            <a:endParaRPr lang="en-US" sz="1750" dirty="0"/>
          </a:p>
        </p:txBody>
      </p:sp>
      <p:sp>
        <p:nvSpPr>
          <p:cNvPr id="19" name="Text 13"/>
          <p:cNvSpPr txBox="1"/>
          <p:nvPr/>
        </p:nvSpPr>
        <p:spPr>
          <a:xfrm>
            <a:off x="6324600" y="1789938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caminho "senão": roda quando nenhum case bateu.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161</a:t>
            </a:fld>
            <a:endParaRPr lang="en-US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Escreva uma vez, use quantas vezes quiser</a:t>
            </a:r>
            <a:endParaRPr lang="en-US" sz="16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uma função?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bloco reutilizável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Agrupa instruções para realizar uma tarefa específica. Você escreve uma vez e "chama" quantas vezes precisar.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Entrada e saída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Recebe dados (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parâmetros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), processa de forma isolada e devolve um resultado (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retorno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mini-fábrica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define como ela funciona uma vez; depois é só enviar os materiais para ela fazer o trabalho pesado.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163</a:t>
            </a:fld>
            <a:endParaRPr lang="en-US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de uma função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144268"/>
            <a:ext cx="4724400" cy="1517904"/>
          </a:xfrm>
          <a:prstGeom prst="roundRect">
            <a:avLst>
              <a:gd name="adj" fmla="val 481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261311"/>
            <a:ext cx="4431792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nomeDaFuncao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(parametros)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código aqui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resultado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nomeDaFuncao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(valores)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chamando a função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364480" y="1116330"/>
            <a:ext cx="3413760" cy="357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palavra que cria a função.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nomeDaFuncao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segue as regras de variáveis (camelCase). Use um verbo: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calcularMedia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(parametros)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os valores que entram. Pode não ter nenhum.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valor que sai. Também é opcional.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nomeDaFuncao()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função só executa quando é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chamada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164</a:t>
            </a:fld>
            <a:endParaRPr lang="en-US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 com e sem parâmetros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01852"/>
            <a:ext cx="8321040" cy="2157984"/>
          </a:xfrm>
          <a:prstGeom prst="roundRect">
            <a:avLst>
              <a:gd name="adj" fmla="val 339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18895"/>
            <a:ext cx="8028432" cy="192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mostrarMensagem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'Sistema iniciado com sucesso!'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mostrarMensagem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darBoasVindas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(nomeUsuario)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'Bem-vindo(a), 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nomeUsuario +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'!'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darBoasVindas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darBoasVindas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'Carlos'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3695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643884"/>
            <a:ext cx="8321040" cy="1060704"/>
          </a:xfrm>
          <a:prstGeom prst="roundRect">
            <a:avLst>
              <a:gd name="adj" fmla="val 6897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" y="3760927"/>
            <a:ext cx="8028432" cy="82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funcoes.js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iniciado com sucesso!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Bem-vindo(a), Ana!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Bem-vindo(a), Carlos!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165</a:t>
            </a:fld>
            <a:endParaRPr lang="en-US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Função com retorno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075688"/>
            <a:ext cx="4023360" cy="1655064"/>
          </a:xfrm>
          <a:prstGeom prst="roundRect">
            <a:avLst>
              <a:gd name="adj" fmla="val 442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192731"/>
            <a:ext cx="3730752" cy="142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calcularDobro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(numero) {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numero * </a:t>
            </a:r>
            <a:r>
              <a:rPr lang="en-US" sz="14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resultado = 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calcularDobro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(resultado)   </a:t>
            </a:r>
            <a:r>
              <a:rPr lang="en-US" sz="14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710690"/>
            <a:ext cx="41148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devolve o valor para quem chamou a função e encerra a execução dela.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resultado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valor devolvido pode ser guardado em uma variável e usado depois.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return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função só executa uma ação (como um console.log) e devolve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166</a:t>
            </a:fld>
            <a:endParaRPr lang="en-US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console.log não é return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função sem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devolve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undefined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mesmo que imprima algo na tela.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só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mostra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valor para quem está olhando o terminal.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valor para o código que chamou a função, para guardar numa variável ou usar em contas.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1395984"/>
          </a:xfrm>
          <a:prstGeom prst="roundRect">
            <a:avLst>
              <a:gd name="adj" fmla="val 524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116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 *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mostra 10, mas não devolve nada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resultado =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(resultado)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167</a:t>
            </a:fld>
            <a:endParaRPr lang="en-US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Arrow Function: a forma moderna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821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70992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linguagem evolui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JavaScript ganhou uma forma mais enxuta e direta de criar funções.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633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638044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Menos texto, mais ação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palavra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desaparece e dá lugar à "flecha"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870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36042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resultado é o mesmo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duas formas fazem exatamente a mesma coisa; é só uma sintaxe mais moderna.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168</a:t>
            </a:fld>
            <a:endParaRPr lang="en-US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Tradicional x Arrow Function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6977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jeito tradicional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072640"/>
            <a:ext cx="4069080" cy="1472184"/>
          </a:xfrm>
          <a:prstGeom prst="roundRect">
            <a:avLst>
              <a:gd name="adj" fmla="val 496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189683"/>
            <a:ext cx="3776472" cy="123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somar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somar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6977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Arrow Function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072640"/>
            <a:ext cx="4069080" cy="1472184"/>
          </a:xfrm>
          <a:prstGeom prst="roundRect">
            <a:avLst>
              <a:gd name="adj" fmla="val 496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189683"/>
            <a:ext cx="3776472" cy="123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 = (a, b) =&gt;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somar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arrow function, a função é guardada em uma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 os parâmetros vêm antes da flecha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169</a:t>
            </a:fld>
            <a:endParaRPr lang="en-US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Funções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função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calcularMedia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receba três notas como parâmetros e retorne a média delas.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Chame a função com as notas 7, 8.5 e 6 e imprima: "A média é [valor]".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6898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some os três parâmetros, divida por 3 e use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devolver o resultado.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327148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6898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418588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faça a função retornar também "Aprovado" (média maior ou igual a 7) ou "Reprovado".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171</a:t>
            </a:fld>
            <a:endParaRPr lang="en-US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Funções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função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saudacao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receba o nome do usuário e imprima "Bem-vindo(a), [nome]!".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o prompt-sync para perguntar o nome e passe esse valor para a função.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7965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função não precisa de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pois ela mesma faz 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327148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79654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418588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adicione um segundo parâmetro com o período do dia (manhã, tarde ou noite) e monte a saudação completa.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172</a:t>
            </a:fld>
            <a:endParaRPr lang="en-US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Funções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função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verificarIdade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receba a idade e retorne se a pessoa é maior ou menor de idade.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Peça a idade pelo console e converta a entrada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parseInt()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 de passar para a função.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395478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5831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3177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uma condicional dentro da função 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devolver o texto.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327148"/>
            <a:ext cx="395478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5831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418588"/>
            <a:ext cx="3177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reescreva a mesma função usando Arrow Function.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173</a:t>
            </a:fld>
            <a:endParaRPr lang="en-US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4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Funções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função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somarLista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receba um array de números e retorne a soma de todos os elementos.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30, 40, 50]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imprima o total no console.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27148"/>
            <a:ext cx="395478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5831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18588"/>
            <a:ext cx="3177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começando em 0, percorra o array com um laço e vá somando.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2327148"/>
            <a:ext cx="395478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5831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2418588"/>
            <a:ext cx="3177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outra função que receba o mesmo array e retorne o maior valor.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174</a:t>
            </a:fld>
            <a:endParaRPr lang="en-US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Revisão: funções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478280"/>
            <a:ext cx="2590800" cy="2822448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611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66116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Declaração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136648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Bloco reutilizável, executado quando é chamado.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3148584"/>
            <a:ext cx="222504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0664" y="3265627"/>
            <a:ext cx="193243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(params)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(valores)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76600" y="1478280"/>
            <a:ext cx="2590800" cy="2822448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66116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71544" y="166116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Parâmetros e retorno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3459480" y="2286000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Parâmetros entram; o return sai. Sem return, a função só executa uma ação.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3459480" y="3518916"/>
            <a:ext cx="2225040" cy="527304"/>
          </a:xfrm>
          <a:prstGeom prst="roundRect">
            <a:avLst>
              <a:gd name="adj" fmla="val 1387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605784" y="3635959"/>
            <a:ext cx="1932432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41720" y="1478280"/>
            <a:ext cx="2590800" cy="2822448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66116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36664" y="166116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Arrow Function</a:t>
            </a:r>
            <a:endParaRPr lang="en-US" sz="1750" dirty="0"/>
          </a:p>
        </p:txBody>
      </p:sp>
      <p:sp>
        <p:nvSpPr>
          <p:cNvPr id="21" name="Text 15"/>
          <p:cNvSpPr txBox="1"/>
          <p:nvPr/>
        </p:nvSpPr>
        <p:spPr>
          <a:xfrm>
            <a:off x="6324600" y="2286000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forma moderna e mais curta.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324600" y="2855976"/>
            <a:ext cx="2225040" cy="1121664"/>
          </a:xfrm>
          <a:prstGeom prst="roundRect">
            <a:avLst>
              <a:gd name="adj" fmla="val 652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70904" y="2973019"/>
            <a:ext cx="193243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 =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(a, b) =&gt;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175</a:t>
            </a:fld>
            <a:endParaRPr lang="en-US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Encontrando e corrigindo erros</a:t>
            </a:r>
            <a:endParaRPr lang="en-US" sz="16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tipos de erro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342390"/>
            <a:ext cx="2590800" cy="3094228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2527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52527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Sintaxe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000758"/>
            <a:ext cx="2225040" cy="1413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código está escrito errado 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nem roda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Ex.: faltou fechar uma chave ou uma aspa.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94360" y="3505454"/>
            <a:ext cx="2225040" cy="527304"/>
          </a:xfrm>
          <a:prstGeom prst="roundRect">
            <a:avLst>
              <a:gd name="adj" fmla="val 1387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" y="3622497"/>
            <a:ext cx="1932432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276600" y="1342390"/>
            <a:ext cx="2590800" cy="3094228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52527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71544" y="152527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Execução</a:t>
            </a:r>
            <a:endParaRPr lang="en-US" sz="1750" dirty="0"/>
          </a:p>
        </p:txBody>
      </p:sp>
      <p:sp>
        <p:nvSpPr>
          <p:cNvPr id="14" name="Text 9"/>
          <p:cNvSpPr txBox="1"/>
          <p:nvPr/>
        </p:nvSpPr>
        <p:spPr>
          <a:xfrm>
            <a:off x="3459480" y="2000758"/>
            <a:ext cx="2225040" cy="119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código roda, mas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quebra no meio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Ex.: usar uma variável que não existe.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3459480" y="3284474"/>
            <a:ext cx="2225040" cy="725424"/>
          </a:xfrm>
          <a:prstGeom prst="roundRect">
            <a:avLst>
              <a:gd name="adj" fmla="val 1008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605784" y="3401517"/>
            <a:ext cx="1932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ReferenceError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41720" y="1342390"/>
            <a:ext cx="2590800" cy="3094228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52527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36664" y="152527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Lógica</a:t>
            </a:r>
            <a:endParaRPr lang="en-US" sz="1750" dirty="0"/>
          </a:p>
        </p:txBody>
      </p:sp>
      <p:sp>
        <p:nvSpPr>
          <p:cNvPr id="20" name="Text 14"/>
          <p:cNvSpPr txBox="1"/>
          <p:nvPr/>
        </p:nvSpPr>
        <p:spPr>
          <a:xfrm>
            <a:off x="6324600" y="2000758"/>
            <a:ext cx="2225040" cy="163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código roda até o fim, mas 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resultado está errado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o mais difícil: nenhum erro aparece.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6324600" y="3726434"/>
            <a:ext cx="2225040" cy="527304"/>
          </a:xfrm>
          <a:prstGeom prst="roundRect">
            <a:avLst>
              <a:gd name="adj" fmla="val 1387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470904" y="3843477"/>
            <a:ext cx="1932432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-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177</a:t>
            </a:fld>
            <a:endParaRPr lang="en-US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Depurando com console.log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391412"/>
            <a:ext cx="5318760" cy="1716024"/>
          </a:xfrm>
          <a:prstGeom prst="roundRect">
            <a:avLst>
              <a:gd name="adj" fmla="val 42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508455"/>
            <a:ext cx="5026152" cy="1481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calcularMedia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(n1, n2)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 = n1 + n2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'soma:'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soma)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espiando o valor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 /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calcularMedia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'7'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217164"/>
            <a:ext cx="531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491484"/>
            <a:ext cx="5318760" cy="923544"/>
          </a:xfrm>
          <a:prstGeom prst="roundRect">
            <a:avLst>
              <a:gd name="adj" fmla="val 7921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3608527"/>
            <a:ext cx="502615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debug.js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soma: 78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958840" y="1268730"/>
            <a:ext cx="2819400" cy="326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forma mais simples de depurar: imprimir o valor no meio do código.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'7'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log mostra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soma: 78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7 chegou como texto e foi concatenado!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correção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converter a entrada com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parseFloat()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 da conta.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178</a:t>
            </a:fld>
            <a:endParaRPr lang="en-US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Usando o debugger do VS Code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55448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436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Breakpoint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Clique à esquerda do número da linha para marcar onde pausar.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00710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55448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60604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Iniciar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267004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Menu Run and Debug (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Shift + D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→ Node.js, ou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01878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55448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1772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Avançar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68172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F10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passa por cima da linha;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F11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entra na função.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03046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55448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2940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Observar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669340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Veja os valores em VARIABLES e WATCH a cada passo.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Node.js também tem um debugger no terminal: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inspect arquivo.js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179</a:t>
            </a:fld>
            <a:endParaRPr lang="en-US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 com prompt-sync: use o terminal certo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10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4927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Debug Console não aceita digitação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Programas que usam prompt travam ou dão erro quando rodam pelo Run and Debug padrão.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91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420874"/>
            <a:ext cx="699516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Abra o JavaScript Debug Terminal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painel do terminal, clique na setinha ao lado do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escolha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JavaScript Debug Terminal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(ou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Shift + P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procure por esse nome).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958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5775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Rode normalmente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Nele, execute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arquivo.js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os breakpoints funcionam e dá para digitar as respostas.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180</a:t>
            </a:fld>
            <a:endParaRPr lang="en-US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Breakpoint: pausando o código</a:t>
            </a:r>
            <a:endParaRPr lang="en-US" sz="3000" dirty="0"/>
          </a:p>
        </p:txBody>
      </p:sp>
      <p:pic>
        <p:nvPicPr>
          <p:cNvPr id="5" name="Image 0" descr="Breakpoint: pausando o códi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61599"/>
            <a:ext cx="4937760" cy="336553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261599"/>
            <a:ext cx="4937760" cy="3365538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562608"/>
            <a:ext cx="3200400" cy="285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ponto vermelho na margem é um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breakpoint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 execução pausa naquela linha.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você vê o valor real de cada variável no momento da pausa.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Aqui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4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5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exatamente o que foi passado para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multiplicar(4, 5)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181</a:t>
            </a:fld>
            <a:endParaRPr lang="en-US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Executando passo a passo</a:t>
            </a:r>
            <a:endParaRPr lang="en-US" sz="3000" dirty="0"/>
          </a:p>
        </p:txBody>
      </p:sp>
      <p:pic>
        <p:nvPicPr>
          <p:cNvPr id="5" name="Image 0" descr="Executando passo a pas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61599"/>
            <a:ext cx="4937760" cy="336553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261599"/>
            <a:ext cx="4937760" cy="3365538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882648"/>
            <a:ext cx="3200400" cy="221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botões no topo avançam o código uma linha por vez (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over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/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into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cada passo, o painel mostra como as variáveis mudam de valor.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Repare que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ficou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sinal de que a lógica da conta está errada.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182</a:t>
            </a:fld>
            <a:endParaRPr lang="en-US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Encontrando o erro de lógica</a:t>
            </a:r>
            <a:endParaRPr lang="en-US" sz="3000" dirty="0"/>
          </a:p>
        </p:txBody>
      </p:sp>
      <p:pic>
        <p:nvPicPr>
          <p:cNvPr id="5" name="Image 0" descr="Encontrando o erro de lógi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89145"/>
            <a:ext cx="4937760" cy="271044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589145"/>
            <a:ext cx="4937760" cy="2710445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669288"/>
            <a:ext cx="320040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programa não quebrou e não mostrou erro: ele apenas devolveu o valor errado.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x 5 deveria dar 20, mas o retorno foi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porque a função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subtrai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em vez de multiplicar.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Esse é o tipo de bug que o debug encontra: o console sozinho não acusa nada.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183</a:t>
            </a:fld>
            <a:endParaRPr lang="en-US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Úteis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Recursos nativos que vão aparecer bastante daqui pra frente</a:t>
            </a:r>
            <a:endParaRPr lang="en-US" sz="16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Comentários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5671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13842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humanos, não para máquinas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Anotações para você mesmo no futuro ou para a sua equipe.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3629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318004"/>
            <a:ext cx="39319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Node.js ignora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Comentários não afetam a velocidade nem o resultado do programa.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9300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74720"/>
            <a:ext cx="39319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// e /* */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recados curtos;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*/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textos longos ou para "desligar" um trecho durante testes.</a:t>
            </a:r>
            <a:endParaRPr lang="en-US" sz="1650" dirty="0"/>
          </a:p>
        </p:txBody>
      </p:sp>
      <p:sp>
        <p:nvSpPr>
          <p:cNvPr id="11" name="Shape 5"/>
          <p:cNvSpPr/>
          <p:nvPr/>
        </p:nvSpPr>
        <p:spPr>
          <a:xfrm>
            <a:off x="5349240" y="1600200"/>
            <a:ext cx="3474720" cy="1716024"/>
          </a:xfrm>
          <a:prstGeom prst="roundRect">
            <a:avLst>
              <a:gd name="adj" fmla="val 42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5495544" y="1717243"/>
            <a:ext cx="3182112" cy="1481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uma linha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pontuacao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várias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linhas */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(pontuacao)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185</a:t>
            </a:fld>
            <a:endParaRPr lang="en-US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Biblioteca Math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136904"/>
            <a:ext cx="76809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6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a biblioteca matemática nativa do JavaScript — muito mais do que números aleatórios.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7464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78917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Constantes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Valores universais como o Pi: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Math.PI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29840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63040" y="2511552"/>
            <a:ext cx="6995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Arredondamentos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Mais próximo (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), para cima (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), para baixo (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ou cortar as decimais (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35096"/>
            <a:ext cx="502920" cy="5029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63040" y="341680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Potências e raízes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Raiz quadrada (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), raiz cúbica (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e potência (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57472"/>
            <a:ext cx="502920" cy="50292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463040" y="4139184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Valor absoluto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distância até o zero, ignorando o sinal: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186</a:t>
            </a:fld>
            <a:endParaRPr lang="en-US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Math na prática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85088"/>
            <a:ext cx="8321040" cy="3636264"/>
          </a:xfrm>
          <a:prstGeom prst="roundRect">
            <a:avLst>
              <a:gd name="adj" fmla="val 201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2131"/>
            <a:ext cx="8028432" cy="3402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 valor de Pi é: ${Math.PI}`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3.14159...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numeroQuebrado = 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(Math.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(numeroQuebrado))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(mais próximo)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(Math.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(numeroQuebrado)) 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(sempre para cima)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(Math.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(numeroQuebrado))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 (sempre para baixo)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(Math.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(numeroQuebrado))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 (corta a vírgula)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(Math.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 (raiz quadrada)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(Math.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cbrt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(raiz cúbica)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(Math.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 (2 elevado a 3)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saldoDevedor = -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1500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`Você deve: R$ ${Math.abs(saldoDevedor)}`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R$ 1500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187</a:t>
            </a:fld>
            <a:endParaRPr lang="en-US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Sorteando com Math.random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698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Math.random()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sorteia um decimal entre 0 e 1. Para sortear inteiros, combinamos com outras funções: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2279904"/>
            <a:ext cx="8321040" cy="1304544"/>
          </a:xfrm>
          <a:prstGeom prst="roundRect">
            <a:avLst>
              <a:gd name="adj" fmla="val 560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2396947"/>
            <a:ext cx="8028432" cy="10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                   </a:t>
            </a:r>
            <a:r>
              <a:rPr lang="en-US" sz="16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0.7312...  (entre 0 e 1)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*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16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7.312...   (entre 0 e 10)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(Math.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*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</a:t>
            </a:r>
            <a:r>
              <a:rPr lang="en-US" sz="16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          (de 0 a 9)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(Math.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*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6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          (de 1 a 10)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Receita: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Math.floor(Math.random() * N) + 1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sorteia um número inteiro de 1 a 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188</a:t>
            </a:fld>
            <a:endParaRPr lang="en-US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Try/Catch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Proteção contra erros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Captura erros e impede que o programa feche sozinho no meio da execução.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bloco com o código que vamos "tentar" executar (e que tem risco de falhar).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catch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der erro no try, o programa não quebra: ele cai no catch, onde avisamos o usuário de forma elegante.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189</a:t>
            </a:fld>
            <a:endParaRPr lang="en-US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Try/Catch na prática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94232"/>
            <a:ext cx="8321040" cy="2112264"/>
          </a:xfrm>
          <a:prstGeom prst="roundRect">
            <a:avLst>
              <a:gd name="adj" fmla="val 34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11275"/>
            <a:ext cx="8028432" cy="187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palavra =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'LionsDev'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palavra.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funcaoInexistente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força um erro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'Ops! Aconteceu um erro, mas o sistema continua.'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 que falhou: ${erro.message}`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 programa chegou ao fim, sem fechar no meio!'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3162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590544"/>
            <a:ext cx="8321040" cy="1121664"/>
          </a:xfrm>
          <a:prstGeom prst="roundRect">
            <a:avLst>
              <a:gd name="adj" fmla="val 6522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" y="3707587"/>
            <a:ext cx="802843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adicional.js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Ops! Aconteceu um erro, mas o sistema continua.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falhou: palavra.funcaoInexistente is not a function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programa chegou ao fim, sem fechar no meio!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190</a:t>
            </a:fld>
            <a:endParaRPr lang="en-US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tempo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Atrasar ou repetir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Executam código com base no tempo real do relógio, em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milissegundos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(1000 ms = 1 s).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setTimeout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Executa uma ação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única vez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depois de X milissegundos (ex.: tela de "carregando").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setInterval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Repete uma ação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cada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X milissegundos (ex.: um cronômetro). Para parar: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clearInterval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191</a:t>
            </a:fld>
            <a:endParaRPr lang="en-US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setTimeout e setInterval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367028"/>
            <a:ext cx="5120640" cy="3072384"/>
          </a:xfrm>
          <a:prstGeom prst="roundRect">
            <a:avLst>
              <a:gd name="adj" fmla="val 238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484071"/>
            <a:ext cx="4828032" cy="2838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'Preparando o ambiente...'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'Ambiente carregado após 3 segundos!'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contador =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cronometro =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contador++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`Passou ${contador} segundo(s)...`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(contador ===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clearInterval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(cronometro)   </a:t>
            </a: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o relógio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 tempo esgotou!'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19918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15000" y="2266188"/>
            <a:ext cx="3063240" cy="1548384"/>
          </a:xfrm>
          <a:prstGeom prst="roundRect">
            <a:avLst>
              <a:gd name="adj" fmla="val 4724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61304" y="2383231"/>
            <a:ext cx="2770632" cy="131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Preparando o ambiente...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Passou 1 segundo(s)...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Passou 2 segundo(s)...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 carregado após 3 segundos!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Passou 3 segundo(s)...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Passou 4 segundo(s)...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Passou 5 segundo(s)...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tempo esgotou!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192</a:t>
            </a:fld>
            <a:endParaRPr lang="en-US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Manipulação de textos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486662"/>
            <a:ext cx="76809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Strings têm métodos nativos (funções prontas) para manipular, limpar e formatar texto.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57222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213893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trim, toLowerCase e toUpperCase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Limpam os espaços das pontas e padronizam tudo em minúsculas ou maiúsculas.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85338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63040" y="306705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split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Corta uma frase e transforma as palavras em um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07714"/>
            <a:ext cx="502920" cy="5029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63040" y="378942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replace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Substitui uma palavra por outra dentro do texto.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193</a:t>
            </a:fld>
            <a:endParaRPr lang="en-US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Métodos de string na prática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01852"/>
            <a:ext cx="8321040" cy="2157984"/>
          </a:xfrm>
          <a:prstGeom prst="roundRect">
            <a:avLst>
              <a:gd name="adj" fmla="val 339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18895"/>
            <a:ext cx="8028432" cy="192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textoDigitado =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  Sim, Eu Quero APRENDER Node.js!   '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textoLimpo = textoDigitado.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`Texto limpo: "${textoLimpo}"`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frase =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 turma é espetacular'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palavras = frase.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'Palavras separadas:'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palavras)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fraseAlterada = frase.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'espetacular'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'***'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`Frase com censura: ${fraseAlterada}`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3695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643884"/>
            <a:ext cx="8321040" cy="1060704"/>
          </a:xfrm>
          <a:prstGeom prst="roundRect">
            <a:avLst>
              <a:gd name="adj" fmla="val 6897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" y="3760927"/>
            <a:ext cx="8028432" cy="82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adicional.js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limpo: "sim, eu quero aprender node.js!"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Palavras separadas: [ 'A', 'turma', 'é', 'espetacular' ]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Frase com censura: A turma é ***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194</a:t>
            </a:fld>
            <a:endParaRPr lang="en-US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de arquivos (fs)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File System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o módulo nativo do Node.js para ler e escrever arquivos no computador.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dados não se perdem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o programa salva continua lá mesmo depois que você fecha o terminal.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script a software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Transforma um script temporário em um programa que guarda informações de verdade.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195</a:t>
            </a:fld>
            <a:endParaRPr lang="en-US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fs na prática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549908"/>
            <a:ext cx="5577840" cy="2706624"/>
          </a:xfrm>
          <a:prstGeom prst="roundRect">
            <a:avLst>
              <a:gd name="adj" fmla="val 27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666951"/>
            <a:ext cx="5285232" cy="2472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fs =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'fs'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arquivo =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'tarefas.txt'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conteudo =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'1. Estudar Node.js\n'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'2. Praticar lógica\n'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'3. Criar projeto final'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writeFileSync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(arquivo, conteudo)    </a:t>
            </a: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cria o arquivo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'Arquivo salvo!'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textoLido = fs.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readFileSync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(arquivo,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'utf-8'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'--- Conteúdo lido ---'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(textoLido)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20071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2281428"/>
            <a:ext cx="2606040" cy="1517904"/>
          </a:xfrm>
          <a:prstGeom prst="roundRect">
            <a:avLst>
              <a:gd name="adj" fmla="val 4819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18504" y="2398471"/>
            <a:ext cx="2313432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adicional.js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 salvo!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Conteúdo lido ---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Estudar Node.js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Praticar lógica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Criar projeto final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196</a:t>
            </a:fld>
            <a:endParaRPr lang="en-US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 Geral</a:t>
            </a:r>
            <a:endParaRPr lang="en-US" sz="32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um programa funciona?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Lembra da receita de bolo? O programa é essa sequência de passos.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420" y="1828800"/>
            <a:ext cx="868680" cy="868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Entrada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o usuário digita ou o que já está nas variáveis.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433828" y="2263140"/>
            <a:ext cx="159410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1828800"/>
            <a:ext cx="868680" cy="8686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27660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Algoritmo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334060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sequência de passos: condicionais, laços, funções…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116068" y="2263140"/>
            <a:ext cx="159410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1828800"/>
            <a:ext cx="868680" cy="8686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958840" y="2807208"/>
            <a:ext cx="259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6022848" y="3200400"/>
            <a:ext cx="2462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resultado exibido no console.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198</a:t>
            </a:fld>
            <a:endParaRPr lang="en-US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Relembrando: maior ou menor de idade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11480" y="1081278"/>
            <a:ext cx="8321040" cy="3643884"/>
          </a:xfrm>
          <a:prstGeom prst="roundRect">
            <a:avLst>
              <a:gd name="adj" fmla="val 200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98321"/>
            <a:ext cx="8028432" cy="340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 = 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'prompt-sync'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'Como é seu nome? '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idade = 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'Qual é sua idade? '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processamento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(nome, idade) {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(idade &lt; </a:t>
            </a:r>
            <a:r>
              <a:rPr lang="en-US" sz="14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faltam = </a:t>
            </a:r>
            <a:r>
              <a:rPr lang="en-US" sz="14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idade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`${nome}, você será maior de idade em ${faltam} anos.`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`${nome}, você já é maior de idade.`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processamento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(nome, idade)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199</a:t>
            </a:fld>
            <a:endParaRPr lang="en-US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Cheat sheet — revisão geral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" y="107899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Variáveis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1408176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let, const, var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9464" y="1005840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79192" y="107899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Tipos de dados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679192" y="1408176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string, number,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boolean, object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36008" y="1005840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45736" y="107899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745736" y="1408176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 + b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`Olá ${nome}`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02552" y="1005840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12280" y="107899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Operadores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12280" y="1408176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 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!== &gt; &lt;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2231136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2648" y="23042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Condicionais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12648" y="2633472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(…) { … }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{ … }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569464" y="2231136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79192" y="23042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Lógicos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679192" y="2633472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||  !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36008" y="2231136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45736" y="23042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745736" y="2633472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20, 30]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pop splice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702552" y="2231136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12280" y="230428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Objetos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812280" y="2633472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chave: valor }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obj.propriedade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3456432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12648" y="352958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Laços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12648" y="3858768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/ for...of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/ do…while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569464" y="3456432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679192" y="352958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2679192" y="3858768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valor: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 break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36008" y="3456432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745736" y="352958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Funções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745736" y="3858768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f() {}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 =&gt; a + b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702552" y="3456432"/>
            <a:ext cx="1938528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12280" y="352958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Entrada e saída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812280" y="3858768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prompt('…')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200</a:t>
            </a:fld>
            <a:endParaRPr lang="en-US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Exercícios de Revisão para Avaliação</a:t>
            </a:r>
            <a:endParaRPr lang="en-US" sz="32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Exercício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Revisão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Lógica · Par ou ímpar sem %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01496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Peça um número ao usuário e descubra se ele é par usando apenas subtrações sucessivas em um laço.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Enquanto o número for maior ou igual a 2, subtraia 2. Ao final, se sobrar 0 é par; se sobrar 1 é ímpar.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2695956"/>
            <a:ext cx="8138160" cy="451104"/>
          </a:xfrm>
          <a:prstGeom prst="roundRect">
            <a:avLst>
              <a:gd name="adj" fmla="val 16216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73862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787396"/>
            <a:ext cx="7360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Conteúdos: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entrada de dados, laço, condicional e operadores.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202</a:t>
            </a:fld>
            <a:endParaRPr lang="en-US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Exercício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Revisão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Boletim da turma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01496"/>
            <a:ext cx="813816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array com 5 notas. Percorra com um laço e calcule a média.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Ao final, imprima: "Aprovado" (média maior ou igual a 7), "Recuperação" (entre 5 e 7) ou "Reprovado" (abaixo de 5).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2955036"/>
            <a:ext cx="8138160" cy="451104"/>
          </a:xfrm>
          <a:prstGeom prst="roundRect">
            <a:avLst>
              <a:gd name="adj" fmla="val 16216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9977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046476"/>
            <a:ext cx="7360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Conteúdos: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arrays, laço, operadores e condicionais.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203</a:t>
            </a:fld>
            <a:endParaRPr lang="en-US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Exercício 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Revisão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Contador de palavras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01496"/>
            <a:ext cx="813816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Peça uma frase ao usuário e descubra quantas palavras ela tem.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2139696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5024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231136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.split(" ")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transformar a frase em um array 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.length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contar os itens.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86300" y="2139696"/>
            <a:ext cx="3954780" cy="1091184"/>
          </a:xfrm>
          <a:prstGeom prst="roundRect">
            <a:avLst>
              <a:gd name="adj" fmla="val 670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50240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26380" y="2231136"/>
            <a:ext cx="317754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Conteúdos: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strings, manipulação de texto, arrays e entrada de dados.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204</a:t>
            </a:fld>
            <a:endParaRPr lang="en-US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Exercício 4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Revisão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de produtos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01496"/>
            <a:ext cx="813816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função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cadastrarProduto(nome, preco, quantidade)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devolva um objeto com essas três propriedades.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Chame a função três vezes, guarde os objetos em um array e imprima o valor total do estoque (preço x quantidade de cada um, somados).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3214116"/>
            <a:ext cx="8138160" cy="451104"/>
          </a:xfrm>
          <a:prstGeom prst="roundRect">
            <a:avLst>
              <a:gd name="adj" fmla="val 16216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25678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305556"/>
            <a:ext cx="7360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Conteúdos: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funções com retorno, objetos, arrays e laço.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205</a:t>
            </a:fld>
            <a:endParaRPr lang="en-US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Exercício 5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Revisão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Lógica · Tabuada com switch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01496"/>
            <a:ext cx="81381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Peça ao usuário um número de 1 a 5 e, usando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imprima a tabuada correspondente com um laço.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o número estiver fora do intervalo, 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deve avisar o usuário.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2695956"/>
            <a:ext cx="8138160" cy="451104"/>
          </a:xfrm>
          <a:prstGeom prst="roundRect">
            <a:avLst>
              <a:gd name="adj" fmla="val 16216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73862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787396"/>
            <a:ext cx="7360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Conteúdos: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switch, laços, entrada de dados e conversão de tipos.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206</a:t>
            </a:fld>
            <a:endParaRPr lang="en-US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Exercício 6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Revisão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Lógica · Adivinhe o número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01496"/>
            <a:ext cx="813816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Sorteie um número de 1 a 10 com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Math.floor(Math.random() * 10) + 1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177800" indent="-177800">
              <a:buSzPct val="100000"/>
              <a:buChar char="●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um laço para pedir palpites até o usuário acertar, avisando se o palpite foi alto ou baixo. No final, mostre quantas tentativas ele usou.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2955036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42442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046476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sair do laço quando acertar, 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sigint: true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prompt-sync para conseguir encerrar com Ctrl + C.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86300" y="2955036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342442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26380" y="3046476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Conteúdos: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laços, condicionais, variáveis, entrada de dados e biblioteca Math.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207</a:t>
            </a:fld>
            <a:endParaRPr lang="en-US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do módulo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70432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QR code para https://github.com/nicolassmotta/curso-lions-dev/tree/main/modulo0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Aponte a câmera do celular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86200" y="1170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tree/main/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modulo02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6596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16552" y="1920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teoria comentada e o </a:t>
            </a: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cheat sheet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532888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16552" y="2487168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exercicios_slides/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exercícios feitos em aula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099816"/>
            <a:ext cx="384048" cy="38404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416552" y="305409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lista_de_exercicios/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listas para praticar em casa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3666744"/>
            <a:ext cx="384048" cy="38404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416552" y="3621024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exercicios_resolvidos/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gabaritos, para conferir depois de tentar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208</a:t>
            </a:fld>
            <a:endParaRPr lang="en-US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Fim!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Dúvidas? Bora praticar: é programando que se aprende a programar.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209</Slides>
  <Notes>209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209</vt:i4>
      </vt:variant>
    </vt:vector>
  </HeadingPairs>
  <TitlesOfParts>
    <vt:vector size="2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</vt:vector>
  </TitlesOfParts>
  <Company>Lions 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2 — Fundamentos de Programação e Introdução ao Debugging com Node.js</dc:title>
  <dc:subject>PptxGenJS Presentation</dc:subject>
  <dc:creator>Nicolas Cardoso Motta</dc:creator>
  <cp:lastModifiedBy>Nicolas Cardoso Motta</cp:lastModifiedBy>
  <cp:revision>1</cp:revision>
  <dcterms:created xsi:type="dcterms:W3CDTF">2026-09-27T23:25:23Z</dcterms:created>
  <dcterms:modified xsi:type="dcterms:W3CDTF">2026-09-27T23:25:23Z</dcterms:modified>
</cp:coreProperties>
</file>