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11 — Desenvolvimento NoCode com FlutterFlow e consumo da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de abertura (5 minutos) do Módulo 10. Peça para a turma explicar cada cartão com as próprias palavras antes de você falar.
Termine com a pergunta do rodapé. Resposta esperada: o plano free desliga o serviço parado; a primeira requisição acorda o servidor (cold start). O app precisa mostrar o carregando.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curso: hoje é o Módulo 11 (Frontend NoCode com FlutterFlow). Os módulos com o sinal de visto já passaram; o laranja é o de hoje.
Adiante o próximo passo: o Módulo 12 (Projeto Final e Requisitos) depende do que a turma aprender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Último passo do fio: o app consome a API publicada. No desafio do fim, a turma monta login e lista de baralhos com os quatro estados. Feche mostrando a linha inteira: terminal, API, banco, dono, testes, deploy e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alta. No fim da aula, volte a este slide e peça para cada um dizer qual item já consegue fazer sozinho.
• Entender o que é NoCode e quando faz sentido usar.
• Conhecer o FlutterFlow e os principais widgets.
• Criar telas com estado, formulários, validação e navegação.
• Consumir a API publicada no Render: listar, enviar dados e fazer login com JWT.
• Tratar os estados de carregando, lista vazia e erro da API.
• Testar e publicar 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transição: leia com calma e deixe a ideia assentar antes do próximo slide.
"Nos módulos anteriores construímos a API. Agora vamos criar a interface que consome essa API, sem escrever o código do frontend."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"O que é NoCode?".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Criar aplicações por uma interface visual, arrastando e configurando componentes prontos.
Pontos para falar:
• Vantagens: Cria soluções sem dominar programação de interfaces. Muito mais rápido para prototipar. Visual: você vê a tela enquanto monta.
• Limites: Menos flexível que o código puro. Dependência da plataforma e do plano. Lógicas complexas ficam difíceis.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fluxo da esquerda para a direita:
• App (FlutterFlow): O front-end: a tela que o usuário toca.
• HTTP: Requisições com JSON e token.
• Sua API (Render): Regras, autenticação e rotas.
• MongoDB: Os dados guardados.
Mensagem principal: O FlutterFlow não substitui o backend: ele conversa com a API que você construiu.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"Conhecendo o FlutterFlow".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Apps de verdade: Plataforma NoCode/LowCode para apps móveis e web.
• Baseado em Flutter: Gera código Flutter real, que pode ser exportado.
• Integra com APIs: Consome qualquer API REST, como a sua no 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Widget Tree: A árvore com todos os elementos da tela, um dentro do outro.
• Canvas: A pré-visualização da tela, no centro.
• Painel de propriedades: Tamanho, cor, texto e as ações do widget selecionado.
• Widget Palette: Os componentes que você arrasta para 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"Widgets". Antes de avançar, faça uma pergunta rápida que ligue o assunto novo ao que a turma já sabe.
Frase de apoio: Os blocos de construção da tela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Column: Empilha os widgets na vertical, um embaixo do outro.
• Row: Alinha os widgets na horizontal, lado a lado.
Mensagem principal: Widget é todo elemento visual: texto, botão, imagem, lista. Toda tela é uma árvore de widgets.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Stack: Sobrepõe widgets em camadas: um texto em cima de uma imagem.
• Container: Uma caixa com tamanho, cor, borda e espaçamento.
• AppBar: A barra fixa no topo, com o título e as ações da página.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"Estado e formulários".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Estado: A informação que o app guarda enquanto roda: o que muda na tela quando o usuário interage.
• Page State: Vale só dentro de uma página, como um filtro de busca.
• App State: Vale no app inteiro, como o token de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TextField: Captura o que o usuário digita. Cada campo vira uma variável: emailInput, senhaInput.
• Validação: E-mail obrigatório e no formato certo. Senha com um tamanho mínimo. Só dispara o POST se estiver tudo válido.
Mensagem principal: Nunca confie no que o usuário digita: valide no app e na API. A validação do app melhora a experiência; a da API garante a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"Navegação entre telas".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Selecione o botão e abra a aba Actions.
• Adicione a ação Navigate To e escolha a página de destino.
• Rode em modo de teste e clique para conferir.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toque pode disparar vários passos em sequência:
Pontos para falar:
• 1. Validar o formulário: Os campos estão preenchidos e no formato certo?
• 2. Chamar a API: Dispara a API Call com os dados digitados.
• 3. Decidir: Deu certo? Mostra sucesso. Deu erro? Mostra a mensagem.
• 4. Navegar: Leva o usuário para a próxima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Use só os widgets que vimos: AppBar, Column, Row, Container e Text.
• Comece pela Widget Tree: primeiro a estrutura, depois as cores e os textos.
• Mais tarde, esta tela vai receber os dados da sua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"Integração com a API".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endpoint à tela, sempre na mesma ordem:
Explique o fluxo da esquerda para a direita:
• 1. Criar: Uma API Call para o endpoint.
• 2. Configurar: Método, URL, headers e body.
• 3. Testar: Ver o JSON que volta.
• 4. Mapear: Descrever os campos num Data Type.
• 5. Exibir: Ligar os dados aos widgets.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No menu API Calls, crie uma chamada com um nome claro, como GET agendamentos.
• Escolha o método e cole a URL do Render: https://sua-api.onrender.com/...
• Rotas protegidas levam o header Authorization: Bearer [token].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Na aba Response &amp; Test, clique em Test API Call.
• Você vê exatamente o JSON que a API devolve, antes de ligar na tela.
• Deu erro aqui? O problema está na chamada ou na API, não na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Crie um Data Type com os campos que a API devolve.
• Use o nome exato de cada campo do JSON e o tipo certo: String, Integer, Boolean.
• Um nome diferente do JSON faz o campo aparecer vazio.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Executar ao abrir a página: Um Backend Query faz o request assim que a tela abre.
• Gerar itens dinâmicos: Um item de exemplo, repetido para cada elemento da lista da API.
• Ligar os campos: Cada Text mostra um campo do item: nome, data, serviço.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POST em um botão: O formulário monta o body com as variáveis dos campos. O botão dispara a API Call; PUT e DELETE seguem o mesmo caminho.
• Login com JWT: POST /api/auth/login devolve o token. Guarde o token no App State (persistido). Envie no header das rotas protegidas; no logout, limpe.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No app, localhost é o próprio celular, não o seu computador. A chamada simplesmente falha.
• Use sempre a URL pública do Render, em https.
• Lembre do cold start do plano free: a primeira chamada pode demorar. Mostre um indicador de carregamento.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No modo de teste web, o navegador bloqueia chamadas para outro domínio se a API não liberar o CORS.
• O erro aparece no console do navegador como "blocked by CORS policy".
• Libere na API com o pacote cors, antes das rotas.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Testar: Test Mode e Run Mode rodam o app no navegador ou no celular.
• Publicar: Web com um clique; lojas de app exigem conta de desenvolvedor.
• Segurança: Nunca deixe um token fixo no app: use App State e headers.
• Nomes claros: API Calls, variáveis e páginas com nomes que dizem o que fazem.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"Carregando, vazio e erro". Antes de avançar, faça uma pergunta rápida que ligue o assunto novo ao que a turma já sabe.
Frase de apoio: A tela também precisa funcionar quando a API demora, não tem dados ou falha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Carregando: A resposta ainda não chegou. O usuário vê um indicador, não uma tela parada.
• Vazio: Deu certo, mas a lista veio []. Uma mensagem e um convite: "cadastre o primeiro".
• Erro: A API respondeu 4xx ou 5xx, ou nem respondeu. A mensagem da API aparece na tela.
• Sucesso: Os dados na tela: o único estado que a gente costuma testar.
Mensagem principal: Uma tela que só pensa no sucesso fica em branco, ou travada, nos outros três casos.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Onde fica: Na Backend Query da ListView (ou da página), abra o Backend Query Loading Widget.
• O que mostrar: Uma imagem ou um Component seu: um indicador de progresso com o texto "Carregando…".
• Por que importa: O cold start do Render (Módulo 10): a primeira chamada pode demorar, e tela parada parece app quebrado.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Onde fica: Selecione a ListView que tem a Backend Query e ligue o Show Empty List Widget.
• O que mostrar: Um Component com mensagem e ação: "Nenhum agendamento ainda" e um botão "Criar o primeiro".
• Teste de verdade: Crie um usuário novo, sem dados, e abra a tela: é assim que o cliente vê o app no primeiro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Action Flow Editor do botão: API Call com um Action Output Variable Name (ex.: salvarResponse), depois Add Conditional e, na condição, Action Outputs &gt; salvarResponse &gt; Succeeded. O Succeeded é true quando o status é 2xx.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estrutura parte por parte e diga para que serve cada uma.
Destaques:
• $.message: na Action Output: JSON Body com o JSON Path $.message.
• Status Code: vem na mesma variável: dá para decidir o que fazer por código.
• Módulo 9: o middleware de erro padronizou: todo erro da API tem o campo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Quando o token vence, toda rota protegida responde 401. O app precisa perceber e levar o usuário para o login.
• No caminho FALSE, confira o Status Code: se for 401, limpe o token do App State e navegue para a tela de Login.
• Outros erros (400, 404, 409): mostre a message da API e deixe o usuário tentar de novo.
• Na própria tela de login, 401 é só senha errada: ali, basta mostrar a mensagem.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Crie um Page State: salvando, do tipo Boolean, começando em false.
• Antes da API Call: No Action Flow do botão: Update Page State → salvando = true.
• Depois da resposta: Nos dois caminhos, TRUE e FALSE: salvando = false.
• Na tela: Com Conditional Visibility, esconda o botão e mostre um indicador de progresso enquanto salvando for true.
Mensagem principal: Sem isso, dois cliques rápidos viram dois cadastros iguais.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"Publicando o app". Antes de avançar, faça uma pergunta rápida que ligue o assunto novo ao que a turma já sabe.
Frase de apoio: Do editor para a internet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Planos consultados em setembro de 2026: Free (web em subdomínio, sem download de código), Basic (US$ 39/mês: download de código e APK, domínio próprio, lojas), Growth (integração com GitHub).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Abra a publicação web: No projeto, vá até as opções de Web Publishing.
• Escolha o subdomínio: Algo como meu-app.flutterflow.app.
• Publique: Em poucos minutos o app está no ar, com HTTPS.
• Teste com a API real: As API Calls precisam apontar para a URL do Render, não para localhost.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Download Code: No plano Basic, o FlutterFlow gera um projeto Flutter completo, em Dart, para baixar.
• GitHub: No plano Growth, o código pode ir direto para um repositório.
• O que vem no projeto: pubspec.yaml (o "package.json" do Flutter), a pasta lib/ com as telas e a pasta web/.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Mensagem principal: Instale o Flutter SDK em flutter.dev. O flutter pub get é o npm install do Flutter.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Destaques:
• flutter build web: compila o app para HTML, CSS e JavaScript.
• build/web: um site estático: pode ser hospedado em qualquer lugar.
• Render: essa pasta vira um Static Site no Render, ao lado da sua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New &gt; Static Site: Conecte o repositório com a pasta build/web.
• Publish Directory: build/web: Como a pasta já vem pronta, não precisa de build (se o campo for obrigatório, use um comando simples, como echo ok).
• Rewrite /* → /index.html: Em Redirects/Rewrites: sem isso, recarregar uma tela interna dá 404.
• Deploy: O app ganha uma URL .onrender.com própria, com HTTPS.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fluxo da esquerda para a direita:
• Usuário: Abre o app no navegador ou no celular.
• Frontend: Static Site no Render (ou FlutterFlow).
• API: Web Service no Render.
• Banco: MongoDB Atlas.
Mensagem principal: Tudo o que foi construído no curso, conectado: o projeto final do Módulo 12 segue exatamente essa arquitetura.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Front e API em domínios diferentes: a API precisa liberar a origem do front, senão o navegador bloqueia.
• Libere a URL do front no CORS da API.
• No app, a URL base das API Calls é a da API no Render, sempre em https.
• No plano free os dois dormem: a primeira abertura pode demorar.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(FlutterFlow): leia o enunciado em voz alta, combine o tempo (15 a 25 minutos, conforme a turma) e circule pela sala.
• Monte a tela de listagem da atividade anterior.
• Crie a API Call para listar os itens da sua API publicada no Render.
• Teste a chamada, crie o Data Type e gere os itens dinâmicos.
• Bônus: uma tela de cadastro com POST e uma tela de login com JWT.
Dica: teste cada API Call na aba Response &amp; Test antes de ligar na tela.
Quem terminar antes: trate os quatro estados: carregando, lista vazia, erro com a message da API e sucesso.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FlutterFlow: listagem com API: Consumir uma API real e listar os dados.
• Frontend com IA: Gerar e adaptar um frontend com ajuda de IA.
Mensagem principal: No repositório: modulo11/lista_de_exercicios/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 o fio condutor. Confira se o token está indo no header (erro 401 é o sinal mais comum de que não está) e se a lista vazia tem mensagem. Se o cold start do Render atrapalhar, lembre do Loading Widget.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QR code e peça para a turma abrir a pasta modulo11 no celular agora, antes de ir embora.
Lembre o que tem lá: conteudo, lista_de_exercicios. O cheat sheet do módulo fica em conteudo/ e resume a aula em duas páginas.
Link: https://github.com/nicolassmotta/curso-lions-dev/tree/main/modulo11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retome os objetivos do começo, abra para dúvidas e lembre onde ficam a lista de exercícios e o material no repositório.
Frase de saída: Agora você tem uma aplicação completa: frontend, API e banco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image" Target="../media/image-3-2.png"/><Relationship Id="rId8" Type="http://schemas.openxmlformats.org/officeDocument/2006/relationships/image" Target="../media/image-3-2.png"/><Relationship Id="rId9" Type="http://schemas.openxmlformats.org/officeDocument/2006/relationships/image" Target="../media/image-3-2.png"/><Relationship Id="rId10" Type="http://schemas.openxmlformats.org/officeDocument/2006/relationships/image" Target="../media/image-3-2.png"/><Relationship Id="rId11" Type="http://schemas.openxmlformats.org/officeDocument/2006/relationships/image" Target="../media/image-3-2.png"/><Relationship Id="rId12" Type="http://schemas.openxmlformats.org/officeDocument/2006/relationships/image" Target="../media/image-3-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2-2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2-4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8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8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4-2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4-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9-3.png"/><Relationship Id="rId4" Type="http://schemas.openxmlformats.org/officeDocument/2006/relationships/image" Target="../media/image-21-4.png"/><Relationship Id="rId5" Type="http://schemas.openxmlformats.org/officeDocument/2006/relationships/image" Target="../media/image-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4-2.png"/><Relationship Id="rId3" Type="http://schemas.openxmlformats.org/officeDocument/2006/relationships/image" Target="../media/image-2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4-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4-4.png"/><Relationship Id="rId3" Type="http://schemas.openxmlformats.org/officeDocument/2006/relationships/image" Target="../media/image-28-3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4-4.png"/><Relationship Id="rId3" Type="http://schemas.openxmlformats.org/officeDocument/2006/relationships/image" Target="../media/image-2-4.png"/><Relationship Id="rId4" Type="http://schemas.openxmlformats.org/officeDocument/2006/relationships/image" Target="../media/image-4-5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8-3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3.png"/><Relationship Id="rId3" Type="http://schemas.openxmlformats.org/officeDocument/2006/relationships/image" Target="../media/image-12-5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3.png"/><Relationship Id="rId3" Type="http://schemas.openxmlformats.org/officeDocument/2006/relationships/image" Target="../media/image-12-5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15-3.png"/><Relationship Id="rId4" Type="http://schemas.openxmlformats.org/officeDocument/2006/relationships/image" Target="../media/image-4-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5-3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8-2.png"/><Relationship Id="rId3" Type="http://schemas.openxmlformats.org/officeDocument/2006/relationships/image" Target="../media/image-4-8.png"/><Relationship Id="rId4" Type="http://schemas.openxmlformats.org/officeDocument/2006/relationships/image" Target="../media/image-9-4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8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2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2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402336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070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1500" b="1" spc="3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1060704" y="658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Curso de Programação</a:t>
            </a:r>
            <a:endParaRPr lang="en-US" sz="950" dirty="0"/>
          </a:p>
        </p:txBody>
      </p:sp>
      <p:pic>
        <p:nvPicPr>
          <p:cNvPr id="6" name="Image 1" descr="Símbolo Lions Dev em degradê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601047"/>
            <a:ext cx="3520440" cy="400084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1572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11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1938528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NoCode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FlutterFlow</a:t>
            </a:r>
            <a:endParaRPr lang="en-US" sz="36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Professor Nicolas Cardoso Motta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Revisando o Módulo 10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587246"/>
            <a:ext cx="2590800" cy="1982724"/>
          </a:xfrm>
          <a:prstGeom prst="roundRect">
            <a:avLst>
              <a:gd name="adj" fmla="val 461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7012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77012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DNS e HTTPS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245614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nome vira um endereço IP; o HTTPS protege o que vai e o que volta.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276600" y="1587246"/>
            <a:ext cx="2590800" cy="1982724"/>
          </a:xfrm>
          <a:prstGeom prst="roundRect">
            <a:avLst>
              <a:gd name="adj" fmla="val 461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77012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1544" y="1770126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preparada</a:t>
            </a:r>
            <a:endParaRPr lang="en-US" sz="1750" dirty="0"/>
          </a:p>
        </p:txBody>
      </p:sp>
      <p:sp>
        <p:nvSpPr>
          <p:cNvPr id="13" name="Text 8"/>
          <p:cNvSpPr txBox="1"/>
          <p:nvPr/>
        </p:nvSpPr>
        <p:spPr>
          <a:xfrm>
            <a:off x="3459480" y="2394966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Porta de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process.env.PORT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script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uma rota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141720" y="1587246"/>
            <a:ext cx="2590800" cy="1982724"/>
          </a:xfrm>
          <a:prstGeom prst="roundRect">
            <a:avLst>
              <a:gd name="adj" fmla="val 461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770126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36664" y="177012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Render</a:t>
            </a:r>
            <a:endParaRPr lang="en-US" sz="1750" dirty="0"/>
          </a:p>
        </p:txBody>
      </p:sp>
      <p:sp>
        <p:nvSpPr>
          <p:cNvPr id="17" name="Text 11"/>
          <p:cNvSpPr txBox="1"/>
          <p:nvPr/>
        </p:nvSpPr>
        <p:spPr>
          <a:xfrm>
            <a:off x="6324600" y="2245614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 pelo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render.yaml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manual; variáveis no painel, nunca no GitHub.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Pergunta para abrir: por que a primeira requisição à API no plano free às vezes demora quase um minuto?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do curso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86107" y="1133856"/>
            <a:ext cx="6771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BASE: JAVASCRIPT, GIT E ORGANIZAÇÃO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186107" y="1389888"/>
            <a:ext cx="6771785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1342" y="2779776"/>
            <a:ext cx="5622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1342" y="3035808"/>
            <a:ext cx="5622254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8999" y="2779776"/>
            <a:ext cx="21736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E PROJETO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58999" y="3035808"/>
            <a:ext cx="2173659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6107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6107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231827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15" y="1536192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335639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35639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2381359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Fundamentos de JS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447" y="1536192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485170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485170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3530890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Calculadora</a:t>
            </a:r>
            <a:endParaRPr lang="en-US" sz="9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978" y="1536192"/>
            <a:ext cx="219456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634702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634702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4680422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e GitHub</a:t>
            </a:r>
            <a:endParaRPr lang="en-US" sz="9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510" y="1536192"/>
            <a:ext cx="219456" cy="21945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784233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784233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5829953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</a:t>
            </a:r>
            <a:endParaRPr lang="en-US" sz="9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041" y="1536192"/>
            <a:ext cx="219456" cy="21945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933765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933765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25"/>
          <p:cNvSpPr txBox="1"/>
          <p:nvPr/>
        </p:nvSpPr>
        <p:spPr>
          <a:xfrm>
            <a:off x="6979485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 e busca</a:t>
            </a:r>
            <a:endParaRPr lang="en-US" sz="95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3573" y="1536192"/>
            <a:ext cx="219456" cy="219456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611342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611342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2400" dirty="0"/>
          </a:p>
        </p:txBody>
      </p:sp>
      <p:sp>
        <p:nvSpPr>
          <p:cNvPr id="37" name="Text 28"/>
          <p:cNvSpPr txBox="1"/>
          <p:nvPr/>
        </p:nvSpPr>
        <p:spPr>
          <a:xfrm>
            <a:off x="657062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APIs com Express</a:t>
            </a:r>
            <a:endParaRPr lang="en-US" sz="95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1150" y="3182112"/>
            <a:ext cx="219456" cy="219456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1760873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1760873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2400" dirty="0"/>
          </a:p>
        </p:txBody>
      </p:sp>
      <p:sp>
        <p:nvSpPr>
          <p:cNvPr id="41" name="Text 31"/>
          <p:cNvSpPr txBox="1"/>
          <p:nvPr/>
        </p:nvSpPr>
        <p:spPr>
          <a:xfrm>
            <a:off x="1806593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95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0681" y="3182112"/>
            <a:ext cx="219456" cy="219456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2910405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2910405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2400" dirty="0"/>
          </a:p>
        </p:txBody>
      </p:sp>
      <p:sp>
        <p:nvSpPr>
          <p:cNvPr id="45" name="Text 34"/>
          <p:cNvSpPr txBox="1"/>
          <p:nvPr/>
        </p:nvSpPr>
        <p:spPr>
          <a:xfrm>
            <a:off x="2956125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 e MVC</a:t>
            </a:r>
            <a:endParaRPr lang="en-US" sz="95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0213" y="3182112"/>
            <a:ext cx="219456" cy="219456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4059936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8" name="Text 36"/>
          <p:cNvSpPr txBox="1"/>
          <p:nvPr/>
        </p:nvSpPr>
        <p:spPr>
          <a:xfrm>
            <a:off x="4059936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9B</a:t>
            </a:r>
            <a:endParaRPr lang="en-US" sz="2400" dirty="0"/>
          </a:p>
        </p:txBody>
      </p:sp>
      <p:sp>
        <p:nvSpPr>
          <p:cNvPr id="49" name="Text 37"/>
          <p:cNvSpPr txBox="1"/>
          <p:nvPr/>
        </p:nvSpPr>
        <p:spPr>
          <a:xfrm>
            <a:off x="4105656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Testes</a:t>
            </a:r>
            <a:endParaRPr lang="en-US" sz="950" dirty="0"/>
          </a:p>
        </p:txBody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9744" y="3182112"/>
            <a:ext cx="219456" cy="219456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5209467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2" name="Text 39"/>
          <p:cNvSpPr txBox="1"/>
          <p:nvPr/>
        </p:nvSpPr>
        <p:spPr>
          <a:xfrm>
            <a:off x="5209467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53" name="Text 40"/>
          <p:cNvSpPr txBox="1"/>
          <p:nvPr/>
        </p:nvSpPr>
        <p:spPr>
          <a:xfrm>
            <a:off x="5255187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950" dirty="0"/>
          </a:p>
        </p:txBody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59275" y="3182112"/>
            <a:ext cx="219456" cy="219456"/>
          </a:xfrm>
          <a:prstGeom prst="rect">
            <a:avLst/>
          </a:prstGeom>
        </p:spPr>
      </p:pic>
      <p:sp>
        <p:nvSpPr>
          <p:cNvPr id="55" name="Shape 41"/>
          <p:cNvSpPr/>
          <p:nvPr/>
        </p:nvSpPr>
        <p:spPr>
          <a:xfrm>
            <a:off x="6358999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E16D34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56" name="Text 42"/>
          <p:cNvSpPr txBox="1"/>
          <p:nvPr/>
        </p:nvSpPr>
        <p:spPr>
          <a:xfrm>
            <a:off x="6358999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2400" dirty="0"/>
          </a:p>
        </p:txBody>
      </p:sp>
      <p:sp>
        <p:nvSpPr>
          <p:cNvPr id="57" name="Text 43"/>
          <p:cNvSpPr txBox="1"/>
          <p:nvPr/>
        </p:nvSpPr>
        <p:spPr>
          <a:xfrm>
            <a:off x="6404719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950" dirty="0"/>
          </a:p>
        </p:txBody>
      </p:sp>
      <p:sp>
        <p:nvSpPr>
          <p:cNvPr id="58" name="Shape 44"/>
          <p:cNvSpPr/>
          <p:nvPr/>
        </p:nvSpPr>
        <p:spPr>
          <a:xfrm>
            <a:off x="7508530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59" name="Text 45"/>
          <p:cNvSpPr txBox="1"/>
          <p:nvPr/>
        </p:nvSpPr>
        <p:spPr>
          <a:xfrm>
            <a:off x="7508530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2400" dirty="0"/>
          </a:p>
        </p:txBody>
      </p:sp>
      <p:sp>
        <p:nvSpPr>
          <p:cNvPr id="60" name="Text 46"/>
          <p:cNvSpPr txBox="1"/>
          <p:nvPr/>
        </p:nvSpPr>
        <p:spPr>
          <a:xfrm>
            <a:off x="7554250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Projeto final</a:t>
            </a:r>
            <a:endParaRPr lang="en-US" sz="950" dirty="0"/>
          </a:p>
        </p:txBody>
      </p:sp>
      <p:sp>
        <p:nvSpPr>
          <p:cNvPr id="61" name="Text 47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está aqui: 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 11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Frontend NoCode com FlutterFlow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projeto flashcards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123406" y="1755648"/>
            <a:ext cx="6897189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1123406" y="1755648"/>
            <a:ext cx="6897189" cy="0"/>
          </a:xfrm>
          <a:prstGeom prst="line">
            <a:avLst/>
          </a:prstGeom>
          <a:noFill/>
          <a:ln w="38100">
            <a:solidFill>
              <a:srgbClr val="E16D3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1070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6" y="1481328"/>
            <a:ext cx="548640" cy="548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M6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Terminal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CRUD em memória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870601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617" y="1481328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8171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M7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698171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698171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Express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020133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149" y="1481328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847703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M8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2847703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Banco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2847703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169664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481328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3997234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M9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3997234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dono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3997234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 e JWT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319195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7211" y="1481328"/>
            <a:ext cx="548640" cy="54864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146766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M9B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5146766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Testado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5146766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Vitest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468727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6743" y="1481328"/>
            <a:ext cx="548640" cy="54864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296297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M10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6296297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ar</a:t>
            </a:r>
            <a:endParaRPr lang="en-US" sz="1250" dirty="0"/>
          </a:p>
        </p:txBody>
      </p:sp>
      <p:sp>
        <p:nvSpPr>
          <p:cNvPr id="36" name="Text 27"/>
          <p:cNvSpPr txBox="1"/>
          <p:nvPr/>
        </p:nvSpPr>
        <p:spPr>
          <a:xfrm>
            <a:off x="6296297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Render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7618258" y="1353312"/>
            <a:ext cx="804672" cy="804672"/>
          </a:xfrm>
          <a:prstGeom prst="ellipse">
            <a:avLst/>
          </a:prstGeom>
          <a:solidFill>
            <a:srgbClr val="E16D34"/>
          </a:solidFill>
          <a:ln w="25400">
            <a:solidFill>
              <a:srgbClr val="E16D34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6274" y="1481328"/>
            <a:ext cx="548640" cy="54864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445829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M11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7445829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tela</a:t>
            </a:r>
            <a:endParaRPr lang="en-US" sz="1250" dirty="0"/>
          </a:p>
        </p:txBody>
      </p:sp>
      <p:sp>
        <p:nvSpPr>
          <p:cNvPr id="41" name="Text 31"/>
          <p:cNvSpPr txBox="1"/>
          <p:nvPr/>
        </p:nvSpPr>
        <p:spPr>
          <a:xfrm>
            <a:off x="7445829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548640" y="3127248"/>
            <a:ext cx="8046720" cy="1481328"/>
          </a:xfrm>
          <a:prstGeom prst="roundRect">
            <a:avLst>
              <a:gd name="adj" fmla="val 6173"/>
            </a:avLst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822960" y="3255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MÓDULO 11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822960" y="3566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flashcards ganha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tela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login, lista de baralhos e cartões no FlutterFlow, consumindo a API publicada no Módulo 10. O projeto fica completo.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2286000" cy="2286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840480" y="868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3858768" y="1417320"/>
            <a:ext cx="4846320" cy="45720"/>
          </a:xfrm>
          <a:prstGeom prst="rect">
            <a:avLst/>
          </a:prstGeom>
          <a:solidFill>
            <a:srgbClr val="E16D34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858768" y="1572768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Entender o que é NoCode e quando faz sentido usar.</a:t>
            </a:r>
            <a:endParaRPr lang="en-US" sz="145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Conhecer o FlutterFlow e os principais widgets.</a:t>
            </a:r>
            <a:endParaRPr lang="en-US" sz="145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Criar telas com estado, formulários, validação e navegação.</a:t>
            </a:r>
            <a:endParaRPr lang="en-US" sz="145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Consumir a API publicada no Render: listar, enviar dados e fazer login com JWT.</a:t>
            </a:r>
            <a:endParaRPr lang="en-US" sz="145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Tratar os estados de carregando, lista vazia e erro da API.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Testar e publicar o app.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Nos módulos anteriores construímos a API. Agora vamos criar a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interface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 consome essa API, sem escrever o código do frontend.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NoCode?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NoCode: vantagens e limites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24432"/>
            <a:ext cx="7863840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Criar aplicações por uma interface visual, arrastando e configurando componentes prontos.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11480" y="2049272"/>
            <a:ext cx="4023360" cy="2305304"/>
          </a:xfrm>
          <a:prstGeom prst="roundRect">
            <a:avLst>
              <a:gd name="adj" fmla="val 396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32152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223215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Vantagens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707640"/>
            <a:ext cx="3657600" cy="146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 soluções sem dominar programação de interfaces.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Muito mais rápido para prototipar.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Visual: você vê a tela enquanto monta.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4709160" y="2049272"/>
            <a:ext cx="4023360" cy="2305304"/>
          </a:xfrm>
          <a:prstGeom prst="roundRect">
            <a:avLst>
              <a:gd name="adj" fmla="val 396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232152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04104" y="223215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Limites</a:t>
            </a:r>
            <a:endParaRPr lang="en-US" sz="1750" dirty="0"/>
          </a:p>
        </p:txBody>
      </p:sp>
      <p:sp>
        <p:nvSpPr>
          <p:cNvPr id="13" name="Text 8"/>
          <p:cNvSpPr txBox="1"/>
          <p:nvPr/>
        </p:nvSpPr>
        <p:spPr>
          <a:xfrm>
            <a:off x="4892040" y="2707640"/>
            <a:ext cx="3657600" cy="146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Menos flexível que o código puro.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Dependência da plataforma e do plano.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Lógicas complexas ficam difíceis.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o FlutterFlow se encaixa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1554480"/>
            <a:ext cx="685800" cy="685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9436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 (FlutterFlow)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front-end: a tela que o usuário toca.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00710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60" y="1554480"/>
            <a:ext cx="685800" cy="685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60604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HTTP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267004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Requisições com JSON e token.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01878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40" y="1554480"/>
            <a:ext cx="685800" cy="685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61772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Sua API (Render)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468172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Regras, autenticação e rotas.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03046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1554480"/>
            <a:ext cx="685800" cy="6858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62940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669340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dados guardados.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FlutterFlow não substitui o backend: ele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conversa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a API que você construiu.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Conhecendo o FlutterFlow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o FlutterFlow?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53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607058"/>
            <a:ext cx="44805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Apps de verdade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Plataforma NoCode/LowCode para apps móveis e web.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44805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Baseado em Flutter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Gera código Flutter real, que pode ser exportado.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15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63290"/>
            <a:ext cx="44805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 com APIs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Consome qualquer API REST, como a sua no Render.</a:t>
            </a:r>
            <a:endParaRPr lang="en-US" sz="1650" dirty="0"/>
          </a:p>
        </p:txBody>
      </p:sp>
      <p:sp>
        <p:nvSpPr>
          <p:cNvPr id="11" name="Shape 5"/>
          <p:cNvSpPr/>
          <p:nvPr/>
        </p:nvSpPr>
        <p:spPr>
          <a:xfrm>
            <a:off x="5943600" y="1874520"/>
            <a:ext cx="28346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12" name="Image 3" descr="Logo do FlutterFl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0440" y="1965960"/>
            <a:ext cx="2600960" cy="1463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interface do editor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989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45161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Widget Tree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árvore com todos os elementos da tela, um dentro do outro.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9801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379726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Canvas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pré-visualização da tela, no centro.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2039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102102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Painel de propriedades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Tamanho, cor, texto e as ações do widget selecionado.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4276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82447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Widget Palette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componentes que você arrasta para a tela.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Widgets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blocos de construção da tela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Column x Row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38656"/>
            <a:ext cx="4023360" cy="2279904"/>
          </a:xfrm>
          <a:prstGeom prst="roundRect">
            <a:avLst>
              <a:gd name="adj" fmla="val 401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/home/claude/gerador-slides-lions-dev/m11_s13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902" y="1621536"/>
            <a:ext cx="526515" cy="868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581656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Column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93979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Empilha os widgets na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vertical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um embaixo do outro.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438656"/>
            <a:ext cx="4023360" cy="2279904"/>
          </a:xfrm>
          <a:prstGeom prst="roundRect">
            <a:avLst>
              <a:gd name="adj" fmla="val 401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/home/claude/gerador-slides-lions-dev/m11_s13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60" y="1621536"/>
            <a:ext cx="503360" cy="8686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92040" y="2581656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Row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93979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Alinha os widgets na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horizontal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lado a lado.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Widget é todo elemento visual: texto, botão, imagem, lista. Toda tela é uma árvore de widgets.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Stack, Container e AppBar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2008632"/>
            <a:ext cx="2590800" cy="1761744"/>
          </a:xfrm>
          <a:prstGeom prst="roundRect">
            <a:avLst>
              <a:gd name="adj" fmla="val 519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91512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2191512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Stack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667000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Sobrepõe widgets em camadas: um texto em cima de uma imagem.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3276600" y="2008632"/>
            <a:ext cx="2590800" cy="1761744"/>
          </a:xfrm>
          <a:prstGeom prst="roundRect">
            <a:avLst>
              <a:gd name="adj" fmla="val 519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2191512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2191512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Container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2667000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caixa com tamanho, cor, borda e espaçamento.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141720" y="2008632"/>
            <a:ext cx="2590800" cy="1761744"/>
          </a:xfrm>
          <a:prstGeom prst="roundRect">
            <a:avLst>
              <a:gd name="adj" fmla="val 519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19151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2191512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AppBar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2667000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barra fixa no topo, com o título e as ações da página.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 e formulários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Variáveis e estado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3108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81279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Estado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informação que o app guarda enquanto roda: o que muda na tela quando o usuário interage.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5920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740914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Page State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Vale só dentro de uma página, como um filtro de busca.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15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6329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 State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Vale no app inteiro, como o token de login.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Formulários e validação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22146"/>
            <a:ext cx="4023360" cy="2084324"/>
          </a:xfrm>
          <a:prstGeom prst="roundRect">
            <a:avLst>
              <a:gd name="adj" fmla="val 43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502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60502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TextField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080514"/>
            <a:ext cx="3657600" cy="75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Captura o que o usuário digita.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campo vira uma variável: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emailInput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senhaInput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422146"/>
            <a:ext cx="4023360" cy="2084324"/>
          </a:xfrm>
          <a:prstGeom prst="roundRect">
            <a:avLst>
              <a:gd name="adj" fmla="val 43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0502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60502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Validação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080514"/>
            <a:ext cx="3657600" cy="1243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E-mail obrigatório e no formato certo.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Senha com um tamanho mínimo.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Só dispara o POST se estiver tudo válido.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3959352"/>
            <a:ext cx="7863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Nunca confie no que o usuário digita: valide no app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na API. A validação do app melhora a experiência; a da API garante a segurança.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Navegação entre telas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Chamando uma tela em um botão</a:t>
            </a:r>
            <a:endParaRPr lang="en-US" sz="3000" dirty="0"/>
          </a:p>
        </p:txBody>
      </p:sp>
      <p:pic>
        <p:nvPicPr>
          <p:cNvPr id="5" name="Image 0" descr="Chamando uma tela em um bot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395" y="1115568"/>
            <a:ext cx="138849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140395" y="1115568"/>
            <a:ext cx="1388490" cy="365760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2096008"/>
            <a:ext cx="3200400" cy="178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Selecione o botão e abra a aba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Actions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Adicione a ação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Navigate To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escolha a página de destino.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Rode em modo de teste e clique para conferir.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Action Flow Editor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350264"/>
            <a:ext cx="76809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toque pode disparar vários passos em sequência: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76984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758696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Validar o formulário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campos estão preenchidos e no formato certo?</a:t>
            </a:r>
            <a:endParaRPr lang="en-US" sz="1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99360"/>
            <a:ext cx="502920" cy="502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63040" y="2481072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Chamar a API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Dispara a API Call com os dados digitados.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21736"/>
            <a:ext cx="502920" cy="5029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63040" y="320344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Decidir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Deu certo? Mostra sucesso. Deu erro? Mostra a mensagem.</a:t>
            </a:r>
            <a:endParaRPr lang="en-US" sz="1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44112"/>
            <a:ext cx="502920" cy="50292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463040" y="3925824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Navegar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Leva o usuário para a próxima tela.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Atividade: reproduza a tela</a:t>
            </a:r>
            <a:endParaRPr lang="en-US" sz="3000" dirty="0"/>
          </a:p>
        </p:txBody>
      </p:sp>
      <p:pic>
        <p:nvPicPr>
          <p:cNvPr id="5" name="Image 0" descr="Atividade: reproduza a te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729" y="1115568"/>
            <a:ext cx="1681821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993729" y="1115568"/>
            <a:ext cx="1681821" cy="365760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775968"/>
            <a:ext cx="3200400" cy="242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só os widgets que vimos: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AppBar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Column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Row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Container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Comece pela Widget Tree: primeiro a estrutura, depois as cores e os textos.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Mais tarde, esta tela vai receber os dados da sua API.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Integração com a API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fluxo da integração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endpoint à tela, sempre na mesma ordem: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1828800"/>
            <a:ext cx="685800" cy="685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62432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Criar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301752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API Call para o endpoint.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805940" y="2171700"/>
            <a:ext cx="704088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756" y="1828800"/>
            <a:ext cx="685800" cy="6858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203704" y="262432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Configurar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2267712" y="301752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Método, URL, headers e body.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3415284" y="2171700"/>
            <a:ext cx="704088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1828800"/>
            <a:ext cx="685800" cy="685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813048" y="262432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Testar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3877056" y="301752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 o JSON que volta.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024628" y="2171700"/>
            <a:ext cx="704088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8444" y="1828800"/>
            <a:ext cx="685800" cy="6858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22392" y="262432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Mapear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5486400" y="301752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Descrever os campos num Data Type.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633972" y="2171700"/>
            <a:ext cx="704088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7788" y="1828800"/>
            <a:ext cx="685800" cy="6858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031736" y="262432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 Exibir</a:t>
            </a:r>
            <a:endParaRPr lang="en-US" sz="1700" dirty="0"/>
          </a:p>
        </p:txBody>
      </p:sp>
      <p:sp>
        <p:nvSpPr>
          <p:cNvPr id="24" name="Text 16"/>
          <p:cNvSpPr txBox="1"/>
          <p:nvPr/>
        </p:nvSpPr>
        <p:spPr>
          <a:xfrm>
            <a:off x="7095744" y="301752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Ligar os dados aos widgets.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Passos 1 e 2: criar e configurar a API Call</a:t>
            </a:r>
            <a:endParaRPr lang="en-US" sz="2200" dirty="0"/>
          </a:p>
        </p:txBody>
      </p:sp>
      <p:pic>
        <p:nvPicPr>
          <p:cNvPr id="5" name="Image 0" descr="Passos 1 e 2: criar e configurar a API Ca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3608"/>
            <a:ext cx="4937760" cy="24215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733608"/>
            <a:ext cx="4937760" cy="242152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669288"/>
            <a:ext cx="3200400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menu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Calls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crie uma chamada com um nome claro, como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agendamentos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Escolha o método e cole a URL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Render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https://sua-api.onrender.com/...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Rotas protegidas levam o header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[token]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3: testar a rota</a:t>
            </a:r>
            <a:endParaRPr lang="en-US" sz="3000" dirty="0"/>
          </a:p>
        </p:txBody>
      </p:sp>
      <p:pic>
        <p:nvPicPr>
          <p:cNvPr id="5" name="Image 0" descr="Passo 3: testar a ro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52340"/>
            <a:ext cx="4937760" cy="358405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152340"/>
            <a:ext cx="4937760" cy="3584055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989328"/>
            <a:ext cx="3200400" cy="200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aba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Response &amp; Test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clique em Test API Call.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vê exatamente o JSON que a API devolve, antes de ligar na tela.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Deu erro aqui? O problema está na chamada ou na API, não na tela.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4: mapear a resposta</a:t>
            </a:r>
            <a:endParaRPr lang="en-US" sz="3000" dirty="0"/>
          </a:p>
        </p:txBody>
      </p:sp>
      <p:pic>
        <p:nvPicPr>
          <p:cNvPr id="5" name="Image 0" descr="Passo 4: mapear a respos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153" y="1115568"/>
            <a:ext cx="2470974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599153" y="1115568"/>
            <a:ext cx="2470974" cy="365760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882648"/>
            <a:ext cx="3200400" cy="221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Type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os campos que a API devolve.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o nome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exato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 cada campo do JSON e o tipo certo: String, Integer, Boolean.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nome diferente do JSON faz o campo aparecer vazio.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5: exibir na tela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3108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81279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Executar ao abrir a página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 Query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faz o request assim que a tela abre.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Gerar itens dinâmicos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item de exemplo, repetido para cada elemento da lista da API.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15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6329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Ligar os campos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Text mostra um campo do item: nome, data, serviço.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Enviando dados e fazendo login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736852"/>
            <a:ext cx="4023360" cy="2305304"/>
          </a:xfrm>
          <a:prstGeom prst="roundRect">
            <a:avLst>
              <a:gd name="adj" fmla="val 396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19732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91973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 em um botão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395220"/>
            <a:ext cx="3657600" cy="119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formulário monta o body com as variáveis dos campos.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botão dispara a API Call; PUT e DELETE seguem o mesmo caminho.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736852"/>
            <a:ext cx="4023360" cy="2305304"/>
          </a:xfrm>
          <a:prstGeom prst="roundRect">
            <a:avLst>
              <a:gd name="adj" fmla="val 396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919732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91973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 com JWT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395220"/>
            <a:ext cx="3657600" cy="146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devolve o token.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Guarde o token no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 State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(persistido).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Envie no header das rotas protegidas; no logout, limpe.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localhost não existe no celular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app,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o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próprio celular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não o seu computador. A chamada simplesmente falha.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sempre a URL pública do Render, em https.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Lembre do cold start do plano free: a primeira chamada pode demorar. Mostre um indicador de carregamento.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a API precisa aceitar o navegador</a:t>
            </a:r>
            <a:endParaRPr lang="en-US" sz="21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modo de teste web, o navegador bloqueia chamadas para outro domínio se a API não liberar o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CORS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erro aparece no console do navegador como "blocked by CORS policy".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Libere na API com o pacote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antes das rotas.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949956"/>
            <a:ext cx="8046720" cy="755904"/>
          </a:xfrm>
          <a:prstGeom prst="roundRect">
            <a:avLst>
              <a:gd name="adj" fmla="val 967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066999"/>
            <a:ext cx="7754112" cy="52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cors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'cors'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npm install cors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Publicar e boas práticas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24815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3103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4310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Testar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06524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Mode e Run Mode rodam o app no navegador ou no celular.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24815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3103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4310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Publicar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1906524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 com um clique; lojas de app exigem conta de desenvolvedor.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1480" y="2990088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0642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Segurança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594360" y="364845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Nunca deixe um token fixo no app: use App State e headers.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4709160" y="2990088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729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0410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Nomes claros</a:t>
            </a:r>
            <a:endParaRPr lang="en-US" sz="1750" dirty="0"/>
          </a:p>
        </p:txBody>
      </p:sp>
      <p:sp>
        <p:nvSpPr>
          <p:cNvPr id="20" name="Text 13"/>
          <p:cNvSpPr txBox="1"/>
          <p:nvPr/>
        </p:nvSpPr>
        <p:spPr>
          <a:xfrm>
            <a:off x="4892040" y="3648456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Calls, variáveis e páginas com nomes que dizem o que fazem.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Carregando, vazio e erro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tela também precisa funcionar quando a API demora, não tem dados ou falha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quatro estados de uma tela com API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11480" y="1074420"/>
            <a:ext cx="4023360" cy="1403604"/>
          </a:xfrm>
          <a:prstGeom prst="roundRect">
            <a:avLst>
              <a:gd name="adj" fmla="val 651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5730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25730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Carregando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732788"/>
            <a:ext cx="3657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resposta ainda não chegou. O usuário vê um indicador, não uma tela parada.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709160" y="1074420"/>
            <a:ext cx="4023360" cy="1403604"/>
          </a:xfrm>
          <a:prstGeom prst="roundRect">
            <a:avLst>
              <a:gd name="adj" fmla="val 651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5730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25730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Vazio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1732788"/>
            <a:ext cx="36576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Deu certo, mas a lista veio </a:t>
            </a:r>
            <a:r>
              <a:rPr lang="en-US" sz="11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Uma mensagem e um convite: "cadastre o primeiro".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11480" y="2679192"/>
            <a:ext cx="4023360" cy="1403604"/>
          </a:xfrm>
          <a:prstGeom prst="roundRect">
            <a:avLst>
              <a:gd name="adj" fmla="val 651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86207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06424" y="286207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</a:t>
            </a:r>
            <a:endParaRPr lang="en-US" sz="1450" dirty="0"/>
          </a:p>
        </p:txBody>
      </p:sp>
      <p:sp>
        <p:nvSpPr>
          <p:cNvPr id="16" name="Text 10"/>
          <p:cNvSpPr txBox="1"/>
          <p:nvPr/>
        </p:nvSpPr>
        <p:spPr>
          <a:xfrm>
            <a:off x="594360" y="3337560"/>
            <a:ext cx="36576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API respondeu 4xx ou 5xx, ou nem respondeu. A mensagem da API aparece na tela.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709160" y="2679192"/>
            <a:ext cx="4023360" cy="1403604"/>
          </a:xfrm>
          <a:prstGeom prst="roundRect">
            <a:avLst>
              <a:gd name="adj" fmla="val 651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862072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04104" y="286207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Sucesso</a:t>
            </a:r>
            <a:endParaRPr lang="en-US" sz="1450" dirty="0"/>
          </a:p>
        </p:txBody>
      </p:sp>
      <p:sp>
        <p:nvSpPr>
          <p:cNvPr id="20" name="Text 13"/>
          <p:cNvSpPr txBox="1"/>
          <p:nvPr/>
        </p:nvSpPr>
        <p:spPr>
          <a:xfrm>
            <a:off x="4892040" y="3337560"/>
            <a:ext cx="3657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dados na tela: o único estado que a gente costuma testar.</a:t>
            </a:r>
            <a:endParaRPr lang="en-US" sz="1150" dirty="0"/>
          </a:p>
        </p:txBody>
      </p:sp>
      <p:sp>
        <p:nvSpPr>
          <p:cNvPr id="21" name="Text 14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tela que só pensa no sucesso fica em branco, ou travada, nos outros três casos.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Carregando: o Loading Widget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53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60705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Onde fica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Backend Query da ListView (ou da página), abra 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 Query Loading Widget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mostrar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imagem ou um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seu: um indicador de progresso com o texto "Carregando…".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15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6329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 que importa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cold start do Render (Módulo 10): a primeira chamada pode demorar, e tela parada parece app quebrado.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 vazia: o Empty List Widget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53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60705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Onde fica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Selecione a ListView que tem a Backend Query e ligue 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Empty List Widget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mostrar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Component com mensagem e ação: "Nenhum agendamento ainda" e um botão "Criar o primeiro".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15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6329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 de verdade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 usuário novo, sem dados, e abra a tela: é assim que o cliente vê o app no primeiro dia.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 na tela: conferindo a resposta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219456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 w="12700">
            <a:solidFill>
              <a:srgbClr val="1A1A1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Botão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Salvar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783080" y="2606040"/>
            <a:ext cx="365760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2194560" y="214884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 w="12700">
            <a:solidFill>
              <a:srgbClr val="1A1A1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Call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Action Output: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salvarResponse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42232" y="2606040"/>
            <a:ext cx="182880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4343400" y="1920240"/>
            <a:ext cx="2011680" cy="1371600"/>
          </a:xfrm>
          <a:prstGeom prst="diamond">
            <a:avLst>
              <a:gd name="adj" fmla="val 6667"/>
            </a:avLst>
          </a:prstGeom>
          <a:solidFill>
            <a:srgbClr val="1A1A1A"/>
          </a:solidFill>
          <a:ln w="19050">
            <a:solidFill>
              <a:srgbClr val="E16D34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Deu certo?</a:t>
            </a: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r>
              <a:rPr lang="en-US" sz="11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Succeeded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49240" y="1417320"/>
            <a:ext cx="0" cy="50292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49240" y="1417320"/>
            <a:ext cx="758952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349240" y="3291840"/>
            <a:ext cx="0" cy="502920"/>
          </a:xfrm>
          <a:prstGeom prst="line">
            <a:avLst/>
          </a:prstGeom>
          <a:noFill/>
          <a:ln w="25400">
            <a:solidFill>
              <a:srgbClr val="F8514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49240" y="3794760"/>
            <a:ext cx="758952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5440680" y="1097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40680" y="3840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96012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 w="19050">
            <a:solidFill>
              <a:srgbClr val="3FB95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Snack Bar</a:t>
            </a: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"Salvo!"
</a:t>
            </a: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Navigate To</a:t>
            </a: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a lista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33375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 w="19050">
            <a:solidFill>
              <a:srgbClr val="F85149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Snack Bar</a:t>
            </a: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a mensagem da API: </a:t>
            </a: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$.message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365760" y="431596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Depois da API Call: </a:t>
            </a: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Conditional</a:t>
            </a: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→ Action Outputs →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salvarResponse</a:t>
            </a: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→ </a:t>
            </a: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Succeeded</a:t>
            </a: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mensagem mostrar?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243328"/>
            <a:ext cx="5021580" cy="1319784"/>
          </a:xfrm>
          <a:prstGeom prst="roundRect">
            <a:avLst>
              <a:gd name="adj" fmla="val 554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360371"/>
            <a:ext cx="4728972" cy="1085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"email": "ana@email.com", "senha": "errada"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401 Unauthorized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"message": "Email ou senha incorretos." }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1660" y="1489710"/>
            <a:ext cx="3116580" cy="2827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$.message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na Action Output: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Body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o JSON Path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$.message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Code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vem na mesma variável: dá para decidir o que fazer por código.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9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middleware de erro padronizou: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erro da API tem o campo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401 no meio do uso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22376"/>
          </a:xfrm>
          <a:prstGeom prst="roundRect">
            <a:avLst>
              <a:gd name="adj" fmla="val 1012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Quando o token vence, </a:t>
            </a:r>
            <a:r>
              <a:rPr lang="en-US" sz="16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</a:t>
            </a:r>
            <a:r>
              <a:rPr lang="en-US" sz="16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rota protegida responde 401. O app precisa perceber e levar o usuário para o login.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20824"/>
            <a:ext cx="7772400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caminho FALSE, confira 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Status Code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se for 401, limpe o token do App State e navegue para a tela de Login.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Outros erros (400, 404, 409): mostre 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da API e deixe o usuário tentar de novo.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própria tela de login, 401 é só senha errada: ali, basta mostrar a mensagem.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Evitando o clique duplo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1841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165860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 Page State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salvando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do tipo Boolean, começando em false.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8836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865376"/>
            <a:ext cx="7040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Antes da API Call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Action Flow do botão: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Update Page State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→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salvando = true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8117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793492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Depois da resposta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Nos dois caminhos, TRUE e FALSE: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salvando = false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5112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493008"/>
            <a:ext cx="7040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tela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Conditional Visibility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esconda o botão e mostre um indicador de progresso enquanto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salvando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for true.</a:t>
            </a:r>
            <a:endParaRPr lang="en-US" sz="16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isso, dois cliques rápidos viram dois cadastros iguais.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Publicando o app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editor para a internet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Três caminhos para publicar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51890"/>
            <a:ext cx="2590800" cy="2624836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3477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33477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 Publishing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59610"/>
            <a:ext cx="2225040" cy="163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Direto do FlutterFlow, num subdomínio gratuito.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Domínio próprio: a partir do plano Basic.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3276600" y="1151890"/>
            <a:ext cx="2590800" cy="2624836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33477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133477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Baixar o código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1959610"/>
            <a:ext cx="2225040" cy="119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Plano Basic ou superior.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hospeda onde quiser, como no Render.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141720" y="1151890"/>
            <a:ext cx="2590800" cy="2624836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33477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133477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Lojas de apps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1959610"/>
            <a:ext cx="2225040" cy="163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Plano Basic ou superior.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 de desenvolvedor: Google Play e Apple App Store cobram à parte.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640080" y="3959352"/>
            <a:ext cx="7863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plano gratuito dá para aprender, testar e publicar na web. Baixar o código exige plano pago: confira os limites atuais em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flutterflow.io/pricing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Caminho 1: Web Publishing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5041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485900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Abra a publicação web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projeto, vá até as opções de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 Publishing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2037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185416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Escolha o subdomínio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Algo como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meu-app.flutterflow.app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9032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884932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Publique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poucos minutos o app está no ar, com HTTPS.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6027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584448"/>
            <a:ext cx="7040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 com a API real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API Calls precisam apontar para a URL do Render, não para localhost.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Caminho 2: baixando o código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53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60705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Download Code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plano Basic, o FlutterFlow gera um projeto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completo, em Dart, para baixar.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plano Growth, o código pode ir direto para um repositório.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15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6329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vem no projeto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pubspec.yaml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(o "package.json" do Flutter), a pasta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as telas e a pasta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web/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Rodando o código no computador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938528"/>
            <a:ext cx="8321040" cy="1365504"/>
          </a:xfrm>
          <a:prstGeom prst="roundRect">
            <a:avLst>
              <a:gd name="adj" fmla="val 535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2055571"/>
            <a:ext cx="8028432" cy="1131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flutter doctor            # confere a instalação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meu_app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flutter pub get           # instala as dependências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flutter run -d chrome     # roda no navegador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Instale 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 SDK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flutter.dev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get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Flutter.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Gerando a versão web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831848"/>
            <a:ext cx="4023360" cy="2142744"/>
          </a:xfrm>
          <a:prstGeom prst="roundRect">
            <a:avLst>
              <a:gd name="adj" fmla="val 341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948891"/>
            <a:ext cx="3730752" cy="190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flutter build web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build/web/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main.dart.js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assets/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...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821180"/>
            <a:ext cx="4114800" cy="216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build web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compila o app para HTML, CSS e JavaScript.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build/web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um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site estático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pode ser hospedado em qualquer lugar.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essa pasta vira um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Static Site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Render, ao lado da sua API.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do frontend no Render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2755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257300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&gt; Static Site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Conecte o repositório com a pasta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build/web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9751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956816"/>
            <a:ext cx="704088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Publish Directory: build/web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Como a pasta já vem pronta, não precisa de build (se o campo for obrigatório, use um comando simples, como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ok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1318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3113532"/>
            <a:ext cx="7040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Rewrite /* → /index.html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Redirects/Rewrites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sem isso, recarregar uma tela interna dá 404.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599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4041648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app ganha uma URL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.onrender.com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própria, com HTTPS.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arquitetura completa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1554480"/>
            <a:ext cx="685800" cy="685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9436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Usuário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Abre o app no navegador ou no celular.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00710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60" y="1554480"/>
            <a:ext cx="685800" cy="685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60604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267004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Static Site no Render (ou FlutterFlow).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01878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40" y="1554480"/>
            <a:ext cx="685800" cy="685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61772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468172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 Service no Render.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03046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1554480"/>
            <a:ext cx="685800" cy="6858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62940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Banco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669340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 Atlas.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Tudo o que foi construído no curso, conectado: o projeto final do Módulo 12 segue exatamente essa arquitetura.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frontend e API são dois serviços</a:t>
            </a:r>
            <a:endParaRPr lang="en-US" sz="21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 e API em domínios diferentes: a API precisa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liberar a origem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front, senão o navegador bloqueia.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36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Libere a URL do front no CORS da API.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app, a URL base das API Calls é a da API no Render, sempre em https.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plano free os dois dormem: a primeira abertura pode demorar.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470656"/>
            <a:ext cx="8046720" cy="542544"/>
          </a:xfrm>
          <a:prstGeom prst="roundRect">
            <a:avLst>
              <a:gd name="adj" fmla="val 1348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587699"/>
            <a:ext cx="7754112" cy="308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origin: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'https://meu-app.onrender.com'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97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Monte a tela de listagem da atividade anterior.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a API Call para listar os itens da sua API publicada no Render.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 a chamada, crie o Data Type e gere os itens dinâmicos.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Bônus: uma tela de cadastro com POST e uma tela de login com JWT.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318058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5433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327202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 cada API Call na aba Response &amp; Test antes de ligar na tela.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318058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35433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327202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trate os quatro estados: carregando, lista vazia, erro com a message da API e sucesso.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Listas de exercícios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89404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2071116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FlutterFlow: listagem com API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Consumir uma API real e listar os dados.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11780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793492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 com IA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Gerar e adaptar um frontend com ajuda de IA.</a:t>
            </a:r>
            <a:endParaRPr lang="en-US" sz="1650" dirty="0"/>
          </a:p>
        </p:txBody>
      </p:sp>
      <p:sp>
        <p:nvSpPr>
          <p:cNvPr id="9" name="Text 4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repositório: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modulo11/lista_de_exercicios/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telas do flashcards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Fio condutor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no FlutterFlow as telas do flashcards, consumindo a API publicada no Módulo 10.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545336"/>
            <a:ext cx="8138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Login: chame </a:t>
            </a:r>
            <a:r>
              <a:rPr lang="en-US" sz="16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</a:t>
            </a: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guarde o token num App State.</a:t>
            </a:r>
            <a:endParaRPr lang="en-US" sz="165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Baralhos: API Call </a:t>
            </a:r>
            <a:r>
              <a:rPr lang="en-US" sz="16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/api/baralhos</a:t>
            </a: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o header </a:t>
            </a:r>
            <a:r>
              <a:rPr lang="en-US" sz="16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[token]</a:t>
            </a: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Mostre os baralhos numa lista e trate os quatro estados: carregando, vazio, erro e sucesso.</a:t>
            </a:r>
            <a:endParaRPr lang="en-US" sz="1650" dirty="0"/>
          </a:p>
          <a:p>
            <a:pPr algn="l" marL="177800" indent="-177800">
              <a:buSzPct val="100000"/>
              <a:buChar char="●"/>
            </a:pPr>
            <a:r>
              <a:rPr lang="en-US" sz="16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Ao tocar num baralho, abra a tela com os flashcards dele.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02920" y="3739896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41026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3831336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Cuidado: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a URL do Render, não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celular não enxerga o seu computador.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86300" y="3739896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410260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26380" y="3831336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botão para criar baralho, com Snack Bar de sucesso e de erro.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do módulo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170432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QR code para https://github.com/nicolassmotta/curso-lions-dev/tree/main/modulo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07592"/>
            <a:ext cx="2514600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40416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Aponte a câmera do celular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886200" y="11704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github.com/nicolassmotta/curso-lions-dev/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tree/main/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modulo11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96596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416552" y="192024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conteudo/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teoria comentada e o </a:t>
            </a: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cheat sheet</a:t>
            </a: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módulo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642616"/>
            <a:ext cx="384048" cy="3840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416552" y="259689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lista_de_exercicios/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listas para praticar em casa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Fim!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Agora você tem uma aplicação completa: frontend, API e banco de dados.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Lions 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11</dc:title>
  <dc:subject>PptxGenJS Presentation</dc:subject>
  <dc:creator>Nicolas Cardoso Motta</dc:creator>
  <cp:lastModifiedBy>Nicolas Cardoso Motta</cp:lastModifiedBy>
  <cp:revision>1</cp:revision>
  <dcterms:created xsi:type="dcterms:W3CDTF">2026-09-27T23:25:47Z</dcterms:created>
  <dcterms:modified xsi:type="dcterms:W3CDTF">2026-09-27T23:25:47Z</dcterms:modified>
</cp:coreProperties>
</file>