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3 — Desenvolvimento de uma Calculadora em JavaScript com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Revisão de abertura (5 minutos) do Módulo 2. Peça para a turma explicar cada cartão com as próprias palavras antes de você falar.
Termine com a pergunta do rodapé. Resposta esperada: "23" (o + junta textos) e 5. É por isso que a calculadora converte a entrada antes de fazer contas.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do curso: hoje é o Módulo 3 (Calculadora e Clínica Médica). Os módulos com o sinal de visto já passaram; o laranja é o de hoje.
Adiante o próximo passo: o Módulo 4 (Git e GitHub) depende do que a turma aprender hoje.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os objetivos em voz alta. No fim da aula, volte a este slide e peça para cada um dizer qual item já consegue fazer sozinho.
• Entender por que definimos requisitos e escopo antes de programar.
• Planejar o fluxo de execução de um programa interativo com menu.
• Validar os dados de entrada para deixar o programa robusto.
• Construir uma calculadora no terminal com funções, while e switch.
• Aplicar o mesmo processo num segundo projeto: a Clínica Médica.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de transição: leia com calma e deixe a ideia assentar antes do próximo slide.
"No Módulo 2 aprendemos as peças: variáveis, condicionais, laços e funções. Agora vamos juntar tudo no nosso primeiro projeto de verdade."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Transição para "Qual calculadora?". Antes de avançar, faça uma pergunta rápida que ligue o assunto novo ao que a turma já sabe.
Frase de apoio: "Fazer uma calculadora" pode significar muita coisa…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Calculadora básica: operações simples, precisão, facilidade de uso, inteiros e decimais.
Calculadora científica: funções matemáticas, trigonometria, álgebra, estatística, raízes e potências.
Calculadora financeira: juros simples e compostos, valor presente líquido (VPL), com interface clara para inserir dados.
Cada tipo tem requisitos diferentes, e isso muda completamente o nosso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definição de requisitos estabelece as necessidades, funcionalidades e restrições do sistema. Ajuda a garantir que o produto final atenda às expectativas dos usuários e do negócio, e evita retrabalho, atrasos e custos adicionais.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para cada aluno descrever o carro que imaginou: popular, esportivo, elétrico, quantas portas, qual orçamento…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cliente imagina uma Ferrari reluzente, enquanto a equipe trabalha num modesto Fiat Uno. Os dois seguem em frente com suas próprias interpretações de "criar um carro". Sem comunicação clara na definição de requisitos, as partes têm visões muito diferentes do produto final, o que leva a decepções, atrasos e até ao fracasso do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o escopo inicial em operações básicas.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O menu numérico aceita só opções válidas e avisa quando a opção é inválida.
• Se o usuário digitar algo que não é número, o sistema avisa e o resultado não se perde.
• O programa só termina quando o usuário escolhe sair.
• Dá para ver o resultado acumulado sem fazer outra operação.
• A divisão por zero mostra uma mensagem clara.
• Cada operação fica na sua própria função, e o resultado acumula entre as operações.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Transição para "Fluxo de Execução". Antes de avançar, faça uma pergunta rápida que ligue o assunto novo ao que a turma já sabe.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o fluxo da esquerda para a direita:
• Início: resultado = 0
• Menu: Mostra as opções no terminal.
• Lê a opção: O usuário digita com o prompt.
• switch: Executa o que a opção pede.
Mensagem principal: Depois de cada opção, o programa volta ao menu. Isso se repete até o usuário escolher sair.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1 a 5 Operações: Pede um número, valida e atualiza o resultado.
• 6 Ver resultado: Mostra o resultado atual, sem alterar nada.
• 7 Sair: Mostra "Encerrando..." e termina o laço.
• outra Inválida: Avisa que a opção é inválida e volta ao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Interatividade: A cada volta do laço, o usuário vê o menu e decide o que fazer.
• Menu: As opções numéricas (1 a 7) são tratadas no switch.
• Múltiplas operações: O while mantém o programa vivo, operação após operação.
• Resultado persistente: A variável resultado guarda o valor entre as operações, enquanto o programa roda.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Rode os comandos no terminal junto com a turma, um de cada vez.
Destaques:
• menu: aparece de novo a cada volta do laço.
• opção: chega como texto; convertemos com Number().
• resultado: começa em 0 e vai acumulando: 0 + 10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Transição para "Validação dos Dados de Entrada". Antes de avançar, faça uma pergunta rápida que ligue o assunto novo ao que a turma já sabe.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de transição: leia com calma e deixe a ideia assentar antes do próximo slide.
""A validação de dados é a base de uma aplicação confiável e segura. Validar entradas não é apenas uma boa prática: é uma necessidade na programação.""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Deixar a turma responder antes de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pergunte quem já caiu nesse erro antes de ler a resposta.
Resposta: Imprime NaN. E, a partir daí, toda conta com o resultado também dá NaN.
• Number() devolve NaN (Not a Number) quando o texto não é um número.
• O resultado acumulado se perde sem nenhum erro aparecer: é o "NaN silencioso".
• Por isso validamos o valor antes de usá-lo.
Se possível, rode o código para a turma ver o erro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Prevenção de erros: O programa recebe os tipos e formatos que espera, e não tenta fazer contas com texto.
• Robustez: Lida com entradas inesperadas com mensagens úteis, em vez de quebrar.
• Manutenção: Quando algo dá errado, fica fácil saber se o problema foi a entrada.
• Segurança: Dados não validados deixam o sistema vulnerável a erros e ataques.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completa de retornos do typeof na documentação da MDN.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Três passos: ler com o prompt, converter com Number() e testar com isNaN().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pergunte quem já caiu nesse erro antes de ler a resposta.
Resposta: Number("") dá 0, e o isNaN deixa passar.
• Na calculadora, um Enter sem querer soma 0, ou cai na divisão por zero.
• Na clínica, se a opção 0 for "Sair", um Enter vazio fecha o programa.
• Teste o texto antes de converter: entrada.trim() === "".
Se possível, rode o código para a turma ver o erro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Versão opcional, mais robusta que o padrão Number + isNaN usado no código de referência.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versão anterior deste slide usava throw new Error(...). Aqui usamos console.log para ficar alinhado com o código da calculadora; o try/catch aparece nas ferramentas extras do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a estrutura parte por parte e diga para que serve cada uma.
Mensagem principal: Escrever a lógica em português antes, sem se preocupar com a sintaxe, deixa o código muito mais fácil de escrever depois.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Hora de Codar!: combine o tempo, peça para a turma abrir o VS Code e circule pela sala durante as atividades.
Vamos construir a calculadora juntos, passo a passo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Rode os comandos no terminal junto com a turma, um de cada vez.
Destaques:
• npm init -y: cria o package.json.
• prompt-sync: para ler o que o usuário digita.
• "type": "module": o código da aula usa import: adicione essa linha no package.json (lembra do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porcentagem aqui calcula "percentual% do valor". O arquivo calculadora.js do repositório calcula (num1 / num2) * 100, que é "quantos % um número representa do outro", e divide pelo resultado acumulado (Infinity quando ele é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A variável resultado fica fora do laço para não zerar a cada volta. O while repete enquanto a opção for diferente 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pergunte quem já caiu nesse erro antes de ler a resposta.
Resposta: Sem o Number(), a opção é texto: "1" não bate com case 1, e o programa nunca sai.
• O switch compara com ===: valor e tipo.
• E "7" !== 7 é sempre verdadeiro: o while não termina, e tudo cai no default.
Se possível, rode o código para a turma ver o erro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Se não for número, avisa e não mexe no resultado. Os cases 2 e 3 seguem o mesmo modelo, com subtrair e multiplicar.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pergunte quem já caiu nesse erro antes de ler a resposta.
Resposta: Todos os cases dividem o mesmo bloco: let num em dois cases dá SyntaxError.
• Por isso declaramos let num uma única vez, antes do laço.
• Outra saída: colocar chaves { } em volta do código de cada case.
Se possível, rode o código para a turma ver o erro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Uma segunda validação, com else if: primeiro testamos se é número, depois se é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A porcentagem calcula e mostra o valor, sem alterar o resultado acumulado.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Destaques:
• case 6: só mostra o valor acumulado.
• case 7: o while testa op !== 7 e o laço termina.
• default: qualquer outra opção, inclusive texto (que vira 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menu aparece antes de cada "Escolha uma opção" e foi omitido para caber no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A mesma validação se repetia em cinco cases. Uma função resolve de uma vez: é o princípio DRY (Don't Repeat Yourself). A calculadora do Módulo 5 no repositório usa essa 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Arredonde só na hora de mostrar. A variável resultado continua com o valor completo para as próximas contas.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para cada aluno testar todas as linhas da tabela no próprio programa antes de 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(Escopo mínimo): leia o enunciado em voz alta, combine o tempo (15 a 25 minutos, conforme a turma) e circule pela sala.
O projeto só está completo quando todos os itens funcionam:
• Menu numérico que avisa quando a opção é inválida.
• Entrada que não é número gera aviso e não altera o resultado.
• O laço só termina quando o usuário escolhe sair.
• Existe a opção de ver o resultado acumulado.
• A divisão por zero mostra uma mensagem clara.
• Cada operação está na sua própria função, e o resultado acumula entre as operações.
Dica: o código feito em aula está no repositório, em modulo03/exercicios_slides/calculadora.js.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Pitágoras: Hipotenusa a partir de dois catetos: Math.sqrt(a * a + b * b).
• Potência e raiz: Com Math.pow e Math.sqrt.
• Limite e derivada: Aproximações numéricas, com valores cada vez mais próximos do ponto.
• Ideias suas: Média, fatorial, conversão de unidades…
Mensagem principal: Só depois que o escopo mínimo estiver funcionando. Cada extra segue o padrão: função, validação e um case no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Parte 0: aquecimento: Funções, validações e switch em peças soltas.
• Parte 1: complete o código: Validador de número e operações com switch.
• Parte 2: ache o bug: A divisão que devolve Infinity.
• Desafio final: Juntar todos os pedaços numa calculadora completa.
Mensagem principal: No repositório: modulo03/lista_de_exercicios/codigo_calculadora.md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Transição para "Projeto 2: Clínica Médica". Antes de avançar, faça uma pergunta rápida que ligue o assunto novo ao que a turma já sabe.
Frase de apoio: O mesmo processo, agora com arrays e objetos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"Fazer um sistema para uma clínica" pode significar prontuário, receitas, convênios, pagamentos… Por isso definimos antes o que o sistema faz e o que não 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Dentro do escopo: Adicionar consulta (paciente, médico, data e hora) Listar todas as consultas Atualizar uma consulta Cancelar uma consulta Sair do programa
• Fora do escopo: Cadastro separado de médicos e pacientes Salvar em arquivo ou banco de dados Interface gráfica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Destaques:
• consultas: o array que guarda todas as consultas.
• { ... }: cada consulta tem quatro campos: paciente, médico, data e hora.
• push: adiciona a nova consulta no fim do array.
• memória: fechou o programa, os dados somem. Banco de dados fica para o Módulo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o fluxo da esquerda para a direita:
• Início: consultas = []
• Menu: Opções de 0 a 4.
• Lê a opção: Com o prompt.
• if / else if: Executa a ação escolhida.
Mensagem principal: Depois de cada ação, volta ao menu. A opção 0 encerra o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Com let op = 0 e while (op !== 0), o menu nem apareceria. O do...while mostra o menu pelo menos uma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Numeração sugerida para o menu. O enunciado define as opções de 0 a 4, com 0 para sair.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O i + 1 faz a listagem começar em 1, mesmo com o array começando em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os dois lados: "O usuário vê a listagem" x "No código". Pergunte qual diferença chama mais atenção antes de explicar.
Mensagem principal: A listagem começa em 1, mas o array começa em 0: subtraia 1 do número digitado.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Basta uma condição ser verdadeira para a consulta não existir: não é número, é menor que 1 ou é maior que a quantidade de consultas.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Digite o código ao vivo, em vez de colar, e explique linha a linha.
Mensagem principal: O objeto é uma referência: alterar consulta.data já altera o item dentro do array. E o || mantém o valor antigo quando o usuário só aperta Enter (texto vazio é falsy).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(Escopo mínimo): leia o enunciado em voz alta, combine o tempo (15 a 25 minutos, conforme a turma) e circule pela sala.
O projeto só está completo quando todos os itens funcionam:
• Menu numérico que avisa quando a opção é inválida; o laço só termina ao escolher sair.
• Cada consulta é um objeto com paciente, medico, data e hora.
• A listagem mostra as consultas numeradas a partir de 1.
• Sem consultas, a listagem avisa "Nenhuma consulta agendada.".
• Atualizar e cancelar só funcionam com um número que existe; senão, o sistema avisa.
• Depois de cancelar, a consulta não aparece mais na listagem.
Dica: o enunciado completo está no repositório, em modulo03/conteudo/projeto_clinica_medica.md.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Campos obrigatórios: Não aceitar paciente ou médico em branco.
• Horário ocupado: Impedir duas consultas com o mesmo médico, na mesma data e hora.
• Buscas: Consultas de um paciente ou de um dia específico.
• Contador: Quantas consultas cada médico tem.
Mensagem principal: Outras ideias: especialidade do médico, telefone do paciente, status da consulta (agendada, realizada, cancelada).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Pontos para falar:
• Módulo 4: Git e GitHub: Versionar os projetos e colaborar com a equipe.
• Módulo 5: import e export: A calculadora dividida em vários arquivos, uma operação em cada.
• Módulo 6: organização de projetos: A clínica em vários arquivos, com médicos e pacientes cadastrados.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QR code e peça para a turma abrir a pasta modulo03 no celular agora, antes de ir embora.
Lembre o que tem lá: conteudo, exercicios_slides, lista_de_exercicios. O cheat sheet do módulo fica em conteudo/ e resume a aula em duas páginas.
Link: https://github.com/nicolassmotta/curso-lions-dev/tree/main/modulo03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retome os objetivos do começo, abra para dúvidas e lembre onde ficam a lista de exercícios e o material no repositório.
Frase de saída: Bora codar: é programando que se aprende a programar.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8-2.png"/><Relationship Id="rId3" Type="http://schemas.openxmlformats.org/officeDocument/2006/relationships/image" Target="../media/image-4-2.png"/><Relationship Id="rId4" Type="http://schemas.openxmlformats.org/officeDocument/2006/relationships/image" Target="../media/image-8-4.png"/><Relationship Id="rId5" Type="http://schemas.openxmlformats.org/officeDocument/2006/relationships/image" Target="../media/image-3-2.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2.png"/><Relationship Id="rId6" Type="http://schemas.openxmlformats.org/officeDocument/2006/relationships/image" Target="../media/image-3-2.png"/><Relationship Id="rId7" Type="http://schemas.openxmlformats.org/officeDocument/2006/relationships/image" Target="../media/image-3-2.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4-2.png"/><Relationship Id="rId3" Type="http://schemas.openxmlformats.org/officeDocument/2006/relationships/image" Target="../media/image-8-2.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6-2.png"/><Relationship Id="rId3" Type="http://schemas.openxmlformats.org/officeDocument/2006/relationships/image" Target="../media/image-8-2.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3-1.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7-2.png"/><Relationship Id="rId3" Type="http://schemas.openxmlformats.org/officeDocument/2006/relationships/image" Target="../media/image-8-2.png"/><Relationship Id="rId4" Type="http://schemas.openxmlformats.org/officeDocument/2006/relationships/image" Target="../media/image-47-4.png"/><Relationship Id="rId5" Type="http://schemas.openxmlformats.org/officeDocument/2006/relationships/image" Target="../media/image-22-2.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4-2.png"/><Relationship Id="rId3" Type="http://schemas.openxmlformats.org/officeDocument/2006/relationships/image" Target="../media/image-8-2.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5-3.png"/><Relationship Id="rId3" Type="http://schemas.openxmlformats.org/officeDocument/2006/relationships/image" Target="../media/image-58-3.png"/><Relationship Id="rId4" Type="http://schemas.openxmlformats.org/officeDocument/2006/relationships/image" Target="../media/image-45-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47-2.png"/><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45-3.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548640" y="384048"/>
            <a:ext cx="402336" cy="457200"/>
          </a:xfrm>
          <a:prstGeom prst="rect">
            <a:avLst/>
          </a:prstGeom>
        </p:spPr>
      </p:pic>
      <p:sp>
        <p:nvSpPr>
          <p:cNvPr id="4" name="Text 0"/>
          <p:cNvSpPr txBox="1"/>
          <p:nvPr/>
        </p:nvSpPr>
        <p:spPr>
          <a:xfrm>
            <a:off x="1060704" y="384048"/>
            <a:ext cx="2743200" cy="274320"/>
          </a:xfrm>
          <a:prstGeom prst="rect">
            <a:avLst/>
          </a:prstGeom>
          <a:noFill/>
          <a:ln/>
        </p:spPr>
        <p:txBody>
          <a:bodyPr wrap="square" lIns="0" tIns="0" rIns="0" bIns="0" rtlCol="0" anchor="ctr"/>
          <a:lstStyle/>
          <a:p>
            <a:pPr algn="l" indent="0" marL="0">
              <a:buNone/>
            </a:pPr>
            <a:r>
              <a:rPr lang="en-US" sz="1500" b="1" spc="300" kern="0" dirty="0">
                <a:solidFill>
                  <a:srgbClr val="FFFFFF"/>
                </a:solidFill>
                <a:latin typeface="Montserrat" pitchFamily="34" charset="0"/>
                <a:ea typeface="Montserrat" pitchFamily="34" charset="-122"/>
                <a:cs typeface="Montserrat" pitchFamily="34" charset="-120"/>
              </a:rPr>
              <a:t>LIONS</a:t>
            </a:r>
            <a:r>
              <a:rPr lang="en-US" sz="1500" b="1" spc="300" kern="0" dirty="0">
                <a:solidFill>
                  <a:srgbClr val="E16D34"/>
                </a:solidFill>
                <a:latin typeface="Montserrat" pitchFamily="34" charset="0"/>
                <a:ea typeface="Montserrat" pitchFamily="34" charset="-122"/>
                <a:cs typeface="Montserrat" pitchFamily="34" charset="-120"/>
              </a:rPr>
              <a:t>DEV</a:t>
            </a:r>
            <a:endParaRPr lang="en-US" sz="1500" dirty="0"/>
          </a:p>
        </p:txBody>
      </p:sp>
      <p:sp>
        <p:nvSpPr>
          <p:cNvPr id="5" name="Text 1"/>
          <p:cNvSpPr txBox="1"/>
          <p:nvPr/>
        </p:nvSpPr>
        <p:spPr>
          <a:xfrm>
            <a:off x="1060704" y="658368"/>
            <a:ext cx="2743200" cy="201168"/>
          </a:xfrm>
          <a:prstGeom prst="rect">
            <a:avLst/>
          </a:prstGeom>
          <a:noFill/>
          <a:ln/>
        </p:spPr>
        <p:txBody>
          <a:bodyPr wrap="square" lIns="0" tIns="0" rIns="0" bIns="0" rtlCol="0" anchor="ctr"/>
          <a:lstStyle/>
          <a:p>
            <a:pPr indent="0" marL="0">
              <a:buNone/>
            </a:pPr>
            <a:r>
              <a:rPr lang="en-US" sz="950" dirty="0">
                <a:solidFill>
                  <a:srgbClr val="9CA3AF"/>
                </a:solidFill>
                <a:latin typeface="Helvetica Neue" pitchFamily="34" charset="0"/>
                <a:ea typeface="Helvetica Neue" pitchFamily="34" charset="-122"/>
                <a:cs typeface="Helvetica Neue" pitchFamily="34" charset="-120"/>
              </a:rPr>
              <a:t>Curso de Programação</a:t>
            </a:r>
            <a:endParaRPr lang="en-US" sz="950" dirty="0"/>
          </a:p>
        </p:txBody>
      </p:sp>
      <p:pic>
        <p:nvPicPr>
          <p:cNvPr id="6" name="Image 1" descr="Símbolo Lions Dev em degradê">    </p:cNvPr>
          <p:cNvPicPr>
            <a:picLocks noChangeAspect="1"/>
          </p:cNvPicPr>
          <p:nvPr/>
        </p:nvPicPr>
        <p:blipFill>
          <a:blip r:embed="rId3"/>
          <a:stretch>
            <a:fillRect/>
          </a:stretch>
        </p:blipFill>
        <p:spPr>
          <a:xfrm>
            <a:off x="5257800" y="601047"/>
            <a:ext cx="3520440" cy="4000841"/>
          </a:xfrm>
          <a:prstGeom prst="rect">
            <a:avLst/>
          </a:prstGeom>
        </p:spPr>
      </p:pic>
      <p:sp>
        <p:nvSpPr>
          <p:cNvPr id="7" name="Text 2"/>
          <p:cNvSpPr txBox="1"/>
          <p:nvPr/>
        </p:nvSpPr>
        <p:spPr>
          <a:xfrm>
            <a:off x="548640" y="1572768"/>
            <a:ext cx="4389120" cy="320040"/>
          </a:xfrm>
          <a:prstGeom prst="rect">
            <a:avLst/>
          </a:prstGeom>
          <a:noFill/>
          <a:ln/>
        </p:spPr>
        <p:txBody>
          <a:bodyPr wrap="square" lIns="0" tIns="0" rIns="0" bIns="0" rtlCol="0" anchor="ctr"/>
          <a:lstStyle/>
          <a:p>
            <a:pPr indent="0" marL="0">
              <a:buNone/>
            </a:pPr>
            <a:r>
              <a:rPr lang="en-US" sz="1300" b="1" spc="400" kern="0" dirty="0">
                <a:solidFill>
                  <a:srgbClr val="E16D34"/>
                </a:solidFill>
                <a:latin typeface="Montserrat" pitchFamily="34" charset="0"/>
                <a:ea typeface="Montserrat" pitchFamily="34" charset="-122"/>
                <a:cs typeface="Montserrat" pitchFamily="34" charset="-120"/>
              </a:rPr>
              <a:t>MÓDULO 3</a:t>
            </a:r>
            <a:endParaRPr lang="en-US" sz="1300" dirty="0"/>
          </a:p>
        </p:txBody>
      </p:sp>
      <p:sp>
        <p:nvSpPr>
          <p:cNvPr id="8" name="Text 3"/>
          <p:cNvSpPr txBox="1"/>
          <p:nvPr/>
        </p:nvSpPr>
        <p:spPr>
          <a:xfrm>
            <a:off x="548640" y="1938528"/>
            <a:ext cx="4663440" cy="2240280"/>
          </a:xfrm>
          <a:prstGeom prst="rect">
            <a:avLst/>
          </a:prstGeom>
          <a:noFill/>
          <a:ln/>
        </p:spPr>
        <p:txBody>
          <a:bodyPr wrap="square" lIns="0" tIns="0" rIns="0" bIns="0" rtlCol="0" anchor="t"/>
          <a:lstStyle/>
          <a:p>
            <a:pPr algn="l" indent="0" marL="0">
              <a:buNone/>
            </a:pPr>
            <a:r>
              <a:rPr lang="en-US" sz="3600" b="1" dirty="0">
                <a:solidFill>
                  <a:srgbClr val="FFFFFF"/>
                </a:solidFill>
                <a:latin typeface="Montserrat" pitchFamily="34" charset="0"/>
                <a:ea typeface="Montserrat" pitchFamily="34" charset="-122"/>
                <a:cs typeface="Montserrat" pitchFamily="34" charset="-120"/>
              </a:rPr>
              <a:t>Desenvolvimento</a:t>
            </a:r>
            <a:endParaRPr lang="en-US" sz="3600" dirty="0"/>
          </a:p>
          <a:p>
            <a:pPr algn="l" indent="0" marL="0">
              <a:buNone/>
            </a:pPr>
            <a:r>
              <a:rPr lang="en-US" sz="3600" b="1" dirty="0">
                <a:solidFill>
                  <a:srgbClr val="FFFFFF"/>
                </a:solidFill>
                <a:latin typeface="Montserrat" pitchFamily="34" charset="0"/>
                <a:ea typeface="Montserrat" pitchFamily="34" charset="-122"/>
                <a:cs typeface="Montserrat" pitchFamily="34" charset="-120"/>
              </a:rPr>
              <a:t>de uma</a:t>
            </a:r>
            <a:endParaRPr lang="en-US" sz="3600" dirty="0"/>
          </a:p>
          <a:p>
            <a:pPr algn="l" indent="0" marL="0">
              <a:buNone/>
            </a:pPr>
            <a:r>
              <a:rPr lang="en-US" sz="3600" b="1" dirty="0">
                <a:solidFill>
                  <a:srgbClr val="FFFFFF"/>
                </a:solidFill>
                <a:latin typeface="Montserrat" pitchFamily="34" charset="0"/>
                <a:ea typeface="Montserrat" pitchFamily="34" charset="-122"/>
                <a:cs typeface="Montserrat" pitchFamily="34" charset="-120"/>
              </a:rPr>
              <a:t>Calculadora</a:t>
            </a:r>
            <a:endParaRPr lang="en-US" sz="3600" dirty="0"/>
          </a:p>
        </p:txBody>
      </p:sp>
      <p:sp>
        <p:nvSpPr>
          <p:cNvPr id="9" name="Text 4"/>
          <p:cNvSpPr txBox="1"/>
          <p:nvPr/>
        </p:nvSpPr>
        <p:spPr>
          <a:xfrm>
            <a:off x="548640" y="4434840"/>
            <a:ext cx="4114800" cy="274320"/>
          </a:xfrm>
          <a:prstGeom prst="rect">
            <a:avLst/>
          </a:prstGeom>
          <a:noFill/>
          <a:ln/>
        </p:spPr>
        <p:txBody>
          <a:bodyPr wrap="square" lIns="0" tIns="0" rIns="0" bIns="0" rtlCol="0" anchor="ctr"/>
          <a:lstStyle/>
          <a:p>
            <a:pPr indent="0" marL="0">
              <a:buNone/>
            </a:pPr>
            <a:r>
              <a:rPr lang="en-US" sz="1100" dirty="0">
                <a:solidFill>
                  <a:srgbClr val="9CA3AF"/>
                </a:solidFill>
                <a:latin typeface="Helvetica Neue" pitchFamily="34" charset="0"/>
                <a:ea typeface="Helvetica Neue" pitchFamily="34" charset="-122"/>
                <a:cs typeface="Helvetica Neue" pitchFamily="34" charset="-120"/>
              </a:rPr>
              <a:t>Professor Nicolas Cardoso Motta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137160" y="109728"/>
            <a:ext cx="1325880" cy="274320"/>
          </a:xfrm>
          <a:prstGeom prst="rect">
            <a:avLst/>
          </a:prstGeom>
          <a:noFill/>
          <a:ln w="12700">
            <a:solidFill>
              <a:srgbClr val="E16D34"/>
            </a:solidFill>
          </a:ln>
        </p:spPr>
        <p:txBody>
          <a:bodyPr wrap="square" lIns="0" tIns="0" rIns="0" bIns="0" rtlCol="0" anchor="ctr"/>
          <a:lstStyle/>
          <a:p>
            <a:pPr algn="ctr" indent="0" marL="0">
              <a:buNone/>
            </a:pPr>
            <a:r>
              <a:rPr lang="en-US" sz="1100" b="1" dirty="0">
                <a:solidFill>
                  <a:srgbClr val="E16D34"/>
                </a:solidFill>
                <a:latin typeface="Helvetica Neue" pitchFamily="34" charset="0"/>
                <a:ea typeface="Helvetica Neue" pitchFamily="34" charset="-122"/>
                <a:cs typeface="Helvetica Neue" pitchFamily="34" charset="-120"/>
              </a:rPr>
              <a:t>Revisando…</a:t>
            </a:r>
            <a:endParaRPr lang="en-US" sz="1100" dirty="0"/>
          </a:p>
        </p:txBody>
      </p:sp>
      <p:sp>
        <p:nvSpPr>
          <p:cNvPr id="5" name="Text 2"/>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Revisando o Módulo 2</a:t>
            </a:r>
            <a:endParaRPr lang="en-US" sz="3000" dirty="0"/>
          </a:p>
        </p:txBody>
      </p:sp>
      <p:sp>
        <p:nvSpPr>
          <p:cNvPr id="6" name="Shape 3"/>
          <p:cNvSpPr/>
          <p:nvPr/>
        </p:nvSpPr>
        <p:spPr>
          <a:xfrm>
            <a:off x="411480" y="1493520"/>
            <a:ext cx="2590800" cy="2398776"/>
          </a:xfrm>
          <a:prstGeom prst="roundRect">
            <a:avLst>
              <a:gd name="adj" fmla="val 3812"/>
            </a:avLst>
          </a:prstGeom>
          <a:solidFill>
            <a:srgbClr val="1A1A1A"/>
          </a:solidFill>
          <a:ln w="6350">
            <a:solidFill>
              <a:srgbClr val="1A1A1A"/>
            </a:solidFill>
            <a:prstDash val="solid"/>
          </a:ln>
        </p:spPr>
      </p:sp>
      <p:pic>
        <p:nvPicPr>
          <p:cNvPr id="7" name="Image 0" descr="preencoded.png">    </p:cNvPr>
          <p:cNvPicPr>
            <a:picLocks noChangeAspect="1"/>
          </p:cNvPicPr>
          <p:nvPr/>
        </p:nvPicPr>
        <p:blipFill>
          <a:blip r:embed="rId2"/>
          <a:stretch>
            <a:fillRect/>
          </a:stretch>
        </p:blipFill>
        <p:spPr>
          <a:xfrm>
            <a:off x="594360" y="1676400"/>
            <a:ext cx="384048" cy="384048"/>
          </a:xfrm>
          <a:prstGeom prst="rect">
            <a:avLst/>
          </a:prstGeom>
        </p:spPr>
      </p:pic>
      <p:sp>
        <p:nvSpPr>
          <p:cNvPr id="8" name="Text 4"/>
          <p:cNvSpPr txBox="1"/>
          <p:nvPr/>
        </p:nvSpPr>
        <p:spPr>
          <a:xfrm>
            <a:off x="1106424" y="1676400"/>
            <a:ext cx="1712976" cy="533400"/>
          </a:xfrm>
          <a:prstGeom prst="rect">
            <a:avLst/>
          </a:prstGeom>
          <a:noFill/>
          <a:ln/>
        </p:spPr>
        <p:txBody>
          <a:bodyPr wrap="square" lIns="0" tIns="0" rIns="0" bIns="0" rtlCol="0" anchor="ctr"/>
          <a:lstStyle/>
          <a:p>
            <a:pPr algn="l" indent="0" marL="0">
              <a:buNone/>
            </a:pPr>
            <a:r>
              <a:rPr lang="en-US" sz="1750" b="1" dirty="0">
                <a:solidFill>
                  <a:srgbClr val="E16D34"/>
                </a:solidFill>
                <a:latin typeface="Helvetica Neue" pitchFamily="34" charset="0"/>
                <a:ea typeface="Helvetica Neue" pitchFamily="34" charset="-122"/>
                <a:cs typeface="Helvetica Neue" pitchFamily="34" charset="-120"/>
              </a:rPr>
              <a:t>Variáveis e tipos</a:t>
            </a:r>
            <a:endParaRPr lang="en-US" sz="1750" dirty="0"/>
          </a:p>
        </p:txBody>
      </p:sp>
      <p:sp>
        <p:nvSpPr>
          <p:cNvPr id="9" name="Text 5"/>
          <p:cNvSpPr txBox="1"/>
          <p:nvPr/>
        </p:nvSpPr>
        <p:spPr>
          <a:xfrm>
            <a:off x="594360" y="2301240"/>
            <a:ext cx="2225040" cy="1141476"/>
          </a:xfrm>
          <a:prstGeom prst="rect">
            <a:avLst/>
          </a:prstGeom>
          <a:noFill/>
          <a:ln/>
        </p:spPr>
        <p:txBody>
          <a:bodyPr wrap="square" lIns="0" tIns="0" rIns="0" bIns="0" rtlCol="0" anchor="t"/>
          <a:lstStyle/>
          <a:p>
            <a:pPr algn="l" indent="0" marL="0">
              <a:buNone/>
            </a:pPr>
            <a:r>
              <a:rPr lang="en-US" sz="1450" b="1" dirty="0">
                <a:solidFill>
                  <a:srgbClr val="F7A072"/>
                </a:solidFill>
                <a:latin typeface="Courier New" pitchFamily="34" charset="0"/>
                <a:ea typeface="Courier New" pitchFamily="34" charset="-122"/>
                <a:cs typeface="Courier New" pitchFamily="34" charset="-120"/>
              </a:rPr>
              <a:t>let</a:t>
            </a:r>
            <a:r>
              <a:rPr lang="en-US" sz="1450" b="1" dirty="0">
                <a:solidFill>
                  <a:srgbClr val="E6E6E6"/>
                </a:solidFill>
                <a:latin typeface="Helvetica Neue" pitchFamily="34" charset="0"/>
                <a:ea typeface="Helvetica Neue" pitchFamily="34" charset="-122"/>
                <a:cs typeface="Helvetica Neue" pitchFamily="34" charset="-120"/>
              </a:rPr>
              <a:t> muda, </a:t>
            </a:r>
            <a:r>
              <a:rPr lang="en-US" sz="1450" b="1" dirty="0">
                <a:solidFill>
                  <a:srgbClr val="F7A072"/>
                </a:solidFill>
                <a:latin typeface="Courier New" pitchFamily="34" charset="0"/>
                <a:ea typeface="Courier New" pitchFamily="34" charset="-122"/>
                <a:cs typeface="Courier New" pitchFamily="34" charset="-120"/>
              </a:rPr>
              <a:t>const</a:t>
            </a:r>
            <a:r>
              <a:rPr lang="en-US" sz="1450" b="1" dirty="0">
                <a:solidFill>
                  <a:srgbClr val="E6E6E6"/>
                </a:solidFill>
                <a:latin typeface="Helvetica Neue" pitchFamily="34" charset="0"/>
                <a:ea typeface="Helvetica Neue" pitchFamily="34" charset="-122"/>
                <a:cs typeface="Helvetica Neue" pitchFamily="34" charset="-120"/>
              </a:rPr>
              <a:t> não. Tudo que vem do </a:t>
            </a:r>
            <a:r>
              <a:rPr lang="en-US" sz="1450" b="1" dirty="0">
                <a:solidFill>
                  <a:srgbClr val="F7A072"/>
                </a:solidFill>
                <a:latin typeface="Courier New" pitchFamily="34" charset="0"/>
                <a:ea typeface="Courier New" pitchFamily="34" charset="-122"/>
                <a:cs typeface="Courier New" pitchFamily="34" charset="-120"/>
              </a:rPr>
              <a:t>prompt</a:t>
            </a:r>
            <a:r>
              <a:rPr lang="en-US" sz="1450" b="1" dirty="0">
                <a:solidFill>
                  <a:srgbClr val="E6E6E6"/>
                </a:solidFill>
                <a:latin typeface="Helvetica Neue" pitchFamily="34" charset="0"/>
                <a:ea typeface="Helvetica Neue" pitchFamily="34" charset="-122"/>
                <a:cs typeface="Helvetica Neue" pitchFamily="34" charset="-120"/>
              </a:rPr>
              <a:t> é </a:t>
            </a:r>
            <a:r>
              <a:rPr lang="en-US" sz="1450" b="1" dirty="0">
                <a:solidFill>
                  <a:srgbClr val="FFFFFF"/>
                </a:solidFill>
                <a:latin typeface="Helvetica Neue" pitchFamily="34" charset="0"/>
                <a:ea typeface="Helvetica Neue" pitchFamily="34" charset="-122"/>
                <a:cs typeface="Helvetica Neue" pitchFamily="34" charset="-120"/>
              </a:rPr>
              <a:t>texto</a:t>
            </a:r>
            <a:r>
              <a:rPr lang="en-US" sz="1450" b="1" dirty="0">
                <a:solidFill>
                  <a:srgbClr val="E6E6E6"/>
                </a:solidFill>
                <a:latin typeface="Helvetica Neue" pitchFamily="34" charset="0"/>
                <a:ea typeface="Helvetica Neue" pitchFamily="34" charset="-122"/>
                <a:cs typeface="Helvetica Neue" pitchFamily="34" charset="-120"/>
              </a:rPr>
              <a:t>: converta com </a:t>
            </a:r>
            <a:r>
              <a:rPr lang="en-US" sz="1450" b="1" dirty="0">
                <a:solidFill>
                  <a:srgbClr val="F7A072"/>
                </a:solidFill>
                <a:latin typeface="Courier New" pitchFamily="34" charset="0"/>
                <a:ea typeface="Courier New" pitchFamily="34" charset="-122"/>
                <a:cs typeface="Courier New" pitchFamily="34" charset="-120"/>
              </a:rPr>
              <a:t>Number()</a:t>
            </a:r>
            <a:r>
              <a:rPr lang="en-US" sz="1450" b="1" dirty="0">
                <a:solidFill>
                  <a:srgbClr val="E6E6E6"/>
                </a:solidFill>
                <a:latin typeface="Helvetica Neue" pitchFamily="34" charset="0"/>
                <a:ea typeface="Helvetica Neue" pitchFamily="34" charset="-122"/>
                <a:cs typeface="Helvetica Neue" pitchFamily="34" charset="-120"/>
              </a:rPr>
              <a:t>.</a:t>
            </a:r>
            <a:endParaRPr lang="en-US" sz="1450" dirty="0"/>
          </a:p>
        </p:txBody>
      </p:sp>
      <p:sp>
        <p:nvSpPr>
          <p:cNvPr id="10" name="Shape 6"/>
          <p:cNvSpPr/>
          <p:nvPr/>
        </p:nvSpPr>
        <p:spPr>
          <a:xfrm>
            <a:off x="3276600" y="1493520"/>
            <a:ext cx="2590800" cy="2398776"/>
          </a:xfrm>
          <a:prstGeom prst="roundRect">
            <a:avLst>
              <a:gd name="adj" fmla="val 3812"/>
            </a:avLst>
          </a:prstGeom>
          <a:solidFill>
            <a:srgbClr val="1A1A1A"/>
          </a:solidFill>
          <a:ln w="6350">
            <a:solidFill>
              <a:srgbClr val="1A1A1A"/>
            </a:solidFill>
            <a:prstDash val="solid"/>
          </a:ln>
        </p:spPr>
      </p:sp>
      <p:pic>
        <p:nvPicPr>
          <p:cNvPr id="11" name="Image 1" descr="preencoded.png">    </p:cNvPr>
          <p:cNvPicPr>
            <a:picLocks noChangeAspect="1"/>
          </p:cNvPicPr>
          <p:nvPr/>
        </p:nvPicPr>
        <p:blipFill>
          <a:blip r:embed="rId3"/>
          <a:stretch>
            <a:fillRect/>
          </a:stretch>
        </p:blipFill>
        <p:spPr>
          <a:xfrm>
            <a:off x="3459480" y="1676400"/>
            <a:ext cx="384048" cy="384048"/>
          </a:xfrm>
          <a:prstGeom prst="rect">
            <a:avLst/>
          </a:prstGeom>
        </p:spPr>
      </p:pic>
      <p:sp>
        <p:nvSpPr>
          <p:cNvPr id="12" name="Text 7"/>
          <p:cNvSpPr txBox="1"/>
          <p:nvPr/>
        </p:nvSpPr>
        <p:spPr>
          <a:xfrm>
            <a:off x="3971544" y="1676400"/>
            <a:ext cx="1712976" cy="533400"/>
          </a:xfrm>
          <a:prstGeom prst="rect">
            <a:avLst/>
          </a:prstGeom>
          <a:noFill/>
          <a:ln/>
        </p:spPr>
        <p:txBody>
          <a:bodyPr wrap="square" lIns="0" tIns="0" rIns="0" bIns="0" rtlCol="0" anchor="ctr"/>
          <a:lstStyle/>
          <a:p>
            <a:pPr algn="l" indent="0" marL="0">
              <a:buNone/>
            </a:pPr>
            <a:r>
              <a:rPr lang="en-US" sz="1750" b="1" dirty="0">
                <a:solidFill>
                  <a:srgbClr val="FFFFFF"/>
                </a:solidFill>
                <a:latin typeface="Helvetica Neue" pitchFamily="34" charset="0"/>
                <a:ea typeface="Helvetica Neue" pitchFamily="34" charset="-122"/>
                <a:cs typeface="Helvetica Neue" pitchFamily="34" charset="-120"/>
              </a:rPr>
              <a:t>Decisão e repetição</a:t>
            </a:r>
            <a:endParaRPr lang="en-US" sz="1750" dirty="0"/>
          </a:p>
        </p:txBody>
      </p:sp>
      <p:sp>
        <p:nvSpPr>
          <p:cNvPr id="13" name="Text 8"/>
          <p:cNvSpPr txBox="1"/>
          <p:nvPr/>
        </p:nvSpPr>
        <p:spPr>
          <a:xfrm>
            <a:off x="3459480" y="2301240"/>
            <a:ext cx="2225040" cy="1141476"/>
          </a:xfrm>
          <a:prstGeom prst="rect">
            <a:avLst/>
          </a:prstGeom>
          <a:noFill/>
          <a:ln/>
        </p:spPr>
        <p:txBody>
          <a:bodyPr wrap="square" lIns="0" tIns="0" rIns="0" bIns="0" rtlCol="0" anchor="t"/>
          <a:lstStyle/>
          <a:p>
            <a:pPr algn="l" indent="0" marL="0">
              <a:buNone/>
            </a:pPr>
            <a:r>
              <a:rPr lang="en-US" sz="1450" b="1" dirty="0">
                <a:solidFill>
                  <a:srgbClr val="F7A072"/>
                </a:solidFill>
                <a:latin typeface="Courier New" pitchFamily="34" charset="0"/>
                <a:ea typeface="Courier New" pitchFamily="34" charset="-122"/>
                <a:cs typeface="Courier New" pitchFamily="34" charset="-120"/>
              </a:rPr>
              <a:t>if</a:t>
            </a:r>
            <a:r>
              <a:rPr lang="en-US" sz="1450" b="1" dirty="0">
                <a:solidFill>
                  <a:srgbClr val="E6E6E6"/>
                </a:solidFill>
                <a:latin typeface="Helvetica Neue" pitchFamily="34" charset="0"/>
                <a:ea typeface="Helvetica Neue" pitchFamily="34" charset="-122"/>
                <a:cs typeface="Helvetica Neue" pitchFamily="34" charset="-120"/>
              </a:rPr>
              <a:t>/</a:t>
            </a:r>
            <a:r>
              <a:rPr lang="en-US" sz="1450" b="1" dirty="0">
                <a:solidFill>
                  <a:srgbClr val="F7A072"/>
                </a:solidFill>
                <a:latin typeface="Courier New" pitchFamily="34" charset="0"/>
                <a:ea typeface="Courier New" pitchFamily="34" charset="-122"/>
                <a:cs typeface="Courier New" pitchFamily="34" charset="-120"/>
              </a:rPr>
              <a:t>else</a:t>
            </a:r>
            <a:r>
              <a:rPr lang="en-US" sz="1450" b="1" dirty="0">
                <a:solidFill>
                  <a:srgbClr val="E6E6E6"/>
                </a:solidFill>
                <a:latin typeface="Helvetica Neue" pitchFamily="34" charset="0"/>
                <a:ea typeface="Helvetica Neue" pitchFamily="34" charset="-122"/>
                <a:cs typeface="Helvetica Neue" pitchFamily="34" charset="-120"/>
              </a:rPr>
              <a:t>, </a:t>
            </a:r>
            <a:r>
              <a:rPr lang="en-US" sz="1450" b="1" dirty="0">
                <a:solidFill>
                  <a:srgbClr val="F7A072"/>
                </a:solidFill>
                <a:latin typeface="Courier New" pitchFamily="34" charset="0"/>
                <a:ea typeface="Courier New" pitchFamily="34" charset="-122"/>
                <a:cs typeface="Courier New" pitchFamily="34" charset="-120"/>
              </a:rPr>
              <a:t>switch</a:t>
            </a:r>
            <a:r>
              <a:rPr lang="en-US" sz="1450" b="1" dirty="0">
                <a:solidFill>
                  <a:srgbClr val="E6E6E6"/>
                </a:solidFill>
                <a:latin typeface="Helvetica Neue" pitchFamily="34" charset="0"/>
                <a:ea typeface="Helvetica Neue" pitchFamily="34" charset="-122"/>
                <a:cs typeface="Helvetica Neue" pitchFamily="34" charset="-120"/>
              </a:rPr>
              <a:t>, </a:t>
            </a:r>
            <a:r>
              <a:rPr lang="en-US" sz="1450" b="1" dirty="0">
                <a:solidFill>
                  <a:srgbClr val="F7A072"/>
                </a:solidFill>
                <a:latin typeface="Courier New" pitchFamily="34" charset="0"/>
                <a:ea typeface="Courier New" pitchFamily="34" charset="-122"/>
                <a:cs typeface="Courier New" pitchFamily="34" charset="-120"/>
              </a:rPr>
              <a:t>for</a:t>
            </a:r>
            <a:r>
              <a:rPr lang="en-US" sz="1450" b="1" dirty="0">
                <a:solidFill>
                  <a:srgbClr val="E6E6E6"/>
                </a:solidFill>
                <a:latin typeface="Helvetica Neue" pitchFamily="34" charset="0"/>
                <a:ea typeface="Helvetica Neue" pitchFamily="34" charset="-122"/>
                <a:cs typeface="Helvetica Neue" pitchFamily="34" charset="-120"/>
              </a:rPr>
              <a:t> e </a:t>
            </a:r>
            <a:r>
              <a:rPr lang="en-US" sz="1450" b="1" dirty="0">
                <a:solidFill>
                  <a:srgbClr val="F7A072"/>
                </a:solidFill>
                <a:latin typeface="Courier New" pitchFamily="34" charset="0"/>
                <a:ea typeface="Courier New" pitchFamily="34" charset="-122"/>
                <a:cs typeface="Courier New" pitchFamily="34" charset="-120"/>
              </a:rPr>
              <a:t>while</a:t>
            </a:r>
            <a:r>
              <a:rPr lang="en-US" sz="1450" b="1" dirty="0">
                <a:solidFill>
                  <a:srgbClr val="E6E6E6"/>
                </a:solidFill>
                <a:latin typeface="Helvetica Neue" pitchFamily="34" charset="0"/>
                <a:ea typeface="Helvetica Neue" pitchFamily="34" charset="-122"/>
                <a:cs typeface="Helvetica Neue" pitchFamily="34" charset="-120"/>
              </a:rPr>
              <a:t> controlam o caminho do programa.</a:t>
            </a:r>
            <a:endParaRPr lang="en-US" sz="1450" dirty="0"/>
          </a:p>
        </p:txBody>
      </p:sp>
      <p:sp>
        <p:nvSpPr>
          <p:cNvPr id="14" name="Shape 9"/>
          <p:cNvSpPr/>
          <p:nvPr/>
        </p:nvSpPr>
        <p:spPr>
          <a:xfrm>
            <a:off x="6141720" y="1493520"/>
            <a:ext cx="2590800" cy="2398776"/>
          </a:xfrm>
          <a:prstGeom prst="roundRect">
            <a:avLst>
              <a:gd name="adj" fmla="val 3812"/>
            </a:avLst>
          </a:prstGeom>
          <a:solidFill>
            <a:srgbClr val="1A1A1A"/>
          </a:solidFill>
          <a:ln w="6350">
            <a:solidFill>
              <a:srgbClr val="1A1A1A"/>
            </a:solidFill>
            <a:prstDash val="solid"/>
          </a:ln>
        </p:spPr>
      </p:sp>
      <p:pic>
        <p:nvPicPr>
          <p:cNvPr id="15" name="Image 2" descr="preencoded.png">    </p:cNvPr>
          <p:cNvPicPr>
            <a:picLocks noChangeAspect="1"/>
          </p:cNvPicPr>
          <p:nvPr/>
        </p:nvPicPr>
        <p:blipFill>
          <a:blip r:embed="rId4"/>
          <a:stretch>
            <a:fillRect/>
          </a:stretch>
        </p:blipFill>
        <p:spPr>
          <a:xfrm>
            <a:off x="6324600" y="1676400"/>
            <a:ext cx="384048" cy="384048"/>
          </a:xfrm>
          <a:prstGeom prst="rect">
            <a:avLst/>
          </a:prstGeom>
        </p:spPr>
      </p:pic>
      <p:sp>
        <p:nvSpPr>
          <p:cNvPr id="16" name="Text 10"/>
          <p:cNvSpPr txBox="1"/>
          <p:nvPr/>
        </p:nvSpPr>
        <p:spPr>
          <a:xfrm>
            <a:off x="6836664" y="1676400"/>
            <a:ext cx="1712976" cy="800100"/>
          </a:xfrm>
          <a:prstGeom prst="rect">
            <a:avLst/>
          </a:prstGeom>
          <a:noFill/>
          <a:ln/>
        </p:spPr>
        <p:txBody>
          <a:bodyPr wrap="square" lIns="0" tIns="0" rIns="0" bIns="0" rtlCol="0" anchor="ctr"/>
          <a:lstStyle/>
          <a:p>
            <a:pPr algn="l" indent="0" marL="0">
              <a:buNone/>
            </a:pPr>
            <a:r>
              <a:rPr lang="en-US" sz="1750" b="1" dirty="0">
                <a:solidFill>
                  <a:srgbClr val="F7A072"/>
                </a:solidFill>
                <a:latin typeface="Helvetica Neue" pitchFamily="34" charset="0"/>
                <a:ea typeface="Helvetica Neue" pitchFamily="34" charset="-122"/>
                <a:cs typeface="Helvetica Neue" pitchFamily="34" charset="-120"/>
              </a:rPr>
              <a:t>Arrays, objetos e funções</a:t>
            </a:r>
            <a:endParaRPr lang="en-US" sz="1750" dirty="0"/>
          </a:p>
        </p:txBody>
      </p:sp>
      <p:sp>
        <p:nvSpPr>
          <p:cNvPr id="17" name="Text 11"/>
          <p:cNvSpPr txBox="1"/>
          <p:nvPr/>
        </p:nvSpPr>
        <p:spPr>
          <a:xfrm>
            <a:off x="6324600" y="2567940"/>
            <a:ext cx="2225040" cy="114147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Listas, fichas com chaves e blocos com nome que recebem e devolvem valores.</a:t>
            </a:r>
            <a:endParaRPr lang="en-US" sz="1450" dirty="0"/>
          </a:p>
        </p:txBody>
      </p:sp>
      <p:sp>
        <p:nvSpPr>
          <p:cNvPr id="18" name="Text 12"/>
          <p:cNvSpPr txBox="1"/>
          <p:nvPr/>
        </p:nvSpPr>
        <p:spPr>
          <a:xfrm>
            <a:off x="640080" y="4416552"/>
            <a:ext cx="7863840" cy="338328"/>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Pergunta para abrir: quanto dá </a:t>
            </a:r>
            <a:r>
              <a:rPr lang="en-US" sz="1500" b="1" dirty="0">
                <a:solidFill>
                  <a:srgbClr val="F7A072"/>
                </a:solidFill>
                <a:latin typeface="Courier New" pitchFamily="34" charset="0"/>
                <a:ea typeface="Courier New" pitchFamily="34" charset="-122"/>
                <a:cs typeface="Courier New" pitchFamily="34" charset="-120"/>
              </a:rPr>
              <a:t>"2" + 3</a:t>
            </a:r>
            <a:r>
              <a:rPr lang="en-US" sz="1500" b="1" dirty="0">
                <a:solidFill>
                  <a:srgbClr val="E16D34"/>
                </a:solidFill>
                <a:latin typeface="Helvetica Neue" pitchFamily="34" charset="0"/>
                <a:ea typeface="Helvetica Neue" pitchFamily="34" charset="-122"/>
                <a:cs typeface="Helvetica Neue" pitchFamily="34" charset="-120"/>
              </a:rPr>
              <a:t>? E </a:t>
            </a:r>
            <a:r>
              <a:rPr lang="en-US" sz="1500" b="1" dirty="0">
                <a:solidFill>
                  <a:srgbClr val="F7A072"/>
                </a:solidFill>
                <a:latin typeface="Courier New" pitchFamily="34" charset="0"/>
                <a:ea typeface="Courier New" pitchFamily="34" charset="-122"/>
                <a:cs typeface="Courier New" pitchFamily="34" charset="-120"/>
              </a:rPr>
              <a:t>Number("2") + 3</a:t>
            </a:r>
            <a:r>
              <a:rPr lang="en-US" sz="1500" b="1" dirty="0">
                <a:solidFill>
                  <a:srgbClr val="E16D34"/>
                </a:solidFill>
                <a:latin typeface="Helvetica Neue" pitchFamily="34" charset="0"/>
                <a:ea typeface="Helvetica Neue" pitchFamily="34" charset="-122"/>
                <a:cs typeface="Helvetica Neue" pitchFamily="34" charset="-120"/>
              </a:rPr>
              <a:t>?</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Mapa do curso</a:t>
            </a:r>
            <a:endParaRPr lang="en-US" sz="3000" dirty="0"/>
          </a:p>
        </p:txBody>
      </p:sp>
      <p:sp>
        <p:nvSpPr>
          <p:cNvPr id="5" name="Text 2"/>
          <p:cNvSpPr txBox="1"/>
          <p:nvPr/>
        </p:nvSpPr>
        <p:spPr>
          <a:xfrm>
            <a:off x="1186107" y="1133856"/>
            <a:ext cx="6771785" cy="237744"/>
          </a:xfrm>
          <a:prstGeom prst="rect">
            <a:avLst/>
          </a:prstGeom>
          <a:noFill/>
          <a:ln/>
        </p:spPr>
        <p:txBody>
          <a:bodyPr wrap="square" lIns="0" tIns="0" rIns="0" bIns="0" rtlCol="0" anchor="ctr"/>
          <a:lstStyle/>
          <a:p>
            <a:pPr algn="l" indent="0" marL="0">
              <a:buNone/>
            </a:pPr>
            <a:r>
              <a:rPr lang="en-US" sz="1000" b="1" spc="150" kern="0" dirty="0">
                <a:solidFill>
                  <a:srgbClr val="9CA3AF"/>
                </a:solidFill>
                <a:latin typeface="Montserrat" pitchFamily="34" charset="0"/>
                <a:ea typeface="Montserrat" pitchFamily="34" charset="-122"/>
                <a:cs typeface="Montserrat" pitchFamily="34" charset="-120"/>
              </a:rPr>
              <a:t>BASE: JAVASCRIPT, GIT E ORGANIZAÇÃO</a:t>
            </a:r>
            <a:endParaRPr lang="en-US" sz="1000" dirty="0"/>
          </a:p>
        </p:txBody>
      </p:sp>
      <p:sp>
        <p:nvSpPr>
          <p:cNvPr id="6" name="Shape 3"/>
          <p:cNvSpPr/>
          <p:nvPr/>
        </p:nvSpPr>
        <p:spPr>
          <a:xfrm>
            <a:off x="1186107" y="1389888"/>
            <a:ext cx="6771785" cy="0"/>
          </a:xfrm>
          <a:prstGeom prst="line">
            <a:avLst/>
          </a:prstGeom>
          <a:noFill/>
          <a:ln w="9525">
            <a:solidFill>
              <a:srgbClr val="9CA3AF"/>
            </a:solidFill>
            <a:prstDash val="solid"/>
          </a:ln>
        </p:spPr>
      </p:sp>
      <p:sp>
        <p:nvSpPr>
          <p:cNvPr id="7" name="Text 4"/>
          <p:cNvSpPr txBox="1"/>
          <p:nvPr/>
        </p:nvSpPr>
        <p:spPr>
          <a:xfrm>
            <a:off x="611342" y="2779776"/>
            <a:ext cx="5622254" cy="237744"/>
          </a:xfrm>
          <a:prstGeom prst="rect">
            <a:avLst/>
          </a:prstGeom>
          <a:noFill/>
          <a:ln/>
        </p:spPr>
        <p:txBody>
          <a:bodyPr wrap="square" lIns="0" tIns="0" rIns="0" bIns="0" rtlCol="0" anchor="ctr"/>
          <a:lstStyle/>
          <a:p>
            <a:pPr algn="l" indent="0" marL="0">
              <a:buNone/>
            </a:pPr>
            <a:r>
              <a:rPr lang="en-US" sz="1000" b="1" spc="150" kern="0" dirty="0">
                <a:solidFill>
                  <a:srgbClr val="9CA3AF"/>
                </a:solidFill>
                <a:latin typeface="Montserrat" pitchFamily="34" charset="0"/>
                <a:ea typeface="Montserrat" pitchFamily="34" charset="-122"/>
                <a:cs typeface="Montserrat" pitchFamily="34" charset="-120"/>
              </a:rPr>
              <a:t>BACKEND</a:t>
            </a:r>
            <a:endParaRPr lang="en-US" sz="1000" dirty="0"/>
          </a:p>
        </p:txBody>
      </p:sp>
      <p:sp>
        <p:nvSpPr>
          <p:cNvPr id="8" name="Shape 5"/>
          <p:cNvSpPr/>
          <p:nvPr/>
        </p:nvSpPr>
        <p:spPr>
          <a:xfrm>
            <a:off x="611342" y="3035808"/>
            <a:ext cx="5622254" cy="0"/>
          </a:xfrm>
          <a:prstGeom prst="line">
            <a:avLst/>
          </a:prstGeom>
          <a:noFill/>
          <a:ln w="9525">
            <a:solidFill>
              <a:srgbClr val="9CA3AF"/>
            </a:solidFill>
            <a:prstDash val="solid"/>
          </a:ln>
        </p:spPr>
      </p:sp>
      <p:sp>
        <p:nvSpPr>
          <p:cNvPr id="9" name="Text 6"/>
          <p:cNvSpPr txBox="1"/>
          <p:nvPr/>
        </p:nvSpPr>
        <p:spPr>
          <a:xfrm>
            <a:off x="6358999" y="2779776"/>
            <a:ext cx="2173659" cy="237744"/>
          </a:xfrm>
          <a:prstGeom prst="rect">
            <a:avLst/>
          </a:prstGeom>
          <a:noFill/>
          <a:ln/>
        </p:spPr>
        <p:txBody>
          <a:bodyPr wrap="square" lIns="0" tIns="0" rIns="0" bIns="0" rtlCol="0" anchor="ctr"/>
          <a:lstStyle/>
          <a:p>
            <a:pPr algn="l" indent="0" marL="0">
              <a:buNone/>
            </a:pPr>
            <a:r>
              <a:rPr lang="en-US" sz="1000" b="1" spc="150" kern="0" dirty="0">
                <a:solidFill>
                  <a:srgbClr val="9CA3AF"/>
                </a:solidFill>
                <a:latin typeface="Montserrat" pitchFamily="34" charset="0"/>
                <a:ea typeface="Montserrat" pitchFamily="34" charset="-122"/>
                <a:cs typeface="Montserrat" pitchFamily="34" charset="-120"/>
              </a:rPr>
              <a:t>FRONTEND E PROJETO</a:t>
            </a:r>
            <a:endParaRPr lang="en-US" sz="1000" dirty="0"/>
          </a:p>
        </p:txBody>
      </p:sp>
      <p:sp>
        <p:nvSpPr>
          <p:cNvPr id="10" name="Shape 7"/>
          <p:cNvSpPr/>
          <p:nvPr/>
        </p:nvSpPr>
        <p:spPr>
          <a:xfrm>
            <a:off x="6358999" y="3035808"/>
            <a:ext cx="2173659" cy="0"/>
          </a:xfrm>
          <a:prstGeom prst="line">
            <a:avLst/>
          </a:prstGeom>
          <a:noFill/>
          <a:ln w="9525">
            <a:solidFill>
              <a:srgbClr val="9CA3AF"/>
            </a:solidFill>
            <a:prstDash val="solid"/>
          </a:ln>
        </p:spPr>
      </p:sp>
      <p:sp>
        <p:nvSpPr>
          <p:cNvPr id="11" name="Shape 8"/>
          <p:cNvSpPr/>
          <p:nvPr/>
        </p:nvSpPr>
        <p:spPr>
          <a:xfrm>
            <a:off x="1186107" y="1481328"/>
            <a:ext cx="1024128" cy="1024128"/>
          </a:xfrm>
          <a:prstGeom prst="roundRect">
            <a:avLst>
              <a:gd name="adj" fmla="val 8929"/>
            </a:avLst>
          </a:prstGeom>
          <a:solidFill>
            <a:srgbClr val="1A1A1A"/>
          </a:solidFill>
          <a:ln w="9525">
            <a:solidFill>
              <a:srgbClr val="1A1A1A"/>
            </a:solidFill>
            <a:prstDash val="solid"/>
          </a:ln>
        </p:spPr>
      </p:sp>
      <p:sp>
        <p:nvSpPr>
          <p:cNvPr id="12" name="Text 9"/>
          <p:cNvSpPr txBox="1"/>
          <p:nvPr/>
        </p:nvSpPr>
        <p:spPr>
          <a:xfrm>
            <a:off x="1186107" y="1572768"/>
            <a:ext cx="1024128" cy="438912"/>
          </a:xfrm>
          <a:prstGeom prst="rect">
            <a:avLst/>
          </a:prstGeom>
          <a:noFill/>
          <a:ln/>
        </p:spPr>
        <p:txBody>
          <a:bodyPr wrap="square" lIns="0" tIns="0" rIns="0" bIns="0" rtlCol="0" anchor="ctr"/>
          <a:lstStyle/>
          <a:p>
            <a:pPr algn="ctr" indent="0" marL="0">
              <a:buNone/>
            </a:pPr>
            <a:r>
              <a:rPr lang="en-US" sz="2400" b="1" dirty="0">
                <a:solidFill>
                  <a:srgbClr val="9CA3AF"/>
                </a:solidFill>
                <a:latin typeface="Montserrat" pitchFamily="34" charset="0"/>
                <a:ea typeface="Montserrat" pitchFamily="34" charset="-122"/>
                <a:cs typeface="Montserrat" pitchFamily="34" charset="-120"/>
              </a:rPr>
              <a:t>1</a:t>
            </a:r>
            <a:endParaRPr lang="en-US" sz="2400" dirty="0"/>
          </a:p>
        </p:txBody>
      </p:sp>
      <p:sp>
        <p:nvSpPr>
          <p:cNvPr id="13" name="Text 10"/>
          <p:cNvSpPr txBox="1"/>
          <p:nvPr/>
        </p:nvSpPr>
        <p:spPr>
          <a:xfrm>
            <a:off x="1231827" y="2029968"/>
            <a:ext cx="932688" cy="384048"/>
          </a:xfrm>
          <a:prstGeom prst="rect">
            <a:avLst/>
          </a:prstGeom>
          <a:noFill/>
          <a:ln/>
        </p:spPr>
        <p:txBody>
          <a:bodyPr wrap="square" lIns="0" tIns="0" rIns="0" bIns="0" rtlCol="0" anchor="t"/>
          <a:lstStyle/>
          <a:p>
            <a:pPr algn="ctr" indent="0" marL="0">
              <a:buNone/>
            </a:pPr>
            <a:r>
              <a:rPr lang="en-US" sz="950" b="1" dirty="0">
                <a:solidFill>
                  <a:srgbClr val="9CA3AF"/>
                </a:solidFill>
                <a:latin typeface="Helvetica Neue" pitchFamily="34" charset="0"/>
                <a:ea typeface="Helvetica Neue" pitchFamily="34" charset="-122"/>
                <a:cs typeface="Helvetica Neue" pitchFamily="34" charset="-120"/>
              </a:rPr>
              <a:t>Ambiente</a:t>
            </a:r>
            <a:endParaRPr lang="en-US" sz="950" dirty="0"/>
          </a:p>
        </p:txBody>
      </p:sp>
      <p:pic>
        <p:nvPicPr>
          <p:cNvPr id="14" name="Image 0" descr="preencoded.png">    </p:cNvPr>
          <p:cNvPicPr>
            <a:picLocks noChangeAspect="1"/>
          </p:cNvPicPr>
          <p:nvPr/>
        </p:nvPicPr>
        <p:blipFill>
          <a:blip r:embed="rId2"/>
          <a:stretch>
            <a:fillRect/>
          </a:stretch>
        </p:blipFill>
        <p:spPr>
          <a:xfrm>
            <a:off x="1935915" y="1536192"/>
            <a:ext cx="219456" cy="219456"/>
          </a:xfrm>
          <a:prstGeom prst="rect">
            <a:avLst/>
          </a:prstGeom>
        </p:spPr>
      </p:pic>
      <p:sp>
        <p:nvSpPr>
          <p:cNvPr id="15" name="Shape 11"/>
          <p:cNvSpPr/>
          <p:nvPr/>
        </p:nvSpPr>
        <p:spPr>
          <a:xfrm>
            <a:off x="2335639" y="1481328"/>
            <a:ext cx="1024128" cy="1024128"/>
          </a:xfrm>
          <a:prstGeom prst="roundRect">
            <a:avLst>
              <a:gd name="adj" fmla="val 8929"/>
            </a:avLst>
          </a:prstGeom>
          <a:solidFill>
            <a:srgbClr val="1A1A1A"/>
          </a:solidFill>
          <a:ln w="9525">
            <a:solidFill>
              <a:srgbClr val="1A1A1A"/>
            </a:solidFill>
            <a:prstDash val="solid"/>
          </a:ln>
        </p:spPr>
      </p:sp>
      <p:sp>
        <p:nvSpPr>
          <p:cNvPr id="16" name="Text 12"/>
          <p:cNvSpPr txBox="1"/>
          <p:nvPr/>
        </p:nvSpPr>
        <p:spPr>
          <a:xfrm>
            <a:off x="2335639" y="1572768"/>
            <a:ext cx="1024128" cy="438912"/>
          </a:xfrm>
          <a:prstGeom prst="rect">
            <a:avLst/>
          </a:prstGeom>
          <a:noFill/>
          <a:ln/>
        </p:spPr>
        <p:txBody>
          <a:bodyPr wrap="square" lIns="0" tIns="0" rIns="0" bIns="0" rtlCol="0" anchor="ctr"/>
          <a:lstStyle/>
          <a:p>
            <a:pPr algn="ctr" indent="0" marL="0">
              <a:buNone/>
            </a:pPr>
            <a:r>
              <a:rPr lang="en-US" sz="2400" b="1" dirty="0">
                <a:solidFill>
                  <a:srgbClr val="9CA3AF"/>
                </a:solidFill>
                <a:latin typeface="Montserrat" pitchFamily="34" charset="0"/>
                <a:ea typeface="Montserrat" pitchFamily="34" charset="-122"/>
                <a:cs typeface="Montserrat" pitchFamily="34" charset="-120"/>
              </a:rPr>
              <a:t>2</a:t>
            </a:r>
            <a:endParaRPr lang="en-US" sz="2400" dirty="0"/>
          </a:p>
        </p:txBody>
      </p:sp>
      <p:sp>
        <p:nvSpPr>
          <p:cNvPr id="17" name="Text 13"/>
          <p:cNvSpPr txBox="1"/>
          <p:nvPr/>
        </p:nvSpPr>
        <p:spPr>
          <a:xfrm>
            <a:off x="2381359" y="2029968"/>
            <a:ext cx="932688" cy="384048"/>
          </a:xfrm>
          <a:prstGeom prst="rect">
            <a:avLst/>
          </a:prstGeom>
          <a:noFill/>
          <a:ln/>
        </p:spPr>
        <p:txBody>
          <a:bodyPr wrap="square" lIns="0" tIns="0" rIns="0" bIns="0" rtlCol="0" anchor="t"/>
          <a:lstStyle/>
          <a:p>
            <a:pPr algn="ctr" indent="0" marL="0">
              <a:buNone/>
            </a:pPr>
            <a:r>
              <a:rPr lang="en-US" sz="950" b="1" dirty="0">
                <a:solidFill>
                  <a:srgbClr val="9CA3AF"/>
                </a:solidFill>
                <a:latin typeface="Helvetica Neue" pitchFamily="34" charset="0"/>
                <a:ea typeface="Helvetica Neue" pitchFamily="34" charset="-122"/>
                <a:cs typeface="Helvetica Neue" pitchFamily="34" charset="-120"/>
              </a:rPr>
              <a:t>Fundamentos de JS</a:t>
            </a:r>
            <a:endParaRPr lang="en-US" sz="950" dirty="0"/>
          </a:p>
        </p:txBody>
      </p:sp>
      <p:pic>
        <p:nvPicPr>
          <p:cNvPr id="18" name="Image 1" descr="preencoded.png">    </p:cNvPr>
          <p:cNvPicPr>
            <a:picLocks noChangeAspect="1"/>
          </p:cNvPicPr>
          <p:nvPr/>
        </p:nvPicPr>
        <p:blipFill>
          <a:blip r:embed="rId3"/>
          <a:stretch>
            <a:fillRect/>
          </a:stretch>
        </p:blipFill>
        <p:spPr>
          <a:xfrm>
            <a:off x="3085447" y="1536192"/>
            <a:ext cx="219456" cy="219456"/>
          </a:xfrm>
          <a:prstGeom prst="rect">
            <a:avLst/>
          </a:prstGeom>
        </p:spPr>
      </p:pic>
      <p:sp>
        <p:nvSpPr>
          <p:cNvPr id="19" name="Shape 14"/>
          <p:cNvSpPr/>
          <p:nvPr/>
        </p:nvSpPr>
        <p:spPr>
          <a:xfrm>
            <a:off x="3485170" y="1481328"/>
            <a:ext cx="1024128" cy="1024128"/>
          </a:xfrm>
          <a:prstGeom prst="roundRect">
            <a:avLst>
              <a:gd name="adj" fmla="val 8929"/>
            </a:avLst>
          </a:prstGeom>
          <a:solidFill>
            <a:srgbClr val="E16D34"/>
          </a:solidFill>
          <a:ln w="19050">
            <a:solidFill>
              <a:srgbClr val="E16D34"/>
            </a:solidFill>
            <a:prstDash val="solid"/>
          </a:ln>
        </p:spPr>
      </p:sp>
      <p:sp>
        <p:nvSpPr>
          <p:cNvPr id="20" name="Text 15"/>
          <p:cNvSpPr txBox="1"/>
          <p:nvPr/>
        </p:nvSpPr>
        <p:spPr>
          <a:xfrm>
            <a:off x="3485170" y="1572768"/>
            <a:ext cx="1024128" cy="438912"/>
          </a:xfrm>
          <a:prstGeom prst="rect">
            <a:avLst/>
          </a:prstGeom>
          <a:noFill/>
          <a:ln/>
        </p:spPr>
        <p:txBody>
          <a:bodyPr wrap="square" lIns="0" tIns="0" rIns="0" bIns="0" rtlCol="0" anchor="ctr"/>
          <a:lstStyle/>
          <a:p>
            <a:pPr algn="ctr" indent="0" marL="0">
              <a:buNone/>
            </a:pPr>
            <a:r>
              <a:rPr lang="en-US" sz="2400" b="1" dirty="0">
                <a:solidFill>
                  <a:srgbClr val="000000"/>
                </a:solidFill>
                <a:latin typeface="Montserrat" pitchFamily="34" charset="0"/>
                <a:ea typeface="Montserrat" pitchFamily="34" charset="-122"/>
                <a:cs typeface="Montserrat" pitchFamily="34" charset="-120"/>
              </a:rPr>
              <a:t>3</a:t>
            </a:r>
            <a:endParaRPr lang="en-US" sz="2400" dirty="0"/>
          </a:p>
        </p:txBody>
      </p:sp>
      <p:sp>
        <p:nvSpPr>
          <p:cNvPr id="21" name="Text 16"/>
          <p:cNvSpPr txBox="1"/>
          <p:nvPr/>
        </p:nvSpPr>
        <p:spPr>
          <a:xfrm>
            <a:off x="3530890" y="2029968"/>
            <a:ext cx="932688" cy="384048"/>
          </a:xfrm>
          <a:prstGeom prst="rect">
            <a:avLst/>
          </a:prstGeom>
          <a:noFill/>
          <a:ln/>
        </p:spPr>
        <p:txBody>
          <a:bodyPr wrap="square" lIns="0" tIns="0" rIns="0" bIns="0" rtlCol="0" anchor="t"/>
          <a:lstStyle/>
          <a:p>
            <a:pPr algn="ctr" indent="0" marL="0">
              <a:buNone/>
            </a:pPr>
            <a:r>
              <a:rPr lang="en-US" sz="950" b="1" dirty="0">
                <a:solidFill>
                  <a:srgbClr val="000000"/>
                </a:solidFill>
                <a:latin typeface="Helvetica Neue" pitchFamily="34" charset="0"/>
                <a:ea typeface="Helvetica Neue" pitchFamily="34" charset="-122"/>
                <a:cs typeface="Helvetica Neue" pitchFamily="34" charset="-120"/>
              </a:rPr>
              <a:t>Calculadora</a:t>
            </a:r>
            <a:endParaRPr lang="en-US" sz="950" dirty="0"/>
          </a:p>
        </p:txBody>
      </p:sp>
      <p:sp>
        <p:nvSpPr>
          <p:cNvPr id="22" name="Shape 17"/>
          <p:cNvSpPr/>
          <p:nvPr/>
        </p:nvSpPr>
        <p:spPr>
          <a:xfrm>
            <a:off x="4634702" y="1481328"/>
            <a:ext cx="1024128" cy="1024128"/>
          </a:xfrm>
          <a:prstGeom prst="roundRect">
            <a:avLst>
              <a:gd name="adj" fmla="val 8929"/>
            </a:avLst>
          </a:prstGeom>
          <a:ln w="9525">
            <a:solidFill>
              <a:srgbClr val="9CA3AF"/>
            </a:solidFill>
            <a:prstDash val="dash"/>
          </a:ln>
        </p:spPr>
      </p:sp>
      <p:sp>
        <p:nvSpPr>
          <p:cNvPr id="23" name="Text 18"/>
          <p:cNvSpPr txBox="1"/>
          <p:nvPr/>
        </p:nvSpPr>
        <p:spPr>
          <a:xfrm>
            <a:off x="4634702" y="157276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4</a:t>
            </a:r>
            <a:endParaRPr lang="en-US" sz="2400" dirty="0"/>
          </a:p>
        </p:txBody>
      </p:sp>
      <p:sp>
        <p:nvSpPr>
          <p:cNvPr id="24" name="Text 19"/>
          <p:cNvSpPr txBox="1"/>
          <p:nvPr/>
        </p:nvSpPr>
        <p:spPr>
          <a:xfrm>
            <a:off x="4680422" y="202996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Git e GitHub</a:t>
            </a:r>
            <a:endParaRPr lang="en-US" sz="950" dirty="0"/>
          </a:p>
        </p:txBody>
      </p:sp>
      <p:sp>
        <p:nvSpPr>
          <p:cNvPr id="25" name="Shape 20"/>
          <p:cNvSpPr/>
          <p:nvPr/>
        </p:nvSpPr>
        <p:spPr>
          <a:xfrm>
            <a:off x="5784233" y="1481328"/>
            <a:ext cx="1024128" cy="1024128"/>
          </a:xfrm>
          <a:prstGeom prst="roundRect">
            <a:avLst>
              <a:gd name="adj" fmla="val 8929"/>
            </a:avLst>
          </a:prstGeom>
          <a:ln w="9525">
            <a:solidFill>
              <a:srgbClr val="9CA3AF"/>
            </a:solidFill>
            <a:prstDash val="dash"/>
          </a:ln>
        </p:spPr>
      </p:sp>
      <p:sp>
        <p:nvSpPr>
          <p:cNvPr id="26" name="Text 21"/>
          <p:cNvSpPr txBox="1"/>
          <p:nvPr/>
        </p:nvSpPr>
        <p:spPr>
          <a:xfrm>
            <a:off x="5784233" y="157276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5</a:t>
            </a:r>
            <a:endParaRPr lang="en-US" sz="2400" dirty="0"/>
          </a:p>
        </p:txBody>
      </p:sp>
      <p:sp>
        <p:nvSpPr>
          <p:cNvPr id="27" name="Text 22"/>
          <p:cNvSpPr txBox="1"/>
          <p:nvPr/>
        </p:nvSpPr>
        <p:spPr>
          <a:xfrm>
            <a:off x="5829953" y="202996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Módulos</a:t>
            </a:r>
            <a:endParaRPr lang="en-US" sz="950" dirty="0"/>
          </a:p>
        </p:txBody>
      </p:sp>
      <p:sp>
        <p:nvSpPr>
          <p:cNvPr id="28" name="Shape 23"/>
          <p:cNvSpPr/>
          <p:nvPr/>
        </p:nvSpPr>
        <p:spPr>
          <a:xfrm>
            <a:off x="6933765" y="1481328"/>
            <a:ext cx="1024128" cy="1024128"/>
          </a:xfrm>
          <a:prstGeom prst="roundRect">
            <a:avLst>
              <a:gd name="adj" fmla="val 8929"/>
            </a:avLst>
          </a:prstGeom>
          <a:ln w="9525">
            <a:solidFill>
              <a:srgbClr val="9CA3AF"/>
            </a:solidFill>
            <a:prstDash val="dash"/>
          </a:ln>
        </p:spPr>
      </p:sp>
      <p:sp>
        <p:nvSpPr>
          <p:cNvPr id="29" name="Text 24"/>
          <p:cNvSpPr txBox="1"/>
          <p:nvPr/>
        </p:nvSpPr>
        <p:spPr>
          <a:xfrm>
            <a:off x="6933765" y="157276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6</a:t>
            </a:r>
            <a:endParaRPr lang="en-US" sz="2400" dirty="0"/>
          </a:p>
        </p:txBody>
      </p:sp>
      <p:sp>
        <p:nvSpPr>
          <p:cNvPr id="30" name="Text 25"/>
          <p:cNvSpPr txBox="1"/>
          <p:nvPr/>
        </p:nvSpPr>
        <p:spPr>
          <a:xfrm>
            <a:off x="6979485" y="202996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Cadastro e busca</a:t>
            </a:r>
            <a:endParaRPr lang="en-US" sz="950" dirty="0"/>
          </a:p>
        </p:txBody>
      </p:sp>
      <p:sp>
        <p:nvSpPr>
          <p:cNvPr id="31" name="Shape 26"/>
          <p:cNvSpPr/>
          <p:nvPr/>
        </p:nvSpPr>
        <p:spPr>
          <a:xfrm>
            <a:off x="611342" y="3127248"/>
            <a:ext cx="1024128" cy="1024128"/>
          </a:xfrm>
          <a:prstGeom prst="roundRect">
            <a:avLst>
              <a:gd name="adj" fmla="val 8929"/>
            </a:avLst>
          </a:prstGeom>
          <a:ln w="9525">
            <a:solidFill>
              <a:srgbClr val="9CA3AF"/>
            </a:solidFill>
            <a:prstDash val="dash"/>
          </a:ln>
        </p:spPr>
      </p:sp>
      <p:sp>
        <p:nvSpPr>
          <p:cNvPr id="32" name="Text 27"/>
          <p:cNvSpPr txBox="1"/>
          <p:nvPr/>
        </p:nvSpPr>
        <p:spPr>
          <a:xfrm>
            <a:off x="611342"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7</a:t>
            </a:r>
            <a:endParaRPr lang="en-US" sz="2400" dirty="0"/>
          </a:p>
        </p:txBody>
      </p:sp>
      <p:sp>
        <p:nvSpPr>
          <p:cNvPr id="33" name="Text 28"/>
          <p:cNvSpPr txBox="1"/>
          <p:nvPr/>
        </p:nvSpPr>
        <p:spPr>
          <a:xfrm>
            <a:off x="657062"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APIs com Express</a:t>
            </a:r>
            <a:endParaRPr lang="en-US" sz="950" dirty="0"/>
          </a:p>
        </p:txBody>
      </p:sp>
      <p:sp>
        <p:nvSpPr>
          <p:cNvPr id="34" name="Shape 29"/>
          <p:cNvSpPr/>
          <p:nvPr/>
        </p:nvSpPr>
        <p:spPr>
          <a:xfrm>
            <a:off x="1760873" y="3127248"/>
            <a:ext cx="1024128" cy="1024128"/>
          </a:xfrm>
          <a:prstGeom prst="roundRect">
            <a:avLst>
              <a:gd name="adj" fmla="val 8929"/>
            </a:avLst>
          </a:prstGeom>
          <a:ln w="9525">
            <a:solidFill>
              <a:srgbClr val="9CA3AF"/>
            </a:solidFill>
            <a:prstDash val="dash"/>
          </a:ln>
        </p:spPr>
      </p:sp>
      <p:sp>
        <p:nvSpPr>
          <p:cNvPr id="35" name="Text 30"/>
          <p:cNvSpPr txBox="1"/>
          <p:nvPr/>
        </p:nvSpPr>
        <p:spPr>
          <a:xfrm>
            <a:off x="1760873"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8</a:t>
            </a:r>
            <a:endParaRPr lang="en-US" sz="2400" dirty="0"/>
          </a:p>
        </p:txBody>
      </p:sp>
      <p:sp>
        <p:nvSpPr>
          <p:cNvPr id="36" name="Text 31"/>
          <p:cNvSpPr txBox="1"/>
          <p:nvPr/>
        </p:nvSpPr>
        <p:spPr>
          <a:xfrm>
            <a:off x="1806593"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MongoDB</a:t>
            </a:r>
            <a:endParaRPr lang="en-US" sz="950" dirty="0"/>
          </a:p>
        </p:txBody>
      </p:sp>
      <p:sp>
        <p:nvSpPr>
          <p:cNvPr id="37" name="Shape 32"/>
          <p:cNvSpPr/>
          <p:nvPr/>
        </p:nvSpPr>
        <p:spPr>
          <a:xfrm>
            <a:off x="2910405" y="3127248"/>
            <a:ext cx="1024128" cy="1024128"/>
          </a:xfrm>
          <a:prstGeom prst="roundRect">
            <a:avLst>
              <a:gd name="adj" fmla="val 8929"/>
            </a:avLst>
          </a:prstGeom>
          <a:ln w="9525">
            <a:solidFill>
              <a:srgbClr val="9CA3AF"/>
            </a:solidFill>
            <a:prstDash val="dash"/>
          </a:ln>
        </p:spPr>
      </p:sp>
      <p:sp>
        <p:nvSpPr>
          <p:cNvPr id="38" name="Text 33"/>
          <p:cNvSpPr txBox="1"/>
          <p:nvPr/>
        </p:nvSpPr>
        <p:spPr>
          <a:xfrm>
            <a:off x="2910405"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9</a:t>
            </a:r>
            <a:endParaRPr lang="en-US" sz="2400" dirty="0"/>
          </a:p>
        </p:txBody>
      </p:sp>
      <p:sp>
        <p:nvSpPr>
          <p:cNvPr id="39" name="Text 34"/>
          <p:cNvSpPr txBox="1"/>
          <p:nvPr/>
        </p:nvSpPr>
        <p:spPr>
          <a:xfrm>
            <a:off x="2956125"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JWT e MVC</a:t>
            </a:r>
            <a:endParaRPr lang="en-US" sz="950" dirty="0"/>
          </a:p>
        </p:txBody>
      </p:sp>
      <p:sp>
        <p:nvSpPr>
          <p:cNvPr id="40" name="Shape 35"/>
          <p:cNvSpPr/>
          <p:nvPr/>
        </p:nvSpPr>
        <p:spPr>
          <a:xfrm>
            <a:off x="4059936" y="3127248"/>
            <a:ext cx="1024128" cy="1024128"/>
          </a:xfrm>
          <a:prstGeom prst="roundRect">
            <a:avLst>
              <a:gd name="adj" fmla="val 8929"/>
            </a:avLst>
          </a:prstGeom>
          <a:ln w="9525">
            <a:solidFill>
              <a:srgbClr val="9CA3AF"/>
            </a:solidFill>
            <a:prstDash val="dash"/>
          </a:ln>
        </p:spPr>
      </p:sp>
      <p:sp>
        <p:nvSpPr>
          <p:cNvPr id="41" name="Text 36"/>
          <p:cNvSpPr txBox="1"/>
          <p:nvPr/>
        </p:nvSpPr>
        <p:spPr>
          <a:xfrm>
            <a:off x="4059936"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9B</a:t>
            </a:r>
            <a:endParaRPr lang="en-US" sz="2400" dirty="0"/>
          </a:p>
        </p:txBody>
      </p:sp>
      <p:sp>
        <p:nvSpPr>
          <p:cNvPr id="42" name="Text 37"/>
          <p:cNvSpPr txBox="1"/>
          <p:nvPr/>
        </p:nvSpPr>
        <p:spPr>
          <a:xfrm>
            <a:off x="4105656"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Testes</a:t>
            </a:r>
            <a:endParaRPr lang="en-US" sz="950" dirty="0"/>
          </a:p>
        </p:txBody>
      </p:sp>
      <p:sp>
        <p:nvSpPr>
          <p:cNvPr id="43" name="Shape 38"/>
          <p:cNvSpPr/>
          <p:nvPr/>
        </p:nvSpPr>
        <p:spPr>
          <a:xfrm>
            <a:off x="5209467" y="3127248"/>
            <a:ext cx="1024128" cy="1024128"/>
          </a:xfrm>
          <a:prstGeom prst="roundRect">
            <a:avLst>
              <a:gd name="adj" fmla="val 8929"/>
            </a:avLst>
          </a:prstGeom>
          <a:ln w="9525">
            <a:solidFill>
              <a:srgbClr val="9CA3AF"/>
            </a:solidFill>
            <a:prstDash val="dash"/>
          </a:ln>
        </p:spPr>
      </p:sp>
      <p:sp>
        <p:nvSpPr>
          <p:cNvPr id="44" name="Text 39"/>
          <p:cNvSpPr txBox="1"/>
          <p:nvPr/>
        </p:nvSpPr>
        <p:spPr>
          <a:xfrm>
            <a:off x="5209467"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10</a:t>
            </a:r>
            <a:endParaRPr lang="en-US" sz="2400" dirty="0"/>
          </a:p>
        </p:txBody>
      </p:sp>
      <p:sp>
        <p:nvSpPr>
          <p:cNvPr id="45" name="Text 40"/>
          <p:cNvSpPr txBox="1"/>
          <p:nvPr/>
        </p:nvSpPr>
        <p:spPr>
          <a:xfrm>
            <a:off x="5255187"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Deploy</a:t>
            </a:r>
            <a:endParaRPr lang="en-US" sz="950" dirty="0"/>
          </a:p>
        </p:txBody>
      </p:sp>
      <p:sp>
        <p:nvSpPr>
          <p:cNvPr id="46" name="Shape 41"/>
          <p:cNvSpPr/>
          <p:nvPr/>
        </p:nvSpPr>
        <p:spPr>
          <a:xfrm>
            <a:off x="6358999" y="3127248"/>
            <a:ext cx="1024128" cy="1024128"/>
          </a:xfrm>
          <a:prstGeom prst="roundRect">
            <a:avLst>
              <a:gd name="adj" fmla="val 8929"/>
            </a:avLst>
          </a:prstGeom>
          <a:ln w="9525">
            <a:solidFill>
              <a:srgbClr val="9CA3AF"/>
            </a:solidFill>
            <a:prstDash val="dash"/>
          </a:ln>
        </p:spPr>
      </p:sp>
      <p:sp>
        <p:nvSpPr>
          <p:cNvPr id="47" name="Text 42"/>
          <p:cNvSpPr txBox="1"/>
          <p:nvPr/>
        </p:nvSpPr>
        <p:spPr>
          <a:xfrm>
            <a:off x="6358999"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11</a:t>
            </a:r>
            <a:endParaRPr lang="en-US" sz="2400" dirty="0"/>
          </a:p>
        </p:txBody>
      </p:sp>
      <p:sp>
        <p:nvSpPr>
          <p:cNvPr id="48" name="Text 43"/>
          <p:cNvSpPr txBox="1"/>
          <p:nvPr/>
        </p:nvSpPr>
        <p:spPr>
          <a:xfrm>
            <a:off x="6404719"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FlutterFlow</a:t>
            </a:r>
            <a:endParaRPr lang="en-US" sz="950" dirty="0"/>
          </a:p>
        </p:txBody>
      </p:sp>
      <p:sp>
        <p:nvSpPr>
          <p:cNvPr id="49" name="Shape 44"/>
          <p:cNvSpPr/>
          <p:nvPr/>
        </p:nvSpPr>
        <p:spPr>
          <a:xfrm>
            <a:off x="7508530" y="3127248"/>
            <a:ext cx="1024128" cy="1024128"/>
          </a:xfrm>
          <a:prstGeom prst="roundRect">
            <a:avLst>
              <a:gd name="adj" fmla="val 8929"/>
            </a:avLst>
          </a:prstGeom>
          <a:ln w="9525">
            <a:solidFill>
              <a:srgbClr val="9CA3AF"/>
            </a:solidFill>
            <a:prstDash val="dash"/>
          </a:ln>
        </p:spPr>
      </p:sp>
      <p:sp>
        <p:nvSpPr>
          <p:cNvPr id="50" name="Text 45"/>
          <p:cNvSpPr txBox="1"/>
          <p:nvPr/>
        </p:nvSpPr>
        <p:spPr>
          <a:xfrm>
            <a:off x="7508530" y="3218688"/>
            <a:ext cx="1024128" cy="438912"/>
          </a:xfrm>
          <a:prstGeom prst="rect">
            <a:avLst/>
          </a:prstGeom>
          <a:noFill/>
          <a:ln/>
        </p:spPr>
        <p:txBody>
          <a:bodyPr wrap="square" lIns="0" tIns="0" rIns="0" bIns="0" rtlCol="0" anchor="ctr"/>
          <a:lstStyle/>
          <a:p>
            <a:pPr algn="ctr" indent="0" marL="0">
              <a:buNone/>
            </a:pPr>
            <a:r>
              <a:rPr lang="en-US" sz="2400" b="1" dirty="0">
                <a:solidFill>
                  <a:srgbClr val="E6E6E6"/>
                </a:solidFill>
                <a:latin typeface="Montserrat" pitchFamily="34" charset="0"/>
                <a:ea typeface="Montserrat" pitchFamily="34" charset="-122"/>
                <a:cs typeface="Montserrat" pitchFamily="34" charset="-120"/>
              </a:rPr>
              <a:t>12</a:t>
            </a:r>
            <a:endParaRPr lang="en-US" sz="2400" dirty="0"/>
          </a:p>
        </p:txBody>
      </p:sp>
      <p:sp>
        <p:nvSpPr>
          <p:cNvPr id="51" name="Text 46"/>
          <p:cNvSpPr txBox="1"/>
          <p:nvPr/>
        </p:nvSpPr>
        <p:spPr>
          <a:xfrm>
            <a:off x="7554250" y="3675888"/>
            <a:ext cx="932688" cy="384048"/>
          </a:xfrm>
          <a:prstGeom prst="rect">
            <a:avLst/>
          </a:prstGeom>
          <a:noFill/>
          <a:ln/>
        </p:spPr>
        <p:txBody>
          <a:bodyPr wrap="square" lIns="0" tIns="0" rIns="0" bIns="0" rtlCol="0" anchor="t"/>
          <a:lstStyle/>
          <a:p>
            <a:pPr algn="ctr" indent="0" marL="0">
              <a:buNone/>
            </a:pPr>
            <a:r>
              <a:rPr lang="en-US" sz="950" b="1" dirty="0">
                <a:solidFill>
                  <a:srgbClr val="E6E6E6"/>
                </a:solidFill>
                <a:latin typeface="Helvetica Neue" pitchFamily="34" charset="0"/>
                <a:ea typeface="Helvetica Neue" pitchFamily="34" charset="-122"/>
                <a:cs typeface="Helvetica Neue" pitchFamily="34" charset="-120"/>
              </a:rPr>
              <a:t>Projeto final</a:t>
            </a:r>
            <a:endParaRPr lang="en-US" sz="950" dirty="0"/>
          </a:p>
        </p:txBody>
      </p:sp>
      <p:sp>
        <p:nvSpPr>
          <p:cNvPr id="52" name="Text 47"/>
          <p:cNvSpPr txBox="1"/>
          <p:nvPr/>
        </p:nvSpPr>
        <p:spPr>
          <a:xfrm>
            <a:off x="548640" y="4315968"/>
            <a:ext cx="8046720" cy="365760"/>
          </a:xfrm>
          <a:prstGeom prst="rect">
            <a:avLst/>
          </a:prstGeom>
          <a:noFill/>
          <a:ln/>
        </p:spPr>
        <p:txBody>
          <a:bodyPr wrap="square" lIns="0" tIns="0" rIns="0" bIns="0" rtlCol="0" anchor="ctr"/>
          <a:lstStyle/>
          <a:p>
            <a:pPr algn="ctr" indent="0" marL="0">
              <a:buNone/>
            </a:pPr>
            <a:r>
              <a:rPr lang="en-US" sz="1400" b="1" dirty="0">
                <a:solidFill>
                  <a:srgbClr val="E6E6E6"/>
                </a:solidFill>
                <a:latin typeface="Helvetica Neue" pitchFamily="34" charset="0"/>
                <a:ea typeface="Helvetica Neue" pitchFamily="34" charset="-122"/>
                <a:cs typeface="Helvetica Neue" pitchFamily="34" charset="-120"/>
              </a:rPr>
              <a:t>Você está aqui: </a:t>
            </a:r>
            <a:r>
              <a:rPr lang="en-US" sz="1400" b="1" dirty="0">
                <a:solidFill>
                  <a:srgbClr val="E16D34"/>
                </a:solidFill>
                <a:latin typeface="Helvetica Neue" pitchFamily="34" charset="0"/>
                <a:ea typeface="Helvetica Neue" pitchFamily="34" charset="-122"/>
                <a:cs typeface="Helvetica Neue" pitchFamily="34" charset="-120"/>
              </a:rPr>
              <a:t>Módulo 3</a:t>
            </a:r>
            <a:r>
              <a:rPr lang="en-US" sz="1400" b="1" dirty="0">
                <a:solidFill>
                  <a:srgbClr val="E6E6E6"/>
                </a:solidFill>
                <a:latin typeface="Helvetica Neue" pitchFamily="34" charset="0"/>
                <a:ea typeface="Helvetica Neue" pitchFamily="34" charset="-122"/>
                <a:cs typeface="Helvetica Neue" pitchFamily="34" charset="-120"/>
              </a:rPr>
              <a:t>, Calculadora e Clínica Médica</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822960" y="1417320"/>
            <a:ext cx="2286000" cy="2286000"/>
          </a:xfrm>
          <a:prstGeom prst="rect">
            <a:avLst/>
          </a:prstGeom>
        </p:spPr>
      </p:pic>
      <p:sp>
        <p:nvSpPr>
          <p:cNvPr id="5" name="Text 1"/>
          <p:cNvSpPr txBox="1"/>
          <p:nvPr/>
        </p:nvSpPr>
        <p:spPr>
          <a:xfrm>
            <a:off x="3840480" y="868680"/>
            <a:ext cx="4846320" cy="502920"/>
          </a:xfrm>
          <a:prstGeom prst="rect">
            <a:avLst/>
          </a:prstGeom>
          <a:noFill/>
          <a:ln/>
        </p:spPr>
        <p:txBody>
          <a:bodyPr wrap="square" lIns="0" tIns="0" rIns="0" bIns="0" rtlCol="0" anchor="ctr"/>
          <a:lstStyle/>
          <a:p>
            <a:pPr indent="0" marL="0">
              <a:buNone/>
            </a:pPr>
            <a:r>
              <a:rPr lang="en-US" sz="3200" b="1" dirty="0">
                <a:solidFill>
                  <a:srgbClr val="E16D34"/>
                </a:solidFill>
                <a:latin typeface="Montserrat" pitchFamily="34" charset="0"/>
                <a:ea typeface="Montserrat" pitchFamily="34" charset="-122"/>
                <a:cs typeface="Montserrat" pitchFamily="34" charset="-120"/>
              </a:rPr>
              <a:t>Objetivo</a:t>
            </a:r>
            <a:endParaRPr lang="en-US" sz="3200" dirty="0"/>
          </a:p>
        </p:txBody>
      </p:sp>
      <p:sp>
        <p:nvSpPr>
          <p:cNvPr id="6" name="Shape 2"/>
          <p:cNvSpPr/>
          <p:nvPr/>
        </p:nvSpPr>
        <p:spPr>
          <a:xfrm>
            <a:off x="3858768" y="1417320"/>
            <a:ext cx="4846320" cy="45720"/>
          </a:xfrm>
          <a:prstGeom prst="rect">
            <a:avLst/>
          </a:prstGeom>
          <a:solidFill>
            <a:srgbClr val="E16D34"/>
          </a:solidFill>
          <a:ln w="12700">
            <a:solidFill>
              <a:srgbClr val="E16D34"/>
            </a:solidFill>
            <a:prstDash val="solid"/>
          </a:ln>
        </p:spPr>
      </p:sp>
      <p:sp>
        <p:nvSpPr>
          <p:cNvPr id="7" name="Text 3"/>
          <p:cNvSpPr txBox="1"/>
          <p:nvPr/>
        </p:nvSpPr>
        <p:spPr>
          <a:xfrm>
            <a:off x="3858768" y="1572768"/>
            <a:ext cx="4846320" cy="3108960"/>
          </a:xfrm>
          <a:prstGeom prst="rect">
            <a:avLst/>
          </a:prstGeom>
          <a:noFill/>
          <a:ln/>
        </p:spPr>
        <p:txBody>
          <a:bodyPr wrap="square" lIns="0" tIns="0" rIns="0" bIns="0" rtlCol="0" anchor="t"/>
          <a:lstStyle/>
          <a:p>
            <a:pPr algn="l" marL="177800" indent="-177800">
              <a:spcAft>
                <a:spcPts val="600"/>
              </a:spcAft>
              <a:buSzPct val="100000"/>
              <a:buChar char="●"/>
            </a:pPr>
            <a:r>
              <a:rPr lang="en-US" sz="1500" b="1" dirty="0">
                <a:solidFill>
                  <a:srgbClr val="FFFFFF"/>
                </a:solidFill>
                <a:latin typeface="Helvetica Neue" pitchFamily="34" charset="0"/>
                <a:ea typeface="Helvetica Neue" pitchFamily="34" charset="-122"/>
                <a:cs typeface="Helvetica Neue" pitchFamily="34" charset="-120"/>
              </a:rPr>
              <a:t>Entender por que definimos requisitos e escopo antes de programar.</a:t>
            </a:r>
            <a:endParaRPr lang="en-US" sz="1500" dirty="0"/>
          </a:p>
          <a:p>
            <a:pPr algn="l" marL="177800" indent="-177800">
              <a:spcAft>
                <a:spcPts val="600"/>
              </a:spcAft>
              <a:buSzPct val="100000"/>
              <a:buChar char="●"/>
            </a:pPr>
            <a:r>
              <a:rPr lang="en-US" sz="1500" b="1" dirty="0">
                <a:solidFill>
                  <a:srgbClr val="FFFFFF"/>
                </a:solidFill>
                <a:latin typeface="Helvetica Neue" pitchFamily="34" charset="0"/>
                <a:ea typeface="Helvetica Neue" pitchFamily="34" charset="-122"/>
                <a:cs typeface="Helvetica Neue" pitchFamily="34" charset="-120"/>
              </a:rPr>
              <a:t>Planejar o fluxo de execução de um programa interativo com menu.</a:t>
            </a:r>
            <a:endParaRPr lang="en-US" sz="1500" dirty="0"/>
          </a:p>
          <a:p>
            <a:pPr algn="l" marL="177800" indent="-177800">
              <a:spcAft>
                <a:spcPts val="600"/>
              </a:spcAft>
              <a:buSzPct val="100000"/>
              <a:buChar char="●"/>
            </a:pPr>
            <a:r>
              <a:rPr lang="en-US" sz="1500" b="1" dirty="0">
                <a:solidFill>
                  <a:srgbClr val="FFFFFF"/>
                </a:solidFill>
                <a:latin typeface="Helvetica Neue" pitchFamily="34" charset="0"/>
                <a:ea typeface="Helvetica Neue" pitchFamily="34" charset="-122"/>
                <a:cs typeface="Helvetica Neue" pitchFamily="34" charset="-120"/>
              </a:rPr>
              <a:t>Validar os dados de entrada para deixar o programa robusto.</a:t>
            </a:r>
            <a:endParaRPr lang="en-US" sz="1500" dirty="0"/>
          </a:p>
          <a:p>
            <a:pPr algn="l" marL="177800" indent="-177800">
              <a:spcAft>
                <a:spcPts val="600"/>
              </a:spcAft>
              <a:buSzPct val="100000"/>
              <a:buChar char="●"/>
            </a:pPr>
            <a:r>
              <a:rPr lang="en-US" sz="1500" b="1" dirty="0">
                <a:solidFill>
                  <a:srgbClr val="FFFFFF"/>
                </a:solidFill>
                <a:latin typeface="Helvetica Neue" pitchFamily="34" charset="0"/>
                <a:ea typeface="Helvetica Neue" pitchFamily="34" charset="-122"/>
                <a:cs typeface="Helvetica Neue" pitchFamily="34" charset="-120"/>
              </a:rPr>
              <a:t>Construir uma calculadora no terminal com funções, while e switch.</a:t>
            </a:r>
            <a:endParaRPr lang="en-US" sz="1500" dirty="0"/>
          </a:p>
          <a:p>
            <a:pPr algn="l" marL="177800" indent="-177800">
              <a:buSzPct val="100000"/>
              <a:buChar char="●"/>
            </a:pPr>
            <a:r>
              <a:rPr lang="en-US" sz="1500" b="1" dirty="0">
                <a:solidFill>
                  <a:srgbClr val="FFFFFF"/>
                </a:solidFill>
                <a:latin typeface="Helvetica Neue" pitchFamily="34" charset="0"/>
                <a:ea typeface="Helvetica Neue" pitchFamily="34" charset="-122"/>
                <a:cs typeface="Helvetica Neue" pitchFamily="34" charset="-120"/>
              </a:rPr>
              <a:t>Aplicar o mesmo processo num segundo projeto: a Clínica Médica.</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1188720" y="1005840"/>
            <a:ext cx="6766560" cy="3108960"/>
          </a:xfrm>
          <a:prstGeom prst="rect">
            <a:avLst/>
          </a:prstGeom>
          <a:noFill/>
          <a:ln/>
        </p:spPr>
        <p:txBody>
          <a:bodyPr wrap="square" lIns="0" tIns="0" rIns="0" bIns="0" rtlCol="0" anchor="ctr"/>
          <a:lstStyle/>
          <a:p>
            <a:pPr algn="ctr" indent="0" marL="0">
              <a:buNone/>
            </a:pPr>
            <a:r>
              <a:rPr lang="en-US" sz="2400" b="1" dirty="0">
                <a:solidFill>
                  <a:srgbClr val="FFFFFF"/>
                </a:solidFill>
                <a:latin typeface="Helvetica Neue" pitchFamily="34" charset="0"/>
                <a:ea typeface="Helvetica Neue" pitchFamily="34" charset="-122"/>
                <a:cs typeface="Helvetica Neue" pitchFamily="34" charset="-120"/>
              </a:rPr>
              <a:t>No Módulo 2 aprendemos as peças: variáveis, condicionais, laços e funções. Agora vamos juntar tudo no nosso </a:t>
            </a:r>
            <a:r>
              <a:rPr lang="en-US" sz="2400" b="1" dirty="0">
                <a:solidFill>
                  <a:srgbClr val="E16D34"/>
                </a:solidFill>
                <a:latin typeface="Helvetica Neue" pitchFamily="34" charset="0"/>
                <a:ea typeface="Helvetica Neue" pitchFamily="34" charset="-122"/>
                <a:cs typeface="Helvetica Neue" pitchFamily="34" charset="-120"/>
              </a:rPr>
              <a:t>primeiro projeto de verdade</a:t>
            </a:r>
            <a:r>
              <a:rPr lang="en-US" sz="2400" b="1" dirty="0">
                <a:solidFill>
                  <a:srgbClr val="FFFFFF"/>
                </a:solidFill>
                <a:latin typeface="Helvetica Neue" pitchFamily="34" charset="0"/>
                <a:ea typeface="Helvetica Neue" pitchFamily="34" charset="-122"/>
                <a:cs typeface="Helvetica Neue" pitchFamily="34" charset="-120"/>
              </a:rPr>
              <a:t>.</a:t>
            </a:r>
            <a:endParaRPr lang="en-US" sz="2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417320"/>
            <a:ext cx="7680960" cy="1188720"/>
          </a:xfrm>
          <a:prstGeom prst="rect">
            <a:avLst/>
          </a:prstGeom>
          <a:noFill/>
          <a:ln/>
        </p:spPr>
        <p:txBody>
          <a:bodyPr wrap="square" lIns="0" tIns="0" rIns="0" bIns="0" rtlCol="0" anchor="b"/>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Qual calculadora?</a:t>
            </a:r>
            <a:endParaRPr lang="en-US" sz="3200" dirty="0"/>
          </a:p>
        </p:txBody>
      </p:sp>
      <p:sp>
        <p:nvSpPr>
          <p:cNvPr id="5" name="Text 1"/>
          <p:cNvSpPr txBox="1"/>
          <p:nvPr/>
        </p:nvSpPr>
        <p:spPr>
          <a:xfrm>
            <a:off x="1097280" y="2743200"/>
            <a:ext cx="6949440" cy="1005840"/>
          </a:xfrm>
          <a:prstGeom prst="rect">
            <a:avLst/>
          </a:prstGeom>
          <a:noFill/>
          <a:ln/>
        </p:spPr>
        <p:txBody>
          <a:bodyPr wrap="square" lIns="0" tIns="0" rIns="0" bIns="0" rtlCol="0" anchor="t"/>
          <a:lstStyle/>
          <a:p>
            <a:pPr algn="ctr" indent="0" marL="0">
              <a:buNone/>
            </a:pPr>
            <a:r>
              <a:rPr lang="en-US" sz="1600" b="1" dirty="0">
                <a:solidFill>
                  <a:srgbClr val="E6E6E6"/>
                </a:solidFill>
                <a:latin typeface="Helvetica Neue" pitchFamily="34" charset="0"/>
                <a:ea typeface="Helvetica Neue" pitchFamily="34" charset="-122"/>
                <a:cs typeface="Helvetica Neue" pitchFamily="34" charset="-120"/>
              </a:rPr>
              <a:t>"Fazer uma calculadora" pode significar muita coisa…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200" b="1" dirty="0">
                <a:solidFill>
                  <a:srgbClr val="E16D34"/>
                </a:solidFill>
                <a:latin typeface="Montserrat" pitchFamily="34" charset="0"/>
                <a:ea typeface="Montserrat" pitchFamily="34" charset="-122"/>
                <a:cs typeface="Montserrat" pitchFamily="34" charset="-120"/>
              </a:rPr>
              <a:t>Três calculadoras, três projetos diferentes</a:t>
            </a:r>
            <a:endParaRPr lang="en-US" sz="2200" dirty="0"/>
          </a:p>
        </p:txBody>
      </p:sp>
      <p:sp>
        <p:nvSpPr>
          <p:cNvPr id="5" name="Shape 2"/>
          <p:cNvSpPr/>
          <p:nvPr/>
        </p:nvSpPr>
        <p:spPr>
          <a:xfrm>
            <a:off x="411480" y="1051560"/>
            <a:ext cx="2606040" cy="3703320"/>
          </a:xfrm>
          <a:prstGeom prst="roundRect">
            <a:avLst>
              <a:gd name="adj" fmla="val 3509"/>
            </a:avLst>
          </a:prstGeom>
          <a:solidFill>
            <a:srgbClr val="1A1A1A"/>
          </a:solidFill>
          <a:ln w="12700">
            <a:solidFill>
              <a:srgbClr val="1A1A1A"/>
            </a:solidFill>
            <a:prstDash val="solid"/>
          </a:ln>
        </p:spPr>
      </p:sp>
      <p:pic>
        <p:nvPicPr>
          <p:cNvPr id="6" name="Image 0" descr="Calculadora Básica">    </p:cNvPr>
          <p:cNvPicPr>
            <a:picLocks noChangeAspect="1"/>
          </p:cNvPicPr>
          <p:nvPr/>
        </p:nvPicPr>
        <p:blipFill>
          <a:blip r:embed="rId2"/>
          <a:stretch>
            <a:fillRect/>
          </a:stretch>
        </p:blipFill>
        <p:spPr>
          <a:xfrm>
            <a:off x="903006" y="1188720"/>
            <a:ext cx="1622988" cy="1737360"/>
          </a:xfrm>
          <a:prstGeom prst="rect">
            <a:avLst/>
          </a:prstGeom>
        </p:spPr>
      </p:pic>
      <p:sp>
        <p:nvSpPr>
          <p:cNvPr id="7" name="Text 3"/>
          <p:cNvSpPr txBox="1"/>
          <p:nvPr/>
        </p:nvSpPr>
        <p:spPr>
          <a:xfrm>
            <a:off x="502920" y="3017520"/>
            <a:ext cx="2423160" cy="411480"/>
          </a:xfrm>
          <a:prstGeom prst="rect">
            <a:avLst/>
          </a:prstGeom>
          <a:noFill/>
          <a:ln/>
        </p:spPr>
        <p:txBody>
          <a:bodyPr wrap="square" lIns="0" tIns="0" rIns="0" bIns="0" rtlCol="0" anchor="ctr"/>
          <a:lstStyle/>
          <a:p>
            <a:pPr algn="ctr" indent="0" marL="0">
              <a:buNone/>
            </a:pPr>
            <a:r>
              <a:rPr lang="en-US" sz="1800" b="1" dirty="0">
                <a:solidFill>
                  <a:srgbClr val="E16D34"/>
                </a:solidFill>
                <a:latin typeface="Helvetica Neue" pitchFamily="34" charset="0"/>
                <a:ea typeface="Helvetica Neue" pitchFamily="34" charset="-122"/>
                <a:cs typeface="Helvetica Neue" pitchFamily="34" charset="-120"/>
              </a:rPr>
              <a:t>Básica</a:t>
            </a:r>
            <a:endParaRPr lang="en-US" sz="1800" dirty="0"/>
          </a:p>
        </p:txBody>
      </p:sp>
      <p:sp>
        <p:nvSpPr>
          <p:cNvPr id="8" name="Text 4"/>
          <p:cNvSpPr txBox="1"/>
          <p:nvPr/>
        </p:nvSpPr>
        <p:spPr>
          <a:xfrm>
            <a:off x="594360" y="3474720"/>
            <a:ext cx="2240280" cy="109728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Soma, subtração, multiplicação e divisão, com inteiros e decimais.</a:t>
            </a:r>
            <a:endParaRPr lang="en-US" sz="1300" dirty="0"/>
          </a:p>
        </p:txBody>
      </p:sp>
      <p:sp>
        <p:nvSpPr>
          <p:cNvPr id="9" name="Shape 5"/>
          <p:cNvSpPr/>
          <p:nvPr/>
        </p:nvSpPr>
        <p:spPr>
          <a:xfrm>
            <a:off x="3246120" y="1051560"/>
            <a:ext cx="2606040" cy="3703320"/>
          </a:xfrm>
          <a:prstGeom prst="roundRect">
            <a:avLst>
              <a:gd name="adj" fmla="val 3509"/>
            </a:avLst>
          </a:prstGeom>
          <a:solidFill>
            <a:srgbClr val="1A1A1A"/>
          </a:solidFill>
          <a:ln w="12700">
            <a:solidFill>
              <a:srgbClr val="1A1A1A"/>
            </a:solidFill>
            <a:prstDash val="solid"/>
          </a:ln>
        </p:spPr>
      </p:sp>
      <p:pic>
        <p:nvPicPr>
          <p:cNvPr id="10" name="Image 1" descr="Calculadora Científica">    </p:cNvPr>
          <p:cNvPicPr>
            <a:picLocks noChangeAspect="1"/>
          </p:cNvPicPr>
          <p:nvPr/>
        </p:nvPicPr>
        <p:blipFill>
          <a:blip r:embed="rId3"/>
          <a:stretch>
            <a:fillRect/>
          </a:stretch>
        </p:blipFill>
        <p:spPr>
          <a:xfrm>
            <a:off x="4066154" y="1188720"/>
            <a:ext cx="965972" cy="1737360"/>
          </a:xfrm>
          <a:prstGeom prst="rect">
            <a:avLst/>
          </a:prstGeom>
        </p:spPr>
      </p:pic>
      <p:sp>
        <p:nvSpPr>
          <p:cNvPr id="11" name="Text 6"/>
          <p:cNvSpPr txBox="1"/>
          <p:nvPr/>
        </p:nvSpPr>
        <p:spPr>
          <a:xfrm>
            <a:off x="3337560" y="3017520"/>
            <a:ext cx="24231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Neue" pitchFamily="34" charset="0"/>
                <a:ea typeface="Helvetica Neue" pitchFamily="34" charset="-122"/>
                <a:cs typeface="Helvetica Neue" pitchFamily="34" charset="-120"/>
              </a:rPr>
              <a:t>Científica</a:t>
            </a:r>
            <a:endParaRPr lang="en-US" sz="1800" dirty="0"/>
          </a:p>
        </p:txBody>
      </p:sp>
      <p:sp>
        <p:nvSpPr>
          <p:cNvPr id="12" name="Text 7"/>
          <p:cNvSpPr txBox="1"/>
          <p:nvPr/>
        </p:nvSpPr>
        <p:spPr>
          <a:xfrm>
            <a:off x="3429000" y="3474720"/>
            <a:ext cx="2240280" cy="109728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Trigonometria, raízes, potências, álgebra e estatística.</a:t>
            </a:r>
            <a:endParaRPr lang="en-US" sz="1300" dirty="0"/>
          </a:p>
        </p:txBody>
      </p:sp>
      <p:sp>
        <p:nvSpPr>
          <p:cNvPr id="13" name="Shape 8"/>
          <p:cNvSpPr/>
          <p:nvPr/>
        </p:nvSpPr>
        <p:spPr>
          <a:xfrm>
            <a:off x="6080760" y="1051560"/>
            <a:ext cx="2606040" cy="3703320"/>
          </a:xfrm>
          <a:prstGeom prst="roundRect">
            <a:avLst>
              <a:gd name="adj" fmla="val 3509"/>
            </a:avLst>
          </a:prstGeom>
          <a:solidFill>
            <a:srgbClr val="1A1A1A"/>
          </a:solidFill>
          <a:ln w="12700">
            <a:solidFill>
              <a:srgbClr val="1A1A1A"/>
            </a:solidFill>
            <a:prstDash val="solid"/>
          </a:ln>
        </p:spPr>
      </p:sp>
      <p:pic>
        <p:nvPicPr>
          <p:cNvPr id="14" name="Image 2" descr="Calculadora Financeira">    </p:cNvPr>
          <p:cNvPicPr>
            <a:picLocks noChangeAspect="1"/>
          </p:cNvPicPr>
          <p:nvPr/>
        </p:nvPicPr>
        <p:blipFill>
          <a:blip r:embed="rId4"/>
          <a:stretch>
            <a:fillRect/>
          </a:stretch>
        </p:blipFill>
        <p:spPr>
          <a:xfrm>
            <a:off x="6515100" y="1188720"/>
            <a:ext cx="1737360" cy="1737360"/>
          </a:xfrm>
          <a:prstGeom prst="rect">
            <a:avLst/>
          </a:prstGeom>
        </p:spPr>
      </p:pic>
      <p:sp>
        <p:nvSpPr>
          <p:cNvPr id="15" name="Text 9"/>
          <p:cNvSpPr txBox="1"/>
          <p:nvPr/>
        </p:nvSpPr>
        <p:spPr>
          <a:xfrm>
            <a:off x="6172200" y="3017520"/>
            <a:ext cx="2423160" cy="411480"/>
          </a:xfrm>
          <a:prstGeom prst="rect">
            <a:avLst/>
          </a:prstGeom>
          <a:noFill/>
          <a:ln/>
        </p:spPr>
        <p:txBody>
          <a:bodyPr wrap="square" lIns="0" tIns="0" rIns="0" bIns="0" rtlCol="0" anchor="ctr"/>
          <a:lstStyle/>
          <a:p>
            <a:pPr algn="ctr" indent="0" marL="0">
              <a:buNone/>
            </a:pPr>
            <a:r>
              <a:rPr lang="en-US" sz="1800" b="1" dirty="0">
                <a:solidFill>
                  <a:srgbClr val="F7A072"/>
                </a:solidFill>
                <a:latin typeface="Helvetica Neue" pitchFamily="34" charset="0"/>
                <a:ea typeface="Helvetica Neue" pitchFamily="34" charset="-122"/>
                <a:cs typeface="Helvetica Neue" pitchFamily="34" charset="-120"/>
              </a:rPr>
              <a:t>Financeira</a:t>
            </a:r>
            <a:endParaRPr lang="en-US" sz="1800" dirty="0"/>
          </a:p>
        </p:txBody>
      </p:sp>
      <p:sp>
        <p:nvSpPr>
          <p:cNvPr id="16" name="Text 10"/>
          <p:cNvSpPr txBox="1"/>
          <p:nvPr/>
        </p:nvSpPr>
        <p:spPr>
          <a:xfrm>
            <a:off x="6263640" y="3474720"/>
            <a:ext cx="2240280" cy="109728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Juros simples e compostos, valor presente líquido e investimentos.</a:t>
            </a:r>
            <a:endParaRPr lang="en-US" sz="13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200" b="1" dirty="0">
                <a:solidFill>
                  <a:srgbClr val="E16D34"/>
                </a:solidFill>
                <a:latin typeface="Montserrat" pitchFamily="34" charset="0"/>
                <a:ea typeface="Montserrat" pitchFamily="34" charset="-122"/>
                <a:cs typeface="Montserrat" pitchFamily="34" charset="-120"/>
              </a:rPr>
              <a:t>Por que definir requisitos antes de codar?</a:t>
            </a:r>
            <a:endParaRPr lang="en-US" sz="2200" dirty="0"/>
          </a:p>
        </p:txBody>
      </p:sp>
      <p:pic>
        <p:nvPicPr>
          <p:cNvPr id="5" name="Image 0" descr="preencoded.png">    </p:cNvPr>
          <p:cNvPicPr>
            <a:picLocks noChangeAspect="1"/>
          </p:cNvPicPr>
          <p:nvPr/>
        </p:nvPicPr>
        <p:blipFill>
          <a:blip r:embed="rId2"/>
          <a:stretch>
            <a:fillRect/>
          </a:stretch>
        </p:blipFill>
        <p:spPr>
          <a:xfrm>
            <a:off x="685800" y="1469898"/>
            <a:ext cx="502920" cy="502920"/>
          </a:xfrm>
          <a:prstGeom prst="rect">
            <a:avLst/>
          </a:prstGeom>
        </p:spPr>
      </p:pic>
      <p:sp>
        <p:nvSpPr>
          <p:cNvPr id="6" name="Text 2"/>
          <p:cNvSpPr txBox="1"/>
          <p:nvPr/>
        </p:nvSpPr>
        <p:spPr>
          <a:xfrm>
            <a:off x="1463040" y="1451610"/>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Necessidades, funcionalidades e restrições</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Deixa claro o que o sistema faz e o que ele não faz.</a:t>
            </a:r>
            <a:endParaRPr lang="en-US" sz="1650" dirty="0"/>
          </a:p>
        </p:txBody>
      </p:sp>
      <p:pic>
        <p:nvPicPr>
          <p:cNvPr id="7" name="Image 1" descr="preencoded.png">    </p:cNvPr>
          <p:cNvPicPr>
            <a:picLocks noChangeAspect="1"/>
          </p:cNvPicPr>
          <p:nvPr/>
        </p:nvPicPr>
        <p:blipFill>
          <a:blip r:embed="rId3"/>
          <a:stretch>
            <a:fillRect/>
          </a:stretch>
        </p:blipFill>
        <p:spPr>
          <a:xfrm>
            <a:off x="685800" y="2192274"/>
            <a:ext cx="502920" cy="502920"/>
          </a:xfrm>
          <a:prstGeom prst="rect">
            <a:avLst/>
          </a:prstGeom>
        </p:spPr>
      </p:pic>
      <p:sp>
        <p:nvSpPr>
          <p:cNvPr id="8" name="Text 3"/>
          <p:cNvSpPr txBox="1"/>
          <p:nvPr/>
        </p:nvSpPr>
        <p:spPr>
          <a:xfrm>
            <a:off x="1463040" y="2173986"/>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O produto certo</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Garante que o resultado atenda às expectativas de quem vai usar.</a:t>
            </a:r>
            <a:endParaRPr lang="en-US" sz="1650" dirty="0"/>
          </a:p>
        </p:txBody>
      </p:sp>
      <p:pic>
        <p:nvPicPr>
          <p:cNvPr id="9" name="Image 2" descr="preencoded.png">    </p:cNvPr>
          <p:cNvPicPr>
            <a:picLocks noChangeAspect="1"/>
          </p:cNvPicPr>
          <p:nvPr/>
        </p:nvPicPr>
        <p:blipFill>
          <a:blip r:embed="rId4"/>
          <a:stretch>
            <a:fillRect/>
          </a:stretch>
        </p:blipFill>
        <p:spPr>
          <a:xfrm>
            <a:off x="685800" y="3120390"/>
            <a:ext cx="502920" cy="502920"/>
          </a:xfrm>
          <a:prstGeom prst="rect">
            <a:avLst/>
          </a:prstGeom>
        </p:spPr>
      </p:pic>
      <p:sp>
        <p:nvSpPr>
          <p:cNvPr id="10" name="Text 4"/>
          <p:cNvSpPr txBox="1"/>
          <p:nvPr/>
        </p:nvSpPr>
        <p:spPr>
          <a:xfrm>
            <a:off x="1463040" y="3102102"/>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Menos retrabalho</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Evita atrasos e custos de refazer o que já estava pronto.</a:t>
            </a:r>
            <a:endParaRPr lang="en-US" sz="1650" dirty="0"/>
          </a:p>
        </p:txBody>
      </p:sp>
      <p:pic>
        <p:nvPicPr>
          <p:cNvPr id="11" name="Image 3" descr="preencoded.png">    </p:cNvPr>
          <p:cNvPicPr>
            <a:picLocks noChangeAspect="1"/>
          </p:cNvPicPr>
          <p:nvPr/>
        </p:nvPicPr>
        <p:blipFill>
          <a:blip r:embed="rId5"/>
          <a:stretch>
            <a:fillRect/>
          </a:stretch>
        </p:blipFill>
        <p:spPr>
          <a:xfrm>
            <a:off x="685800" y="3842766"/>
            <a:ext cx="502920" cy="502920"/>
          </a:xfrm>
          <a:prstGeom prst="rect">
            <a:avLst/>
          </a:prstGeom>
        </p:spPr>
      </p:pic>
      <p:sp>
        <p:nvSpPr>
          <p:cNvPr id="12" name="Text 5"/>
          <p:cNvSpPr txBox="1"/>
          <p:nvPr/>
        </p:nvSpPr>
        <p:spPr>
          <a:xfrm>
            <a:off x="1463040" y="3824478"/>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Você sabe quando terminou</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E sabe exatamente o que precisa testar.</a:t>
            </a:r>
            <a:endParaRPr lang="en-US" sz="16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1188720" y="1005840"/>
            <a:ext cx="6766560" cy="3108960"/>
          </a:xfrm>
          <a:prstGeom prst="rect">
            <a:avLst/>
          </a:prstGeom>
          <a:noFill/>
          <a:ln/>
        </p:spPr>
        <p:txBody>
          <a:bodyPr wrap="square" lIns="0" tIns="0" rIns="0" bIns="0" rtlCol="0" anchor="ctr"/>
          <a:lstStyle/>
          <a:p>
            <a:pPr algn="ctr" indent="0" marL="0">
              <a:buNone/>
            </a:pPr>
            <a:r>
              <a:rPr lang="en-US" sz="2400" b="1" dirty="0">
                <a:solidFill>
                  <a:srgbClr val="FFFFFF"/>
                </a:solidFill>
                <a:latin typeface="Helvetica Neue" pitchFamily="34" charset="0"/>
                <a:ea typeface="Helvetica Neue" pitchFamily="34" charset="-122"/>
                <a:cs typeface="Helvetica Neue" pitchFamily="34" charset="-120"/>
              </a:rPr>
              <a:t>Imagine que você acabou de entrar num projeto cujo único requisito é: </a:t>
            </a:r>
            <a:r>
              <a:rPr lang="en-US" sz="2400" b="1" dirty="0">
                <a:solidFill>
                  <a:srgbClr val="E16D34"/>
                </a:solidFill>
                <a:latin typeface="Helvetica Neue" pitchFamily="34" charset="0"/>
                <a:ea typeface="Helvetica Neue" pitchFamily="34" charset="-122"/>
                <a:cs typeface="Helvetica Neue" pitchFamily="34" charset="-120"/>
              </a:rPr>
              <a:t>"vamos construir um carro"</a:t>
            </a:r>
            <a:r>
              <a:rPr lang="en-US" sz="2400" b="1" dirty="0">
                <a:solidFill>
                  <a:srgbClr val="FFFFFF"/>
                </a:solidFill>
                <a:latin typeface="Helvetica Neue" pitchFamily="34" charset="0"/>
                <a:ea typeface="Helvetica Neue" pitchFamily="34" charset="-122"/>
                <a:cs typeface="Helvetica Neue" pitchFamily="34" charset="-120"/>
              </a:rPr>
              <a:t>. O que você imagina?</a:t>
            </a:r>
            <a:endParaRPr lang="en-US" sz="2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que cada um entendeu</a:t>
            </a:r>
            <a:endParaRPr lang="en-US" sz="3000" dirty="0"/>
          </a:p>
        </p:txBody>
      </p:sp>
      <p:sp>
        <p:nvSpPr>
          <p:cNvPr id="5" name="Shape 2"/>
          <p:cNvSpPr/>
          <p:nvPr/>
        </p:nvSpPr>
        <p:spPr>
          <a:xfrm>
            <a:off x="1600200" y="1024128"/>
            <a:ext cx="5943600" cy="3017520"/>
          </a:xfrm>
          <a:prstGeom prst="roundRect">
            <a:avLst>
              <a:gd name="adj" fmla="val 1818"/>
            </a:avLst>
          </a:prstGeom>
          <a:solidFill>
            <a:srgbClr val="FFFFFF"/>
          </a:solidFill>
          <a:ln w="19050">
            <a:solidFill>
              <a:srgbClr val="E16D34"/>
            </a:solidFill>
            <a:prstDash val="solid"/>
          </a:ln>
        </p:spPr>
      </p:sp>
      <p:pic>
        <p:nvPicPr>
          <p:cNvPr id="6" name="Image 0" descr="Cliente imagina uma Ferrari, equipe imagina um carro simples">    </p:cNvPr>
          <p:cNvPicPr>
            <a:picLocks noChangeAspect="1"/>
          </p:cNvPicPr>
          <p:nvPr/>
        </p:nvPicPr>
        <p:blipFill>
          <a:blip r:embed="rId2"/>
          <a:stretch>
            <a:fillRect/>
          </a:stretch>
        </p:blipFill>
        <p:spPr>
          <a:xfrm>
            <a:off x="2407502" y="1069848"/>
            <a:ext cx="4328995" cy="2926080"/>
          </a:xfrm>
          <a:prstGeom prst="rect">
            <a:avLst/>
          </a:prstGeom>
        </p:spPr>
      </p:pic>
      <p:sp>
        <p:nvSpPr>
          <p:cNvPr id="7" name="Text 3"/>
          <p:cNvSpPr txBox="1"/>
          <p:nvPr/>
        </p:nvSpPr>
        <p:spPr>
          <a:xfrm>
            <a:off x="731520" y="4160520"/>
            <a:ext cx="7680960" cy="548640"/>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Sem requisitos claros, o cliente imagina uma </a:t>
            </a:r>
            <a:r>
              <a:rPr lang="en-US" sz="1500" b="1" dirty="0">
                <a:solidFill>
                  <a:srgbClr val="FFFFFF"/>
                </a:solidFill>
                <a:latin typeface="Helvetica Neue" pitchFamily="34" charset="0"/>
                <a:ea typeface="Helvetica Neue" pitchFamily="34" charset="-122"/>
                <a:cs typeface="Helvetica Neue" pitchFamily="34" charset="-120"/>
              </a:rPr>
              <a:t>Ferrari</a:t>
            </a:r>
            <a:r>
              <a:rPr lang="en-US" sz="1500" b="1" dirty="0">
                <a:solidFill>
                  <a:srgbClr val="E16D34"/>
                </a:solidFill>
                <a:latin typeface="Helvetica Neue" pitchFamily="34" charset="0"/>
                <a:ea typeface="Helvetica Neue" pitchFamily="34" charset="-122"/>
                <a:cs typeface="Helvetica Neue" pitchFamily="34" charset="-120"/>
              </a:rPr>
              <a:t> e a equipe entrega um </a:t>
            </a:r>
            <a:r>
              <a:rPr lang="en-US" sz="1500" b="1" dirty="0">
                <a:solidFill>
                  <a:srgbClr val="FFFFFF"/>
                </a:solidFill>
                <a:latin typeface="Helvetica Neue" pitchFamily="34" charset="0"/>
                <a:ea typeface="Helvetica Neue" pitchFamily="34" charset="-122"/>
                <a:cs typeface="Helvetica Neue" pitchFamily="34" charset="-120"/>
              </a:rPr>
              <a:t>Fiat Uno</a:t>
            </a:r>
            <a:r>
              <a:rPr lang="en-US" sz="1500" b="1" dirty="0">
                <a:solidFill>
                  <a:srgbClr val="E16D34"/>
                </a:solidFill>
                <a:latin typeface="Helvetica Neue" pitchFamily="34" charset="0"/>
                <a:ea typeface="Helvetica Neue" pitchFamily="34" charset="-122"/>
                <a:cs typeface="Helvetica Neue" pitchFamily="34" charset="-120"/>
              </a:rPr>
              <a:t>.</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500" b="1" dirty="0">
                <a:solidFill>
                  <a:srgbClr val="E16D34"/>
                </a:solidFill>
                <a:latin typeface="Montserrat" pitchFamily="34" charset="0"/>
                <a:ea typeface="Montserrat" pitchFamily="34" charset="-122"/>
                <a:cs typeface="Montserrat" pitchFamily="34" charset="-120"/>
              </a:rPr>
              <a:t>Escopo: qual calculadora vamos criar?</a:t>
            </a:r>
            <a:endParaRPr lang="en-US" sz="2500" dirty="0"/>
          </a:p>
        </p:txBody>
      </p:sp>
      <p:sp>
        <p:nvSpPr>
          <p:cNvPr id="5" name="Shape 2"/>
          <p:cNvSpPr/>
          <p:nvPr/>
        </p:nvSpPr>
        <p:spPr>
          <a:xfrm>
            <a:off x="411480" y="1400556"/>
            <a:ext cx="4023360" cy="2356104"/>
          </a:xfrm>
          <a:prstGeom prst="roundRect">
            <a:avLst>
              <a:gd name="adj" fmla="val 3881"/>
            </a:avLst>
          </a:prstGeom>
          <a:solidFill>
            <a:srgbClr val="1A1A1A"/>
          </a:solidFill>
          <a:ln w="6350">
            <a:solidFill>
              <a:srgbClr val="1A1A1A"/>
            </a:solidFill>
            <a:prstDash val="solid"/>
          </a:ln>
        </p:spPr>
      </p:sp>
      <p:pic>
        <p:nvPicPr>
          <p:cNvPr id="6" name="Image 0" descr="preencoded.png">    </p:cNvPr>
          <p:cNvPicPr>
            <a:picLocks noChangeAspect="1"/>
          </p:cNvPicPr>
          <p:nvPr/>
        </p:nvPicPr>
        <p:blipFill>
          <a:blip r:embed="rId2"/>
          <a:stretch>
            <a:fillRect/>
          </a:stretch>
        </p:blipFill>
        <p:spPr>
          <a:xfrm>
            <a:off x="594360" y="1583436"/>
            <a:ext cx="384048" cy="384048"/>
          </a:xfrm>
          <a:prstGeom prst="rect">
            <a:avLst/>
          </a:prstGeom>
        </p:spPr>
      </p:pic>
      <p:sp>
        <p:nvSpPr>
          <p:cNvPr id="7" name="Text 3"/>
          <p:cNvSpPr txBox="1"/>
          <p:nvPr/>
        </p:nvSpPr>
        <p:spPr>
          <a:xfrm>
            <a:off x="1106424" y="1583436"/>
            <a:ext cx="3145536" cy="384048"/>
          </a:xfrm>
          <a:prstGeom prst="rect">
            <a:avLst/>
          </a:prstGeom>
          <a:noFill/>
          <a:ln/>
        </p:spPr>
        <p:txBody>
          <a:bodyPr wrap="square" lIns="0" tIns="0" rIns="0" bIns="0" rtlCol="0" anchor="ctr"/>
          <a:lstStyle/>
          <a:p>
            <a:pPr algn="l" indent="0" marL="0">
              <a:buNone/>
            </a:pPr>
            <a:r>
              <a:rPr lang="en-US" sz="1750" b="1" dirty="0">
                <a:solidFill>
                  <a:srgbClr val="FFFFFF"/>
                </a:solidFill>
                <a:latin typeface="Helvetica Neue" pitchFamily="34" charset="0"/>
                <a:ea typeface="Helvetica Neue" pitchFamily="34" charset="-122"/>
                <a:cs typeface="Helvetica Neue" pitchFamily="34" charset="-120"/>
              </a:rPr>
              <a:t>Dentro do escopo</a:t>
            </a:r>
            <a:endParaRPr lang="en-US" sz="1750" dirty="0"/>
          </a:p>
        </p:txBody>
      </p:sp>
      <p:sp>
        <p:nvSpPr>
          <p:cNvPr id="8" name="Text 4"/>
          <p:cNvSpPr txBox="1"/>
          <p:nvPr/>
        </p:nvSpPr>
        <p:spPr>
          <a:xfrm>
            <a:off x="594360" y="2058924"/>
            <a:ext cx="3657600" cy="1514856"/>
          </a:xfrm>
          <a:prstGeom prst="rect">
            <a:avLst/>
          </a:prstGeom>
          <a:noFill/>
          <a:ln/>
        </p:spPr>
        <p:txBody>
          <a:bodyPr wrap="square" lIns="0" tIns="0" rIns="0" bIns="0" rtlCol="0" anchor="t"/>
          <a:lstStyle/>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Adição, subtração, multiplicação e divisão</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Porcentagem sobre o resultado acumulado</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Ver o resultado atual</a:t>
            </a:r>
            <a:endParaRPr lang="en-US" sz="1450" dirty="0"/>
          </a:p>
          <a:p>
            <a:pPr algn="l" marL="177800" indent="-177800">
              <a:buSzPct val="100000"/>
              <a:buChar char="●"/>
            </a:pPr>
            <a:r>
              <a:rPr lang="en-US" sz="1450" b="1" dirty="0">
                <a:solidFill>
                  <a:srgbClr val="E6E6E6"/>
                </a:solidFill>
                <a:latin typeface="Helvetica Neue" pitchFamily="34" charset="0"/>
                <a:ea typeface="Helvetica Neue" pitchFamily="34" charset="-122"/>
                <a:cs typeface="Helvetica Neue" pitchFamily="34" charset="-120"/>
              </a:rPr>
              <a:t>Sair do programa</a:t>
            </a:r>
            <a:endParaRPr lang="en-US" sz="1450" dirty="0"/>
          </a:p>
        </p:txBody>
      </p:sp>
      <p:sp>
        <p:nvSpPr>
          <p:cNvPr id="9" name="Shape 5"/>
          <p:cNvSpPr/>
          <p:nvPr/>
        </p:nvSpPr>
        <p:spPr>
          <a:xfrm>
            <a:off x="4709160" y="1400556"/>
            <a:ext cx="4023360" cy="2356104"/>
          </a:xfrm>
          <a:prstGeom prst="roundRect">
            <a:avLst>
              <a:gd name="adj" fmla="val 3881"/>
            </a:avLst>
          </a:prstGeom>
          <a:solidFill>
            <a:srgbClr val="1A1A1A"/>
          </a:solidFill>
          <a:ln w="6350">
            <a:solidFill>
              <a:srgbClr val="1A1A1A"/>
            </a:solidFill>
            <a:prstDash val="solid"/>
          </a:ln>
        </p:spPr>
      </p:sp>
      <p:pic>
        <p:nvPicPr>
          <p:cNvPr id="10" name="Image 1" descr="preencoded.png">    </p:cNvPr>
          <p:cNvPicPr>
            <a:picLocks noChangeAspect="1"/>
          </p:cNvPicPr>
          <p:nvPr/>
        </p:nvPicPr>
        <p:blipFill>
          <a:blip r:embed="rId3"/>
          <a:stretch>
            <a:fillRect/>
          </a:stretch>
        </p:blipFill>
        <p:spPr>
          <a:xfrm>
            <a:off x="4892040" y="1583436"/>
            <a:ext cx="384048" cy="384048"/>
          </a:xfrm>
          <a:prstGeom prst="rect">
            <a:avLst/>
          </a:prstGeom>
        </p:spPr>
      </p:pic>
      <p:sp>
        <p:nvSpPr>
          <p:cNvPr id="11" name="Text 6"/>
          <p:cNvSpPr txBox="1"/>
          <p:nvPr/>
        </p:nvSpPr>
        <p:spPr>
          <a:xfrm>
            <a:off x="5404104" y="1583436"/>
            <a:ext cx="3145536" cy="384048"/>
          </a:xfrm>
          <a:prstGeom prst="rect">
            <a:avLst/>
          </a:prstGeom>
          <a:noFill/>
          <a:ln/>
        </p:spPr>
        <p:txBody>
          <a:bodyPr wrap="square" lIns="0" tIns="0" rIns="0" bIns="0" rtlCol="0" anchor="ctr"/>
          <a:lstStyle/>
          <a:p>
            <a:pPr algn="l" indent="0" marL="0">
              <a:buNone/>
            </a:pPr>
            <a:r>
              <a:rPr lang="en-US" sz="1750" b="1" dirty="0">
                <a:solidFill>
                  <a:srgbClr val="F85149"/>
                </a:solidFill>
                <a:latin typeface="Helvetica Neue" pitchFamily="34" charset="0"/>
                <a:ea typeface="Helvetica Neue" pitchFamily="34" charset="-122"/>
                <a:cs typeface="Helvetica Neue" pitchFamily="34" charset="-120"/>
              </a:rPr>
              <a:t>Fora do escopo</a:t>
            </a:r>
            <a:endParaRPr lang="en-US" sz="1750" dirty="0"/>
          </a:p>
        </p:txBody>
      </p:sp>
      <p:sp>
        <p:nvSpPr>
          <p:cNvPr id="12" name="Text 7"/>
          <p:cNvSpPr txBox="1"/>
          <p:nvPr/>
        </p:nvSpPr>
        <p:spPr>
          <a:xfrm>
            <a:off x="4892040" y="2058924"/>
            <a:ext cx="3657600" cy="1243076"/>
          </a:xfrm>
          <a:prstGeom prst="rect">
            <a:avLst/>
          </a:prstGeom>
          <a:noFill/>
          <a:ln/>
        </p:spPr>
        <p:txBody>
          <a:bodyPr wrap="square" lIns="0" tIns="0" rIns="0" bIns="0" rtlCol="0" anchor="t"/>
          <a:lstStyle/>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Operações científicas (seno, log, potência)</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Histórico das operações em arquivo</a:t>
            </a:r>
            <a:endParaRPr lang="en-US" sz="1450" dirty="0"/>
          </a:p>
          <a:p>
            <a:pPr algn="l" marL="177800" indent="-177800">
              <a:buSzPct val="100000"/>
              <a:buChar char="●"/>
            </a:pPr>
            <a:r>
              <a:rPr lang="en-US" sz="1450" b="1" dirty="0">
                <a:solidFill>
                  <a:srgbClr val="E6E6E6"/>
                </a:solidFill>
                <a:latin typeface="Helvetica Neue" pitchFamily="34" charset="0"/>
                <a:ea typeface="Helvetica Neue" pitchFamily="34" charset="-122"/>
                <a:cs typeface="Helvetica Neue" pitchFamily="34" charset="-120"/>
              </a:rPr>
              <a:t>Interface gráfica</a:t>
            </a:r>
            <a:endParaRPr lang="en-US" sz="1450" dirty="0"/>
          </a:p>
        </p:txBody>
      </p:sp>
      <p:sp>
        <p:nvSpPr>
          <p:cNvPr id="13" name="Text 8"/>
          <p:cNvSpPr txBox="1"/>
          <p:nvPr/>
        </p:nvSpPr>
        <p:spPr>
          <a:xfrm>
            <a:off x="640080" y="4187952"/>
            <a:ext cx="7863840" cy="566928"/>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O que está fora do escopo pode virar uma melhoria depois. Primeiro, o combinado.</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300" b="1" dirty="0">
                <a:solidFill>
                  <a:srgbClr val="E16D34"/>
                </a:solidFill>
                <a:latin typeface="Montserrat" pitchFamily="34" charset="0"/>
                <a:ea typeface="Montserrat" pitchFamily="34" charset="-122"/>
                <a:cs typeface="Montserrat" pitchFamily="34" charset="-120"/>
              </a:rPr>
              <a:t>Critérios de aceite: quando está pronto?</a:t>
            </a:r>
            <a:endParaRPr lang="en-US" sz="2300" dirty="0"/>
          </a:p>
        </p:txBody>
      </p:sp>
      <p:pic>
        <p:nvPicPr>
          <p:cNvPr id="5" name="Image 0" descr="preencoded.png">    </p:cNvPr>
          <p:cNvPicPr>
            <a:picLocks noChangeAspect="1"/>
          </p:cNvPicPr>
          <p:nvPr/>
        </p:nvPicPr>
        <p:blipFill>
          <a:blip r:embed="rId2"/>
          <a:stretch>
            <a:fillRect/>
          </a:stretch>
        </p:blipFill>
        <p:spPr>
          <a:xfrm>
            <a:off x="685800" y="1356360"/>
            <a:ext cx="384048" cy="384048"/>
          </a:xfrm>
          <a:prstGeom prst="rect">
            <a:avLst/>
          </a:prstGeom>
        </p:spPr>
      </p:pic>
      <p:sp>
        <p:nvSpPr>
          <p:cNvPr id="6" name="Text 2"/>
          <p:cNvSpPr txBox="1"/>
          <p:nvPr/>
        </p:nvSpPr>
        <p:spPr>
          <a:xfrm>
            <a:off x="1344168" y="1353312"/>
            <a:ext cx="7114032" cy="426720"/>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O menu numérico aceita só opções válidas e avisa quando a opção é inválida.</a:t>
            </a:r>
            <a:endParaRPr lang="en-US" sz="1400" dirty="0"/>
          </a:p>
        </p:txBody>
      </p:sp>
      <p:pic>
        <p:nvPicPr>
          <p:cNvPr id="7" name="Image 1" descr="preencoded.png">    </p:cNvPr>
          <p:cNvPicPr>
            <a:picLocks noChangeAspect="1"/>
          </p:cNvPicPr>
          <p:nvPr/>
        </p:nvPicPr>
        <p:blipFill>
          <a:blip r:embed="rId3"/>
          <a:stretch>
            <a:fillRect/>
          </a:stretch>
        </p:blipFill>
        <p:spPr>
          <a:xfrm>
            <a:off x="685800" y="1911096"/>
            <a:ext cx="384048" cy="384048"/>
          </a:xfrm>
          <a:prstGeom prst="rect">
            <a:avLst/>
          </a:prstGeom>
        </p:spPr>
      </p:pic>
      <p:sp>
        <p:nvSpPr>
          <p:cNvPr id="8" name="Text 3"/>
          <p:cNvSpPr txBox="1"/>
          <p:nvPr/>
        </p:nvSpPr>
        <p:spPr>
          <a:xfrm>
            <a:off x="1344168" y="1908048"/>
            <a:ext cx="7114032" cy="426720"/>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Se o usuário digitar algo que não é número, o sistema avisa e o resultado não se perde.</a:t>
            </a:r>
            <a:endParaRPr lang="en-US" sz="1400" dirty="0"/>
          </a:p>
        </p:txBody>
      </p:sp>
      <p:pic>
        <p:nvPicPr>
          <p:cNvPr id="9" name="Image 2" descr="preencoded.png">    </p:cNvPr>
          <p:cNvPicPr>
            <a:picLocks noChangeAspect="1"/>
          </p:cNvPicPr>
          <p:nvPr/>
        </p:nvPicPr>
        <p:blipFill>
          <a:blip r:embed="rId4"/>
          <a:stretch>
            <a:fillRect/>
          </a:stretch>
        </p:blipFill>
        <p:spPr>
          <a:xfrm>
            <a:off x="685800" y="2462784"/>
            <a:ext cx="384048" cy="384048"/>
          </a:xfrm>
          <a:prstGeom prst="rect">
            <a:avLst/>
          </a:prstGeom>
        </p:spPr>
      </p:pic>
      <p:sp>
        <p:nvSpPr>
          <p:cNvPr id="10" name="Text 4"/>
          <p:cNvSpPr txBox="1"/>
          <p:nvPr/>
        </p:nvSpPr>
        <p:spPr>
          <a:xfrm>
            <a:off x="1344168" y="2462784"/>
            <a:ext cx="7114032" cy="384048"/>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O programa só termina quando o usuário escolhe sair.</a:t>
            </a:r>
            <a:endParaRPr lang="en-US" sz="1400" dirty="0"/>
          </a:p>
        </p:txBody>
      </p:sp>
      <p:pic>
        <p:nvPicPr>
          <p:cNvPr id="11" name="Image 3" descr="preencoded.png">    </p:cNvPr>
          <p:cNvPicPr>
            <a:picLocks noChangeAspect="1"/>
          </p:cNvPicPr>
          <p:nvPr/>
        </p:nvPicPr>
        <p:blipFill>
          <a:blip r:embed="rId5"/>
          <a:stretch>
            <a:fillRect/>
          </a:stretch>
        </p:blipFill>
        <p:spPr>
          <a:xfrm>
            <a:off x="685800" y="2974848"/>
            <a:ext cx="384048" cy="384048"/>
          </a:xfrm>
          <a:prstGeom prst="rect">
            <a:avLst/>
          </a:prstGeom>
        </p:spPr>
      </p:pic>
      <p:sp>
        <p:nvSpPr>
          <p:cNvPr id="12" name="Text 5"/>
          <p:cNvSpPr txBox="1"/>
          <p:nvPr/>
        </p:nvSpPr>
        <p:spPr>
          <a:xfrm>
            <a:off x="1344168" y="2974848"/>
            <a:ext cx="7114032" cy="384048"/>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Dá para ver o resultado acumulado sem fazer outra operação.</a:t>
            </a:r>
            <a:endParaRPr lang="en-US" sz="1400" dirty="0"/>
          </a:p>
        </p:txBody>
      </p:sp>
      <p:pic>
        <p:nvPicPr>
          <p:cNvPr id="13" name="Image 4" descr="preencoded.png">    </p:cNvPr>
          <p:cNvPicPr>
            <a:picLocks noChangeAspect="1"/>
          </p:cNvPicPr>
          <p:nvPr/>
        </p:nvPicPr>
        <p:blipFill>
          <a:blip r:embed="rId6"/>
          <a:stretch>
            <a:fillRect/>
          </a:stretch>
        </p:blipFill>
        <p:spPr>
          <a:xfrm>
            <a:off x="685800" y="3486912"/>
            <a:ext cx="384048" cy="384048"/>
          </a:xfrm>
          <a:prstGeom prst="rect">
            <a:avLst/>
          </a:prstGeom>
        </p:spPr>
      </p:pic>
      <p:sp>
        <p:nvSpPr>
          <p:cNvPr id="14" name="Text 6"/>
          <p:cNvSpPr txBox="1"/>
          <p:nvPr/>
        </p:nvSpPr>
        <p:spPr>
          <a:xfrm>
            <a:off x="1344168" y="3486912"/>
            <a:ext cx="7114032" cy="384048"/>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A divisão por zero mostra uma mensagem clara.</a:t>
            </a:r>
            <a:endParaRPr lang="en-US" sz="1400" dirty="0"/>
          </a:p>
        </p:txBody>
      </p:sp>
      <p:pic>
        <p:nvPicPr>
          <p:cNvPr id="15" name="Image 5" descr="preencoded.png">    </p:cNvPr>
          <p:cNvPicPr>
            <a:picLocks noChangeAspect="1"/>
          </p:cNvPicPr>
          <p:nvPr/>
        </p:nvPicPr>
        <p:blipFill>
          <a:blip r:embed="rId7"/>
          <a:stretch>
            <a:fillRect/>
          </a:stretch>
        </p:blipFill>
        <p:spPr>
          <a:xfrm>
            <a:off x="685800" y="4002024"/>
            <a:ext cx="384048" cy="384048"/>
          </a:xfrm>
          <a:prstGeom prst="rect">
            <a:avLst/>
          </a:prstGeom>
        </p:spPr>
      </p:pic>
      <p:sp>
        <p:nvSpPr>
          <p:cNvPr id="16" name="Text 7"/>
          <p:cNvSpPr txBox="1"/>
          <p:nvPr/>
        </p:nvSpPr>
        <p:spPr>
          <a:xfrm>
            <a:off x="1344168" y="3998976"/>
            <a:ext cx="7114032" cy="426720"/>
          </a:xfrm>
          <a:prstGeom prst="rect">
            <a:avLst/>
          </a:prstGeom>
          <a:noFill/>
          <a:ln/>
        </p:spPr>
        <p:txBody>
          <a:bodyPr wrap="square" lIns="0" tIns="0" rIns="0" bIns="0" rtlCol="0" anchor="ctr"/>
          <a:lstStyle/>
          <a:p>
            <a:pPr algn="l" indent="0" marL="0">
              <a:buNone/>
            </a:pPr>
            <a:r>
              <a:rPr lang="en-US" sz="1400" b="1" dirty="0">
                <a:solidFill>
                  <a:srgbClr val="E6E6E6"/>
                </a:solidFill>
                <a:latin typeface="Helvetica Neue" pitchFamily="34" charset="0"/>
                <a:ea typeface="Helvetica Neue" pitchFamily="34" charset="-122"/>
                <a:cs typeface="Helvetica Neue" pitchFamily="34" charset="-120"/>
              </a:rPr>
              <a:t>Cada operação fica na sua própria função, e o resultado acumula entre as operações.</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325880"/>
            <a:ext cx="7680960" cy="2743200"/>
          </a:xfrm>
          <a:prstGeom prst="rect">
            <a:avLst/>
          </a:prstGeom>
          <a:noFill/>
          <a:ln/>
        </p:spPr>
        <p:txBody>
          <a:bodyPr wrap="square" lIns="0" tIns="0" rIns="0" bIns="0" rtlCol="0" anchor="ctr"/>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Fluxo de Execução</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fluxo da calculadora</a:t>
            </a:r>
            <a:endParaRPr lang="en-US" sz="3000" dirty="0"/>
          </a:p>
        </p:txBody>
      </p:sp>
      <p:pic>
        <p:nvPicPr>
          <p:cNvPr id="5" name="Image 0" descr="preencoded.png">    </p:cNvPr>
          <p:cNvPicPr>
            <a:picLocks noChangeAspect="1"/>
          </p:cNvPicPr>
          <p:nvPr/>
        </p:nvPicPr>
        <p:blipFill>
          <a:blip r:embed="rId2"/>
          <a:stretch>
            <a:fillRect/>
          </a:stretch>
        </p:blipFill>
        <p:spPr>
          <a:xfrm>
            <a:off x="1211580" y="1554480"/>
            <a:ext cx="685800" cy="685800"/>
          </a:xfrm>
          <a:prstGeom prst="rect">
            <a:avLst/>
          </a:prstGeom>
        </p:spPr>
      </p:pic>
      <p:sp>
        <p:nvSpPr>
          <p:cNvPr id="6" name="Text 2"/>
          <p:cNvSpPr txBox="1"/>
          <p:nvPr/>
        </p:nvSpPr>
        <p:spPr>
          <a:xfrm>
            <a:off x="59436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Início</a:t>
            </a:r>
            <a:endParaRPr lang="en-US" sz="1700" dirty="0"/>
          </a:p>
        </p:txBody>
      </p:sp>
      <p:sp>
        <p:nvSpPr>
          <p:cNvPr id="7" name="Text 3"/>
          <p:cNvSpPr txBox="1"/>
          <p:nvPr/>
        </p:nvSpPr>
        <p:spPr>
          <a:xfrm>
            <a:off x="658368" y="2743200"/>
            <a:ext cx="1792224" cy="1188720"/>
          </a:xfrm>
          <a:prstGeom prst="rect">
            <a:avLst/>
          </a:prstGeom>
          <a:noFill/>
          <a:ln/>
        </p:spPr>
        <p:txBody>
          <a:bodyPr wrap="square" lIns="0" tIns="0" rIns="0" bIns="0" rtlCol="0" anchor="t"/>
          <a:lstStyle/>
          <a:p>
            <a:pPr algn="ctr" indent="0" marL="0">
              <a:buNone/>
            </a:pPr>
            <a:r>
              <a:rPr lang="en-US" sz="1300" b="1" dirty="0">
                <a:solidFill>
                  <a:srgbClr val="F7A072"/>
                </a:solidFill>
                <a:latin typeface="Courier New" pitchFamily="34" charset="0"/>
                <a:ea typeface="Courier New" pitchFamily="34" charset="-122"/>
                <a:cs typeface="Courier New" pitchFamily="34" charset="-120"/>
              </a:rPr>
              <a:t>resultado = 0</a:t>
            </a:r>
            <a:endParaRPr lang="en-US" sz="1300" dirty="0"/>
          </a:p>
        </p:txBody>
      </p:sp>
      <p:sp>
        <p:nvSpPr>
          <p:cNvPr id="8" name="Shape 4"/>
          <p:cNvSpPr/>
          <p:nvPr/>
        </p:nvSpPr>
        <p:spPr>
          <a:xfrm>
            <a:off x="2007108" y="1897380"/>
            <a:ext cx="1106424" cy="0"/>
          </a:xfrm>
          <a:prstGeom prst="line">
            <a:avLst/>
          </a:prstGeom>
          <a:noFill/>
          <a:ln w="25400">
            <a:solidFill>
              <a:srgbClr val="E6E6E6"/>
            </a:solidFill>
            <a:prstDash val="solid"/>
            <a:tailEnd type="triangle"/>
          </a:ln>
        </p:spPr>
      </p:sp>
      <p:pic>
        <p:nvPicPr>
          <p:cNvPr id="9" name="Image 1" descr="preencoded.png">    </p:cNvPr>
          <p:cNvPicPr>
            <a:picLocks noChangeAspect="1"/>
          </p:cNvPicPr>
          <p:nvPr/>
        </p:nvPicPr>
        <p:blipFill>
          <a:blip r:embed="rId3"/>
          <a:stretch>
            <a:fillRect/>
          </a:stretch>
        </p:blipFill>
        <p:spPr>
          <a:xfrm>
            <a:off x="3223260" y="1554480"/>
            <a:ext cx="685800" cy="685800"/>
          </a:xfrm>
          <a:prstGeom prst="rect">
            <a:avLst/>
          </a:prstGeom>
        </p:spPr>
      </p:pic>
      <p:sp>
        <p:nvSpPr>
          <p:cNvPr id="10" name="Text 5"/>
          <p:cNvSpPr txBox="1"/>
          <p:nvPr/>
        </p:nvSpPr>
        <p:spPr>
          <a:xfrm>
            <a:off x="260604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Menu</a:t>
            </a:r>
            <a:endParaRPr lang="en-US" sz="1700" dirty="0"/>
          </a:p>
        </p:txBody>
      </p:sp>
      <p:sp>
        <p:nvSpPr>
          <p:cNvPr id="11" name="Text 6"/>
          <p:cNvSpPr txBox="1"/>
          <p:nvPr/>
        </p:nvSpPr>
        <p:spPr>
          <a:xfrm>
            <a:off x="267004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Mostra as opções no terminal.</a:t>
            </a:r>
            <a:endParaRPr lang="en-US" sz="1300" dirty="0"/>
          </a:p>
        </p:txBody>
      </p:sp>
      <p:sp>
        <p:nvSpPr>
          <p:cNvPr id="12" name="Shape 7"/>
          <p:cNvSpPr/>
          <p:nvPr/>
        </p:nvSpPr>
        <p:spPr>
          <a:xfrm>
            <a:off x="4018788" y="1897380"/>
            <a:ext cx="1106424" cy="0"/>
          </a:xfrm>
          <a:prstGeom prst="line">
            <a:avLst/>
          </a:prstGeom>
          <a:noFill/>
          <a:ln w="25400">
            <a:solidFill>
              <a:srgbClr val="E6E6E6"/>
            </a:solidFill>
            <a:prstDash val="solid"/>
            <a:tailEnd type="triangle"/>
          </a:ln>
        </p:spPr>
      </p:sp>
      <p:pic>
        <p:nvPicPr>
          <p:cNvPr id="13" name="Image 2" descr="preencoded.png">    </p:cNvPr>
          <p:cNvPicPr>
            <a:picLocks noChangeAspect="1"/>
          </p:cNvPicPr>
          <p:nvPr/>
        </p:nvPicPr>
        <p:blipFill>
          <a:blip r:embed="rId4"/>
          <a:stretch>
            <a:fillRect/>
          </a:stretch>
        </p:blipFill>
        <p:spPr>
          <a:xfrm>
            <a:off x="5234940" y="1554480"/>
            <a:ext cx="685800" cy="685800"/>
          </a:xfrm>
          <a:prstGeom prst="rect">
            <a:avLst/>
          </a:prstGeom>
        </p:spPr>
      </p:pic>
      <p:sp>
        <p:nvSpPr>
          <p:cNvPr id="14" name="Text 8"/>
          <p:cNvSpPr txBox="1"/>
          <p:nvPr/>
        </p:nvSpPr>
        <p:spPr>
          <a:xfrm>
            <a:off x="461772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Lê a opção</a:t>
            </a:r>
            <a:endParaRPr lang="en-US" sz="1700" dirty="0"/>
          </a:p>
        </p:txBody>
      </p:sp>
      <p:sp>
        <p:nvSpPr>
          <p:cNvPr id="15" name="Text 9"/>
          <p:cNvSpPr txBox="1"/>
          <p:nvPr/>
        </p:nvSpPr>
        <p:spPr>
          <a:xfrm>
            <a:off x="468172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O usuário digita com o </a:t>
            </a:r>
            <a:r>
              <a:rPr lang="en-US" sz="1300" b="1" dirty="0">
                <a:solidFill>
                  <a:srgbClr val="F7A072"/>
                </a:solidFill>
                <a:latin typeface="Courier New" pitchFamily="34" charset="0"/>
                <a:ea typeface="Courier New" pitchFamily="34" charset="-122"/>
                <a:cs typeface="Courier New" pitchFamily="34" charset="-120"/>
              </a:rPr>
              <a:t>prompt</a:t>
            </a:r>
            <a:r>
              <a:rPr lang="en-US" sz="1300" b="1" dirty="0">
                <a:solidFill>
                  <a:srgbClr val="E6E6E6"/>
                </a:solidFill>
                <a:latin typeface="Helvetica Neue" pitchFamily="34" charset="0"/>
                <a:ea typeface="Helvetica Neue" pitchFamily="34" charset="-122"/>
                <a:cs typeface="Helvetica Neue" pitchFamily="34" charset="-120"/>
              </a:rPr>
              <a:t>.</a:t>
            </a:r>
            <a:endParaRPr lang="en-US" sz="1300" dirty="0"/>
          </a:p>
        </p:txBody>
      </p:sp>
      <p:sp>
        <p:nvSpPr>
          <p:cNvPr id="16" name="Shape 10"/>
          <p:cNvSpPr/>
          <p:nvPr/>
        </p:nvSpPr>
        <p:spPr>
          <a:xfrm>
            <a:off x="6030468" y="1897380"/>
            <a:ext cx="1106424" cy="0"/>
          </a:xfrm>
          <a:prstGeom prst="line">
            <a:avLst/>
          </a:prstGeom>
          <a:noFill/>
          <a:ln w="25400">
            <a:solidFill>
              <a:srgbClr val="E6E6E6"/>
            </a:solidFill>
            <a:prstDash val="solid"/>
            <a:tailEnd type="triangle"/>
          </a:ln>
        </p:spPr>
      </p:sp>
      <p:pic>
        <p:nvPicPr>
          <p:cNvPr id="17" name="Image 3" descr="preencoded.png">    </p:cNvPr>
          <p:cNvPicPr>
            <a:picLocks noChangeAspect="1"/>
          </p:cNvPicPr>
          <p:nvPr/>
        </p:nvPicPr>
        <p:blipFill>
          <a:blip r:embed="rId5"/>
          <a:stretch>
            <a:fillRect/>
          </a:stretch>
        </p:blipFill>
        <p:spPr>
          <a:xfrm>
            <a:off x="7246620" y="1554480"/>
            <a:ext cx="685800" cy="685800"/>
          </a:xfrm>
          <a:prstGeom prst="rect">
            <a:avLst/>
          </a:prstGeom>
        </p:spPr>
      </p:pic>
      <p:sp>
        <p:nvSpPr>
          <p:cNvPr id="18" name="Text 11"/>
          <p:cNvSpPr txBox="1"/>
          <p:nvPr/>
        </p:nvSpPr>
        <p:spPr>
          <a:xfrm>
            <a:off x="662940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switch</a:t>
            </a:r>
            <a:endParaRPr lang="en-US" sz="1700" dirty="0"/>
          </a:p>
        </p:txBody>
      </p:sp>
      <p:sp>
        <p:nvSpPr>
          <p:cNvPr id="19" name="Text 12"/>
          <p:cNvSpPr txBox="1"/>
          <p:nvPr/>
        </p:nvSpPr>
        <p:spPr>
          <a:xfrm>
            <a:off x="669340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Executa o que a opção pede.</a:t>
            </a:r>
            <a:endParaRPr lang="en-US" sz="1300" dirty="0"/>
          </a:p>
        </p:txBody>
      </p:sp>
      <p:sp>
        <p:nvSpPr>
          <p:cNvPr id="20" name="Text 13"/>
          <p:cNvSpPr txBox="1"/>
          <p:nvPr/>
        </p:nvSpPr>
        <p:spPr>
          <a:xfrm>
            <a:off x="548640" y="4160520"/>
            <a:ext cx="8046720" cy="594360"/>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Depois de cada opção, o programa </a:t>
            </a:r>
            <a:r>
              <a:rPr lang="en-US" sz="1500" b="1" dirty="0">
                <a:solidFill>
                  <a:srgbClr val="FFFFFF"/>
                </a:solidFill>
                <a:latin typeface="Helvetica Neue" pitchFamily="34" charset="0"/>
                <a:ea typeface="Helvetica Neue" pitchFamily="34" charset="-122"/>
                <a:cs typeface="Helvetica Neue" pitchFamily="34" charset="-120"/>
              </a:rPr>
              <a:t>volta ao menu</a:t>
            </a:r>
            <a:r>
              <a:rPr lang="en-US" sz="1500" b="1" dirty="0">
                <a:solidFill>
                  <a:srgbClr val="E16D34"/>
                </a:solidFill>
                <a:latin typeface="Helvetica Neue" pitchFamily="34" charset="0"/>
                <a:ea typeface="Helvetica Neue" pitchFamily="34" charset="-122"/>
                <a:cs typeface="Helvetica Neue" pitchFamily="34" charset="-120"/>
              </a:rPr>
              <a:t>. Isso se repete até o usuário escolher sair.</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que cada opção faz?</a:t>
            </a:r>
            <a:endParaRPr lang="en-US" sz="3000" dirty="0"/>
          </a:p>
        </p:txBody>
      </p:sp>
      <p:sp>
        <p:nvSpPr>
          <p:cNvPr id="5" name="Shape 2"/>
          <p:cNvSpPr/>
          <p:nvPr/>
        </p:nvSpPr>
        <p:spPr>
          <a:xfrm>
            <a:off x="411480" y="1469136"/>
            <a:ext cx="4023360" cy="1319784"/>
          </a:xfrm>
          <a:prstGeom prst="roundRect">
            <a:avLst>
              <a:gd name="adj" fmla="val 6928"/>
            </a:avLst>
          </a:prstGeom>
          <a:solidFill>
            <a:srgbClr val="1A1A1A"/>
          </a:solidFill>
          <a:ln w="6350">
            <a:solidFill>
              <a:srgbClr val="1A1A1A"/>
            </a:solidFill>
            <a:prstDash val="solid"/>
          </a:ln>
        </p:spPr>
      </p:sp>
      <p:sp>
        <p:nvSpPr>
          <p:cNvPr id="6" name="Text 3"/>
          <p:cNvSpPr txBox="1"/>
          <p:nvPr/>
        </p:nvSpPr>
        <p:spPr>
          <a:xfrm>
            <a:off x="594360" y="1652016"/>
            <a:ext cx="3657600" cy="384048"/>
          </a:xfrm>
          <a:prstGeom prst="rect">
            <a:avLst/>
          </a:prstGeom>
          <a:noFill/>
          <a:ln/>
        </p:spPr>
        <p:txBody>
          <a:bodyPr wrap="square" lIns="0" tIns="0" rIns="0" bIns="0" rtlCol="0" anchor="ctr"/>
          <a:lstStyle/>
          <a:p>
            <a:pPr algn="l" indent="0" marL="0">
              <a:buNone/>
            </a:pPr>
            <a:r>
              <a:rPr lang="en-US" sz="1750" b="1" dirty="0">
                <a:solidFill>
                  <a:srgbClr val="E16D34"/>
                </a:solidFill>
                <a:latin typeface="Courier New" pitchFamily="34" charset="0"/>
                <a:ea typeface="Courier New" pitchFamily="34" charset="-122"/>
                <a:cs typeface="Courier New" pitchFamily="34" charset="-120"/>
              </a:rPr>
              <a:t>1 a 5</a:t>
            </a:r>
            <a:r>
              <a:rPr lang="en-US" sz="1750" b="1" dirty="0">
                <a:solidFill>
                  <a:srgbClr val="E16D34"/>
                </a:solidFill>
                <a:latin typeface="Helvetica Neue" pitchFamily="34" charset="0"/>
                <a:ea typeface="Helvetica Neue" pitchFamily="34" charset="-122"/>
                <a:cs typeface="Helvetica Neue" pitchFamily="34" charset="-120"/>
              </a:rPr>
              <a:t>  Operações</a:t>
            </a:r>
            <a:endParaRPr lang="en-US" sz="1750" dirty="0"/>
          </a:p>
        </p:txBody>
      </p:sp>
      <p:sp>
        <p:nvSpPr>
          <p:cNvPr id="7" name="Text 4"/>
          <p:cNvSpPr txBox="1"/>
          <p:nvPr/>
        </p:nvSpPr>
        <p:spPr>
          <a:xfrm>
            <a:off x="594360" y="2127504"/>
            <a:ext cx="3657600" cy="47853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Pede um número, valida e atualiza o resultado.</a:t>
            </a:r>
            <a:endParaRPr lang="en-US" sz="1450" dirty="0"/>
          </a:p>
        </p:txBody>
      </p:sp>
      <p:sp>
        <p:nvSpPr>
          <p:cNvPr id="8" name="Shape 5"/>
          <p:cNvSpPr/>
          <p:nvPr/>
        </p:nvSpPr>
        <p:spPr>
          <a:xfrm>
            <a:off x="4709160" y="1469136"/>
            <a:ext cx="4023360" cy="1319784"/>
          </a:xfrm>
          <a:prstGeom prst="roundRect">
            <a:avLst>
              <a:gd name="adj" fmla="val 6928"/>
            </a:avLst>
          </a:prstGeom>
          <a:solidFill>
            <a:srgbClr val="1A1A1A"/>
          </a:solidFill>
          <a:ln w="6350">
            <a:solidFill>
              <a:srgbClr val="1A1A1A"/>
            </a:solidFill>
            <a:prstDash val="solid"/>
          </a:ln>
        </p:spPr>
      </p:sp>
      <p:sp>
        <p:nvSpPr>
          <p:cNvPr id="9" name="Text 6"/>
          <p:cNvSpPr txBox="1"/>
          <p:nvPr/>
        </p:nvSpPr>
        <p:spPr>
          <a:xfrm>
            <a:off x="4892040" y="1652016"/>
            <a:ext cx="3657600" cy="384048"/>
          </a:xfrm>
          <a:prstGeom prst="rect">
            <a:avLst/>
          </a:prstGeom>
          <a:noFill/>
          <a:ln/>
        </p:spPr>
        <p:txBody>
          <a:bodyPr wrap="square" lIns="0" tIns="0" rIns="0" bIns="0" rtlCol="0" anchor="ctr"/>
          <a:lstStyle/>
          <a:p>
            <a:pPr algn="l" indent="0" marL="0">
              <a:buNone/>
            </a:pPr>
            <a:r>
              <a:rPr lang="en-US" sz="1750" b="1" dirty="0">
                <a:solidFill>
                  <a:srgbClr val="FFFFFF"/>
                </a:solidFill>
                <a:latin typeface="Courier New" pitchFamily="34" charset="0"/>
                <a:ea typeface="Courier New" pitchFamily="34" charset="-122"/>
                <a:cs typeface="Courier New" pitchFamily="34" charset="-120"/>
              </a:rPr>
              <a:t>6</a:t>
            </a:r>
            <a:r>
              <a:rPr lang="en-US" sz="1750" b="1" dirty="0">
                <a:solidFill>
                  <a:srgbClr val="FFFFFF"/>
                </a:solidFill>
                <a:latin typeface="Helvetica Neue" pitchFamily="34" charset="0"/>
                <a:ea typeface="Helvetica Neue" pitchFamily="34" charset="-122"/>
                <a:cs typeface="Helvetica Neue" pitchFamily="34" charset="-120"/>
              </a:rPr>
              <a:t>  Ver resultado</a:t>
            </a:r>
            <a:endParaRPr lang="en-US" sz="1750" dirty="0"/>
          </a:p>
        </p:txBody>
      </p:sp>
      <p:sp>
        <p:nvSpPr>
          <p:cNvPr id="10" name="Text 7"/>
          <p:cNvSpPr txBox="1"/>
          <p:nvPr/>
        </p:nvSpPr>
        <p:spPr>
          <a:xfrm>
            <a:off x="4892040" y="2127504"/>
            <a:ext cx="3657600" cy="47853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Mostra o resultado atual, sem alterar nada.</a:t>
            </a:r>
            <a:endParaRPr lang="en-US" sz="1450" dirty="0"/>
          </a:p>
        </p:txBody>
      </p:sp>
      <p:sp>
        <p:nvSpPr>
          <p:cNvPr id="11" name="Shape 8"/>
          <p:cNvSpPr/>
          <p:nvPr/>
        </p:nvSpPr>
        <p:spPr>
          <a:xfrm>
            <a:off x="411480" y="2990088"/>
            <a:ext cx="4023360" cy="1319784"/>
          </a:xfrm>
          <a:prstGeom prst="roundRect">
            <a:avLst>
              <a:gd name="adj" fmla="val 6928"/>
            </a:avLst>
          </a:prstGeom>
          <a:solidFill>
            <a:srgbClr val="1A1A1A"/>
          </a:solidFill>
          <a:ln w="6350">
            <a:solidFill>
              <a:srgbClr val="1A1A1A"/>
            </a:solidFill>
            <a:prstDash val="solid"/>
          </a:ln>
        </p:spPr>
      </p:sp>
      <p:sp>
        <p:nvSpPr>
          <p:cNvPr id="12" name="Text 9"/>
          <p:cNvSpPr txBox="1"/>
          <p:nvPr/>
        </p:nvSpPr>
        <p:spPr>
          <a:xfrm>
            <a:off x="594360" y="3172968"/>
            <a:ext cx="3657600" cy="384048"/>
          </a:xfrm>
          <a:prstGeom prst="rect">
            <a:avLst/>
          </a:prstGeom>
          <a:noFill/>
          <a:ln/>
        </p:spPr>
        <p:txBody>
          <a:bodyPr wrap="square" lIns="0" tIns="0" rIns="0" bIns="0" rtlCol="0" anchor="ctr"/>
          <a:lstStyle/>
          <a:p>
            <a:pPr algn="l" indent="0" marL="0">
              <a:buNone/>
            </a:pPr>
            <a:r>
              <a:rPr lang="en-US" sz="1750" b="1" dirty="0">
                <a:solidFill>
                  <a:srgbClr val="F7A072"/>
                </a:solidFill>
                <a:latin typeface="Courier New" pitchFamily="34" charset="0"/>
                <a:ea typeface="Courier New" pitchFamily="34" charset="-122"/>
                <a:cs typeface="Courier New" pitchFamily="34" charset="-120"/>
              </a:rPr>
              <a:t>7</a:t>
            </a:r>
            <a:r>
              <a:rPr lang="en-US" sz="1750" b="1" dirty="0">
                <a:solidFill>
                  <a:srgbClr val="F7A072"/>
                </a:solidFill>
                <a:latin typeface="Helvetica Neue" pitchFamily="34" charset="0"/>
                <a:ea typeface="Helvetica Neue" pitchFamily="34" charset="-122"/>
                <a:cs typeface="Helvetica Neue" pitchFamily="34" charset="-120"/>
              </a:rPr>
              <a:t>  Sair</a:t>
            </a:r>
            <a:endParaRPr lang="en-US" sz="1750" dirty="0"/>
          </a:p>
        </p:txBody>
      </p:sp>
      <p:sp>
        <p:nvSpPr>
          <p:cNvPr id="13" name="Text 10"/>
          <p:cNvSpPr txBox="1"/>
          <p:nvPr/>
        </p:nvSpPr>
        <p:spPr>
          <a:xfrm>
            <a:off x="594360" y="3648456"/>
            <a:ext cx="3657600" cy="47853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Mostra "Encerrando..." e termina o laço.</a:t>
            </a:r>
            <a:endParaRPr lang="en-US" sz="1450" dirty="0"/>
          </a:p>
        </p:txBody>
      </p:sp>
      <p:sp>
        <p:nvSpPr>
          <p:cNvPr id="14" name="Shape 11"/>
          <p:cNvSpPr/>
          <p:nvPr/>
        </p:nvSpPr>
        <p:spPr>
          <a:xfrm>
            <a:off x="4709160" y="2990088"/>
            <a:ext cx="4023360" cy="1319784"/>
          </a:xfrm>
          <a:prstGeom prst="roundRect">
            <a:avLst>
              <a:gd name="adj" fmla="val 6928"/>
            </a:avLst>
          </a:prstGeom>
          <a:solidFill>
            <a:srgbClr val="1A1A1A"/>
          </a:solidFill>
          <a:ln w="6350">
            <a:solidFill>
              <a:srgbClr val="1A1A1A"/>
            </a:solidFill>
            <a:prstDash val="solid"/>
          </a:ln>
        </p:spPr>
      </p:sp>
      <p:sp>
        <p:nvSpPr>
          <p:cNvPr id="15" name="Text 12"/>
          <p:cNvSpPr txBox="1"/>
          <p:nvPr/>
        </p:nvSpPr>
        <p:spPr>
          <a:xfrm>
            <a:off x="4892040" y="3172968"/>
            <a:ext cx="3657600" cy="384048"/>
          </a:xfrm>
          <a:prstGeom prst="rect">
            <a:avLst/>
          </a:prstGeom>
          <a:noFill/>
          <a:ln/>
        </p:spPr>
        <p:txBody>
          <a:bodyPr wrap="square" lIns="0" tIns="0" rIns="0" bIns="0" rtlCol="0" anchor="ctr"/>
          <a:lstStyle/>
          <a:p>
            <a:pPr algn="l" indent="0" marL="0">
              <a:buNone/>
            </a:pPr>
            <a:r>
              <a:rPr lang="en-US" sz="1750" b="1" dirty="0">
                <a:solidFill>
                  <a:srgbClr val="F85149"/>
                </a:solidFill>
                <a:latin typeface="Courier New" pitchFamily="34" charset="0"/>
                <a:ea typeface="Courier New" pitchFamily="34" charset="-122"/>
                <a:cs typeface="Courier New" pitchFamily="34" charset="-120"/>
              </a:rPr>
              <a:t>outra</a:t>
            </a:r>
            <a:r>
              <a:rPr lang="en-US" sz="1750" b="1" dirty="0">
                <a:solidFill>
                  <a:srgbClr val="F85149"/>
                </a:solidFill>
                <a:latin typeface="Helvetica Neue" pitchFamily="34" charset="0"/>
                <a:ea typeface="Helvetica Neue" pitchFamily="34" charset="-122"/>
                <a:cs typeface="Helvetica Neue" pitchFamily="34" charset="-120"/>
              </a:rPr>
              <a:t>  Inválida</a:t>
            </a:r>
            <a:endParaRPr lang="en-US" sz="1750" dirty="0"/>
          </a:p>
        </p:txBody>
      </p:sp>
      <p:sp>
        <p:nvSpPr>
          <p:cNvPr id="16" name="Text 13"/>
          <p:cNvSpPr txBox="1"/>
          <p:nvPr/>
        </p:nvSpPr>
        <p:spPr>
          <a:xfrm>
            <a:off x="4892040" y="3648456"/>
            <a:ext cx="3657600" cy="47853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Avisa que a opção é inválida e volta ao menu.</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Por que um while e um switch?</a:t>
            </a:r>
            <a:endParaRPr lang="en-US" sz="3000" dirty="0"/>
          </a:p>
        </p:txBody>
      </p:sp>
      <p:pic>
        <p:nvPicPr>
          <p:cNvPr id="5" name="Image 0" descr="preencoded.png">    </p:cNvPr>
          <p:cNvPicPr>
            <a:picLocks noChangeAspect="1"/>
          </p:cNvPicPr>
          <p:nvPr/>
        </p:nvPicPr>
        <p:blipFill>
          <a:blip r:embed="rId2"/>
          <a:stretch>
            <a:fillRect/>
          </a:stretch>
        </p:blipFill>
        <p:spPr>
          <a:xfrm>
            <a:off x="685800" y="1367028"/>
            <a:ext cx="502920" cy="502920"/>
          </a:xfrm>
          <a:prstGeom prst="rect">
            <a:avLst/>
          </a:prstGeom>
        </p:spPr>
      </p:pic>
      <p:sp>
        <p:nvSpPr>
          <p:cNvPr id="6" name="Text 2"/>
          <p:cNvSpPr txBox="1"/>
          <p:nvPr/>
        </p:nvSpPr>
        <p:spPr>
          <a:xfrm>
            <a:off x="1463040" y="1348740"/>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Interatividade</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 cada volta do laço, o usuário vê o menu e decide o que fazer.</a:t>
            </a:r>
            <a:endParaRPr lang="en-US" sz="1650" dirty="0"/>
          </a:p>
        </p:txBody>
      </p:sp>
      <p:pic>
        <p:nvPicPr>
          <p:cNvPr id="7" name="Image 1" descr="preencoded.png">    </p:cNvPr>
          <p:cNvPicPr>
            <a:picLocks noChangeAspect="1"/>
          </p:cNvPicPr>
          <p:nvPr/>
        </p:nvPicPr>
        <p:blipFill>
          <a:blip r:embed="rId3"/>
          <a:stretch>
            <a:fillRect/>
          </a:stretch>
        </p:blipFill>
        <p:spPr>
          <a:xfrm>
            <a:off x="685800" y="2295144"/>
            <a:ext cx="502920" cy="502920"/>
          </a:xfrm>
          <a:prstGeom prst="rect">
            <a:avLst/>
          </a:prstGeom>
        </p:spPr>
      </p:pic>
      <p:sp>
        <p:nvSpPr>
          <p:cNvPr id="8" name="Text 3"/>
          <p:cNvSpPr txBox="1"/>
          <p:nvPr/>
        </p:nvSpPr>
        <p:spPr>
          <a:xfrm>
            <a:off x="1463040" y="2276856"/>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Menu</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As opções numéricas (1 a 7) são tratadas no </a:t>
            </a:r>
            <a:r>
              <a:rPr lang="en-US" sz="1500" b="1" dirty="0">
                <a:solidFill>
                  <a:srgbClr val="F7A072"/>
                </a:solidFill>
                <a:latin typeface="Courier New" pitchFamily="34" charset="0"/>
                <a:ea typeface="Courier New" pitchFamily="34" charset="-122"/>
                <a:cs typeface="Courier New" pitchFamily="34" charset="-120"/>
              </a:rPr>
              <a:t>switch</a:t>
            </a:r>
            <a:r>
              <a:rPr lang="en-US" sz="1500" b="1" dirty="0">
                <a:solidFill>
                  <a:srgbClr val="E6E6E6"/>
                </a:solidFill>
                <a:latin typeface="Helvetica Neue" pitchFamily="34" charset="0"/>
                <a:ea typeface="Helvetica Neue" pitchFamily="34" charset="-122"/>
                <a:cs typeface="Helvetica Neue" pitchFamily="34" charset="-120"/>
              </a:rPr>
              <a:t>.</a:t>
            </a:r>
            <a:endParaRPr lang="en-US" sz="1650" dirty="0"/>
          </a:p>
        </p:txBody>
      </p:sp>
      <p:pic>
        <p:nvPicPr>
          <p:cNvPr id="9" name="Image 2" descr="preencoded.png">    </p:cNvPr>
          <p:cNvPicPr>
            <a:picLocks noChangeAspect="1"/>
          </p:cNvPicPr>
          <p:nvPr/>
        </p:nvPicPr>
        <p:blipFill>
          <a:blip r:embed="rId4"/>
          <a:stretch>
            <a:fillRect/>
          </a:stretch>
        </p:blipFill>
        <p:spPr>
          <a:xfrm>
            <a:off x="685800" y="3017520"/>
            <a:ext cx="502920" cy="502920"/>
          </a:xfrm>
          <a:prstGeom prst="rect">
            <a:avLst/>
          </a:prstGeom>
        </p:spPr>
      </p:pic>
      <p:sp>
        <p:nvSpPr>
          <p:cNvPr id="10" name="Text 4"/>
          <p:cNvSpPr txBox="1"/>
          <p:nvPr/>
        </p:nvSpPr>
        <p:spPr>
          <a:xfrm>
            <a:off x="1463040" y="2999232"/>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Múltiplas operações</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O </a:t>
            </a:r>
            <a:r>
              <a:rPr lang="en-US" sz="1500" b="1" dirty="0">
                <a:solidFill>
                  <a:srgbClr val="F7A072"/>
                </a:solidFill>
                <a:latin typeface="Courier New" pitchFamily="34" charset="0"/>
                <a:ea typeface="Courier New" pitchFamily="34" charset="-122"/>
                <a:cs typeface="Courier New" pitchFamily="34" charset="-120"/>
              </a:rPr>
              <a:t>while</a:t>
            </a:r>
            <a:r>
              <a:rPr lang="en-US" sz="1500" b="1" dirty="0">
                <a:solidFill>
                  <a:srgbClr val="E6E6E6"/>
                </a:solidFill>
                <a:latin typeface="Helvetica Neue" pitchFamily="34" charset="0"/>
                <a:ea typeface="Helvetica Neue" pitchFamily="34" charset="-122"/>
                <a:cs typeface="Helvetica Neue" pitchFamily="34" charset="-120"/>
              </a:rPr>
              <a:t> mantém o programa vivo, operação após operação.</a:t>
            </a:r>
            <a:endParaRPr lang="en-US" sz="1650" dirty="0"/>
          </a:p>
        </p:txBody>
      </p:sp>
      <p:pic>
        <p:nvPicPr>
          <p:cNvPr id="11" name="Image 3" descr="preencoded.png">    </p:cNvPr>
          <p:cNvPicPr>
            <a:picLocks noChangeAspect="1"/>
          </p:cNvPicPr>
          <p:nvPr/>
        </p:nvPicPr>
        <p:blipFill>
          <a:blip r:embed="rId5"/>
          <a:stretch>
            <a:fillRect/>
          </a:stretch>
        </p:blipFill>
        <p:spPr>
          <a:xfrm>
            <a:off x="685800" y="3739896"/>
            <a:ext cx="502920" cy="502920"/>
          </a:xfrm>
          <a:prstGeom prst="rect">
            <a:avLst/>
          </a:prstGeom>
        </p:spPr>
      </p:pic>
      <p:sp>
        <p:nvSpPr>
          <p:cNvPr id="12" name="Text 5"/>
          <p:cNvSpPr txBox="1"/>
          <p:nvPr/>
        </p:nvSpPr>
        <p:spPr>
          <a:xfrm>
            <a:off x="1463040" y="3721608"/>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Resultado persistente</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 variável </a:t>
            </a:r>
            <a:r>
              <a:rPr lang="en-US" sz="1500" b="1" dirty="0">
                <a:solidFill>
                  <a:srgbClr val="F7A072"/>
                </a:solidFill>
                <a:latin typeface="Courier New" pitchFamily="34" charset="0"/>
                <a:ea typeface="Courier New" pitchFamily="34" charset="-122"/>
                <a:cs typeface="Courier New" pitchFamily="34" charset="-120"/>
              </a:rPr>
              <a:t>resultado</a:t>
            </a:r>
            <a:r>
              <a:rPr lang="en-US" sz="1500" b="1" dirty="0">
                <a:solidFill>
                  <a:srgbClr val="E6E6E6"/>
                </a:solidFill>
                <a:latin typeface="Helvetica Neue" pitchFamily="34" charset="0"/>
                <a:ea typeface="Helvetica Neue" pitchFamily="34" charset="-122"/>
                <a:cs typeface="Helvetica Neue" pitchFamily="34" charset="-120"/>
              </a:rPr>
              <a:t> guarda o valor entre as operações, enquanto o programa roda.</a:t>
            </a:r>
            <a:endParaRPr lang="en-US" sz="16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Como o usuário vê a calculadora</a:t>
            </a:r>
            <a:endParaRPr lang="en-US" sz="3000" dirty="0"/>
          </a:p>
        </p:txBody>
      </p:sp>
      <p:sp>
        <p:nvSpPr>
          <p:cNvPr id="5" name="Shape 2"/>
          <p:cNvSpPr/>
          <p:nvPr/>
        </p:nvSpPr>
        <p:spPr>
          <a:xfrm>
            <a:off x="365760" y="1938528"/>
            <a:ext cx="4937760" cy="1929384"/>
          </a:xfrm>
          <a:prstGeom prst="roundRect">
            <a:avLst>
              <a:gd name="adj" fmla="val 3791"/>
            </a:avLst>
          </a:prstGeom>
          <a:solidFill>
            <a:srgbClr val="121212"/>
          </a:solidFill>
          <a:ln w="9525">
            <a:solidFill>
              <a:srgbClr val="2E2E2E"/>
            </a:solidFill>
            <a:prstDash val="solid"/>
          </a:ln>
        </p:spPr>
      </p:sp>
      <p:sp>
        <p:nvSpPr>
          <p:cNvPr id="6" name="Text 3"/>
          <p:cNvSpPr txBox="1"/>
          <p:nvPr/>
        </p:nvSpPr>
        <p:spPr>
          <a:xfrm>
            <a:off x="512064" y="2055571"/>
            <a:ext cx="4645152" cy="1695298"/>
          </a:xfrm>
          <a:prstGeom prst="rect">
            <a:avLst/>
          </a:prstGeom>
          <a:noFill/>
          <a:ln/>
        </p:spPr>
        <p:txBody>
          <a:bodyPr wrap="square" lIns="0" tIns="0" rIns="0" bIns="0" rtlCol="0" anchor="t"/>
          <a:lstStyle/>
          <a:p>
            <a:pPr algn="l" indent="0" marL="0">
              <a:buNone/>
            </a:pPr>
            <a:r>
              <a:rPr lang="en-US" sz="1500" b="1" dirty="0">
                <a:solidFill>
                  <a:srgbClr val="E6E6E6"/>
                </a:solidFill>
                <a:latin typeface="Courier New" pitchFamily="34" charset="0"/>
                <a:ea typeface="Courier New" pitchFamily="34" charset="-122"/>
                <a:cs typeface="Courier New" pitchFamily="34" charset="-120"/>
              </a:rPr>
              <a:t>Qual operação você deseja executar?</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[1] Somar  [2] Subtrair  [3] Multiplicar</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[4] Dividir  [5] Porcentagem</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[6] Ver resultado  [7] Sair</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Escolha uma opção: 1</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Digite o número para somar: 10</a:t>
            </a:r>
            <a:endParaRPr lang="en-US" sz="1500" dirty="0"/>
          </a:p>
          <a:p>
            <a:pPr algn="l" indent="0" marL="0">
              <a:buNone/>
            </a:pPr>
            <a:r>
              <a:rPr lang="en-US" sz="1500" b="1" dirty="0">
                <a:solidFill>
                  <a:srgbClr val="E6E6E6"/>
                </a:solidFill>
                <a:latin typeface="Courier New" pitchFamily="34" charset="0"/>
                <a:ea typeface="Courier New" pitchFamily="34" charset="-122"/>
                <a:cs typeface="Courier New" pitchFamily="34" charset="-120"/>
              </a:rPr>
              <a:t>Resultado: 10</a:t>
            </a:r>
            <a:endParaRPr lang="en-US" sz="1500" dirty="0"/>
          </a:p>
        </p:txBody>
      </p:sp>
      <p:sp>
        <p:nvSpPr>
          <p:cNvPr id="7" name="Text 4"/>
          <p:cNvSpPr txBox="1"/>
          <p:nvPr/>
        </p:nvSpPr>
        <p:spPr>
          <a:xfrm>
            <a:off x="5577840" y="1931670"/>
            <a:ext cx="3200400" cy="194310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menu  </a:t>
            </a:r>
            <a:r>
              <a:rPr lang="en-US" sz="1450" b="1" dirty="0">
                <a:solidFill>
                  <a:srgbClr val="E6E6E6"/>
                </a:solidFill>
                <a:latin typeface="Helvetica Neue" pitchFamily="34" charset="0"/>
                <a:ea typeface="Helvetica Neue" pitchFamily="34" charset="-122"/>
                <a:cs typeface="Helvetica Neue" pitchFamily="34" charset="-120"/>
              </a:rPr>
              <a:t>→ aparece de novo a cada volta do laço.</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opção  </a:t>
            </a:r>
            <a:r>
              <a:rPr lang="en-US" sz="1450" b="1" dirty="0">
                <a:solidFill>
                  <a:srgbClr val="E6E6E6"/>
                </a:solidFill>
                <a:latin typeface="Helvetica Neue" pitchFamily="34" charset="0"/>
                <a:ea typeface="Helvetica Neue" pitchFamily="34" charset="-122"/>
                <a:cs typeface="Helvetica Neue" pitchFamily="34" charset="-120"/>
              </a:rPr>
              <a:t>→ chega como texto; convertemos com </a:t>
            </a:r>
            <a:r>
              <a:rPr lang="en-US" sz="1450" b="1" dirty="0">
                <a:solidFill>
                  <a:srgbClr val="F7A072"/>
                </a:solidFill>
                <a:latin typeface="Courier New" pitchFamily="34" charset="0"/>
                <a:ea typeface="Courier New" pitchFamily="34" charset="-122"/>
                <a:cs typeface="Courier New" pitchFamily="34" charset="-120"/>
              </a:rPr>
              <a:t>Number()</a:t>
            </a:r>
            <a:r>
              <a:rPr lang="en-US" sz="1450" b="1" dirty="0">
                <a:solidFill>
                  <a:srgbClr val="E6E6E6"/>
                </a:solidFill>
                <a:latin typeface="Helvetica Neue" pitchFamily="34" charset="0"/>
                <a:ea typeface="Helvetica Neue" pitchFamily="34" charset="-122"/>
                <a:cs typeface="Helvetica Neue" pitchFamily="34" charset="-120"/>
              </a:rPr>
              <a:t>.</a:t>
            </a:r>
            <a:endParaRPr lang="en-US" sz="1450" dirty="0"/>
          </a:p>
          <a:p>
            <a:pPr algn="l" indent="0" marL="0">
              <a:buNone/>
            </a:pPr>
            <a:r>
              <a:rPr lang="en-US" sz="1450" b="1" dirty="0">
                <a:solidFill>
                  <a:srgbClr val="F7A072"/>
                </a:solidFill>
                <a:latin typeface="Courier New" pitchFamily="34" charset="0"/>
                <a:ea typeface="Courier New" pitchFamily="34" charset="-122"/>
                <a:cs typeface="Courier New" pitchFamily="34" charset="-120"/>
              </a:rPr>
              <a:t>resultado  </a:t>
            </a:r>
            <a:r>
              <a:rPr lang="en-US" sz="1450" b="1" dirty="0">
                <a:solidFill>
                  <a:srgbClr val="E6E6E6"/>
                </a:solidFill>
                <a:latin typeface="Helvetica Neue" pitchFamily="34" charset="0"/>
                <a:ea typeface="Helvetica Neue" pitchFamily="34" charset="-122"/>
                <a:cs typeface="Helvetica Neue" pitchFamily="34" charset="-120"/>
              </a:rPr>
              <a:t>→ começa em 0 e vai acumulando: 0 + 10 = 10.</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325880"/>
            <a:ext cx="7680960" cy="2743200"/>
          </a:xfrm>
          <a:prstGeom prst="rect">
            <a:avLst/>
          </a:prstGeom>
          <a:noFill/>
          <a:ln/>
        </p:spPr>
        <p:txBody>
          <a:bodyPr wrap="square" lIns="0" tIns="0" rIns="0" bIns="0" rtlCol="0" anchor="ctr"/>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Validação dos Dados de Entrada</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1188720" y="1005840"/>
            <a:ext cx="6766560" cy="3108960"/>
          </a:xfrm>
          <a:prstGeom prst="rect">
            <a:avLst/>
          </a:prstGeom>
          <a:noFill/>
          <a:ln/>
        </p:spPr>
        <p:txBody>
          <a:bodyPr wrap="square" lIns="0" tIns="0" rIns="0" bIns="0" rtlCol="0" anchor="ctr"/>
          <a:lstStyle/>
          <a:p>
            <a:pPr algn="ctr" indent="0" marL="0">
              <a:buNone/>
            </a:pPr>
            <a:r>
              <a:rPr lang="en-US" sz="2400" b="1" dirty="0">
                <a:solidFill>
                  <a:srgbClr val="FFFFFF"/>
                </a:solidFill>
                <a:latin typeface="Helvetica Neue" pitchFamily="34" charset="0"/>
                <a:ea typeface="Helvetica Neue" pitchFamily="34" charset="-122"/>
                <a:cs typeface="Helvetica Neue" pitchFamily="34" charset="-120"/>
              </a:rPr>
              <a:t>"A validação de dados é a base de uma aplicação confiável e segura. Validar entradas não é apenas uma boa prática: é uma </a:t>
            </a:r>
            <a:r>
              <a:rPr lang="en-US" sz="2400" b="1" dirty="0">
                <a:solidFill>
                  <a:srgbClr val="E16D34"/>
                </a:solidFill>
                <a:latin typeface="Helvetica Neue" pitchFamily="34" charset="0"/>
                <a:ea typeface="Helvetica Neue" pitchFamily="34" charset="-122"/>
                <a:cs typeface="Helvetica Neue" pitchFamily="34" charset="-120"/>
              </a:rPr>
              <a:t>necessidade</a:t>
            </a:r>
            <a:r>
              <a:rPr lang="en-US" sz="2400" b="1" dirty="0">
                <a:solidFill>
                  <a:srgbClr val="FFFFFF"/>
                </a:solidFill>
                <a:latin typeface="Helvetica Neue" pitchFamily="34" charset="0"/>
                <a:ea typeface="Helvetica Neue" pitchFamily="34" charset="-122"/>
                <a:cs typeface="Helvetica Neue" pitchFamily="34" charset="-120"/>
              </a:rPr>
              <a:t> na programação."</a:t>
            </a:r>
            <a:endParaRPr lang="en-US" sz="2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411480" y="274320"/>
            <a:ext cx="502920" cy="502920"/>
          </a:xfrm>
          <a:prstGeom prst="rect">
            <a:avLst/>
          </a:prstGeom>
        </p:spPr>
      </p:pic>
      <p:sp>
        <p:nvSpPr>
          <p:cNvPr id="5" name="Text 1"/>
          <p:cNvSpPr txBox="1"/>
          <p:nvPr/>
        </p:nvSpPr>
        <p:spPr>
          <a:xfrm>
            <a:off x="1005840" y="201168"/>
            <a:ext cx="768096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Podemos somar letras?</a:t>
            </a:r>
            <a:endParaRPr lang="en-US" sz="3000" dirty="0"/>
          </a:p>
        </p:txBody>
      </p:sp>
      <p:sp>
        <p:nvSpPr>
          <p:cNvPr id="6" name="Shape 2"/>
          <p:cNvSpPr/>
          <p:nvPr/>
        </p:nvSpPr>
        <p:spPr>
          <a:xfrm>
            <a:off x="1554480" y="1856232"/>
            <a:ext cx="6035040" cy="1700784"/>
          </a:xfrm>
          <a:prstGeom prst="roundRect">
            <a:avLst>
              <a:gd name="adj" fmla="val 4301"/>
            </a:avLst>
          </a:prstGeom>
          <a:solidFill>
            <a:srgbClr val="121212"/>
          </a:solidFill>
          <a:ln w="9525">
            <a:solidFill>
              <a:srgbClr val="2E2E2E"/>
            </a:solidFill>
            <a:prstDash val="solid"/>
          </a:ln>
        </p:spPr>
      </p:sp>
      <p:sp>
        <p:nvSpPr>
          <p:cNvPr id="7" name="Text 3"/>
          <p:cNvSpPr txBox="1"/>
          <p:nvPr/>
        </p:nvSpPr>
        <p:spPr>
          <a:xfrm>
            <a:off x="1700784" y="1973275"/>
            <a:ext cx="5742432" cy="1466698"/>
          </a:xfrm>
          <a:prstGeom prst="rect">
            <a:avLst/>
          </a:prstGeom>
          <a:noFill/>
          <a:ln/>
        </p:spPr>
        <p:txBody>
          <a:bodyPr wrap="square" lIns="0" tIns="0" rIns="0" bIns="0" rtlCol="0" anchor="t"/>
          <a:lstStyle/>
          <a:p>
            <a:pPr algn="l" indent="0" marL="0">
              <a:buNone/>
            </a:pPr>
            <a:r>
              <a:rPr lang="en-US" sz="1800" b="1" dirty="0">
                <a:solidFill>
                  <a:srgbClr val="E16D34"/>
                </a:solidFill>
                <a:latin typeface="Courier New" pitchFamily="34" charset="0"/>
                <a:ea typeface="Courier New" pitchFamily="34" charset="-122"/>
                <a:cs typeface="Courier New" pitchFamily="34" charset="-120"/>
              </a:rPr>
              <a:t>let</a:t>
            </a:r>
            <a:r>
              <a:rPr lang="en-US" sz="1800" b="1" dirty="0">
                <a:solidFill>
                  <a:srgbClr val="F0F0F0"/>
                </a:solidFill>
                <a:latin typeface="Courier New" pitchFamily="34" charset="0"/>
                <a:ea typeface="Courier New" pitchFamily="34" charset="-122"/>
                <a:cs typeface="Courier New" pitchFamily="34" charset="-120"/>
              </a:rPr>
              <a:t> resultado = </a:t>
            </a:r>
            <a:r>
              <a:rPr lang="en-US" sz="1800" b="1" dirty="0">
                <a:solidFill>
                  <a:srgbClr val="F2C572"/>
                </a:solidFill>
                <a:latin typeface="Courier New" pitchFamily="34" charset="0"/>
                <a:ea typeface="Courier New" pitchFamily="34" charset="-122"/>
                <a:cs typeface="Courier New" pitchFamily="34" charset="-120"/>
              </a:rPr>
              <a:t>10</a:t>
            </a:r>
            <a:endParaRPr lang="en-US" sz="1800" dirty="0"/>
          </a:p>
          <a:p>
            <a:pPr algn="l" indent="0" marL="0">
              <a:buNone/>
            </a:pPr>
            <a:r>
              <a:rPr lang="en-US" sz="1800" b="1" dirty="0">
                <a:solidFill>
                  <a:srgbClr val="E16D34"/>
                </a:solidFill>
                <a:latin typeface="Courier New" pitchFamily="34" charset="0"/>
                <a:ea typeface="Courier New" pitchFamily="34" charset="-122"/>
                <a:cs typeface="Courier New" pitchFamily="34" charset="-120"/>
              </a:rPr>
              <a:t>let</a:t>
            </a:r>
            <a:r>
              <a:rPr lang="en-US" sz="1800" b="1" dirty="0">
                <a:solidFill>
                  <a:srgbClr val="F0F0F0"/>
                </a:solidFill>
                <a:latin typeface="Courier New" pitchFamily="34" charset="0"/>
                <a:ea typeface="Courier New" pitchFamily="34" charset="-122"/>
                <a:cs typeface="Courier New" pitchFamily="34" charset="-120"/>
              </a:rPr>
              <a:t> num = </a:t>
            </a:r>
            <a:r>
              <a:rPr lang="en-US" sz="1800" b="1" dirty="0">
                <a:solidFill>
                  <a:srgbClr val="7CC4FF"/>
                </a:solidFill>
                <a:latin typeface="Courier New" pitchFamily="34" charset="0"/>
                <a:ea typeface="Courier New" pitchFamily="34" charset="-122"/>
                <a:cs typeface="Courier New" pitchFamily="34" charset="-120"/>
              </a:rPr>
              <a:t>Number</a:t>
            </a:r>
            <a:r>
              <a:rPr lang="en-US" sz="1800" b="1" dirty="0">
                <a:solidFill>
                  <a:srgbClr val="F0F0F0"/>
                </a:solidFill>
                <a:latin typeface="Courier New" pitchFamily="34" charset="0"/>
                <a:ea typeface="Courier New" pitchFamily="34" charset="-122"/>
                <a:cs typeface="Courier New" pitchFamily="34" charset="-120"/>
              </a:rPr>
              <a:t>(</a:t>
            </a:r>
            <a:r>
              <a:rPr lang="en-US" sz="1800" b="1" dirty="0">
                <a:solidFill>
                  <a:srgbClr val="A8D8A8"/>
                </a:solidFill>
                <a:latin typeface="Courier New" pitchFamily="34" charset="0"/>
                <a:ea typeface="Courier New" pitchFamily="34" charset="-122"/>
                <a:cs typeface="Courier New" pitchFamily="34" charset="-120"/>
              </a:rPr>
              <a:t>"dez"</a:t>
            </a:r>
            <a:r>
              <a:rPr lang="en-US" sz="1800" b="1" dirty="0">
                <a:solidFill>
                  <a:srgbClr val="F0F0F0"/>
                </a:solidFill>
                <a:latin typeface="Courier New" pitchFamily="34" charset="0"/>
                <a:ea typeface="Courier New" pitchFamily="34" charset="-122"/>
                <a:cs typeface="Courier New" pitchFamily="34" charset="-120"/>
              </a:rPr>
              <a:t>)</a:t>
            </a:r>
            <a:endParaRPr lang="en-US" sz="1800" dirty="0"/>
          </a:p>
          <a:p>
            <a:pPr algn="l" indent="0" marL="0">
              <a:buNone/>
            </a:pPr>
            <a:r>
              <a:rPr lang="en-US" sz="1800" b="1" dirty="0">
                <a:solidFill>
                  <a:srgbClr val="F0F0F0"/>
                </a:solidFill>
                <a:latin typeface="Courier New" pitchFamily="34" charset="0"/>
                <a:ea typeface="Courier New" pitchFamily="34" charset="-122"/>
                <a:cs typeface="Courier New" pitchFamily="34" charset="-120"/>
              </a:rPr>
              <a:t> </a:t>
            </a:r>
            <a:endParaRPr lang="en-US" sz="1800" dirty="0"/>
          </a:p>
          <a:p>
            <a:pPr algn="l" indent="0" marL="0">
              <a:buNone/>
            </a:pPr>
            <a:r>
              <a:rPr lang="en-US" sz="1800" b="1" dirty="0">
                <a:solidFill>
                  <a:srgbClr val="F0F0F0"/>
                </a:solidFill>
                <a:latin typeface="Courier New" pitchFamily="34" charset="0"/>
                <a:ea typeface="Courier New" pitchFamily="34" charset="-122"/>
                <a:cs typeface="Courier New" pitchFamily="34" charset="-120"/>
              </a:rPr>
              <a:t>resultado = resultado + num</a:t>
            </a:r>
            <a:endParaRPr lang="en-US" sz="1800" dirty="0"/>
          </a:p>
          <a:p>
            <a:pPr algn="l" indent="0" marL="0">
              <a:buNone/>
            </a:pPr>
            <a:r>
              <a:rPr lang="en-US" sz="1800" b="1" dirty="0">
                <a:solidFill>
                  <a:srgbClr val="F0F0F0"/>
                </a:solidFill>
                <a:latin typeface="Courier New" pitchFamily="34" charset="0"/>
                <a:ea typeface="Courier New" pitchFamily="34" charset="-122"/>
                <a:cs typeface="Courier New" pitchFamily="34" charset="-120"/>
              </a:rPr>
              <a:t>console.</a:t>
            </a:r>
            <a:r>
              <a:rPr lang="en-US" sz="1800" b="1" dirty="0">
                <a:solidFill>
                  <a:srgbClr val="7CC4FF"/>
                </a:solidFill>
                <a:latin typeface="Courier New" pitchFamily="34" charset="0"/>
                <a:ea typeface="Courier New" pitchFamily="34" charset="-122"/>
                <a:cs typeface="Courier New" pitchFamily="34" charset="-120"/>
              </a:rPr>
              <a:t>log</a:t>
            </a:r>
            <a:r>
              <a:rPr lang="en-US" sz="1800" b="1" dirty="0">
                <a:solidFill>
                  <a:srgbClr val="F0F0F0"/>
                </a:solidFill>
                <a:latin typeface="Courier New" pitchFamily="34" charset="0"/>
                <a:ea typeface="Courier New" pitchFamily="34" charset="-122"/>
                <a:cs typeface="Courier New" pitchFamily="34" charset="-120"/>
              </a:rPr>
              <a:t>(resultado)</a:t>
            </a:r>
            <a:endParaRPr lang="en-US" sz="1800" dirty="0"/>
          </a:p>
        </p:txBody>
      </p:sp>
      <p:sp>
        <p:nvSpPr>
          <p:cNvPr id="8" name="Text 4"/>
          <p:cNvSpPr txBox="1"/>
          <p:nvPr/>
        </p:nvSpPr>
        <p:spPr>
          <a:xfrm>
            <a:off x="1554480" y="3694176"/>
            <a:ext cx="6035040" cy="365760"/>
          </a:xfrm>
          <a:prstGeom prst="rect">
            <a:avLst/>
          </a:prstGeom>
          <a:noFill/>
          <a:ln/>
        </p:spPr>
        <p:txBody>
          <a:bodyPr wrap="square" lIns="0" tIns="0" rIns="0" bIns="0" rtlCol="0" anchor="ctr"/>
          <a:lstStyle/>
          <a:p>
            <a:pPr algn="ctr" indent="0" marL="0">
              <a:buNone/>
            </a:pPr>
            <a:r>
              <a:rPr lang="en-US" sz="1400" b="1" dirty="0">
                <a:solidFill>
                  <a:srgbClr val="E6E6E6"/>
                </a:solidFill>
                <a:latin typeface="Helvetica Neue" pitchFamily="34" charset="0"/>
                <a:ea typeface="Helvetica Neue" pitchFamily="34" charset="-122"/>
                <a:cs typeface="Helvetica Neue" pitchFamily="34" charset="-120"/>
              </a:rPr>
              <a:t>Pense antes de rodar: qual é a saída?</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411480" y="274320"/>
            <a:ext cx="502920" cy="502920"/>
          </a:xfrm>
          <a:prstGeom prst="rect">
            <a:avLst/>
          </a:prstGeom>
        </p:spPr>
      </p:pic>
      <p:sp>
        <p:nvSpPr>
          <p:cNvPr id="5" name="Text 1"/>
          <p:cNvSpPr txBox="1"/>
          <p:nvPr/>
        </p:nvSpPr>
        <p:spPr>
          <a:xfrm>
            <a:off x="1005840" y="201168"/>
            <a:ext cx="768096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Cuidado: o NaN contamina tudo</a:t>
            </a:r>
            <a:endParaRPr lang="en-US" sz="3000" dirty="0"/>
          </a:p>
        </p:txBody>
      </p:sp>
      <p:sp>
        <p:nvSpPr>
          <p:cNvPr id="6" name="Shape 2"/>
          <p:cNvSpPr/>
          <p:nvPr/>
        </p:nvSpPr>
        <p:spPr>
          <a:xfrm>
            <a:off x="548640" y="1097280"/>
            <a:ext cx="8046720" cy="737616"/>
          </a:xfrm>
          <a:prstGeom prst="roundRect">
            <a:avLst>
              <a:gd name="adj" fmla="val 9917"/>
            </a:avLst>
          </a:prstGeom>
          <a:solidFill>
            <a:srgbClr val="1A1A1A"/>
          </a:solidFill>
          <a:ln w="19050">
            <a:solidFill>
              <a:srgbClr val="F85149"/>
            </a:solidFill>
            <a:prstDash val="solid"/>
          </a:ln>
        </p:spPr>
      </p:sp>
      <p:sp>
        <p:nvSpPr>
          <p:cNvPr id="7" name="Text 3"/>
          <p:cNvSpPr txBox="1"/>
          <p:nvPr/>
        </p:nvSpPr>
        <p:spPr>
          <a:xfrm>
            <a:off x="822960" y="1207008"/>
            <a:ext cx="7498080" cy="518160"/>
          </a:xfrm>
          <a:prstGeom prst="rect">
            <a:avLst/>
          </a:prstGeom>
          <a:noFill/>
          <a:ln/>
        </p:spPr>
        <p:txBody>
          <a:bodyPr wrap="square" lIns="0" tIns="0" rIns="0" bIns="0" rtlCol="0" anchor="ctr"/>
          <a:lstStyle/>
          <a:p>
            <a:pPr algn="l" indent="0" marL="0">
              <a:buNone/>
            </a:pPr>
            <a:r>
              <a:rPr lang="en-US" sz="1700" b="1" dirty="0">
                <a:solidFill>
                  <a:srgbClr val="FFFFFF"/>
                </a:solidFill>
                <a:latin typeface="Helvetica Neue" pitchFamily="34" charset="0"/>
                <a:ea typeface="Helvetica Neue" pitchFamily="34" charset="-122"/>
                <a:cs typeface="Helvetica Neue" pitchFamily="34" charset="-120"/>
              </a:rPr>
              <a:t>Imprime </a:t>
            </a:r>
            <a:r>
              <a:rPr lang="en-US" sz="1700" b="1" dirty="0">
                <a:solidFill>
                  <a:srgbClr val="F85149"/>
                </a:solidFill>
                <a:latin typeface="Helvetica Neue" pitchFamily="34" charset="0"/>
                <a:ea typeface="Helvetica Neue" pitchFamily="34" charset="-122"/>
                <a:cs typeface="Helvetica Neue" pitchFamily="34" charset="-120"/>
              </a:rPr>
              <a:t>NaN</a:t>
            </a:r>
            <a:r>
              <a:rPr lang="en-US" sz="1700" b="1" dirty="0">
                <a:solidFill>
                  <a:srgbClr val="FFFFFF"/>
                </a:solidFill>
                <a:latin typeface="Helvetica Neue" pitchFamily="34" charset="0"/>
                <a:ea typeface="Helvetica Neue" pitchFamily="34" charset="-122"/>
                <a:cs typeface="Helvetica Neue" pitchFamily="34" charset="-120"/>
              </a:rPr>
              <a:t>. E, a partir daí, </a:t>
            </a:r>
            <a:r>
              <a:rPr lang="en-US" sz="1700" b="1" dirty="0">
                <a:solidFill>
                  <a:srgbClr val="F85149"/>
                </a:solidFill>
                <a:latin typeface="Helvetica Neue" pitchFamily="34" charset="0"/>
                <a:ea typeface="Helvetica Neue" pitchFamily="34" charset="-122"/>
                <a:cs typeface="Helvetica Neue" pitchFamily="34" charset="-120"/>
              </a:rPr>
              <a:t>toda conta</a:t>
            </a:r>
            <a:r>
              <a:rPr lang="en-US" sz="1700" b="1" dirty="0">
                <a:solidFill>
                  <a:srgbClr val="FFFFFF"/>
                </a:solidFill>
                <a:latin typeface="Helvetica Neue" pitchFamily="34" charset="0"/>
                <a:ea typeface="Helvetica Neue" pitchFamily="34" charset="-122"/>
                <a:cs typeface="Helvetica Neue" pitchFamily="34" charset="-120"/>
              </a:rPr>
              <a:t> com o resultado também dá NaN.</a:t>
            </a:r>
            <a:endParaRPr lang="en-US" sz="1700" dirty="0"/>
          </a:p>
        </p:txBody>
      </p:sp>
      <p:sp>
        <p:nvSpPr>
          <p:cNvPr id="8" name="Text 4"/>
          <p:cNvSpPr txBox="1"/>
          <p:nvPr/>
        </p:nvSpPr>
        <p:spPr>
          <a:xfrm>
            <a:off x="685800" y="2036064"/>
            <a:ext cx="7772400" cy="1361440"/>
          </a:xfrm>
          <a:prstGeom prst="rect">
            <a:avLst/>
          </a:prstGeom>
          <a:noFill/>
          <a:ln/>
        </p:spPr>
        <p:txBody>
          <a:bodyPr wrap="square" lIns="0" tIns="0" rIns="0" bIns="0" rtlCol="0" anchor="t"/>
          <a:lstStyle/>
          <a:p>
            <a:pPr algn="l" marL="177800" indent="-177800">
              <a:spcAft>
                <a:spcPts val="500"/>
              </a:spcAft>
              <a:buSzPct val="100000"/>
              <a:buChar char="●"/>
            </a:pPr>
            <a:r>
              <a:rPr lang="en-US" sz="1500" b="1" dirty="0">
                <a:solidFill>
                  <a:srgbClr val="F7A072"/>
                </a:solidFill>
                <a:latin typeface="Courier New" pitchFamily="34" charset="0"/>
                <a:ea typeface="Courier New" pitchFamily="34" charset="-122"/>
                <a:cs typeface="Courier New" pitchFamily="34" charset="-120"/>
              </a:rPr>
              <a:t>Number()</a:t>
            </a:r>
            <a:r>
              <a:rPr lang="en-US" sz="1500" b="1" dirty="0">
                <a:solidFill>
                  <a:srgbClr val="E6E6E6"/>
                </a:solidFill>
                <a:latin typeface="Helvetica Neue" pitchFamily="34" charset="0"/>
                <a:ea typeface="Helvetica Neue" pitchFamily="34" charset="-122"/>
                <a:cs typeface="Helvetica Neue" pitchFamily="34" charset="-120"/>
              </a:rPr>
              <a:t> devolve </a:t>
            </a:r>
            <a:r>
              <a:rPr lang="en-US" sz="1500" b="1" dirty="0">
                <a:solidFill>
                  <a:srgbClr val="F7A072"/>
                </a:solidFill>
                <a:latin typeface="Courier New" pitchFamily="34" charset="0"/>
                <a:ea typeface="Courier New" pitchFamily="34" charset="-122"/>
                <a:cs typeface="Courier New" pitchFamily="34" charset="-120"/>
              </a:rPr>
              <a:t>NaN</a:t>
            </a:r>
            <a:r>
              <a:rPr lang="en-US" sz="1500" b="1" dirty="0">
                <a:solidFill>
                  <a:srgbClr val="E6E6E6"/>
                </a:solidFill>
                <a:latin typeface="Helvetica Neue" pitchFamily="34" charset="0"/>
                <a:ea typeface="Helvetica Neue" pitchFamily="34" charset="-122"/>
                <a:cs typeface="Helvetica Neue" pitchFamily="34" charset="-120"/>
              </a:rPr>
              <a:t> (Not a Number) quando o texto não é um número.</a:t>
            </a:r>
            <a:endParaRPr lang="en-US" sz="1500" dirty="0"/>
          </a:p>
          <a:p>
            <a:pPr algn="l" marL="177800" indent="-177800">
              <a:spcAft>
                <a:spcPts val="500"/>
              </a:spcAft>
              <a:buSzPct val="100000"/>
              <a:buChar char="●"/>
            </a:pPr>
            <a:r>
              <a:rPr lang="en-US" sz="1500" b="1" dirty="0">
                <a:solidFill>
                  <a:srgbClr val="E6E6E6"/>
                </a:solidFill>
                <a:latin typeface="Helvetica Neue" pitchFamily="34" charset="0"/>
                <a:ea typeface="Helvetica Neue" pitchFamily="34" charset="-122"/>
                <a:cs typeface="Helvetica Neue" pitchFamily="34" charset="-120"/>
              </a:rPr>
              <a:t>O resultado acumulado se perde sem nenhum erro aparecer: é o "NaN silencioso".</a:t>
            </a:r>
            <a:endParaRPr lang="en-US" sz="1500" dirty="0"/>
          </a:p>
          <a:p>
            <a:pPr algn="l" marL="177800" indent="-177800">
              <a:buSzPct val="100000"/>
              <a:buChar char="●"/>
            </a:pPr>
            <a:r>
              <a:rPr lang="en-US" sz="1500" b="1" dirty="0">
                <a:solidFill>
                  <a:srgbClr val="E6E6E6"/>
                </a:solidFill>
                <a:latin typeface="Helvetica Neue" pitchFamily="34" charset="0"/>
                <a:ea typeface="Helvetica Neue" pitchFamily="34" charset="-122"/>
                <a:cs typeface="Helvetica Neue" pitchFamily="34" charset="-120"/>
              </a:rPr>
              <a:t>Por isso validamos o valor </a:t>
            </a:r>
            <a:r>
              <a:rPr lang="en-US" sz="1500" b="1" dirty="0">
                <a:solidFill>
                  <a:srgbClr val="FFFFFF"/>
                </a:solidFill>
                <a:latin typeface="Helvetica Neue" pitchFamily="34" charset="0"/>
                <a:ea typeface="Helvetica Neue" pitchFamily="34" charset="-122"/>
                <a:cs typeface="Helvetica Neue" pitchFamily="34" charset="-120"/>
              </a:rPr>
              <a:t>antes</a:t>
            </a:r>
            <a:r>
              <a:rPr lang="en-US" sz="1500" b="1" dirty="0">
                <a:solidFill>
                  <a:srgbClr val="E6E6E6"/>
                </a:solidFill>
                <a:latin typeface="Helvetica Neue" pitchFamily="34" charset="0"/>
                <a:ea typeface="Helvetica Neue" pitchFamily="34" charset="-122"/>
                <a:cs typeface="Helvetica Neue" pitchFamily="34" charset="-120"/>
              </a:rPr>
              <a:t> de usá-lo.</a:t>
            </a:r>
            <a:endParaRPr lang="en-US" sz="1500" dirty="0"/>
          </a:p>
        </p:txBody>
      </p:sp>
      <p:sp>
        <p:nvSpPr>
          <p:cNvPr id="9" name="Shape 5"/>
          <p:cNvSpPr/>
          <p:nvPr/>
        </p:nvSpPr>
        <p:spPr>
          <a:xfrm>
            <a:off x="548640" y="3470656"/>
            <a:ext cx="8046720" cy="755904"/>
          </a:xfrm>
          <a:prstGeom prst="roundRect">
            <a:avLst>
              <a:gd name="adj" fmla="val 9677"/>
            </a:avLst>
          </a:prstGeom>
          <a:solidFill>
            <a:srgbClr val="121212"/>
          </a:solidFill>
          <a:ln w="9525">
            <a:solidFill>
              <a:srgbClr val="2E2E2E"/>
            </a:solidFill>
            <a:prstDash val="solid"/>
          </a:ln>
        </p:spPr>
      </p:sp>
      <p:sp>
        <p:nvSpPr>
          <p:cNvPr id="10" name="Text 6"/>
          <p:cNvSpPr txBox="1"/>
          <p:nvPr/>
        </p:nvSpPr>
        <p:spPr>
          <a:xfrm>
            <a:off x="694944" y="3587699"/>
            <a:ext cx="7754112" cy="521818"/>
          </a:xfrm>
          <a:prstGeom prst="rect">
            <a:avLst/>
          </a:prstGeom>
          <a:noFill/>
          <a:ln/>
        </p:spPr>
        <p:txBody>
          <a:bodyPr wrap="square" lIns="0" tIns="0" rIns="0" bIns="0" rtlCol="0" anchor="t"/>
          <a:lstStyle/>
          <a:p>
            <a:pPr algn="l" indent="0" marL="0">
              <a:buNone/>
            </a:pPr>
            <a:r>
              <a:rPr lang="en-US" sz="1400" b="1" dirty="0">
                <a:solidFill>
                  <a:srgbClr val="F0F0F0"/>
                </a:solidFill>
                <a:latin typeface="Courier New" pitchFamily="34" charset="0"/>
                <a:ea typeface="Courier New" pitchFamily="34" charset="-122"/>
                <a:cs typeface="Courier New" pitchFamily="34" charset="-120"/>
              </a:rPr>
              <a:t>console.</a:t>
            </a:r>
            <a:r>
              <a:rPr lang="en-US" sz="1400" b="1" dirty="0">
                <a:solidFill>
                  <a:srgbClr val="7CC4FF"/>
                </a:solidFill>
                <a:latin typeface="Courier New" pitchFamily="34" charset="0"/>
                <a:ea typeface="Courier New" pitchFamily="34" charset="-122"/>
                <a:cs typeface="Courier New" pitchFamily="34" charset="-120"/>
              </a:rPr>
              <a:t>log</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F2C572"/>
                </a:solidFill>
                <a:latin typeface="Courier New" pitchFamily="34" charset="0"/>
                <a:ea typeface="Courier New" pitchFamily="34" charset="-122"/>
                <a:cs typeface="Courier New" pitchFamily="34" charset="-120"/>
              </a:rPr>
              <a:t>NaN</a:t>
            </a:r>
            <a:r>
              <a:rPr lang="en-US" sz="1400" b="1" dirty="0">
                <a:solidFill>
                  <a:srgbClr val="F0F0F0"/>
                </a:solidFill>
                <a:latin typeface="Courier New" pitchFamily="34" charset="0"/>
                <a:ea typeface="Courier New" pitchFamily="34" charset="-122"/>
                <a:cs typeface="Courier New" pitchFamily="34" charset="-120"/>
              </a:rPr>
              <a:t> + </a:t>
            </a:r>
            <a:r>
              <a:rPr lang="en-US" sz="1400" b="1" dirty="0">
                <a:solidFill>
                  <a:srgbClr val="F2C572"/>
                </a:solidFill>
                <a:latin typeface="Courier New" pitchFamily="34" charset="0"/>
                <a:ea typeface="Courier New" pitchFamily="34" charset="-122"/>
                <a:cs typeface="Courier New" pitchFamily="34" charset="-120"/>
              </a:rPr>
              <a:t>5</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NaN</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console.</a:t>
            </a:r>
            <a:r>
              <a:rPr lang="en-US" sz="1400" b="1" dirty="0">
                <a:solidFill>
                  <a:srgbClr val="7CC4FF"/>
                </a:solidFill>
                <a:latin typeface="Courier New" pitchFamily="34" charset="0"/>
                <a:ea typeface="Courier New" pitchFamily="34" charset="-122"/>
                <a:cs typeface="Courier New" pitchFamily="34" charset="-120"/>
              </a:rPr>
              <a:t>log</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F2C572"/>
                </a:solidFill>
                <a:latin typeface="Courier New" pitchFamily="34" charset="0"/>
                <a:ea typeface="Courier New" pitchFamily="34" charset="-122"/>
                <a:cs typeface="Courier New" pitchFamily="34" charset="-120"/>
              </a:rPr>
              <a:t>NaN</a:t>
            </a:r>
            <a:r>
              <a:rPr lang="en-US" sz="1400" b="1" dirty="0">
                <a:solidFill>
                  <a:srgbClr val="F0F0F0"/>
                </a:solidFill>
                <a:latin typeface="Courier New" pitchFamily="34" charset="0"/>
                <a:ea typeface="Courier New" pitchFamily="34" charset="-122"/>
                <a:cs typeface="Courier New" pitchFamily="34" charset="-120"/>
              </a:rPr>
              <a:t> * </a:t>
            </a:r>
            <a:r>
              <a:rPr lang="en-US" sz="1400" b="1" dirty="0">
                <a:solidFill>
                  <a:srgbClr val="F2C572"/>
                </a:solidFill>
                <a:latin typeface="Courier New" pitchFamily="34" charset="0"/>
                <a:ea typeface="Courier New" pitchFamily="34" charset="-122"/>
                <a:cs typeface="Courier New" pitchFamily="34" charset="-120"/>
              </a:rPr>
              <a:t>0</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NaN</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Por que validar?</a:t>
            </a:r>
            <a:endParaRPr lang="en-US" sz="3000" dirty="0"/>
          </a:p>
        </p:txBody>
      </p:sp>
      <p:sp>
        <p:nvSpPr>
          <p:cNvPr id="5" name="Shape 2"/>
          <p:cNvSpPr/>
          <p:nvPr/>
        </p:nvSpPr>
        <p:spPr>
          <a:xfrm>
            <a:off x="411480" y="1248156"/>
            <a:ext cx="4023360" cy="1540764"/>
          </a:xfrm>
          <a:prstGeom prst="roundRect">
            <a:avLst>
              <a:gd name="adj" fmla="val 5935"/>
            </a:avLst>
          </a:prstGeom>
          <a:solidFill>
            <a:srgbClr val="1A1A1A"/>
          </a:solidFill>
          <a:ln w="6350">
            <a:solidFill>
              <a:srgbClr val="1A1A1A"/>
            </a:solidFill>
            <a:prstDash val="solid"/>
          </a:ln>
        </p:spPr>
      </p:sp>
      <p:pic>
        <p:nvPicPr>
          <p:cNvPr id="6" name="Image 0" descr="preencoded.png">    </p:cNvPr>
          <p:cNvPicPr>
            <a:picLocks noChangeAspect="1"/>
          </p:cNvPicPr>
          <p:nvPr/>
        </p:nvPicPr>
        <p:blipFill>
          <a:blip r:embed="rId2"/>
          <a:stretch>
            <a:fillRect/>
          </a:stretch>
        </p:blipFill>
        <p:spPr>
          <a:xfrm>
            <a:off x="594360" y="1431036"/>
            <a:ext cx="384048" cy="384048"/>
          </a:xfrm>
          <a:prstGeom prst="rect">
            <a:avLst/>
          </a:prstGeom>
        </p:spPr>
      </p:pic>
      <p:sp>
        <p:nvSpPr>
          <p:cNvPr id="7" name="Text 3"/>
          <p:cNvSpPr txBox="1"/>
          <p:nvPr/>
        </p:nvSpPr>
        <p:spPr>
          <a:xfrm>
            <a:off x="1106424" y="1431036"/>
            <a:ext cx="3145536" cy="384048"/>
          </a:xfrm>
          <a:prstGeom prst="rect">
            <a:avLst/>
          </a:prstGeom>
          <a:noFill/>
          <a:ln/>
        </p:spPr>
        <p:txBody>
          <a:bodyPr wrap="square" lIns="0" tIns="0" rIns="0" bIns="0" rtlCol="0" anchor="ctr"/>
          <a:lstStyle/>
          <a:p>
            <a:pPr algn="l" indent="0" marL="0">
              <a:buNone/>
            </a:pPr>
            <a:r>
              <a:rPr lang="en-US" sz="1750" b="1" dirty="0">
                <a:solidFill>
                  <a:srgbClr val="E16D34"/>
                </a:solidFill>
                <a:latin typeface="Helvetica Neue" pitchFamily="34" charset="0"/>
                <a:ea typeface="Helvetica Neue" pitchFamily="34" charset="-122"/>
                <a:cs typeface="Helvetica Neue" pitchFamily="34" charset="-120"/>
              </a:rPr>
              <a:t>Prevenção de erros</a:t>
            </a:r>
            <a:endParaRPr lang="en-US" sz="1750" dirty="0"/>
          </a:p>
        </p:txBody>
      </p:sp>
      <p:sp>
        <p:nvSpPr>
          <p:cNvPr id="8" name="Text 4"/>
          <p:cNvSpPr txBox="1"/>
          <p:nvPr/>
        </p:nvSpPr>
        <p:spPr>
          <a:xfrm>
            <a:off x="594360" y="1906524"/>
            <a:ext cx="3657600" cy="69951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O programa recebe os tipos e formatos que espera, e não tenta fazer contas com texto.</a:t>
            </a:r>
            <a:endParaRPr lang="en-US" sz="1450" dirty="0"/>
          </a:p>
        </p:txBody>
      </p:sp>
      <p:sp>
        <p:nvSpPr>
          <p:cNvPr id="9" name="Shape 5"/>
          <p:cNvSpPr/>
          <p:nvPr/>
        </p:nvSpPr>
        <p:spPr>
          <a:xfrm>
            <a:off x="4709160" y="1248156"/>
            <a:ext cx="4023360" cy="1540764"/>
          </a:xfrm>
          <a:prstGeom prst="roundRect">
            <a:avLst>
              <a:gd name="adj" fmla="val 5935"/>
            </a:avLst>
          </a:prstGeom>
          <a:solidFill>
            <a:srgbClr val="1A1A1A"/>
          </a:solidFill>
          <a:ln w="6350">
            <a:solidFill>
              <a:srgbClr val="1A1A1A"/>
            </a:solidFill>
            <a:prstDash val="solid"/>
          </a:ln>
        </p:spPr>
      </p:sp>
      <p:pic>
        <p:nvPicPr>
          <p:cNvPr id="10" name="Image 1" descr="preencoded.png">    </p:cNvPr>
          <p:cNvPicPr>
            <a:picLocks noChangeAspect="1"/>
          </p:cNvPicPr>
          <p:nvPr/>
        </p:nvPicPr>
        <p:blipFill>
          <a:blip r:embed="rId3"/>
          <a:stretch>
            <a:fillRect/>
          </a:stretch>
        </p:blipFill>
        <p:spPr>
          <a:xfrm>
            <a:off x="4892040" y="1431036"/>
            <a:ext cx="384048" cy="384048"/>
          </a:xfrm>
          <a:prstGeom prst="rect">
            <a:avLst/>
          </a:prstGeom>
        </p:spPr>
      </p:pic>
      <p:sp>
        <p:nvSpPr>
          <p:cNvPr id="11" name="Text 6"/>
          <p:cNvSpPr txBox="1"/>
          <p:nvPr/>
        </p:nvSpPr>
        <p:spPr>
          <a:xfrm>
            <a:off x="5404104" y="1431036"/>
            <a:ext cx="3145536" cy="384048"/>
          </a:xfrm>
          <a:prstGeom prst="rect">
            <a:avLst/>
          </a:prstGeom>
          <a:noFill/>
          <a:ln/>
        </p:spPr>
        <p:txBody>
          <a:bodyPr wrap="square" lIns="0" tIns="0" rIns="0" bIns="0" rtlCol="0" anchor="ctr"/>
          <a:lstStyle/>
          <a:p>
            <a:pPr algn="l" indent="0" marL="0">
              <a:buNone/>
            </a:pPr>
            <a:r>
              <a:rPr lang="en-US" sz="1750" b="1" dirty="0">
                <a:solidFill>
                  <a:srgbClr val="FFFFFF"/>
                </a:solidFill>
                <a:latin typeface="Helvetica Neue" pitchFamily="34" charset="0"/>
                <a:ea typeface="Helvetica Neue" pitchFamily="34" charset="-122"/>
                <a:cs typeface="Helvetica Neue" pitchFamily="34" charset="-120"/>
              </a:rPr>
              <a:t>Robustez</a:t>
            </a:r>
            <a:endParaRPr lang="en-US" sz="1750" dirty="0"/>
          </a:p>
        </p:txBody>
      </p:sp>
      <p:sp>
        <p:nvSpPr>
          <p:cNvPr id="12" name="Text 7"/>
          <p:cNvSpPr txBox="1"/>
          <p:nvPr/>
        </p:nvSpPr>
        <p:spPr>
          <a:xfrm>
            <a:off x="4892040" y="1906524"/>
            <a:ext cx="3657600" cy="69951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Lida com entradas inesperadas com mensagens úteis, em vez de quebrar.</a:t>
            </a:r>
            <a:endParaRPr lang="en-US" sz="1450" dirty="0"/>
          </a:p>
        </p:txBody>
      </p:sp>
      <p:sp>
        <p:nvSpPr>
          <p:cNvPr id="13" name="Shape 8"/>
          <p:cNvSpPr/>
          <p:nvPr/>
        </p:nvSpPr>
        <p:spPr>
          <a:xfrm>
            <a:off x="411480" y="2990088"/>
            <a:ext cx="4023360" cy="1540764"/>
          </a:xfrm>
          <a:prstGeom prst="roundRect">
            <a:avLst>
              <a:gd name="adj" fmla="val 5935"/>
            </a:avLst>
          </a:prstGeom>
          <a:solidFill>
            <a:srgbClr val="1A1A1A"/>
          </a:solidFill>
          <a:ln w="6350">
            <a:solidFill>
              <a:srgbClr val="1A1A1A"/>
            </a:solidFill>
            <a:prstDash val="solid"/>
          </a:ln>
        </p:spPr>
      </p:sp>
      <p:pic>
        <p:nvPicPr>
          <p:cNvPr id="14" name="Image 2" descr="preencoded.png">    </p:cNvPr>
          <p:cNvPicPr>
            <a:picLocks noChangeAspect="1"/>
          </p:cNvPicPr>
          <p:nvPr/>
        </p:nvPicPr>
        <p:blipFill>
          <a:blip r:embed="rId4"/>
          <a:stretch>
            <a:fillRect/>
          </a:stretch>
        </p:blipFill>
        <p:spPr>
          <a:xfrm>
            <a:off x="594360" y="3172968"/>
            <a:ext cx="384048" cy="384048"/>
          </a:xfrm>
          <a:prstGeom prst="rect">
            <a:avLst/>
          </a:prstGeom>
        </p:spPr>
      </p:pic>
      <p:sp>
        <p:nvSpPr>
          <p:cNvPr id="15" name="Text 9"/>
          <p:cNvSpPr txBox="1"/>
          <p:nvPr/>
        </p:nvSpPr>
        <p:spPr>
          <a:xfrm>
            <a:off x="1106424" y="3172968"/>
            <a:ext cx="3145536" cy="384048"/>
          </a:xfrm>
          <a:prstGeom prst="rect">
            <a:avLst/>
          </a:prstGeom>
          <a:noFill/>
          <a:ln/>
        </p:spPr>
        <p:txBody>
          <a:bodyPr wrap="square" lIns="0" tIns="0" rIns="0" bIns="0" rtlCol="0" anchor="ctr"/>
          <a:lstStyle/>
          <a:p>
            <a:pPr algn="l" indent="0" marL="0">
              <a:buNone/>
            </a:pPr>
            <a:r>
              <a:rPr lang="en-US" sz="1750" b="1" dirty="0">
                <a:solidFill>
                  <a:srgbClr val="F7A072"/>
                </a:solidFill>
                <a:latin typeface="Helvetica Neue" pitchFamily="34" charset="0"/>
                <a:ea typeface="Helvetica Neue" pitchFamily="34" charset="-122"/>
                <a:cs typeface="Helvetica Neue" pitchFamily="34" charset="-120"/>
              </a:rPr>
              <a:t>Manutenção</a:t>
            </a:r>
            <a:endParaRPr lang="en-US" sz="1750" dirty="0"/>
          </a:p>
        </p:txBody>
      </p:sp>
      <p:sp>
        <p:nvSpPr>
          <p:cNvPr id="16" name="Text 10"/>
          <p:cNvSpPr txBox="1"/>
          <p:nvPr/>
        </p:nvSpPr>
        <p:spPr>
          <a:xfrm>
            <a:off x="594360" y="3648456"/>
            <a:ext cx="3657600" cy="69951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Quando algo dá errado, fica fácil saber se o problema foi a entrada.</a:t>
            </a:r>
            <a:endParaRPr lang="en-US" sz="1450" dirty="0"/>
          </a:p>
        </p:txBody>
      </p:sp>
      <p:sp>
        <p:nvSpPr>
          <p:cNvPr id="17" name="Shape 11"/>
          <p:cNvSpPr/>
          <p:nvPr/>
        </p:nvSpPr>
        <p:spPr>
          <a:xfrm>
            <a:off x="4709160" y="2990088"/>
            <a:ext cx="4023360" cy="1540764"/>
          </a:xfrm>
          <a:prstGeom prst="roundRect">
            <a:avLst>
              <a:gd name="adj" fmla="val 5935"/>
            </a:avLst>
          </a:prstGeom>
          <a:solidFill>
            <a:srgbClr val="1A1A1A"/>
          </a:solidFill>
          <a:ln w="6350">
            <a:solidFill>
              <a:srgbClr val="1A1A1A"/>
            </a:solidFill>
            <a:prstDash val="solid"/>
          </a:ln>
        </p:spPr>
      </p:sp>
      <p:pic>
        <p:nvPicPr>
          <p:cNvPr id="18" name="Image 3" descr="preencoded.png">    </p:cNvPr>
          <p:cNvPicPr>
            <a:picLocks noChangeAspect="1"/>
          </p:cNvPicPr>
          <p:nvPr/>
        </p:nvPicPr>
        <p:blipFill>
          <a:blip r:embed="rId5"/>
          <a:stretch>
            <a:fillRect/>
          </a:stretch>
        </p:blipFill>
        <p:spPr>
          <a:xfrm>
            <a:off x="4892040" y="3172968"/>
            <a:ext cx="384048" cy="384048"/>
          </a:xfrm>
          <a:prstGeom prst="rect">
            <a:avLst/>
          </a:prstGeom>
        </p:spPr>
      </p:pic>
      <p:sp>
        <p:nvSpPr>
          <p:cNvPr id="19" name="Text 12"/>
          <p:cNvSpPr txBox="1"/>
          <p:nvPr/>
        </p:nvSpPr>
        <p:spPr>
          <a:xfrm>
            <a:off x="5404104" y="3172968"/>
            <a:ext cx="3145536" cy="384048"/>
          </a:xfrm>
          <a:prstGeom prst="rect">
            <a:avLst/>
          </a:prstGeom>
          <a:noFill/>
          <a:ln/>
        </p:spPr>
        <p:txBody>
          <a:bodyPr wrap="square" lIns="0" tIns="0" rIns="0" bIns="0" rtlCol="0" anchor="ctr"/>
          <a:lstStyle/>
          <a:p>
            <a:pPr algn="l" indent="0" marL="0">
              <a:buNone/>
            </a:pPr>
            <a:r>
              <a:rPr lang="en-US" sz="1750" b="1" dirty="0">
                <a:solidFill>
                  <a:srgbClr val="F85149"/>
                </a:solidFill>
                <a:latin typeface="Helvetica Neue" pitchFamily="34" charset="0"/>
                <a:ea typeface="Helvetica Neue" pitchFamily="34" charset="-122"/>
                <a:cs typeface="Helvetica Neue" pitchFamily="34" charset="-120"/>
              </a:rPr>
              <a:t>Segurança</a:t>
            </a:r>
            <a:endParaRPr lang="en-US" sz="1750" dirty="0"/>
          </a:p>
        </p:txBody>
      </p:sp>
      <p:sp>
        <p:nvSpPr>
          <p:cNvPr id="20" name="Text 13"/>
          <p:cNvSpPr txBox="1"/>
          <p:nvPr/>
        </p:nvSpPr>
        <p:spPr>
          <a:xfrm>
            <a:off x="4892040" y="3648456"/>
            <a:ext cx="3657600" cy="699516"/>
          </a:xfrm>
          <a:prstGeom prst="rect">
            <a:avLst/>
          </a:prstGeom>
          <a:noFill/>
          <a:ln/>
        </p:spPr>
        <p:txBody>
          <a:bodyPr wrap="square" lIns="0" tIns="0" rIns="0" bIns="0" rtlCol="0" anchor="t"/>
          <a:lstStyle/>
          <a:p>
            <a:pPr algn="l" indent="0" marL="0">
              <a:buNone/>
            </a:pPr>
            <a:r>
              <a:rPr lang="en-US" sz="1450" b="1" dirty="0">
                <a:solidFill>
                  <a:srgbClr val="E6E6E6"/>
                </a:solidFill>
                <a:latin typeface="Helvetica Neue" pitchFamily="34" charset="0"/>
                <a:ea typeface="Helvetica Neue" pitchFamily="34" charset="-122"/>
                <a:cs typeface="Helvetica Neue" pitchFamily="34" charset="-120"/>
              </a:rPr>
              <a:t>Dados não validados deixam o sistema vulnerável a erros e ataques.</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typeof: qual é o tipo?</a:t>
            </a:r>
            <a:endParaRPr lang="en-US" sz="3000" dirty="0"/>
          </a:p>
        </p:txBody>
      </p:sp>
      <p:sp>
        <p:nvSpPr>
          <p:cNvPr id="5" name="Shape 2"/>
          <p:cNvSpPr/>
          <p:nvPr/>
        </p:nvSpPr>
        <p:spPr>
          <a:xfrm>
            <a:off x="365760" y="2311908"/>
            <a:ext cx="4023360" cy="1182624"/>
          </a:xfrm>
          <a:prstGeom prst="roundRect">
            <a:avLst>
              <a:gd name="adj" fmla="val 6186"/>
            </a:avLst>
          </a:prstGeom>
          <a:solidFill>
            <a:srgbClr val="121212"/>
          </a:solidFill>
          <a:ln w="9525">
            <a:solidFill>
              <a:srgbClr val="2E2E2E"/>
            </a:solidFill>
            <a:prstDash val="solid"/>
          </a:ln>
        </p:spPr>
      </p:sp>
      <p:sp>
        <p:nvSpPr>
          <p:cNvPr id="6" name="Text 3"/>
          <p:cNvSpPr txBox="1"/>
          <p:nvPr/>
        </p:nvSpPr>
        <p:spPr>
          <a:xfrm>
            <a:off x="512064" y="2428951"/>
            <a:ext cx="3730752" cy="948538"/>
          </a:xfrm>
          <a:prstGeom prst="rect">
            <a:avLst/>
          </a:prstGeom>
          <a:noFill/>
          <a:ln/>
        </p:spPr>
        <p:txBody>
          <a:bodyPr wrap="square" lIns="0" tIns="0" rIns="0" bIns="0" rtlCol="0" anchor="t"/>
          <a:lstStyle/>
          <a:p>
            <a:pPr algn="l" indent="0" marL="0">
              <a:buNone/>
            </a:pPr>
            <a:r>
              <a:rPr lang="en-US" sz="1400" b="1" dirty="0">
                <a:solidFill>
                  <a:srgbClr val="E16D34"/>
                </a:solidFill>
                <a:latin typeface="Courier New" pitchFamily="34" charset="0"/>
                <a:ea typeface="Courier New" pitchFamily="34" charset="-122"/>
                <a:cs typeface="Courier New" pitchFamily="34" charset="-120"/>
              </a:rPr>
              <a:t>typeof</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F2C572"/>
                </a:solidFill>
                <a:latin typeface="Courier New" pitchFamily="34" charset="0"/>
                <a:ea typeface="Courier New" pitchFamily="34" charset="-122"/>
                <a:cs typeface="Courier New" pitchFamily="34" charset="-120"/>
              </a:rPr>
              <a:t>42</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"number"</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typeof</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A8D8A8"/>
                </a:solidFill>
                <a:latin typeface="Courier New" pitchFamily="34" charset="0"/>
                <a:ea typeface="Courier New" pitchFamily="34" charset="-122"/>
                <a:cs typeface="Courier New" pitchFamily="34" charset="-120"/>
              </a:rPr>
              <a:t>"42"</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"string"</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typeof</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F2C572"/>
                </a:solidFill>
                <a:latin typeface="Courier New" pitchFamily="34" charset="0"/>
                <a:ea typeface="Courier New" pitchFamily="34" charset="-122"/>
                <a:cs typeface="Courier New" pitchFamily="34" charset="-120"/>
              </a:rPr>
              <a:t>true</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"boolean"</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typeof</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F2C572"/>
                </a:solidFill>
                <a:latin typeface="Courier New" pitchFamily="34" charset="0"/>
                <a:ea typeface="Courier New" pitchFamily="34" charset="-122"/>
                <a:cs typeface="Courier New" pitchFamily="34" charset="-120"/>
              </a:rPr>
              <a:t>NaN</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"number" (!)</a:t>
            </a:r>
            <a:endParaRPr lang="en-US" sz="1400" dirty="0"/>
          </a:p>
        </p:txBody>
      </p:sp>
      <p:sp>
        <p:nvSpPr>
          <p:cNvPr id="7" name="Text 4"/>
          <p:cNvSpPr txBox="1"/>
          <p:nvPr/>
        </p:nvSpPr>
        <p:spPr>
          <a:xfrm>
            <a:off x="4663440" y="1931670"/>
            <a:ext cx="4114800" cy="194310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typeof  </a:t>
            </a:r>
            <a:r>
              <a:rPr lang="en-US" sz="1450" b="1" dirty="0">
                <a:solidFill>
                  <a:srgbClr val="E6E6E6"/>
                </a:solidFill>
                <a:latin typeface="Helvetica Neue" pitchFamily="34" charset="0"/>
                <a:ea typeface="Helvetica Neue" pitchFamily="34" charset="-122"/>
                <a:cs typeface="Helvetica Neue" pitchFamily="34" charset="-120"/>
              </a:rPr>
              <a:t>→ devolve, em texto, o tipo do valor.</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NaN  </a:t>
            </a:r>
            <a:r>
              <a:rPr lang="en-US" sz="1450" b="1" dirty="0">
                <a:solidFill>
                  <a:srgbClr val="E6E6E6"/>
                </a:solidFill>
                <a:latin typeface="Helvetica Neue" pitchFamily="34" charset="0"/>
                <a:ea typeface="Helvetica Neue" pitchFamily="34" charset="-122"/>
                <a:cs typeface="Helvetica Neue" pitchFamily="34" charset="-120"/>
              </a:rPr>
              <a:t>→ apesar do nome, é do tipo number. Por isso o typeof não basta para validar.</a:t>
            </a:r>
            <a:endParaRPr lang="en-US" sz="1450" dirty="0"/>
          </a:p>
          <a:p>
            <a:pPr algn="l" indent="0" marL="0">
              <a:buNone/>
            </a:pPr>
            <a:r>
              <a:rPr lang="en-US" sz="1450" b="1" dirty="0">
                <a:solidFill>
                  <a:srgbClr val="E16D34"/>
                </a:solidFill>
                <a:latin typeface="Courier New" pitchFamily="34" charset="0"/>
                <a:ea typeface="Courier New" pitchFamily="34" charset="-122"/>
                <a:cs typeface="Courier New" pitchFamily="34" charset="-120"/>
              </a:rPr>
              <a:t>prompt  </a:t>
            </a:r>
            <a:r>
              <a:rPr lang="en-US" sz="1450" b="1" dirty="0">
                <a:solidFill>
                  <a:srgbClr val="E6E6E6"/>
                </a:solidFill>
                <a:latin typeface="Helvetica Neue" pitchFamily="34" charset="0"/>
                <a:ea typeface="Helvetica Neue" pitchFamily="34" charset="-122"/>
                <a:cs typeface="Helvetica Neue" pitchFamily="34" charset="-120"/>
              </a:rPr>
              <a:t>→ tudo que vem do prompt chega como string.</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700" b="1" dirty="0">
                <a:solidFill>
                  <a:srgbClr val="E16D34"/>
                </a:solidFill>
                <a:latin typeface="Montserrat" pitchFamily="34" charset="0"/>
                <a:ea typeface="Montserrat" pitchFamily="34" charset="-122"/>
                <a:cs typeface="Montserrat" pitchFamily="34" charset="-120"/>
              </a:rPr>
              <a:t>O padrão do projeto: Number + isNaN</a:t>
            </a:r>
            <a:endParaRPr lang="en-US" sz="2700" dirty="0"/>
          </a:p>
        </p:txBody>
      </p:sp>
      <p:sp>
        <p:nvSpPr>
          <p:cNvPr id="5" name="Shape 2"/>
          <p:cNvSpPr/>
          <p:nvPr/>
        </p:nvSpPr>
        <p:spPr>
          <a:xfrm>
            <a:off x="411480" y="1549908"/>
            <a:ext cx="8321040" cy="2142744"/>
          </a:xfrm>
          <a:prstGeom prst="roundRect">
            <a:avLst>
              <a:gd name="adj" fmla="val 3414"/>
            </a:avLst>
          </a:prstGeom>
          <a:solidFill>
            <a:srgbClr val="121212"/>
          </a:solidFill>
          <a:ln w="9525">
            <a:solidFill>
              <a:srgbClr val="2E2E2E"/>
            </a:solidFill>
            <a:prstDash val="solid"/>
          </a:ln>
        </p:spPr>
      </p:sp>
      <p:sp>
        <p:nvSpPr>
          <p:cNvPr id="6" name="Text 3"/>
          <p:cNvSpPr txBox="1"/>
          <p:nvPr/>
        </p:nvSpPr>
        <p:spPr>
          <a:xfrm>
            <a:off x="557784" y="1666951"/>
            <a:ext cx="8028432" cy="190865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num = </a:t>
            </a:r>
            <a:r>
              <a:rPr lang="en-US" sz="1700" b="1" dirty="0">
                <a:solidFill>
                  <a:srgbClr val="7CC4FF"/>
                </a:solidFill>
                <a:latin typeface="Courier New" pitchFamily="34" charset="0"/>
                <a:ea typeface="Courier New" pitchFamily="34" charset="-122"/>
                <a:cs typeface="Courier New" pitchFamily="34" charset="-120"/>
              </a:rPr>
              <a:t>Number</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'Digite um número: '</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7CC4FF"/>
                </a:solidFill>
                <a:latin typeface="Courier New" pitchFamily="34" charset="0"/>
                <a:ea typeface="Courier New" pitchFamily="34" charset="-122"/>
                <a:cs typeface="Courier New" pitchFamily="34" charset="-120"/>
              </a:rPr>
              <a:t>isNaN</a:t>
            </a:r>
            <a:r>
              <a:rPr lang="en-US" sz="1700" b="1" dirty="0">
                <a:solidFill>
                  <a:srgbClr val="F0F0F0"/>
                </a:solidFill>
                <a:latin typeface="Courier New" pitchFamily="34" charset="0"/>
                <a:ea typeface="Courier New" pitchFamily="34" charset="-122"/>
                <a:cs typeface="Courier New" pitchFamily="34" charset="-120"/>
              </a:rPr>
              <a:t>(num))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'Da próxima vez digite um número correto!'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else</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dirty="0">
                <a:solidFill>
                  <a:srgbClr val="8B8B8B"/>
                </a:solidFill>
                <a:latin typeface="Courier New" pitchFamily="34" charset="0"/>
                <a:ea typeface="Courier New" pitchFamily="34" charset="-122"/>
                <a:cs typeface="Courier New" pitchFamily="34" charset="-120"/>
              </a:rPr>
              <a:t>// usa o número com segurança</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Três passos: </a:t>
            </a:r>
            <a:r>
              <a:rPr lang="en-US" sz="1400" b="1" dirty="0">
                <a:solidFill>
                  <a:srgbClr val="FFFFFF"/>
                </a:solidFill>
                <a:latin typeface="Helvetica Neue" pitchFamily="34" charset="0"/>
                <a:ea typeface="Helvetica Neue" pitchFamily="34" charset="-122"/>
                <a:cs typeface="Helvetica Neue" pitchFamily="34" charset="-120"/>
              </a:rPr>
              <a:t>ler</a:t>
            </a:r>
            <a:r>
              <a:rPr lang="en-US" sz="1400" b="1" dirty="0">
                <a:solidFill>
                  <a:srgbClr val="E16D34"/>
                </a:solidFill>
                <a:latin typeface="Helvetica Neue" pitchFamily="34" charset="0"/>
                <a:ea typeface="Helvetica Neue" pitchFamily="34" charset="-122"/>
                <a:cs typeface="Helvetica Neue" pitchFamily="34" charset="-120"/>
              </a:rPr>
              <a:t> com o </a:t>
            </a:r>
            <a:r>
              <a:rPr lang="en-US" sz="1400" b="1" dirty="0">
                <a:solidFill>
                  <a:srgbClr val="F7A072"/>
                </a:solidFill>
                <a:latin typeface="Courier New" pitchFamily="34" charset="0"/>
                <a:ea typeface="Courier New" pitchFamily="34" charset="-122"/>
                <a:cs typeface="Courier New" pitchFamily="34" charset="-120"/>
              </a:rPr>
              <a:t>prompt</a:t>
            </a:r>
            <a:r>
              <a:rPr lang="en-US" sz="1400" b="1" dirty="0">
                <a:solidFill>
                  <a:srgbClr val="E16D34"/>
                </a:solidFill>
                <a:latin typeface="Helvetica Neue" pitchFamily="34" charset="0"/>
                <a:ea typeface="Helvetica Neue" pitchFamily="34" charset="-122"/>
                <a:cs typeface="Helvetica Neue" pitchFamily="34" charset="-120"/>
              </a:rPr>
              <a:t>, </a:t>
            </a:r>
            <a:r>
              <a:rPr lang="en-US" sz="1400" b="1" dirty="0">
                <a:solidFill>
                  <a:srgbClr val="FFFFFF"/>
                </a:solidFill>
                <a:latin typeface="Helvetica Neue" pitchFamily="34" charset="0"/>
                <a:ea typeface="Helvetica Neue" pitchFamily="34" charset="-122"/>
                <a:cs typeface="Helvetica Neue" pitchFamily="34" charset="-120"/>
              </a:rPr>
              <a:t>converter</a:t>
            </a:r>
            <a:r>
              <a:rPr lang="en-US" sz="1400" b="1" dirty="0">
                <a:solidFill>
                  <a:srgbClr val="E16D34"/>
                </a:solidFill>
                <a:latin typeface="Helvetica Neue" pitchFamily="34" charset="0"/>
                <a:ea typeface="Helvetica Neue" pitchFamily="34" charset="-122"/>
                <a:cs typeface="Helvetica Neue" pitchFamily="34" charset="-120"/>
              </a:rPr>
              <a:t> com </a:t>
            </a:r>
            <a:r>
              <a:rPr lang="en-US" sz="1400" b="1" dirty="0">
                <a:solidFill>
                  <a:srgbClr val="F7A072"/>
                </a:solidFill>
                <a:latin typeface="Courier New" pitchFamily="34" charset="0"/>
                <a:ea typeface="Courier New" pitchFamily="34" charset="-122"/>
                <a:cs typeface="Courier New" pitchFamily="34" charset="-120"/>
              </a:rPr>
              <a:t>Number()</a:t>
            </a:r>
            <a:r>
              <a:rPr lang="en-US" sz="1400" b="1" dirty="0">
                <a:solidFill>
                  <a:srgbClr val="E16D34"/>
                </a:solidFill>
                <a:latin typeface="Helvetica Neue" pitchFamily="34" charset="0"/>
                <a:ea typeface="Helvetica Neue" pitchFamily="34" charset="-122"/>
                <a:cs typeface="Helvetica Neue" pitchFamily="34" charset="-120"/>
              </a:rPr>
              <a:t> e </a:t>
            </a:r>
            <a:r>
              <a:rPr lang="en-US" sz="1400" b="1" dirty="0">
                <a:solidFill>
                  <a:srgbClr val="FFFFFF"/>
                </a:solidFill>
                <a:latin typeface="Helvetica Neue" pitchFamily="34" charset="0"/>
                <a:ea typeface="Helvetica Neue" pitchFamily="34" charset="-122"/>
                <a:cs typeface="Helvetica Neue" pitchFamily="34" charset="-120"/>
              </a:rPr>
              <a:t>testar</a:t>
            </a:r>
            <a:r>
              <a:rPr lang="en-US" sz="1400" b="1" dirty="0">
                <a:solidFill>
                  <a:srgbClr val="E16D34"/>
                </a:solidFill>
                <a:latin typeface="Helvetica Neue" pitchFamily="34" charset="0"/>
                <a:ea typeface="Helvetica Neue" pitchFamily="34" charset="-122"/>
                <a:cs typeface="Helvetica Neue" pitchFamily="34" charset="-120"/>
              </a:rPr>
              <a:t> com </a:t>
            </a:r>
            <a:r>
              <a:rPr lang="en-US" sz="1400" b="1" dirty="0">
                <a:solidFill>
                  <a:srgbClr val="F7A072"/>
                </a:solidFill>
                <a:latin typeface="Courier New" pitchFamily="34" charset="0"/>
                <a:ea typeface="Courier New" pitchFamily="34" charset="-122"/>
                <a:cs typeface="Courier New" pitchFamily="34" charset="-120"/>
              </a:rPr>
              <a:t>isNaN()</a:t>
            </a:r>
            <a:r>
              <a:rPr lang="en-US" sz="1400" b="1" dirty="0">
                <a:solidFill>
                  <a:srgbClr val="E16D34"/>
                </a:solidFill>
                <a:latin typeface="Helvetica Neue" pitchFamily="34" charset="0"/>
                <a:ea typeface="Helvetica Neue" pitchFamily="34" charset="-122"/>
                <a:cs typeface="Helvetica Neue" pitchFamily="34" charset="-120"/>
              </a:rPr>
              <a:t>.</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411480" y="274320"/>
            <a:ext cx="502920" cy="502920"/>
          </a:xfrm>
          <a:prstGeom prst="rect">
            <a:avLst/>
          </a:prstGeom>
        </p:spPr>
      </p:pic>
      <p:sp>
        <p:nvSpPr>
          <p:cNvPr id="5" name="Text 1"/>
          <p:cNvSpPr txBox="1"/>
          <p:nvPr/>
        </p:nvSpPr>
        <p:spPr>
          <a:xfrm>
            <a:off x="1005840" y="201168"/>
            <a:ext cx="7680960" cy="658368"/>
          </a:xfrm>
          <a:prstGeom prst="rect">
            <a:avLst/>
          </a:prstGeom>
          <a:noFill/>
          <a:ln/>
        </p:spPr>
        <p:txBody>
          <a:bodyPr wrap="square" lIns="0" tIns="0" rIns="0" bIns="0" rtlCol="0" anchor="ctr"/>
          <a:lstStyle/>
          <a:p>
            <a:pPr algn="ctr" indent="0" marL="0">
              <a:buNone/>
            </a:pPr>
            <a:r>
              <a:rPr lang="en-US" sz="2900" b="1" dirty="0">
                <a:solidFill>
                  <a:srgbClr val="E16D34"/>
                </a:solidFill>
                <a:latin typeface="Montserrat" pitchFamily="34" charset="0"/>
                <a:ea typeface="Montserrat" pitchFamily="34" charset="-122"/>
                <a:cs typeface="Montserrat" pitchFamily="34" charset="-120"/>
              </a:rPr>
              <a:t>Cuidado: Enter vazio vira zero</a:t>
            </a:r>
            <a:endParaRPr lang="en-US" sz="2900" dirty="0"/>
          </a:p>
        </p:txBody>
      </p:sp>
      <p:sp>
        <p:nvSpPr>
          <p:cNvPr id="6" name="Shape 2"/>
          <p:cNvSpPr/>
          <p:nvPr/>
        </p:nvSpPr>
        <p:spPr>
          <a:xfrm>
            <a:off x="548640" y="1097280"/>
            <a:ext cx="8046720" cy="478536"/>
          </a:xfrm>
          <a:prstGeom prst="roundRect">
            <a:avLst>
              <a:gd name="adj" fmla="val 15287"/>
            </a:avLst>
          </a:prstGeom>
          <a:solidFill>
            <a:srgbClr val="1A1A1A"/>
          </a:solidFill>
          <a:ln w="19050">
            <a:solidFill>
              <a:srgbClr val="F85149"/>
            </a:solidFill>
            <a:prstDash val="solid"/>
          </a:ln>
        </p:spPr>
      </p:sp>
      <p:sp>
        <p:nvSpPr>
          <p:cNvPr id="7" name="Text 3"/>
          <p:cNvSpPr txBox="1"/>
          <p:nvPr/>
        </p:nvSpPr>
        <p:spPr>
          <a:xfrm>
            <a:off x="822960" y="1207008"/>
            <a:ext cx="7498080" cy="259080"/>
          </a:xfrm>
          <a:prstGeom prst="rect">
            <a:avLst/>
          </a:prstGeom>
          <a:noFill/>
          <a:ln/>
        </p:spPr>
        <p:txBody>
          <a:bodyPr wrap="square" lIns="0" tIns="0" rIns="0" bIns="0" rtlCol="0" anchor="ctr"/>
          <a:lstStyle/>
          <a:p>
            <a:pPr algn="l" indent="0" marL="0">
              <a:buNone/>
            </a:pPr>
            <a:r>
              <a:rPr lang="en-US" sz="1700" b="1" dirty="0">
                <a:solidFill>
                  <a:srgbClr val="F7A072"/>
                </a:solidFill>
                <a:latin typeface="Courier New" pitchFamily="34" charset="0"/>
                <a:ea typeface="Courier New" pitchFamily="34" charset="-122"/>
                <a:cs typeface="Courier New" pitchFamily="34" charset="-120"/>
              </a:rPr>
              <a:t>Number("")</a:t>
            </a:r>
            <a:r>
              <a:rPr lang="en-US" sz="1700" b="1" dirty="0">
                <a:solidFill>
                  <a:srgbClr val="FFFFFF"/>
                </a:solidFill>
                <a:latin typeface="Helvetica Neue" pitchFamily="34" charset="0"/>
                <a:ea typeface="Helvetica Neue" pitchFamily="34" charset="-122"/>
                <a:cs typeface="Helvetica Neue" pitchFamily="34" charset="-120"/>
              </a:rPr>
              <a:t> dá </a:t>
            </a:r>
            <a:r>
              <a:rPr lang="en-US" sz="1700" b="1" dirty="0">
                <a:solidFill>
                  <a:srgbClr val="F85149"/>
                </a:solidFill>
                <a:latin typeface="Helvetica Neue" pitchFamily="34" charset="0"/>
                <a:ea typeface="Helvetica Neue" pitchFamily="34" charset="-122"/>
                <a:cs typeface="Helvetica Neue" pitchFamily="34" charset="-120"/>
              </a:rPr>
              <a:t>0</a:t>
            </a:r>
            <a:r>
              <a:rPr lang="en-US" sz="1700" b="1" dirty="0">
                <a:solidFill>
                  <a:srgbClr val="FFFFFF"/>
                </a:solidFill>
                <a:latin typeface="Helvetica Neue" pitchFamily="34" charset="0"/>
                <a:ea typeface="Helvetica Neue" pitchFamily="34" charset="-122"/>
                <a:cs typeface="Helvetica Neue" pitchFamily="34" charset="-120"/>
              </a:rPr>
              <a:t>, e o </a:t>
            </a:r>
            <a:r>
              <a:rPr lang="en-US" sz="1700" b="1" dirty="0">
                <a:solidFill>
                  <a:srgbClr val="F7A072"/>
                </a:solidFill>
                <a:latin typeface="Courier New" pitchFamily="34" charset="0"/>
                <a:ea typeface="Courier New" pitchFamily="34" charset="-122"/>
                <a:cs typeface="Courier New" pitchFamily="34" charset="-120"/>
              </a:rPr>
              <a:t>isNaN</a:t>
            </a:r>
            <a:r>
              <a:rPr lang="en-US" sz="1700" b="1" dirty="0">
                <a:solidFill>
                  <a:srgbClr val="FFFFFF"/>
                </a:solidFill>
                <a:latin typeface="Helvetica Neue" pitchFamily="34" charset="0"/>
                <a:ea typeface="Helvetica Neue" pitchFamily="34" charset="-122"/>
                <a:cs typeface="Helvetica Neue" pitchFamily="34" charset="-120"/>
              </a:rPr>
              <a:t> deixa passar.</a:t>
            </a:r>
            <a:endParaRPr lang="en-US" sz="1700" dirty="0"/>
          </a:p>
        </p:txBody>
      </p:sp>
      <p:sp>
        <p:nvSpPr>
          <p:cNvPr id="8" name="Text 4"/>
          <p:cNvSpPr txBox="1"/>
          <p:nvPr/>
        </p:nvSpPr>
        <p:spPr>
          <a:xfrm>
            <a:off x="685800" y="1776984"/>
            <a:ext cx="7772400" cy="1361440"/>
          </a:xfrm>
          <a:prstGeom prst="rect">
            <a:avLst/>
          </a:prstGeom>
          <a:noFill/>
          <a:ln/>
        </p:spPr>
        <p:txBody>
          <a:bodyPr wrap="square" lIns="0" tIns="0" rIns="0" bIns="0" rtlCol="0" anchor="t"/>
          <a:lstStyle/>
          <a:p>
            <a:pPr algn="l" marL="177800" indent="-177800">
              <a:spcAft>
                <a:spcPts val="500"/>
              </a:spcAft>
              <a:buSzPct val="100000"/>
              <a:buChar char="●"/>
            </a:pPr>
            <a:r>
              <a:rPr lang="en-US" sz="1500" b="1" dirty="0">
                <a:solidFill>
                  <a:srgbClr val="E6E6E6"/>
                </a:solidFill>
                <a:latin typeface="Helvetica Neue" pitchFamily="34" charset="0"/>
                <a:ea typeface="Helvetica Neue" pitchFamily="34" charset="-122"/>
                <a:cs typeface="Helvetica Neue" pitchFamily="34" charset="-120"/>
              </a:rPr>
              <a:t>Na calculadora, um Enter sem querer soma 0, ou cai na divisão por zero.</a:t>
            </a:r>
            <a:endParaRPr lang="en-US" sz="1500" dirty="0"/>
          </a:p>
          <a:p>
            <a:pPr algn="l" marL="177800" indent="-177800">
              <a:spcAft>
                <a:spcPts val="500"/>
              </a:spcAft>
              <a:buSzPct val="100000"/>
              <a:buChar char="●"/>
            </a:pPr>
            <a:r>
              <a:rPr lang="en-US" sz="1500" b="1" dirty="0">
                <a:solidFill>
                  <a:srgbClr val="E6E6E6"/>
                </a:solidFill>
                <a:latin typeface="Helvetica Neue" pitchFamily="34" charset="0"/>
                <a:ea typeface="Helvetica Neue" pitchFamily="34" charset="-122"/>
                <a:cs typeface="Helvetica Neue" pitchFamily="34" charset="-120"/>
              </a:rPr>
              <a:t>Na clínica, se a opção 0 for "Sair", um Enter vazio </a:t>
            </a:r>
            <a:r>
              <a:rPr lang="en-US" sz="1500" b="1" dirty="0">
                <a:solidFill>
                  <a:srgbClr val="FFFFFF"/>
                </a:solidFill>
                <a:latin typeface="Helvetica Neue" pitchFamily="34" charset="0"/>
                <a:ea typeface="Helvetica Neue" pitchFamily="34" charset="-122"/>
                <a:cs typeface="Helvetica Neue" pitchFamily="34" charset="-120"/>
              </a:rPr>
              <a:t>fecha o programa</a:t>
            </a:r>
            <a:r>
              <a:rPr lang="en-US" sz="1500" b="1" dirty="0">
                <a:solidFill>
                  <a:srgbClr val="E6E6E6"/>
                </a:solidFill>
                <a:latin typeface="Helvetica Neue" pitchFamily="34" charset="0"/>
                <a:ea typeface="Helvetica Neue" pitchFamily="34" charset="-122"/>
                <a:cs typeface="Helvetica Neue" pitchFamily="34" charset="-120"/>
              </a:rPr>
              <a:t>.</a:t>
            </a:r>
            <a:endParaRPr lang="en-US" sz="1500" dirty="0"/>
          </a:p>
          <a:p>
            <a:pPr algn="l" marL="177800" indent="-177800">
              <a:buSzPct val="100000"/>
              <a:buChar char="●"/>
            </a:pPr>
            <a:r>
              <a:rPr lang="en-US" sz="1500" b="1" dirty="0">
                <a:solidFill>
                  <a:srgbClr val="E6E6E6"/>
                </a:solidFill>
                <a:latin typeface="Helvetica Neue" pitchFamily="34" charset="0"/>
                <a:ea typeface="Helvetica Neue" pitchFamily="34" charset="-122"/>
                <a:cs typeface="Helvetica Neue" pitchFamily="34" charset="-120"/>
              </a:rPr>
              <a:t>Teste o texto </a:t>
            </a:r>
            <a:r>
              <a:rPr lang="en-US" sz="1500" b="1" dirty="0">
                <a:solidFill>
                  <a:srgbClr val="FFFFFF"/>
                </a:solidFill>
                <a:latin typeface="Helvetica Neue" pitchFamily="34" charset="0"/>
                <a:ea typeface="Helvetica Neue" pitchFamily="34" charset="-122"/>
                <a:cs typeface="Helvetica Neue" pitchFamily="34" charset="-120"/>
              </a:rPr>
              <a:t>antes</a:t>
            </a:r>
            <a:r>
              <a:rPr lang="en-US" sz="1500" b="1" dirty="0">
                <a:solidFill>
                  <a:srgbClr val="E6E6E6"/>
                </a:solidFill>
                <a:latin typeface="Helvetica Neue" pitchFamily="34" charset="0"/>
                <a:ea typeface="Helvetica Neue" pitchFamily="34" charset="-122"/>
                <a:cs typeface="Helvetica Neue" pitchFamily="34" charset="-120"/>
              </a:rPr>
              <a:t> de converter: </a:t>
            </a:r>
            <a:r>
              <a:rPr lang="en-US" sz="1500" b="1" dirty="0">
                <a:solidFill>
                  <a:srgbClr val="F7A072"/>
                </a:solidFill>
                <a:latin typeface="Courier New" pitchFamily="34" charset="0"/>
                <a:ea typeface="Courier New" pitchFamily="34" charset="-122"/>
                <a:cs typeface="Courier New" pitchFamily="34" charset="-120"/>
              </a:rPr>
              <a:t>entrada.trim() === ""</a:t>
            </a:r>
            <a:r>
              <a:rPr lang="en-US" sz="1500" b="1" dirty="0">
                <a:solidFill>
                  <a:srgbClr val="E6E6E6"/>
                </a:solidFill>
                <a:latin typeface="Helvetica Neue" pitchFamily="34" charset="0"/>
                <a:ea typeface="Helvetica Neue" pitchFamily="34" charset="-122"/>
                <a:cs typeface="Helvetica Neue" pitchFamily="34" charset="-120"/>
              </a:rPr>
              <a:t>.</a:t>
            </a:r>
            <a:endParaRPr lang="en-US" sz="1500" dirty="0"/>
          </a:p>
        </p:txBody>
      </p:sp>
      <p:sp>
        <p:nvSpPr>
          <p:cNvPr id="9" name="Shape 5"/>
          <p:cNvSpPr/>
          <p:nvPr/>
        </p:nvSpPr>
        <p:spPr>
          <a:xfrm>
            <a:off x="548640" y="3211576"/>
            <a:ext cx="8046720" cy="969264"/>
          </a:xfrm>
          <a:prstGeom prst="roundRect">
            <a:avLst>
              <a:gd name="adj" fmla="val 7547"/>
            </a:avLst>
          </a:prstGeom>
          <a:solidFill>
            <a:srgbClr val="121212"/>
          </a:solidFill>
          <a:ln w="9525">
            <a:solidFill>
              <a:srgbClr val="2E2E2E"/>
            </a:solidFill>
            <a:prstDash val="solid"/>
          </a:ln>
        </p:spPr>
      </p:sp>
      <p:sp>
        <p:nvSpPr>
          <p:cNvPr id="10" name="Text 6"/>
          <p:cNvSpPr txBox="1"/>
          <p:nvPr/>
        </p:nvSpPr>
        <p:spPr>
          <a:xfrm>
            <a:off x="694944" y="3328619"/>
            <a:ext cx="7754112" cy="735178"/>
          </a:xfrm>
          <a:prstGeom prst="rect">
            <a:avLst/>
          </a:prstGeom>
          <a:noFill/>
          <a:ln/>
        </p:spPr>
        <p:txBody>
          <a:bodyPr wrap="square" lIns="0" tIns="0" rIns="0" bIns="0" rtlCol="0" anchor="t"/>
          <a:lstStyle/>
          <a:p>
            <a:pPr algn="l" indent="0" marL="0">
              <a:buNone/>
            </a:pPr>
            <a:r>
              <a:rPr lang="en-US" sz="1400" b="1" dirty="0">
                <a:solidFill>
                  <a:srgbClr val="7CC4FF"/>
                </a:solidFill>
                <a:latin typeface="Courier New" pitchFamily="34" charset="0"/>
                <a:ea typeface="Courier New" pitchFamily="34" charset="-122"/>
                <a:cs typeface="Courier New" pitchFamily="34" charset="-120"/>
              </a:rPr>
              <a:t>Number</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0</a:t>
            </a:r>
            <a:endParaRPr lang="en-US" sz="1400" dirty="0"/>
          </a:p>
          <a:p>
            <a:pPr algn="l" indent="0" marL="0">
              <a:buNone/>
            </a:pPr>
            <a:r>
              <a:rPr lang="en-US" sz="1400" b="1" dirty="0">
                <a:solidFill>
                  <a:srgbClr val="7CC4FF"/>
                </a:solidFill>
                <a:latin typeface="Courier New" pitchFamily="34" charset="0"/>
                <a:ea typeface="Courier New" pitchFamily="34" charset="-122"/>
                <a:cs typeface="Courier New" pitchFamily="34" charset="-120"/>
              </a:rPr>
              <a:t>Number</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   "</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0</a:t>
            </a:r>
            <a:endParaRPr lang="en-US" sz="1400" dirty="0"/>
          </a:p>
          <a:p>
            <a:pPr algn="l" indent="0" marL="0">
              <a:buNone/>
            </a:pPr>
            <a:r>
              <a:rPr lang="en-US" sz="1400" b="1" dirty="0">
                <a:solidFill>
                  <a:srgbClr val="7CC4FF"/>
                </a:solidFill>
                <a:latin typeface="Courier New" pitchFamily="34" charset="0"/>
                <a:ea typeface="Courier New" pitchFamily="34" charset="-122"/>
                <a:cs typeface="Courier New" pitchFamily="34" charset="-120"/>
              </a:rPr>
              <a:t>isNaN</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F2C572"/>
                </a:solidFill>
                <a:latin typeface="Courier New" pitchFamily="34" charset="0"/>
                <a:ea typeface="Courier New" pitchFamily="34" charset="-122"/>
                <a:cs typeface="Courier New" pitchFamily="34" charset="-120"/>
              </a:rPr>
              <a:t>0</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false: passou na validação!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Uma validação mais completa</a:t>
            </a:r>
            <a:endParaRPr lang="en-US" sz="3000" dirty="0"/>
          </a:p>
        </p:txBody>
      </p:sp>
      <p:sp>
        <p:nvSpPr>
          <p:cNvPr id="5" name="Shape 2"/>
          <p:cNvSpPr/>
          <p:nvPr/>
        </p:nvSpPr>
        <p:spPr>
          <a:xfrm>
            <a:off x="411480" y="1313688"/>
            <a:ext cx="8321040" cy="2401824"/>
          </a:xfrm>
          <a:prstGeom prst="roundRect">
            <a:avLst>
              <a:gd name="adj" fmla="val 3046"/>
            </a:avLst>
          </a:prstGeom>
          <a:solidFill>
            <a:srgbClr val="121212"/>
          </a:solidFill>
          <a:ln w="9525">
            <a:solidFill>
              <a:srgbClr val="2E2E2E"/>
            </a:solidFill>
            <a:prstDash val="solid"/>
          </a:ln>
        </p:spPr>
      </p:sp>
      <p:sp>
        <p:nvSpPr>
          <p:cNvPr id="6" name="Text 3"/>
          <p:cNvSpPr txBox="1"/>
          <p:nvPr/>
        </p:nvSpPr>
        <p:spPr>
          <a:xfrm>
            <a:off x="557784" y="1430731"/>
            <a:ext cx="8028432" cy="216773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entrada = </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'Digite um número: '</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7CC4FF"/>
                </a:solidFill>
                <a:latin typeface="Courier New" pitchFamily="34" charset="0"/>
                <a:ea typeface="Courier New" pitchFamily="34" charset="-122"/>
                <a:cs typeface="Courier New" pitchFamily="34" charset="-120"/>
              </a:rPr>
              <a:t>replace</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A8D8A8"/>
                </a:solidFill>
                <a:latin typeface="Courier New" pitchFamily="34" charset="0"/>
                <a:ea typeface="Courier New" pitchFamily="34" charset="-122"/>
                <a:cs typeface="Courier New" pitchFamily="34" charset="-120"/>
              </a:rPr>
              <a:t>'.'</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num = </a:t>
            </a:r>
            <a:r>
              <a:rPr lang="en-US" sz="1700" b="1" dirty="0">
                <a:solidFill>
                  <a:srgbClr val="7CC4FF"/>
                </a:solidFill>
                <a:latin typeface="Courier New" pitchFamily="34" charset="0"/>
                <a:ea typeface="Courier New" pitchFamily="34" charset="-122"/>
                <a:cs typeface="Courier New" pitchFamily="34" charset="-120"/>
              </a:rPr>
              <a:t>Number</a:t>
            </a:r>
            <a:r>
              <a:rPr lang="en-US" sz="1700" b="1" dirty="0">
                <a:solidFill>
                  <a:srgbClr val="F0F0F0"/>
                </a:solidFill>
                <a:latin typeface="Courier New" pitchFamily="34" charset="0"/>
                <a:ea typeface="Courier New" pitchFamily="34" charset="-122"/>
                <a:cs typeface="Courier New" pitchFamily="34" charset="-120"/>
              </a:rPr>
              <a:t>(entrada)</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(entrada.</a:t>
            </a:r>
            <a:r>
              <a:rPr lang="en-US" sz="1700" b="1" dirty="0">
                <a:solidFill>
                  <a:srgbClr val="7CC4FF"/>
                </a:solidFill>
                <a:latin typeface="Courier New" pitchFamily="34" charset="0"/>
                <a:ea typeface="Courier New" pitchFamily="34" charset="-122"/>
                <a:cs typeface="Courier New" pitchFamily="34" charset="-120"/>
              </a:rPr>
              <a:t>trim</a:t>
            </a:r>
            <a:r>
              <a:rPr lang="en-US" sz="1700" b="1" dirty="0">
                <a:solidFill>
                  <a:srgbClr val="F0F0F0"/>
                </a:solidFill>
                <a:latin typeface="Courier New" pitchFamily="34" charset="0"/>
                <a:ea typeface="Courier New" pitchFamily="34" charset="-122"/>
                <a:cs typeface="Courier New" pitchFamily="34" charset="-120"/>
              </a:rPr>
              <a:t>() === </a:t>
            </a:r>
            <a:r>
              <a:rPr lang="en-US" sz="1700" b="1" dirty="0">
                <a:solidFill>
                  <a:srgbClr val="A8D8A8"/>
                </a:solidFill>
                <a:latin typeface="Courier New" pitchFamily="34" charset="0"/>
                <a:ea typeface="Courier New" pitchFamily="34" charset="-122"/>
                <a:cs typeface="Courier New" pitchFamily="34" charset="-120"/>
              </a:rPr>
              <a:t>''</a:t>
            </a:r>
            <a:r>
              <a:rPr lang="en-US" sz="1700" b="1" dirty="0">
                <a:solidFill>
                  <a:srgbClr val="F0F0F0"/>
                </a:solidFill>
                <a:latin typeface="Courier New" pitchFamily="34" charset="0"/>
                <a:ea typeface="Courier New" pitchFamily="34" charset="-122"/>
                <a:cs typeface="Courier New" pitchFamily="34" charset="-120"/>
              </a:rPr>
              <a:t> || !Number.</a:t>
            </a:r>
            <a:r>
              <a:rPr lang="en-US" sz="1700" b="1" dirty="0">
                <a:solidFill>
                  <a:srgbClr val="7CC4FF"/>
                </a:solidFill>
                <a:latin typeface="Courier New" pitchFamily="34" charset="0"/>
                <a:ea typeface="Courier New" pitchFamily="34" charset="-122"/>
                <a:cs typeface="Courier New" pitchFamily="34" charset="-120"/>
              </a:rPr>
              <a:t>isFinite</a:t>
            </a:r>
            <a:r>
              <a:rPr lang="en-US" sz="1700" b="1" dirty="0">
                <a:solidFill>
                  <a:srgbClr val="F0F0F0"/>
                </a:solidFill>
                <a:latin typeface="Courier New" pitchFamily="34" charset="0"/>
                <a:ea typeface="Courier New" pitchFamily="34" charset="-122"/>
                <a:cs typeface="Courier New" pitchFamily="34" charset="-120"/>
              </a:rPr>
              <a:t>(num))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'Digite um número válido!'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else</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dirty="0">
                <a:solidFill>
                  <a:srgbClr val="8B8B8B"/>
                </a:solidFill>
                <a:latin typeface="Courier New" pitchFamily="34" charset="0"/>
                <a:ea typeface="Courier New" pitchFamily="34" charset="-122"/>
                <a:cs typeface="Courier New" pitchFamily="34" charset="-120"/>
              </a:rPr>
              <a:t>// usa o número com segurança</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p:txBody>
      </p:sp>
      <p:sp>
        <p:nvSpPr>
          <p:cNvPr id="7" name="Text 4"/>
          <p:cNvSpPr txBox="1"/>
          <p:nvPr/>
        </p:nvSpPr>
        <p:spPr>
          <a:xfrm>
            <a:off x="548640" y="4023360"/>
            <a:ext cx="8046720" cy="73152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O </a:t>
            </a:r>
            <a:r>
              <a:rPr lang="en-US" sz="1400" b="1" dirty="0">
                <a:solidFill>
                  <a:srgbClr val="F7A072"/>
                </a:solidFill>
                <a:latin typeface="Courier New" pitchFamily="34" charset="0"/>
                <a:ea typeface="Courier New" pitchFamily="34" charset="-122"/>
                <a:cs typeface="Courier New" pitchFamily="34" charset="-120"/>
              </a:rPr>
              <a:t>replace</a:t>
            </a:r>
            <a:r>
              <a:rPr lang="en-US" sz="1400" b="1" dirty="0">
                <a:solidFill>
                  <a:srgbClr val="E16D34"/>
                </a:solidFill>
                <a:latin typeface="Helvetica Neue" pitchFamily="34" charset="0"/>
                <a:ea typeface="Helvetica Neue" pitchFamily="34" charset="-122"/>
                <a:cs typeface="Helvetica Neue" pitchFamily="34" charset="-120"/>
              </a:rPr>
              <a:t> aceita a vírgula decimal. O </a:t>
            </a:r>
            <a:r>
              <a:rPr lang="en-US" sz="1400" b="1" dirty="0">
                <a:solidFill>
                  <a:srgbClr val="F7A072"/>
                </a:solidFill>
                <a:latin typeface="Courier New" pitchFamily="34" charset="0"/>
                <a:ea typeface="Courier New" pitchFamily="34" charset="-122"/>
                <a:cs typeface="Courier New" pitchFamily="34" charset="-120"/>
              </a:rPr>
              <a:t>trim()</a:t>
            </a:r>
            <a:r>
              <a:rPr lang="en-US" sz="1400" b="1" dirty="0">
                <a:solidFill>
                  <a:srgbClr val="E16D34"/>
                </a:solidFill>
                <a:latin typeface="Helvetica Neue" pitchFamily="34" charset="0"/>
                <a:ea typeface="Helvetica Neue" pitchFamily="34" charset="-122"/>
                <a:cs typeface="Helvetica Neue" pitchFamily="34" charset="-120"/>
              </a:rPr>
              <a:t> barra o Enter vazio. E o </a:t>
            </a:r>
            <a:r>
              <a:rPr lang="en-US" sz="1400" b="1" dirty="0">
                <a:solidFill>
                  <a:srgbClr val="F7A072"/>
                </a:solidFill>
                <a:latin typeface="Courier New" pitchFamily="34" charset="0"/>
                <a:ea typeface="Courier New" pitchFamily="34" charset="-122"/>
                <a:cs typeface="Courier New" pitchFamily="34" charset="-120"/>
              </a:rPr>
              <a:t>Number.isFinite</a:t>
            </a:r>
            <a:r>
              <a:rPr lang="en-US" sz="1400" b="1" dirty="0">
                <a:solidFill>
                  <a:srgbClr val="E16D34"/>
                </a:solidFill>
                <a:latin typeface="Helvetica Neue" pitchFamily="34" charset="0"/>
                <a:ea typeface="Helvetica Neue" pitchFamily="34" charset="-122"/>
                <a:cs typeface="Helvetica Neue" pitchFamily="34" charset="-120"/>
              </a:rPr>
              <a:t> barra o NaN e também o </a:t>
            </a:r>
            <a:r>
              <a:rPr lang="en-US" sz="1400" b="1" dirty="0">
                <a:solidFill>
                  <a:srgbClr val="F7A072"/>
                </a:solidFill>
                <a:latin typeface="Courier New" pitchFamily="34" charset="0"/>
                <a:ea typeface="Courier New" pitchFamily="34" charset="-122"/>
                <a:cs typeface="Courier New" pitchFamily="34" charset="-120"/>
              </a:rPr>
              <a:t>Infinity</a:t>
            </a:r>
            <a:r>
              <a:rPr lang="en-US" sz="1400" b="1" dirty="0">
                <a:solidFill>
                  <a:srgbClr val="E16D34"/>
                </a:solidFill>
                <a:latin typeface="Helvetica Neue" pitchFamily="34" charset="0"/>
                <a:ea typeface="Helvetica Neue" pitchFamily="34" charset="-122"/>
                <a:cs typeface="Helvetica Neue" pitchFamily="34" charset="-120"/>
              </a:rPr>
              <a:t>: quem digita "Infinity" ou "1e999" passa pelo isNaN.</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Nem tudo o isNaN resolve</a:t>
            </a:r>
            <a:endParaRPr lang="en-US" sz="3000" dirty="0"/>
          </a:p>
        </p:txBody>
      </p:sp>
      <p:sp>
        <p:nvSpPr>
          <p:cNvPr id="5" name="Shape 2"/>
          <p:cNvSpPr/>
          <p:nvPr/>
        </p:nvSpPr>
        <p:spPr>
          <a:xfrm>
            <a:off x="411480" y="1290828"/>
            <a:ext cx="8321040" cy="2660904"/>
          </a:xfrm>
          <a:prstGeom prst="roundRect">
            <a:avLst>
              <a:gd name="adj" fmla="val 2749"/>
            </a:avLst>
          </a:prstGeom>
          <a:solidFill>
            <a:srgbClr val="121212"/>
          </a:solidFill>
          <a:ln w="9525">
            <a:solidFill>
              <a:srgbClr val="2E2E2E"/>
            </a:solidFill>
            <a:prstDash val="solid"/>
          </a:ln>
        </p:spPr>
      </p:sp>
      <p:sp>
        <p:nvSpPr>
          <p:cNvPr id="6" name="Text 3"/>
          <p:cNvSpPr txBox="1"/>
          <p:nvPr/>
        </p:nvSpPr>
        <p:spPr>
          <a:xfrm>
            <a:off x="557784" y="1407871"/>
            <a:ext cx="8028432" cy="2426818"/>
          </a:xfrm>
          <a:prstGeom prst="rect">
            <a:avLst/>
          </a:prstGeom>
          <a:noFill/>
          <a:ln/>
        </p:spPr>
        <p:txBody>
          <a:bodyPr wrap="square" lIns="0" tIns="0" rIns="0" bIns="0" rtlCol="0" anchor="t"/>
          <a:lstStyle/>
          <a:p>
            <a:pPr algn="l" indent="0" marL="0">
              <a:buNone/>
            </a:pPr>
            <a:r>
              <a:rPr lang="en-US" sz="1700" dirty="0">
                <a:solidFill>
                  <a:srgbClr val="8B8B8B"/>
                </a:solidFill>
                <a:latin typeface="Courier New" pitchFamily="34" charset="0"/>
                <a:ea typeface="Courier New" pitchFamily="34" charset="-122"/>
                <a:cs typeface="Courier New" pitchFamily="34" charset="-120"/>
              </a:rPr>
              <a:t>// regra: o desconto precisa estar entre 0 e 100</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(desconto &lt; </a:t>
            </a:r>
            <a:r>
              <a:rPr lang="en-US" sz="1700" b="1" dirty="0">
                <a:solidFill>
                  <a:srgbClr val="F2C572"/>
                </a:solidFill>
                <a:latin typeface="Courier New" pitchFamily="34" charset="0"/>
                <a:ea typeface="Courier New" pitchFamily="34" charset="-122"/>
                <a:cs typeface="Courier New" pitchFamily="34" charset="-120"/>
              </a:rPr>
              <a:t>0</a:t>
            </a:r>
            <a:r>
              <a:rPr lang="en-US" sz="1700" b="1" dirty="0">
                <a:solidFill>
                  <a:srgbClr val="F0F0F0"/>
                </a:solidFill>
                <a:latin typeface="Courier New" pitchFamily="34" charset="0"/>
                <a:ea typeface="Courier New" pitchFamily="34" charset="-122"/>
                <a:cs typeface="Courier New" pitchFamily="34" charset="-120"/>
              </a:rPr>
              <a:t> || desconto &gt; </a:t>
            </a:r>
            <a:r>
              <a:rPr lang="en-US" sz="1700" b="1" dirty="0">
                <a:solidFill>
                  <a:srgbClr val="F2C572"/>
                </a:solidFill>
                <a:latin typeface="Courier New" pitchFamily="34" charset="0"/>
                <a:ea typeface="Courier New" pitchFamily="34" charset="-122"/>
                <a:cs typeface="Courier New" pitchFamily="34" charset="-120"/>
              </a:rPr>
              <a:t>100</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'O desconto deve estar entre 0 e 100'</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dirty="0">
                <a:solidFill>
                  <a:srgbClr val="8B8B8B"/>
                </a:solidFill>
                <a:latin typeface="Courier New" pitchFamily="34" charset="0"/>
                <a:ea typeface="Courier New" pitchFamily="34" charset="-122"/>
                <a:cs typeface="Courier New" pitchFamily="34" charset="-120"/>
              </a:rPr>
              <a:t>// regra: não existe divisão por zero</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(num === </a:t>
            </a:r>
            <a:r>
              <a:rPr lang="en-US" sz="1700" b="1" dirty="0">
                <a:solidFill>
                  <a:srgbClr val="F2C572"/>
                </a:solidFill>
                <a:latin typeface="Courier New" pitchFamily="34" charset="0"/>
                <a:ea typeface="Courier New" pitchFamily="34" charset="-122"/>
                <a:cs typeface="Courier New" pitchFamily="34" charset="-120"/>
              </a:rPr>
              <a:t>0</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'Não é possível dividir por zero!'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Um valor pode ser um número válido e mesmo assim não fazer sentido. E </a:t>
            </a:r>
            <a:r>
              <a:rPr lang="en-US" sz="1400" b="1" dirty="0">
                <a:solidFill>
                  <a:srgbClr val="F7A072"/>
                </a:solidFill>
                <a:latin typeface="Courier New" pitchFamily="34" charset="0"/>
                <a:ea typeface="Courier New" pitchFamily="34" charset="-122"/>
                <a:cs typeface="Courier New" pitchFamily="34" charset="-120"/>
              </a:rPr>
              <a:t>10 / 0</a:t>
            </a:r>
            <a:r>
              <a:rPr lang="en-US" sz="1400" b="1" dirty="0">
                <a:solidFill>
                  <a:srgbClr val="E16D34"/>
                </a:solidFill>
                <a:latin typeface="Helvetica Neue" pitchFamily="34" charset="0"/>
                <a:ea typeface="Helvetica Neue" pitchFamily="34" charset="-122"/>
                <a:cs typeface="Helvetica Neue" pitchFamily="34" charset="-120"/>
              </a:rPr>
              <a:t> dá </a:t>
            </a:r>
            <a:r>
              <a:rPr lang="en-US" sz="1400" b="1" dirty="0">
                <a:solidFill>
                  <a:srgbClr val="F7A072"/>
                </a:solidFill>
                <a:latin typeface="Courier New" pitchFamily="34" charset="0"/>
                <a:ea typeface="Courier New" pitchFamily="34" charset="-122"/>
                <a:cs typeface="Courier New" pitchFamily="34" charset="-120"/>
              </a:rPr>
              <a:t>Infinity</a:t>
            </a:r>
            <a:r>
              <a:rPr lang="en-US" sz="1400" b="1" dirty="0">
                <a:solidFill>
                  <a:srgbClr val="E16D34"/>
                </a:solidFill>
                <a:latin typeface="Helvetica Neue" pitchFamily="34" charset="0"/>
                <a:ea typeface="Helvetica Neue" pitchFamily="34" charset="-122"/>
                <a:cs typeface="Helvetica Neue" pitchFamily="34" charset="-120"/>
              </a:rPr>
              <a:t>, não NaN: o isNaN não pega esse caso.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Antes do código: pseudocódigo</a:t>
            </a:r>
            <a:endParaRPr lang="en-US" sz="3000" dirty="0"/>
          </a:p>
        </p:txBody>
      </p:sp>
      <p:sp>
        <p:nvSpPr>
          <p:cNvPr id="5" name="Shape 2"/>
          <p:cNvSpPr/>
          <p:nvPr/>
        </p:nvSpPr>
        <p:spPr>
          <a:xfrm>
            <a:off x="411480" y="1161288"/>
            <a:ext cx="8321040" cy="2919984"/>
          </a:xfrm>
          <a:prstGeom prst="roundRect">
            <a:avLst>
              <a:gd name="adj" fmla="val 2505"/>
            </a:avLst>
          </a:prstGeom>
          <a:solidFill>
            <a:srgbClr val="121212"/>
          </a:solidFill>
          <a:ln w="9525">
            <a:solidFill>
              <a:srgbClr val="2E2E2E"/>
            </a:solidFill>
            <a:prstDash val="solid"/>
          </a:ln>
        </p:spPr>
      </p:sp>
      <p:sp>
        <p:nvSpPr>
          <p:cNvPr id="6" name="Text 3"/>
          <p:cNvSpPr txBox="1"/>
          <p:nvPr/>
        </p:nvSpPr>
        <p:spPr>
          <a:xfrm>
            <a:off x="557784" y="1278331"/>
            <a:ext cx="8028432" cy="2685898"/>
          </a:xfrm>
          <a:prstGeom prst="rect">
            <a:avLst/>
          </a:prstGeom>
          <a:noFill/>
          <a:ln/>
        </p:spPr>
        <p:txBody>
          <a:bodyPr wrap="square" lIns="0" tIns="0" rIns="0" bIns="0" rtlCol="0" anchor="t"/>
          <a:lstStyle/>
          <a:p>
            <a:pPr algn="l" indent="0" marL="0">
              <a:buNone/>
            </a:pPr>
            <a:r>
              <a:rPr lang="en-US" sz="1700" b="1" dirty="0">
                <a:solidFill>
                  <a:srgbClr val="F0F0F0"/>
                </a:solidFill>
                <a:latin typeface="Courier New" pitchFamily="34" charset="0"/>
                <a:ea typeface="Courier New" pitchFamily="34" charset="-122"/>
                <a:cs typeface="Courier New" pitchFamily="34" charset="-120"/>
              </a:rPr>
              <a:t>resultado = 0</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REPITA até a opção ser "sair":</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mostrar o menu</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ler a opção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SE for uma operação: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ler um número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SE não for número: avisar</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SENÃO: calcular e guardar em resultado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SE for "ver resultado": mostrar resultado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mostrar "Encerrando..."</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Escrever a lógica em português antes, sem se preocupar com a sintaxe, deixa o código muito mais fácil de escrever depois.</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417320"/>
            <a:ext cx="7680960" cy="1188720"/>
          </a:xfrm>
          <a:prstGeom prst="rect">
            <a:avLst/>
          </a:prstGeom>
          <a:noFill/>
          <a:ln/>
        </p:spPr>
        <p:txBody>
          <a:bodyPr wrap="square" lIns="0" tIns="0" rIns="0" bIns="0" rtlCol="0" anchor="b"/>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Hora de Codar!</a:t>
            </a:r>
            <a:endParaRPr lang="en-US" sz="3200" dirty="0"/>
          </a:p>
        </p:txBody>
      </p:sp>
      <p:sp>
        <p:nvSpPr>
          <p:cNvPr id="5" name="Text 1"/>
          <p:cNvSpPr txBox="1"/>
          <p:nvPr/>
        </p:nvSpPr>
        <p:spPr>
          <a:xfrm>
            <a:off x="1097280" y="2743200"/>
            <a:ext cx="6949440" cy="1005840"/>
          </a:xfrm>
          <a:prstGeom prst="rect">
            <a:avLst/>
          </a:prstGeom>
          <a:noFill/>
          <a:ln/>
        </p:spPr>
        <p:txBody>
          <a:bodyPr wrap="square" lIns="0" tIns="0" rIns="0" bIns="0" rtlCol="0" anchor="t"/>
          <a:lstStyle/>
          <a:p>
            <a:pPr algn="ctr" indent="0" marL="0">
              <a:buNone/>
            </a:pPr>
            <a:r>
              <a:rPr lang="en-US" sz="1600" b="1" dirty="0">
                <a:solidFill>
                  <a:srgbClr val="E6E6E6"/>
                </a:solidFill>
                <a:latin typeface="Helvetica Neue" pitchFamily="34" charset="0"/>
                <a:ea typeface="Helvetica Neue" pitchFamily="34" charset="-122"/>
                <a:cs typeface="Helvetica Neue" pitchFamily="34" charset="-120"/>
              </a:rPr>
              <a:t>Vamos construir a calculadora juntos, passo a passo</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Preparando o projeto</a:t>
            </a:r>
            <a:endParaRPr lang="en-US" sz="3000" dirty="0"/>
          </a:p>
        </p:txBody>
      </p:sp>
      <p:sp>
        <p:nvSpPr>
          <p:cNvPr id="5" name="Shape 2"/>
          <p:cNvSpPr/>
          <p:nvPr/>
        </p:nvSpPr>
        <p:spPr>
          <a:xfrm>
            <a:off x="365760" y="2090928"/>
            <a:ext cx="4206240" cy="1624584"/>
          </a:xfrm>
          <a:prstGeom prst="roundRect">
            <a:avLst>
              <a:gd name="adj" fmla="val 4503"/>
            </a:avLst>
          </a:prstGeom>
          <a:solidFill>
            <a:srgbClr val="121212"/>
          </a:solidFill>
          <a:ln w="9525">
            <a:solidFill>
              <a:srgbClr val="2E2E2E"/>
            </a:solidFill>
            <a:prstDash val="solid"/>
          </a:ln>
        </p:spPr>
      </p:sp>
      <p:sp>
        <p:nvSpPr>
          <p:cNvPr id="6" name="Text 3"/>
          <p:cNvSpPr txBox="1"/>
          <p:nvPr/>
        </p:nvSpPr>
        <p:spPr>
          <a:xfrm>
            <a:off x="512064" y="2207971"/>
            <a:ext cx="3913632" cy="139049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 mkdir calculadora</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 cd calculadora</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 npm init -y</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 npm install prompt-sync</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 touch calculadora.js</a:t>
            </a:r>
            <a:endParaRPr lang="en-US" sz="1700" dirty="0"/>
          </a:p>
        </p:txBody>
      </p:sp>
      <p:sp>
        <p:nvSpPr>
          <p:cNvPr id="7" name="Text 4"/>
          <p:cNvSpPr txBox="1"/>
          <p:nvPr/>
        </p:nvSpPr>
        <p:spPr>
          <a:xfrm>
            <a:off x="4846320" y="1821180"/>
            <a:ext cx="3931920" cy="216408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npm init -y  </a:t>
            </a:r>
            <a:r>
              <a:rPr lang="en-US" sz="1450" b="1" dirty="0">
                <a:solidFill>
                  <a:srgbClr val="E6E6E6"/>
                </a:solidFill>
                <a:latin typeface="Helvetica Neue" pitchFamily="34" charset="0"/>
                <a:ea typeface="Helvetica Neue" pitchFamily="34" charset="-122"/>
                <a:cs typeface="Helvetica Neue" pitchFamily="34" charset="-120"/>
              </a:rPr>
              <a:t>→ cria o package.json.</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prompt-sync  </a:t>
            </a:r>
            <a:r>
              <a:rPr lang="en-US" sz="1450" b="1" dirty="0">
                <a:solidFill>
                  <a:srgbClr val="E6E6E6"/>
                </a:solidFill>
                <a:latin typeface="Helvetica Neue" pitchFamily="34" charset="0"/>
                <a:ea typeface="Helvetica Neue" pitchFamily="34" charset="-122"/>
                <a:cs typeface="Helvetica Neue" pitchFamily="34" charset="-120"/>
              </a:rPr>
              <a:t>→ para ler o que o usuário digita.</a:t>
            </a:r>
            <a:endParaRPr lang="en-US" sz="1450" dirty="0"/>
          </a:p>
          <a:p>
            <a:pPr algn="l" indent="0" marL="0">
              <a:buNone/>
            </a:pPr>
            <a:r>
              <a:rPr lang="en-US" sz="1450" b="1" dirty="0">
                <a:solidFill>
                  <a:srgbClr val="E16D34"/>
                </a:solidFill>
                <a:latin typeface="Courier New" pitchFamily="34" charset="0"/>
                <a:ea typeface="Courier New" pitchFamily="34" charset="-122"/>
                <a:cs typeface="Courier New" pitchFamily="34" charset="-120"/>
              </a:rPr>
              <a:t>"type": "module"  </a:t>
            </a:r>
            <a:r>
              <a:rPr lang="en-US" sz="1450" b="1" dirty="0">
                <a:solidFill>
                  <a:srgbClr val="E6E6E6"/>
                </a:solidFill>
                <a:latin typeface="Helvetica Neue" pitchFamily="34" charset="0"/>
                <a:ea typeface="Helvetica Neue" pitchFamily="34" charset="-122"/>
                <a:cs typeface="Helvetica Neue" pitchFamily="34" charset="-120"/>
              </a:rPr>
              <a:t>→ o código da aula usa </a:t>
            </a:r>
            <a:r>
              <a:rPr lang="en-US" sz="1450" b="1" dirty="0">
                <a:solidFill>
                  <a:srgbClr val="F7A072"/>
                </a:solidFill>
                <a:latin typeface="Courier New" pitchFamily="34" charset="0"/>
                <a:ea typeface="Courier New" pitchFamily="34" charset="-122"/>
                <a:cs typeface="Courier New" pitchFamily="34" charset="-120"/>
              </a:rPr>
              <a:t>import</a:t>
            </a:r>
            <a:r>
              <a:rPr lang="en-US" sz="1450" b="1" dirty="0">
                <a:solidFill>
                  <a:srgbClr val="E6E6E6"/>
                </a:solidFill>
                <a:latin typeface="Helvetica Neue" pitchFamily="34" charset="0"/>
                <a:ea typeface="Helvetica Neue" pitchFamily="34" charset="-122"/>
                <a:cs typeface="Helvetica Neue" pitchFamily="34" charset="-120"/>
              </a:rPr>
              <a:t>: adicione essa linha no package.json (lembra do Módulo 2?).</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500" b="1" dirty="0">
                <a:solidFill>
                  <a:srgbClr val="E16D34"/>
                </a:solidFill>
                <a:latin typeface="Montserrat" pitchFamily="34" charset="0"/>
                <a:ea typeface="Montserrat" pitchFamily="34" charset="-122"/>
                <a:cs typeface="Montserrat" pitchFamily="34" charset="-120"/>
              </a:rPr>
              <a:t>Passo 1: uma função para cada operação</a:t>
            </a:r>
            <a:endParaRPr lang="en-US" sz="2500" dirty="0"/>
          </a:p>
        </p:txBody>
      </p:sp>
      <p:sp>
        <p:nvSpPr>
          <p:cNvPr id="5" name="Shape 2"/>
          <p:cNvSpPr/>
          <p:nvPr/>
        </p:nvSpPr>
        <p:spPr>
          <a:xfrm>
            <a:off x="411480" y="1633728"/>
            <a:ext cx="8321040" cy="1975104"/>
          </a:xfrm>
          <a:prstGeom prst="roundRect">
            <a:avLst>
              <a:gd name="adj" fmla="val 3704"/>
            </a:avLst>
          </a:prstGeom>
          <a:solidFill>
            <a:srgbClr val="121212"/>
          </a:solidFill>
          <a:ln w="9525">
            <a:solidFill>
              <a:srgbClr val="2E2E2E"/>
            </a:solidFill>
            <a:prstDash val="solid"/>
          </a:ln>
        </p:spPr>
      </p:sp>
      <p:sp>
        <p:nvSpPr>
          <p:cNvPr id="6" name="Text 3"/>
          <p:cNvSpPr txBox="1"/>
          <p:nvPr/>
        </p:nvSpPr>
        <p:spPr>
          <a:xfrm>
            <a:off x="557784" y="1750771"/>
            <a:ext cx="8028432" cy="1741018"/>
          </a:xfrm>
          <a:prstGeom prst="rect">
            <a:avLst/>
          </a:prstGeom>
          <a:noFill/>
          <a:ln/>
        </p:spPr>
        <p:txBody>
          <a:bodyPr wrap="square" lIns="0" tIns="0" rIns="0" bIns="0" rtlCol="0" anchor="t"/>
          <a:lstStyle/>
          <a:p>
            <a:pPr algn="l" indent="0" marL="0">
              <a:buNone/>
            </a:pPr>
            <a:r>
              <a:rPr lang="en-US" sz="1350" b="1" dirty="0">
                <a:solidFill>
                  <a:srgbClr val="E16D34"/>
                </a:solidFill>
                <a:latin typeface="Courier New" pitchFamily="34" charset="0"/>
                <a:ea typeface="Courier New" pitchFamily="34" charset="-122"/>
                <a:cs typeface="Courier New" pitchFamily="34" charset="-120"/>
              </a:rPr>
              <a:t>import</a:t>
            </a:r>
            <a:r>
              <a:rPr lang="en-US" sz="1350" b="1" dirty="0">
                <a:solidFill>
                  <a:srgbClr val="F0F0F0"/>
                </a:solidFill>
                <a:latin typeface="Courier New" pitchFamily="34" charset="0"/>
                <a:ea typeface="Courier New" pitchFamily="34" charset="-122"/>
                <a:cs typeface="Courier New" pitchFamily="34" charset="-120"/>
              </a:rPr>
              <a:t> promptSync </a:t>
            </a:r>
            <a:r>
              <a:rPr lang="en-US" sz="1350" b="1" dirty="0">
                <a:solidFill>
                  <a:srgbClr val="E16D34"/>
                </a:solidFill>
                <a:latin typeface="Courier New" pitchFamily="34" charset="0"/>
                <a:ea typeface="Courier New" pitchFamily="34" charset="-122"/>
                <a:cs typeface="Courier New" pitchFamily="34" charset="-120"/>
              </a:rPr>
              <a:t>from</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A8D8A8"/>
                </a:solidFill>
                <a:latin typeface="Courier New" pitchFamily="34" charset="0"/>
                <a:ea typeface="Courier New" pitchFamily="34" charset="-122"/>
                <a:cs typeface="Courier New" pitchFamily="34" charset="-120"/>
              </a:rPr>
              <a:t>'prompt-sync'</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const</a:t>
            </a:r>
            <a:r>
              <a:rPr lang="en-US" sz="1350" b="1" dirty="0">
                <a:solidFill>
                  <a:srgbClr val="F0F0F0"/>
                </a:solidFill>
                <a:latin typeface="Courier New" pitchFamily="34" charset="0"/>
                <a:ea typeface="Courier New" pitchFamily="34" charset="-122"/>
                <a:cs typeface="Courier New" pitchFamily="34" charset="-120"/>
              </a:rPr>
              <a:t> prompt = </a:t>
            </a:r>
            <a:r>
              <a:rPr lang="en-US" sz="1350" b="1" dirty="0">
                <a:solidFill>
                  <a:srgbClr val="7CC4FF"/>
                </a:solidFill>
                <a:latin typeface="Courier New" pitchFamily="34" charset="0"/>
                <a:ea typeface="Courier New" pitchFamily="34" charset="-122"/>
                <a:cs typeface="Courier New" pitchFamily="34" charset="-120"/>
              </a:rPr>
              <a:t>promptSync</a:t>
            </a:r>
            <a:r>
              <a:rPr lang="en-US" sz="1350" b="1" dirty="0">
                <a:solidFill>
                  <a:srgbClr val="F0F0F0"/>
                </a:solidFill>
                <a:latin typeface="Courier New" pitchFamily="34" charset="0"/>
                <a:ea typeface="Courier New" pitchFamily="34" charset="-122"/>
                <a:cs typeface="Courier New" pitchFamily="34" charset="-120"/>
              </a:rPr>
              <a:t>({ sigint: </a:t>
            </a:r>
            <a:r>
              <a:rPr lang="en-US" sz="1350" b="1" dirty="0">
                <a:solidFill>
                  <a:srgbClr val="F2C572"/>
                </a:solidFill>
                <a:latin typeface="Courier New" pitchFamily="34" charset="0"/>
                <a:ea typeface="Courier New" pitchFamily="34" charset="-122"/>
                <a:cs typeface="Courier New" pitchFamily="34" charset="-120"/>
              </a:rPr>
              <a:t>true</a:t>
            </a:r>
            <a:r>
              <a:rPr lang="en-US" sz="1350" b="1" dirty="0">
                <a:solidFill>
                  <a:srgbClr val="F0F0F0"/>
                </a:solidFill>
                <a:latin typeface="Courier New" pitchFamily="34" charset="0"/>
                <a:ea typeface="Courier New" pitchFamily="34" charset="-122"/>
                <a:cs typeface="Courier New" pitchFamily="34" charset="-120"/>
              </a:rPr>
              <a:t> })</a:t>
            </a:r>
            <a:endParaRPr lang="en-US" sz="1350" dirty="0"/>
          </a:p>
          <a:p>
            <a:pPr algn="l" indent="0" marL="0">
              <a:buNone/>
            </a:pPr>
            <a:r>
              <a:rPr lang="en-US" sz="1350" b="1" dirty="0">
                <a:solidFill>
                  <a:srgbClr val="F0F0F0"/>
                </a:solidFill>
                <a:latin typeface="Courier New" pitchFamily="34" charset="0"/>
                <a:ea typeface="Courier New" pitchFamily="34" charset="-122"/>
                <a:cs typeface="Courier New" pitchFamily="34" charset="-120"/>
              </a:rPr>
              <a:t> </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function</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7CC4FF"/>
                </a:solidFill>
                <a:latin typeface="Courier New" pitchFamily="34" charset="0"/>
                <a:ea typeface="Courier New" pitchFamily="34" charset="-122"/>
                <a:cs typeface="Courier New" pitchFamily="34" charset="-120"/>
              </a:rPr>
              <a:t>somar</a:t>
            </a:r>
            <a:r>
              <a:rPr lang="en-US" sz="1350" b="1" dirty="0">
                <a:solidFill>
                  <a:srgbClr val="F0F0F0"/>
                </a:solidFill>
                <a:latin typeface="Courier New" pitchFamily="34" charset="0"/>
                <a:ea typeface="Courier New" pitchFamily="34" charset="-122"/>
                <a:cs typeface="Courier New" pitchFamily="34" charset="-120"/>
              </a:rPr>
              <a:t>(num1, num2) { </a:t>
            </a:r>
            <a:r>
              <a:rPr lang="en-US" sz="1350" b="1" dirty="0">
                <a:solidFill>
                  <a:srgbClr val="E16D34"/>
                </a:solidFill>
                <a:latin typeface="Courier New" pitchFamily="34" charset="0"/>
                <a:ea typeface="Courier New" pitchFamily="34" charset="-122"/>
                <a:cs typeface="Courier New" pitchFamily="34" charset="-120"/>
              </a:rPr>
              <a:t>return</a:t>
            </a:r>
            <a:r>
              <a:rPr lang="en-US" sz="1350" b="1" dirty="0">
                <a:solidFill>
                  <a:srgbClr val="F0F0F0"/>
                </a:solidFill>
                <a:latin typeface="Courier New" pitchFamily="34" charset="0"/>
                <a:ea typeface="Courier New" pitchFamily="34" charset="-122"/>
                <a:cs typeface="Courier New" pitchFamily="34" charset="-120"/>
              </a:rPr>
              <a:t> num1 + num2 }</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function</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7CC4FF"/>
                </a:solidFill>
                <a:latin typeface="Courier New" pitchFamily="34" charset="0"/>
                <a:ea typeface="Courier New" pitchFamily="34" charset="-122"/>
                <a:cs typeface="Courier New" pitchFamily="34" charset="-120"/>
              </a:rPr>
              <a:t>subtrair</a:t>
            </a:r>
            <a:r>
              <a:rPr lang="en-US" sz="1350" b="1" dirty="0">
                <a:solidFill>
                  <a:srgbClr val="F0F0F0"/>
                </a:solidFill>
                <a:latin typeface="Courier New" pitchFamily="34" charset="0"/>
                <a:ea typeface="Courier New" pitchFamily="34" charset="-122"/>
                <a:cs typeface="Courier New" pitchFamily="34" charset="-120"/>
              </a:rPr>
              <a:t>(num1, num2) { </a:t>
            </a:r>
            <a:r>
              <a:rPr lang="en-US" sz="1350" b="1" dirty="0">
                <a:solidFill>
                  <a:srgbClr val="E16D34"/>
                </a:solidFill>
                <a:latin typeface="Courier New" pitchFamily="34" charset="0"/>
                <a:ea typeface="Courier New" pitchFamily="34" charset="-122"/>
                <a:cs typeface="Courier New" pitchFamily="34" charset="-120"/>
              </a:rPr>
              <a:t>return</a:t>
            </a:r>
            <a:r>
              <a:rPr lang="en-US" sz="1350" b="1" dirty="0">
                <a:solidFill>
                  <a:srgbClr val="F0F0F0"/>
                </a:solidFill>
                <a:latin typeface="Courier New" pitchFamily="34" charset="0"/>
                <a:ea typeface="Courier New" pitchFamily="34" charset="-122"/>
                <a:cs typeface="Courier New" pitchFamily="34" charset="-120"/>
              </a:rPr>
              <a:t> num1 - num2 }</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function</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7CC4FF"/>
                </a:solidFill>
                <a:latin typeface="Courier New" pitchFamily="34" charset="0"/>
                <a:ea typeface="Courier New" pitchFamily="34" charset="-122"/>
                <a:cs typeface="Courier New" pitchFamily="34" charset="-120"/>
              </a:rPr>
              <a:t>multiplicar</a:t>
            </a:r>
            <a:r>
              <a:rPr lang="en-US" sz="1350" b="1" dirty="0">
                <a:solidFill>
                  <a:srgbClr val="F0F0F0"/>
                </a:solidFill>
                <a:latin typeface="Courier New" pitchFamily="34" charset="0"/>
                <a:ea typeface="Courier New" pitchFamily="34" charset="-122"/>
                <a:cs typeface="Courier New" pitchFamily="34" charset="-120"/>
              </a:rPr>
              <a:t>(num1, num2) { </a:t>
            </a:r>
            <a:r>
              <a:rPr lang="en-US" sz="1350" b="1" dirty="0">
                <a:solidFill>
                  <a:srgbClr val="E16D34"/>
                </a:solidFill>
                <a:latin typeface="Courier New" pitchFamily="34" charset="0"/>
                <a:ea typeface="Courier New" pitchFamily="34" charset="-122"/>
                <a:cs typeface="Courier New" pitchFamily="34" charset="-120"/>
              </a:rPr>
              <a:t>return</a:t>
            </a:r>
            <a:r>
              <a:rPr lang="en-US" sz="1350" b="1" dirty="0">
                <a:solidFill>
                  <a:srgbClr val="F0F0F0"/>
                </a:solidFill>
                <a:latin typeface="Courier New" pitchFamily="34" charset="0"/>
                <a:ea typeface="Courier New" pitchFamily="34" charset="-122"/>
                <a:cs typeface="Courier New" pitchFamily="34" charset="-120"/>
              </a:rPr>
              <a:t> num1 * num2 }</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function</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7CC4FF"/>
                </a:solidFill>
                <a:latin typeface="Courier New" pitchFamily="34" charset="0"/>
                <a:ea typeface="Courier New" pitchFamily="34" charset="-122"/>
                <a:cs typeface="Courier New" pitchFamily="34" charset="-120"/>
              </a:rPr>
              <a:t>dividir</a:t>
            </a:r>
            <a:r>
              <a:rPr lang="en-US" sz="1350" b="1" dirty="0">
                <a:solidFill>
                  <a:srgbClr val="F0F0F0"/>
                </a:solidFill>
                <a:latin typeface="Courier New" pitchFamily="34" charset="0"/>
                <a:ea typeface="Courier New" pitchFamily="34" charset="-122"/>
                <a:cs typeface="Courier New" pitchFamily="34" charset="-120"/>
              </a:rPr>
              <a:t>(num1, num2) { </a:t>
            </a:r>
            <a:r>
              <a:rPr lang="en-US" sz="1350" b="1" dirty="0">
                <a:solidFill>
                  <a:srgbClr val="E16D34"/>
                </a:solidFill>
                <a:latin typeface="Courier New" pitchFamily="34" charset="0"/>
                <a:ea typeface="Courier New" pitchFamily="34" charset="-122"/>
                <a:cs typeface="Courier New" pitchFamily="34" charset="-120"/>
              </a:rPr>
              <a:t>return</a:t>
            </a:r>
            <a:r>
              <a:rPr lang="en-US" sz="1350" b="1" dirty="0">
                <a:solidFill>
                  <a:srgbClr val="F0F0F0"/>
                </a:solidFill>
                <a:latin typeface="Courier New" pitchFamily="34" charset="0"/>
                <a:ea typeface="Courier New" pitchFamily="34" charset="-122"/>
                <a:cs typeface="Courier New" pitchFamily="34" charset="-120"/>
              </a:rPr>
              <a:t> num1 / num2 }</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function</a:t>
            </a:r>
            <a:r>
              <a:rPr lang="en-US" sz="1350" b="1" dirty="0">
                <a:solidFill>
                  <a:srgbClr val="F0F0F0"/>
                </a:solidFill>
                <a:latin typeface="Courier New" pitchFamily="34" charset="0"/>
                <a:ea typeface="Courier New" pitchFamily="34" charset="-122"/>
                <a:cs typeface="Courier New" pitchFamily="34" charset="-120"/>
              </a:rPr>
              <a:t> </a:t>
            </a:r>
            <a:r>
              <a:rPr lang="en-US" sz="1350" b="1" dirty="0">
                <a:solidFill>
                  <a:srgbClr val="7CC4FF"/>
                </a:solidFill>
                <a:latin typeface="Courier New" pitchFamily="34" charset="0"/>
                <a:ea typeface="Courier New" pitchFamily="34" charset="-122"/>
                <a:cs typeface="Courier New" pitchFamily="34" charset="-120"/>
              </a:rPr>
              <a:t>porcentagem</a:t>
            </a:r>
            <a:r>
              <a:rPr lang="en-US" sz="1350" b="1" dirty="0">
                <a:solidFill>
                  <a:srgbClr val="F0F0F0"/>
                </a:solidFill>
                <a:latin typeface="Courier New" pitchFamily="34" charset="0"/>
                <a:ea typeface="Courier New" pitchFamily="34" charset="-122"/>
                <a:cs typeface="Courier New" pitchFamily="34" charset="-120"/>
              </a:rPr>
              <a:t>(valor, percentual) { </a:t>
            </a:r>
            <a:r>
              <a:rPr lang="en-US" sz="1350" b="1" dirty="0">
                <a:solidFill>
                  <a:srgbClr val="E16D34"/>
                </a:solidFill>
                <a:latin typeface="Courier New" pitchFamily="34" charset="0"/>
                <a:ea typeface="Courier New" pitchFamily="34" charset="-122"/>
                <a:cs typeface="Courier New" pitchFamily="34" charset="-120"/>
              </a:rPr>
              <a:t>return</a:t>
            </a:r>
            <a:r>
              <a:rPr lang="en-US" sz="1350" b="1" dirty="0">
                <a:solidFill>
                  <a:srgbClr val="F0F0F0"/>
                </a:solidFill>
                <a:latin typeface="Courier New" pitchFamily="34" charset="0"/>
                <a:ea typeface="Courier New" pitchFamily="34" charset="-122"/>
                <a:cs typeface="Courier New" pitchFamily="34" charset="-120"/>
              </a:rPr>
              <a:t> (valor * percentual) / </a:t>
            </a:r>
            <a:r>
              <a:rPr lang="en-US" sz="1350" b="1" dirty="0">
                <a:solidFill>
                  <a:srgbClr val="F2C572"/>
                </a:solidFill>
                <a:latin typeface="Courier New" pitchFamily="34" charset="0"/>
                <a:ea typeface="Courier New" pitchFamily="34" charset="-122"/>
                <a:cs typeface="Courier New" pitchFamily="34" charset="-120"/>
              </a:rPr>
              <a:t>100</a:t>
            </a:r>
            <a:r>
              <a:rPr lang="en-US" sz="1350" b="1" dirty="0">
                <a:solidFill>
                  <a:srgbClr val="F0F0F0"/>
                </a:solidFill>
                <a:latin typeface="Courier New" pitchFamily="34" charset="0"/>
                <a:ea typeface="Courier New" pitchFamily="34" charset="-122"/>
                <a:cs typeface="Courier New" pitchFamily="34" charset="-120"/>
              </a:rPr>
              <a:t> }</a:t>
            </a:r>
            <a:endParaRPr lang="en-US" sz="135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Uma função por operação: cada uma </a:t>
            </a:r>
            <a:r>
              <a:rPr lang="en-US" sz="1400" b="1" dirty="0">
                <a:solidFill>
                  <a:srgbClr val="FFFFFF"/>
                </a:solidFill>
                <a:latin typeface="Helvetica Neue" pitchFamily="34" charset="0"/>
                <a:ea typeface="Helvetica Neue" pitchFamily="34" charset="-122"/>
                <a:cs typeface="Helvetica Neue" pitchFamily="34" charset="-120"/>
              </a:rPr>
              <a:t>devolve</a:t>
            </a:r>
            <a:r>
              <a:rPr lang="en-US" sz="1400" b="1" dirty="0">
                <a:solidFill>
                  <a:srgbClr val="E16D34"/>
                </a:solidFill>
                <a:latin typeface="Helvetica Neue" pitchFamily="34" charset="0"/>
                <a:ea typeface="Helvetica Neue" pitchFamily="34" charset="-122"/>
                <a:cs typeface="Helvetica Neue" pitchFamily="34" charset="-120"/>
              </a:rPr>
              <a:t> o resultado com </a:t>
            </a:r>
            <a:r>
              <a:rPr lang="en-US" sz="1400" b="1" dirty="0">
                <a:solidFill>
                  <a:srgbClr val="F7A072"/>
                </a:solidFill>
                <a:latin typeface="Courier New" pitchFamily="34" charset="0"/>
                <a:ea typeface="Courier New" pitchFamily="34" charset="-122"/>
                <a:cs typeface="Courier New" pitchFamily="34" charset="-120"/>
              </a:rPr>
              <a:t>return</a:t>
            </a:r>
            <a:r>
              <a:rPr lang="en-US" sz="1400" b="1" dirty="0">
                <a:solidFill>
                  <a:srgbClr val="E16D34"/>
                </a:solidFill>
                <a:latin typeface="Helvetica Neue" pitchFamily="34" charset="0"/>
                <a:ea typeface="Helvetica Neue" pitchFamily="34" charset="-122"/>
                <a:cs typeface="Helvetica Neue" pitchFamily="34" charset="-120"/>
              </a:rPr>
              <a:t>. Exemplo: </a:t>
            </a:r>
            <a:r>
              <a:rPr lang="en-US" sz="1400" b="1" dirty="0">
                <a:solidFill>
                  <a:srgbClr val="F7A072"/>
                </a:solidFill>
                <a:latin typeface="Courier New" pitchFamily="34" charset="0"/>
                <a:ea typeface="Courier New" pitchFamily="34" charset="-122"/>
                <a:cs typeface="Courier New" pitchFamily="34" charset="-120"/>
              </a:rPr>
              <a:t>porcentagem(200, 10)</a:t>
            </a:r>
            <a:r>
              <a:rPr lang="en-US" sz="1400" b="1" dirty="0">
                <a:solidFill>
                  <a:srgbClr val="E16D34"/>
                </a:solidFill>
                <a:latin typeface="Helvetica Neue" pitchFamily="34" charset="0"/>
                <a:ea typeface="Helvetica Neue" pitchFamily="34" charset="-122"/>
                <a:cs typeface="Helvetica Neue" pitchFamily="34" charset="-120"/>
              </a:rPr>
              <a:t> devolve 20 (10% de 200).</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Passo 2: o menu e o laço</a:t>
            </a:r>
            <a:endParaRPr lang="en-US" sz="3000" dirty="0"/>
          </a:p>
        </p:txBody>
      </p:sp>
      <p:sp>
        <p:nvSpPr>
          <p:cNvPr id="5" name="Shape 2"/>
          <p:cNvSpPr/>
          <p:nvPr/>
        </p:nvSpPr>
        <p:spPr>
          <a:xfrm>
            <a:off x="411480" y="1115568"/>
            <a:ext cx="8321040" cy="3011424"/>
          </a:xfrm>
          <a:prstGeom prst="roundRect">
            <a:avLst>
              <a:gd name="adj" fmla="val 2429"/>
            </a:avLst>
          </a:prstGeom>
          <a:solidFill>
            <a:srgbClr val="121212"/>
          </a:solidFill>
          <a:ln w="9525">
            <a:solidFill>
              <a:srgbClr val="2E2E2E"/>
            </a:solidFill>
            <a:prstDash val="solid"/>
          </a:ln>
        </p:spPr>
      </p:sp>
      <p:sp>
        <p:nvSpPr>
          <p:cNvPr id="6" name="Text 3"/>
          <p:cNvSpPr txBox="1"/>
          <p:nvPr/>
        </p:nvSpPr>
        <p:spPr>
          <a:xfrm>
            <a:off x="557784" y="1232611"/>
            <a:ext cx="8028432" cy="2777338"/>
          </a:xfrm>
          <a:prstGeom prst="rect">
            <a:avLst/>
          </a:prstGeom>
          <a:noFill/>
          <a:ln/>
        </p:spPr>
        <p:txBody>
          <a:bodyPr wrap="square" lIns="0" tIns="0" rIns="0" bIns="0" rtlCol="0" anchor="t"/>
          <a:lstStyle/>
          <a:p>
            <a:pPr algn="l" indent="0" marL="0">
              <a:buNone/>
            </a:pPr>
            <a:r>
              <a:rPr lang="en-US" sz="1100" b="1" dirty="0">
                <a:solidFill>
                  <a:srgbClr val="E16D34"/>
                </a:solidFill>
                <a:latin typeface="Courier New" pitchFamily="34" charset="0"/>
                <a:ea typeface="Courier New" pitchFamily="34" charset="-122"/>
                <a:cs typeface="Courier New" pitchFamily="34" charset="-120"/>
              </a:rPr>
              <a:t>let</a:t>
            </a:r>
            <a:r>
              <a:rPr lang="en-US" sz="1100" b="1" dirty="0">
                <a:solidFill>
                  <a:srgbClr val="F0F0F0"/>
                </a:solidFill>
                <a:latin typeface="Courier New" pitchFamily="34" charset="0"/>
                <a:ea typeface="Courier New" pitchFamily="34" charset="-122"/>
                <a:cs typeface="Courier New" pitchFamily="34" charset="-120"/>
              </a:rPr>
              <a:t> op = </a:t>
            </a:r>
            <a:r>
              <a:rPr lang="en-US" sz="1100" b="1" dirty="0">
                <a:solidFill>
                  <a:srgbClr val="F2C572"/>
                </a:solidFill>
                <a:latin typeface="Courier New" pitchFamily="34" charset="0"/>
                <a:ea typeface="Courier New" pitchFamily="34" charset="-122"/>
                <a:cs typeface="Courier New" pitchFamily="34" charset="-120"/>
              </a:rPr>
              <a:t>0</a:t>
            </a:r>
            <a:endParaRPr lang="en-US" sz="1100" dirty="0"/>
          </a:p>
          <a:p>
            <a:pPr algn="l" indent="0" marL="0">
              <a:buNone/>
            </a:pPr>
            <a:r>
              <a:rPr lang="en-US" sz="1100" b="1" dirty="0">
                <a:solidFill>
                  <a:srgbClr val="E16D34"/>
                </a:solidFill>
                <a:latin typeface="Courier New" pitchFamily="34" charset="0"/>
                <a:ea typeface="Courier New" pitchFamily="34" charset="-122"/>
                <a:cs typeface="Courier New" pitchFamily="34" charset="-120"/>
              </a:rPr>
              <a:t>let</a:t>
            </a:r>
            <a:r>
              <a:rPr lang="en-US" sz="1100" b="1" dirty="0">
                <a:solidFill>
                  <a:srgbClr val="F0F0F0"/>
                </a:solidFill>
                <a:latin typeface="Courier New" pitchFamily="34" charset="0"/>
                <a:ea typeface="Courier New" pitchFamily="34" charset="-122"/>
                <a:cs typeface="Courier New" pitchFamily="34" charset="-120"/>
              </a:rPr>
              <a:t> resultado = </a:t>
            </a:r>
            <a:r>
              <a:rPr lang="en-US" sz="1100" b="1" dirty="0">
                <a:solidFill>
                  <a:srgbClr val="F2C572"/>
                </a:solidFill>
                <a:latin typeface="Courier New" pitchFamily="34" charset="0"/>
                <a:ea typeface="Courier New" pitchFamily="34" charset="-122"/>
                <a:cs typeface="Courier New" pitchFamily="34" charset="-120"/>
              </a:rPr>
              <a:t>0</a:t>
            </a:r>
            <a:endParaRPr lang="en-US" sz="1100" dirty="0"/>
          </a:p>
          <a:p>
            <a:pPr algn="l" indent="0" marL="0">
              <a:buNone/>
            </a:pPr>
            <a:r>
              <a:rPr lang="en-US" sz="1100" b="1" dirty="0">
                <a:solidFill>
                  <a:srgbClr val="E16D34"/>
                </a:solidFill>
                <a:latin typeface="Courier New" pitchFamily="34" charset="0"/>
                <a:ea typeface="Courier New" pitchFamily="34" charset="-122"/>
                <a:cs typeface="Courier New" pitchFamily="34" charset="-120"/>
              </a:rPr>
              <a:t>let</a:t>
            </a:r>
            <a:r>
              <a:rPr lang="en-US" sz="1100" b="1" dirty="0">
                <a:solidFill>
                  <a:srgbClr val="F0F0F0"/>
                </a:solidFill>
                <a:latin typeface="Courier New" pitchFamily="34" charset="0"/>
                <a:ea typeface="Courier New" pitchFamily="34" charset="-122"/>
                <a:cs typeface="Courier New" pitchFamily="34" charset="-120"/>
              </a:rPr>
              <a:t> num</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endParaRPr lang="en-US" sz="1100" dirty="0"/>
          </a:p>
          <a:p>
            <a:pPr algn="l" indent="0" marL="0">
              <a:buNone/>
            </a:pPr>
            <a:r>
              <a:rPr lang="en-US" sz="1100" b="1" dirty="0">
                <a:solidFill>
                  <a:srgbClr val="E16D34"/>
                </a:solidFill>
                <a:latin typeface="Courier New" pitchFamily="34" charset="0"/>
                <a:ea typeface="Courier New" pitchFamily="34" charset="-122"/>
                <a:cs typeface="Courier New" pitchFamily="34" charset="-120"/>
              </a:rPr>
              <a:t>while</a:t>
            </a:r>
            <a:r>
              <a:rPr lang="en-US" sz="1100" b="1" dirty="0">
                <a:solidFill>
                  <a:srgbClr val="F0F0F0"/>
                </a:solidFill>
                <a:latin typeface="Courier New" pitchFamily="34" charset="0"/>
                <a:ea typeface="Courier New" pitchFamily="34" charset="-122"/>
                <a:cs typeface="Courier New" pitchFamily="34" charset="-120"/>
              </a:rPr>
              <a:t> (op !== </a:t>
            </a:r>
            <a:r>
              <a:rPr lang="en-US" sz="1100" b="1" dirty="0">
                <a:solidFill>
                  <a:srgbClr val="F2C572"/>
                </a:solidFill>
                <a:latin typeface="Courier New" pitchFamily="34" charset="0"/>
                <a:ea typeface="Courier New" pitchFamily="34" charset="-122"/>
                <a:cs typeface="Courier New" pitchFamily="34" charset="-120"/>
              </a:rPr>
              <a:t>7</a:t>
            </a:r>
            <a:r>
              <a:rPr lang="en-US" sz="1100" b="1" dirty="0">
                <a:solidFill>
                  <a:srgbClr val="F0F0F0"/>
                </a:solidFill>
                <a:latin typeface="Courier New" pitchFamily="34" charset="0"/>
                <a:ea typeface="Courier New" pitchFamily="34" charset="-122"/>
                <a:cs typeface="Courier New" pitchFamily="34" charset="-120"/>
              </a:rPr>
              <a:t>) {</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console.</a:t>
            </a:r>
            <a:r>
              <a:rPr lang="en-US" sz="1100" b="1" dirty="0">
                <a:solidFill>
                  <a:srgbClr val="7CC4FF"/>
                </a:solidFill>
                <a:latin typeface="Courier New" pitchFamily="34" charset="0"/>
                <a:ea typeface="Courier New" pitchFamily="34" charset="-122"/>
                <a:cs typeface="Courier New" pitchFamily="34" charset="-120"/>
              </a:rPr>
              <a:t>log</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A8D8A8"/>
                </a:solidFill>
                <a:latin typeface="Courier New" pitchFamily="34" charset="0"/>
                <a:ea typeface="Courier New" pitchFamily="34" charset="-122"/>
                <a:cs typeface="Courier New" pitchFamily="34" charset="-120"/>
              </a:rPr>
              <a:t>'\nQual operação você deseja executar?'</a:t>
            </a:r>
            <a:r>
              <a:rPr lang="en-US" sz="1100" b="1" dirty="0">
                <a:solidFill>
                  <a:srgbClr val="F0F0F0"/>
                </a:solidFill>
                <a:latin typeface="Courier New" pitchFamily="34" charset="0"/>
                <a:ea typeface="Courier New" pitchFamily="34" charset="-122"/>
                <a:cs typeface="Courier New" pitchFamily="34" charset="-120"/>
              </a:rPr>
              <a:t>)</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console.</a:t>
            </a:r>
            <a:r>
              <a:rPr lang="en-US" sz="1100" b="1" dirty="0">
                <a:solidFill>
                  <a:srgbClr val="7CC4FF"/>
                </a:solidFill>
                <a:latin typeface="Courier New" pitchFamily="34" charset="0"/>
                <a:ea typeface="Courier New" pitchFamily="34" charset="-122"/>
                <a:cs typeface="Courier New" pitchFamily="34" charset="-120"/>
              </a:rPr>
              <a:t>log</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A8D8A8"/>
                </a:solidFill>
                <a:latin typeface="Courier New" pitchFamily="34" charset="0"/>
                <a:ea typeface="Courier New" pitchFamily="34" charset="-122"/>
                <a:cs typeface="Courier New" pitchFamily="34" charset="-120"/>
              </a:rPr>
              <a:t>'[1] Somar  [2] Subtrair  [3] Multiplicar'</a:t>
            </a:r>
            <a:r>
              <a:rPr lang="en-US" sz="1100" b="1" dirty="0">
                <a:solidFill>
                  <a:srgbClr val="F0F0F0"/>
                </a:solidFill>
                <a:latin typeface="Courier New" pitchFamily="34" charset="0"/>
                <a:ea typeface="Courier New" pitchFamily="34" charset="-122"/>
                <a:cs typeface="Courier New" pitchFamily="34" charset="-120"/>
              </a:rPr>
              <a:t>)</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console.</a:t>
            </a:r>
            <a:r>
              <a:rPr lang="en-US" sz="1100" b="1" dirty="0">
                <a:solidFill>
                  <a:srgbClr val="7CC4FF"/>
                </a:solidFill>
                <a:latin typeface="Courier New" pitchFamily="34" charset="0"/>
                <a:ea typeface="Courier New" pitchFamily="34" charset="-122"/>
                <a:cs typeface="Courier New" pitchFamily="34" charset="-120"/>
              </a:rPr>
              <a:t>log</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A8D8A8"/>
                </a:solidFill>
                <a:latin typeface="Courier New" pitchFamily="34" charset="0"/>
                <a:ea typeface="Courier New" pitchFamily="34" charset="-122"/>
                <a:cs typeface="Courier New" pitchFamily="34" charset="-120"/>
              </a:rPr>
              <a:t>'[4] Dividir  [5] Porcentagem'</a:t>
            </a:r>
            <a:r>
              <a:rPr lang="en-US" sz="1100" b="1" dirty="0">
                <a:solidFill>
                  <a:srgbClr val="F0F0F0"/>
                </a:solidFill>
                <a:latin typeface="Courier New" pitchFamily="34" charset="0"/>
                <a:ea typeface="Courier New" pitchFamily="34" charset="-122"/>
                <a:cs typeface="Courier New" pitchFamily="34" charset="-120"/>
              </a:rPr>
              <a:t>)</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console.</a:t>
            </a:r>
            <a:r>
              <a:rPr lang="en-US" sz="1100" b="1" dirty="0">
                <a:solidFill>
                  <a:srgbClr val="7CC4FF"/>
                </a:solidFill>
                <a:latin typeface="Courier New" pitchFamily="34" charset="0"/>
                <a:ea typeface="Courier New" pitchFamily="34" charset="-122"/>
                <a:cs typeface="Courier New" pitchFamily="34" charset="-120"/>
              </a:rPr>
              <a:t>log</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A8D8A8"/>
                </a:solidFill>
                <a:latin typeface="Courier New" pitchFamily="34" charset="0"/>
                <a:ea typeface="Courier New" pitchFamily="34" charset="-122"/>
                <a:cs typeface="Courier New" pitchFamily="34" charset="-120"/>
              </a:rPr>
              <a:t>'[6] Ver resultado  [7] Sair'</a:t>
            </a:r>
            <a:r>
              <a:rPr lang="en-US" sz="1100" b="1" dirty="0">
                <a:solidFill>
                  <a:srgbClr val="F0F0F0"/>
                </a:solidFill>
                <a:latin typeface="Courier New" pitchFamily="34" charset="0"/>
                <a:ea typeface="Courier New" pitchFamily="34" charset="-122"/>
                <a:cs typeface="Courier New" pitchFamily="34" charset="-120"/>
              </a:rPr>
              <a:t>)</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op = </a:t>
            </a:r>
            <a:r>
              <a:rPr lang="en-US" sz="1100" b="1" dirty="0">
                <a:solidFill>
                  <a:srgbClr val="7CC4FF"/>
                </a:solidFill>
                <a:latin typeface="Courier New" pitchFamily="34" charset="0"/>
                <a:ea typeface="Courier New" pitchFamily="34" charset="-122"/>
                <a:cs typeface="Courier New" pitchFamily="34" charset="-120"/>
              </a:rPr>
              <a:t>Number</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7CC4FF"/>
                </a:solidFill>
                <a:latin typeface="Courier New" pitchFamily="34" charset="0"/>
                <a:ea typeface="Courier New" pitchFamily="34" charset="-122"/>
                <a:cs typeface="Courier New" pitchFamily="34" charset="-120"/>
              </a:rPr>
              <a:t>prompt</a:t>
            </a:r>
            <a:r>
              <a:rPr lang="en-US" sz="1100" b="1" dirty="0">
                <a:solidFill>
                  <a:srgbClr val="F0F0F0"/>
                </a:solidFill>
                <a:latin typeface="Courier New" pitchFamily="34" charset="0"/>
                <a:ea typeface="Courier New" pitchFamily="34" charset="-122"/>
                <a:cs typeface="Courier New" pitchFamily="34" charset="-120"/>
              </a:rPr>
              <a:t>(</a:t>
            </a:r>
            <a:r>
              <a:rPr lang="en-US" sz="1100" b="1" dirty="0">
                <a:solidFill>
                  <a:srgbClr val="A8D8A8"/>
                </a:solidFill>
                <a:latin typeface="Courier New" pitchFamily="34" charset="0"/>
                <a:ea typeface="Courier New" pitchFamily="34" charset="-122"/>
                <a:cs typeface="Courier New" pitchFamily="34" charset="-120"/>
              </a:rPr>
              <a:t>'Escolha uma opção: '</a:t>
            </a:r>
            <a:r>
              <a:rPr lang="en-US" sz="1100" b="1" dirty="0">
                <a:solidFill>
                  <a:srgbClr val="F0F0F0"/>
                </a:solidFill>
                <a:latin typeface="Courier New" pitchFamily="34" charset="0"/>
                <a:ea typeface="Courier New" pitchFamily="34" charset="-122"/>
                <a:cs typeface="Courier New" pitchFamily="34" charset="-120"/>
              </a:rPr>
              <a:t>))</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r>
              <a:rPr lang="en-US" sz="1100" b="1" dirty="0">
                <a:solidFill>
                  <a:srgbClr val="E16D34"/>
                </a:solidFill>
                <a:latin typeface="Courier New" pitchFamily="34" charset="0"/>
                <a:ea typeface="Courier New" pitchFamily="34" charset="-122"/>
                <a:cs typeface="Courier New" pitchFamily="34" charset="-120"/>
              </a:rPr>
              <a:t>switch</a:t>
            </a:r>
            <a:r>
              <a:rPr lang="en-US" sz="1100" b="1" dirty="0">
                <a:solidFill>
                  <a:srgbClr val="F0F0F0"/>
                </a:solidFill>
                <a:latin typeface="Courier New" pitchFamily="34" charset="0"/>
                <a:ea typeface="Courier New" pitchFamily="34" charset="-122"/>
                <a:cs typeface="Courier New" pitchFamily="34" charset="-120"/>
              </a:rPr>
              <a:t> (op) {</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r>
              <a:rPr lang="en-US" sz="1100" dirty="0">
                <a:solidFill>
                  <a:srgbClr val="8B8B8B"/>
                </a:solidFill>
                <a:latin typeface="Courier New" pitchFamily="34" charset="0"/>
                <a:ea typeface="Courier New" pitchFamily="34" charset="-122"/>
                <a:cs typeface="Courier New" pitchFamily="34" charset="-120"/>
              </a:rPr>
              <a:t>// um case para cada opção (próximos passos)</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  }</a:t>
            </a:r>
            <a:endParaRPr lang="en-US" sz="1100" dirty="0"/>
          </a:p>
          <a:p>
            <a:pPr algn="l" indent="0" marL="0">
              <a:buNone/>
            </a:pPr>
            <a:r>
              <a:rPr lang="en-US" sz="1100" b="1" dirty="0">
                <a:solidFill>
                  <a:srgbClr val="F0F0F0"/>
                </a:solidFill>
                <a:latin typeface="Courier New" pitchFamily="34" charset="0"/>
                <a:ea typeface="Courier New" pitchFamily="34" charset="-122"/>
                <a:cs typeface="Courier New" pitchFamily="34" charset="-120"/>
              </a:rPr>
              <a:t>}</a:t>
            </a:r>
            <a:endParaRPr lang="en-US" sz="11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A variável </a:t>
            </a:r>
            <a:r>
              <a:rPr lang="en-US" sz="1400" b="1" dirty="0">
                <a:solidFill>
                  <a:srgbClr val="F7A072"/>
                </a:solidFill>
                <a:latin typeface="Courier New" pitchFamily="34" charset="0"/>
                <a:ea typeface="Courier New" pitchFamily="34" charset="-122"/>
                <a:cs typeface="Courier New" pitchFamily="34" charset="-120"/>
              </a:rPr>
              <a:t>resultado</a:t>
            </a:r>
            <a:r>
              <a:rPr lang="en-US" sz="1400" b="1" dirty="0">
                <a:solidFill>
                  <a:srgbClr val="E16D34"/>
                </a:solidFill>
                <a:latin typeface="Helvetica Neue" pitchFamily="34" charset="0"/>
                <a:ea typeface="Helvetica Neue" pitchFamily="34" charset="-122"/>
                <a:cs typeface="Helvetica Neue" pitchFamily="34" charset="-120"/>
              </a:rPr>
              <a:t> fica </a:t>
            </a:r>
            <a:r>
              <a:rPr lang="en-US" sz="1400" b="1" dirty="0">
                <a:solidFill>
                  <a:srgbClr val="FFFFFF"/>
                </a:solidFill>
                <a:latin typeface="Helvetica Neue" pitchFamily="34" charset="0"/>
                <a:ea typeface="Helvetica Neue" pitchFamily="34" charset="-122"/>
                <a:cs typeface="Helvetica Neue" pitchFamily="34" charset="-120"/>
              </a:rPr>
              <a:t>fora</a:t>
            </a:r>
            <a:r>
              <a:rPr lang="en-US" sz="1400" b="1" dirty="0">
                <a:solidFill>
                  <a:srgbClr val="E16D34"/>
                </a:solidFill>
                <a:latin typeface="Helvetica Neue" pitchFamily="34" charset="0"/>
                <a:ea typeface="Helvetica Neue" pitchFamily="34" charset="-122"/>
                <a:cs typeface="Helvetica Neue" pitchFamily="34" charset="-120"/>
              </a:rPr>
              <a:t> do laço para não zerar a cada volta. O </a:t>
            </a:r>
            <a:r>
              <a:rPr lang="en-US" sz="1400" b="1" dirty="0">
                <a:solidFill>
                  <a:srgbClr val="F7A072"/>
                </a:solidFill>
                <a:latin typeface="Courier New" pitchFamily="34" charset="0"/>
                <a:ea typeface="Courier New" pitchFamily="34" charset="-122"/>
                <a:cs typeface="Courier New" pitchFamily="34" charset="-120"/>
              </a:rPr>
              <a:t>while</a:t>
            </a:r>
            <a:r>
              <a:rPr lang="en-US" sz="1400" b="1" dirty="0">
                <a:solidFill>
                  <a:srgbClr val="E16D34"/>
                </a:solidFill>
                <a:latin typeface="Helvetica Neue" pitchFamily="34" charset="0"/>
                <a:ea typeface="Helvetica Neue" pitchFamily="34" charset="-122"/>
                <a:cs typeface="Helvetica Neue" pitchFamily="34" charset="-120"/>
              </a:rPr>
              <a:t> repete enquanto a opção for diferente de 7.</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411480" y="274320"/>
            <a:ext cx="502920" cy="502920"/>
          </a:xfrm>
          <a:prstGeom prst="rect">
            <a:avLst/>
          </a:prstGeom>
        </p:spPr>
      </p:pic>
      <p:sp>
        <p:nvSpPr>
          <p:cNvPr id="5" name="Text 1"/>
          <p:cNvSpPr txBox="1"/>
          <p:nvPr/>
        </p:nvSpPr>
        <p:spPr>
          <a:xfrm>
            <a:off x="1005840" y="201168"/>
            <a:ext cx="7680960" cy="658368"/>
          </a:xfrm>
          <a:prstGeom prst="rect">
            <a:avLst/>
          </a:prstGeom>
          <a:noFill/>
          <a:ln/>
        </p:spPr>
        <p:txBody>
          <a:bodyPr wrap="square" lIns="0" tIns="0" rIns="0" bIns="0" rtlCol="0" anchor="ctr"/>
          <a:lstStyle/>
          <a:p>
            <a:pPr algn="ctr" indent="0" marL="0">
              <a:buNone/>
            </a:pPr>
            <a:r>
              <a:rPr lang="en-US" sz="2400" b="1" dirty="0">
                <a:solidFill>
                  <a:srgbClr val="E16D34"/>
                </a:solidFill>
                <a:latin typeface="Montserrat" pitchFamily="34" charset="0"/>
                <a:ea typeface="Montserrat" pitchFamily="34" charset="-122"/>
                <a:cs typeface="Montserrat" pitchFamily="34" charset="-120"/>
              </a:rPr>
              <a:t>Cuidado: esqueceu o Number() no menu?</a:t>
            </a:r>
            <a:endParaRPr lang="en-US" sz="2400" dirty="0"/>
          </a:p>
        </p:txBody>
      </p:sp>
      <p:sp>
        <p:nvSpPr>
          <p:cNvPr id="6" name="Shape 2"/>
          <p:cNvSpPr/>
          <p:nvPr/>
        </p:nvSpPr>
        <p:spPr>
          <a:xfrm>
            <a:off x="548640" y="1097280"/>
            <a:ext cx="8046720" cy="737616"/>
          </a:xfrm>
          <a:prstGeom prst="roundRect">
            <a:avLst>
              <a:gd name="adj" fmla="val 9917"/>
            </a:avLst>
          </a:prstGeom>
          <a:solidFill>
            <a:srgbClr val="1A1A1A"/>
          </a:solidFill>
          <a:ln w="19050">
            <a:solidFill>
              <a:srgbClr val="F85149"/>
            </a:solidFill>
            <a:prstDash val="solid"/>
          </a:ln>
        </p:spPr>
      </p:sp>
      <p:sp>
        <p:nvSpPr>
          <p:cNvPr id="7" name="Text 3"/>
          <p:cNvSpPr txBox="1"/>
          <p:nvPr/>
        </p:nvSpPr>
        <p:spPr>
          <a:xfrm>
            <a:off x="822960" y="1207008"/>
            <a:ext cx="7498080" cy="518160"/>
          </a:xfrm>
          <a:prstGeom prst="rect">
            <a:avLst/>
          </a:prstGeom>
          <a:noFill/>
          <a:ln/>
        </p:spPr>
        <p:txBody>
          <a:bodyPr wrap="square" lIns="0" tIns="0" rIns="0" bIns="0" rtlCol="0" anchor="ctr"/>
          <a:lstStyle/>
          <a:p>
            <a:pPr algn="l" indent="0" marL="0">
              <a:buNone/>
            </a:pPr>
            <a:r>
              <a:rPr lang="en-US" sz="1700" b="1" dirty="0">
                <a:solidFill>
                  <a:srgbClr val="FFFFFF"/>
                </a:solidFill>
                <a:latin typeface="Helvetica Neue" pitchFamily="34" charset="0"/>
                <a:ea typeface="Helvetica Neue" pitchFamily="34" charset="-122"/>
                <a:cs typeface="Helvetica Neue" pitchFamily="34" charset="-120"/>
              </a:rPr>
              <a:t>Sem o </a:t>
            </a:r>
            <a:r>
              <a:rPr lang="en-US" sz="1700" b="1" dirty="0">
                <a:solidFill>
                  <a:srgbClr val="F7A072"/>
                </a:solidFill>
                <a:latin typeface="Courier New" pitchFamily="34" charset="0"/>
                <a:ea typeface="Courier New" pitchFamily="34" charset="-122"/>
                <a:cs typeface="Courier New" pitchFamily="34" charset="-120"/>
              </a:rPr>
              <a:t>Number()</a:t>
            </a:r>
            <a:r>
              <a:rPr lang="en-US" sz="1700" b="1" dirty="0">
                <a:solidFill>
                  <a:srgbClr val="FFFFFF"/>
                </a:solidFill>
                <a:latin typeface="Helvetica Neue" pitchFamily="34" charset="0"/>
                <a:ea typeface="Helvetica Neue" pitchFamily="34" charset="-122"/>
                <a:cs typeface="Helvetica Neue" pitchFamily="34" charset="-120"/>
              </a:rPr>
              <a:t>, a opção é texto: </a:t>
            </a:r>
            <a:r>
              <a:rPr lang="en-US" sz="1700" b="1" dirty="0">
                <a:solidFill>
                  <a:srgbClr val="F7A072"/>
                </a:solidFill>
                <a:latin typeface="Courier New" pitchFamily="34" charset="0"/>
                <a:ea typeface="Courier New" pitchFamily="34" charset="-122"/>
                <a:cs typeface="Courier New" pitchFamily="34" charset="-120"/>
              </a:rPr>
              <a:t>"1"</a:t>
            </a:r>
            <a:r>
              <a:rPr lang="en-US" sz="1700" b="1" dirty="0">
                <a:solidFill>
                  <a:srgbClr val="FFFFFF"/>
                </a:solidFill>
                <a:latin typeface="Helvetica Neue" pitchFamily="34" charset="0"/>
                <a:ea typeface="Helvetica Neue" pitchFamily="34" charset="-122"/>
                <a:cs typeface="Helvetica Neue" pitchFamily="34" charset="-120"/>
              </a:rPr>
              <a:t> não bate com </a:t>
            </a:r>
            <a:r>
              <a:rPr lang="en-US" sz="1700" b="1" dirty="0">
                <a:solidFill>
                  <a:srgbClr val="F7A072"/>
                </a:solidFill>
                <a:latin typeface="Courier New" pitchFamily="34" charset="0"/>
                <a:ea typeface="Courier New" pitchFamily="34" charset="-122"/>
                <a:cs typeface="Courier New" pitchFamily="34" charset="-120"/>
              </a:rPr>
              <a:t>case 1</a:t>
            </a:r>
            <a:r>
              <a:rPr lang="en-US" sz="1700" b="1" dirty="0">
                <a:solidFill>
                  <a:srgbClr val="FFFFFF"/>
                </a:solidFill>
                <a:latin typeface="Helvetica Neue" pitchFamily="34" charset="0"/>
                <a:ea typeface="Helvetica Neue" pitchFamily="34" charset="-122"/>
                <a:cs typeface="Helvetica Neue" pitchFamily="34" charset="-120"/>
              </a:rPr>
              <a:t>, e o programa </a:t>
            </a:r>
            <a:r>
              <a:rPr lang="en-US" sz="1700" b="1" dirty="0">
                <a:solidFill>
                  <a:srgbClr val="F85149"/>
                </a:solidFill>
                <a:latin typeface="Helvetica Neue" pitchFamily="34" charset="0"/>
                <a:ea typeface="Helvetica Neue" pitchFamily="34" charset="-122"/>
                <a:cs typeface="Helvetica Neue" pitchFamily="34" charset="-120"/>
              </a:rPr>
              <a:t>nunca sai</a:t>
            </a:r>
            <a:r>
              <a:rPr lang="en-US" sz="1700" b="1" dirty="0">
                <a:solidFill>
                  <a:srgbClr val="FFFFFF"/>
                </a:solidFill>
                <a:latin typeface="Helvetica Neue" pitchFamily="34" charset="0"/>
                <a:ea typeface="Helvetica Neue" pitchFamily="34" charset="-122"/>
                <a:cs typeface="Helvetica Neue" pitchFamily="34" charset="-120"/>
              </a:rPr>
              <a:t>.</a:t>
            </a:r>
            <a:endParaRPr lang="en-US" sz="1700" dirty="0"/>
          </a:p>
        </p:txBody>
      </p:sp>
      <p:sp>
        <p:nvSpPr>
          <p:cNvPr id="8" name="Text 4"/>
          <p:cNvSpPr txBox="1"/>
          <p:nvPr/>
        </p:nvSpPr>
        <p:spPr>
          <a:xfrm>
            <a:off x="685800" y="2036064"/>
            <a:ext cx="7772400" cy="840740"/>
          </a:xfrm>
          <a:prstGeom prst="rect">
            <a:avLst/>
          </a:prstGeom>
          <a:noFill/>
          <a:ln/>
        </p:spPr>
        <p:txBody>
          <a:bodyPr wrap="square" lIns="0" tIns="0" rIns="0" bIns="0" rtlCol="0" anchor="t"/>
          <a:lstStyle/>
          <a:p>
            <a:pPr algn="l" marL="177800" indent="-177800">
              <a:spcAft>
                <a:spcPts val="500"/>
              </a:spcAft>
              <a:buSzPct val="100000"/>
              <a:buChar char="●"/>
            </a:pPr>
            <a:r>
              <a:rPr lang="en-US" sz="1500" b="1" dirty="0">
                <a:solidFill>
                  <a:srgbClr val="E6E6E6"/>
                </a:solidFill>
                <a:latin typeface="Helvetica Neue" pitchFamily="34" charset="0"/>
                <a:ea typeface="Helvetica Neue" pitchFamily="34" charset="-122"/>
                <a:cs typeface="Helvetica Neue" pitchFamily="34" charset="-120"/>
              </a:rPr>
              <a:t>O </a:t>
            </a:r>
            <a:r>
              <a:rPr lang="en-US" sz="1500" b="1" dirty="0">
                <a:solidFill>
                  <a:srgbClr val="F7A072"/>
                </a:solidFill>
                <a:latin typeface="Courier New" pitchFamily="34" charset="0"/>
                <a:ea typeface="Courier New" pitchFamily="34" charset="-122"/>
                <a:cs typeface="Courier New" pitchFamily="34" charset="-120"/>
              </a:rPr>
              <a:t>switch</a:t>
            </a:r>
            <a:r>
              <a:rPr lang="en-US" sz="1500" b="1" dirty="0">
                <a:solidFill>
                  <a:srgbClr val="E6E6E6"/>
                </a:solidFill>
                <a:latin typeface="Helvetica Neue" pitchFamily="34" charset="0"/>
                <a:ea typeface="Helvetica Neue" pitchFamily="34" charset="-122"/>
                <a:cs typeface="Helvetica Neue" pitchFamily="34" charset="-120"/>
              </a:rPr>
              <a:t> compara com </a:t>
            </a:r>
            <a:r>
              <a:rPr lang="en-US" sz="1500" b="1" dirty="0">
                <a:solidFill>
                  <a:srgbClr val="F7A072"/>
                </a:solidFill>
                <a:latin typeface="Courier New" pitchFamily="34" charset="0"/>
                <a:ea typeface="Courier New" pitchFamily="34" charset="-122"/>
                <a:cs typeface="Courier New" pitchFamily="34" charset="-120"/>
              </a:rPr>
              <a:t>===</a:t>
            </a:r>
            <a:r>
              <a:rPr lang="en-US" sz="1500" b="1" dirty="0">
                <a:solidFill>
                  <a:srgbClr val="E6E6E6"/>
                </a:solidFill>
                <a:latin typeface="Helvetica Neue" pitchFamily="34" charset="0"/>
                <a:ea typeface="Helvetica Neue" pitchFamily="34" charset="-122"/>
                <a:cs typeface="Helvetica Neue" pitchFamily="34" charset="-120"/>
              </a:rPr>
              <a:t>: valor </a:t>
            </a:r>
            <a:r>
              <a:rPr lang="en-US" sz="1500" b="1" dirty="0">
                <a:solidFill>
                  <a:srgbClr val="FFFFFF"/>
                </a:solidFill>
                <a:latin typeface="Helvetica Neue" pitchFamily="34" charset="0"/>
                <a:ea typeface="Helvetica Neue" pitchFamily="34" charset="-122"/>
                <a:cs typeface="Helvetica Neue" pitchFamily="34" charset="-120"/>
              </a:rPr>
              <a:t>e</a:t>
            </a:r>
            <a:r>
              <a:rPr lang="en-US" sz="1500" b="1" dirty="0">
                <a:solidFill>
                  <a:srgbClr val="E6E6E6"/>
                </a:solidFill>
                <a:latin typeface="Helvetica Neue" pitchFamily="34" charset="0"/>
                <a:ea typeface="Helvetica Neue" pitchFamily="34" charset="-122"/>
                <a:cs typeface="Helvetica Neue" pitchFamily="34" charset="-120"/>
              </a:rPr>
              <a:t> tipo.</a:t>
            </a:r>
            <a:endParaRPr lang="en-US" sz="1500" dirty="0"/>
          </a:p>
          <a:p>
            <a:pPr algn="l" marL="177800" indent="-177800">
              <a:buSzPct val="100000"/>
              <a:buChar char="●"/>
            </a:pPr>
            <a:r>
              <a:rPr lang="en-US" sz="1500" b="1" dirty="0">
                <a:solidFill>
                  <a:srgbClr val="E6E6E6"/>
                </a:solidFill>
                <a:latin typeface="Helvetica Neue" pitchFamily="34" charset="0"/>
                <a:ea typeface="Helvetica Neue" pitchFamily="34" charset="-122"/>
                <a:cs typeface="Helvetica Neue" pitchFamily="34" charset="-120"/>
              </a:rPr>
              <a:t>E </a:t>
            </a:r>
            <a:r>
              <a:rPr lang="en-US" sz="1500" b="1" dirty="0">
                <a:solidFill>
                  <a:srgbClr val="F7A072"/>
                </a:solidFill>
                <a:latin typeface="Courier New" pitchFamily="34" charset="0"/>
                <a:ea typeface="Courier New" pitchFamily="34" charset="-122"/>
                <a:cs typeface="Courier New" pitchFamily="34" charset="-120"/>
              </a:rPr>
              <a:t>"7" !== 7</a:t>
            </a:r>
            <a:r>
              <a:rPr lang="en-US" sz="1500" b="1" dirty="0">
                <a:solidFill>
                  <a:srgbClr val="E6E6E6"/>
                </a:solidFill>
                <a:latin typeface="Helvetica Neue" pitchFamily="34" charset="0"/>
                <a:ea typeface="Helvetica Neue" pitchFamily="34" charset="-122"/>
                <a:cs typeface="Helvetica Neue" pitchFamily="34" charset="-120"/>
              </a:rPr>
              <a:t> é sempre verdadeiro: o while não termina, e tudo cai no default.</a:t>
            </a:r>
            <a:endParaRPr lang="en-US" sz="1500" dirty="0"/>
          </a:p>
        </p:txBody>
      </p:sp>
      <p:sp>
        <p:nvSpPr>
          <p:cNvPr id="9" name="Shape 5"/>
          <p:cNvSpPr/>
          <p:nvPr/>
        </p:nvSpPr>
        <p:spPr>
          <a:xfrm>
            <a:off x="548640" y="2949956"/>
            <a:ext cx="8046720" cy="755904"/>
          </a:xfrm>
          <a:prstGeom prst="roundRect">
            <a:avLst>
              <a:gd name="adj" fmla="val 9677"/>
            </a:avLst>
          </a:prstGeom>
          <a:solidFill>
            <a:srgbClr val="121212"/>
          </a:solidFill>
          <a:ln w="9525">
            <a:solidFill>
              <a:srgbClr val="2E2E2E"/>
            </a:solidFill>
            <a:prstDash val="solid"/>
          </a:ln>
        </p:spPr>
      </p:sp>
      <p:sp>
        <p:nvSpPr>
          <p:cNvPr id="10" name="Text 6"/>
          <p:cNvSpPr txBox="1"/>
          <p:nvPr/>
        </p:nvSpPr>
        <p:spPr>
          <a:xfrm>
            <a:off x="694944" y="3066999"/>
            <a:ext cx="7754112" cy="521818"/>
          </a:xfrm>
          <a:prstGeom prst="rect">
            <a:avLst/>
          </a:prstGeom>
          <a:noFill/>
          <a:ln/>
        </p:spPr>
        <p:txBody>
          <a:bodyPr wrap="square" lIns="0" tIns="0" rIns="0" bIns="0" rtlCol="0" anchor="t"/>
          <a:lstStyle/>
          <a:p>
            <a:pPr algn="l" indent="0" marL="0">
              <a:buNone/>
            </a:pPr>
            <a:r>
              <a:rPr lang="en-US" sz="1400" b="1" dirty="0">
                <a:solidFill>
                  <a:srgbClr val="F0F0F0"/>
                </a:solidFill>
                <a:latin typeface="Courier New" pitchFamily="34" charset="0"/>
                <a:ea typeface="Courier New" pitchFamily="34" charset="-122"/>
                <a:cs typeface="Courier New" pitchFamily="34" charset="-120"/>
              </a:rPr>
              <a:t>op = </a:t>
            </a:r>
            <a:r>
              <a:rPr lang="en-US" sz="1400" b="1" dirty="0">
                <a:solidFill>
                  <a:srgbClr val="7CC4FF"/>
                </a:solidFill>
                <a:latin typeface="Courier New" pitchFamily="34" charset="0"/>
                <a:ea typeface="Courier New" pitchFamily="34" charset="-122"/>
                <a:cs typeface="Courier New" pitchFamily="34" charset="-120"/>
              </a:rPr>
              <a:t>prompt</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'Escolha uma opção: '</a:t>
            </a: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'7' (texto)</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while</a:t>
            </a:r>
            <a:r>
              <a:rPr lang="en-US" sz="1400" b="1" dirty="0">
                <a:solidFill>
                  <a:srgbClr val="F0F0F0"/>
                </a:solidFill>
                <a:latin typeface="Courier New" pitchFamily="34" charset="0"/>
                <a:ea typeface="Courier New" pitchFamily="34" charset="-122"/>
                <a:cs typeface="Courier New" pitchFamily="34" charset="-120"/>
              </a:rPr>
              <a:t> (op !== </a:t>
            </a:r>
            <a:r>
              <a:rPr lang="en-US" sz="1400" b="1" dirty="0">
                <a:solidFill>
                  <a:srgbClr val="F2C572"/>
                </a:solidFill>
                <a:latin typeface="Courier New" pitchFamily="34" charset="0"/>
                <a:ea typeface="Courier New" pitchFamily="34" charset="-122"/>
                <a:cs typeface="Courier New" pitchFamily="34" charset="-120"/>
              </a:rPr>
              <a:t>7</a:t>
            </a:r>
            <a:r>
              <a:rPr lang="en-US" sz="1400" b="1" dirty="0">
                <a:solidFill>
                  <a:srgbClr val="F0F0F0"/>
                </a:solidFill>
                <a:latin typeface="Courier New" pitchFamily="34" charset="0"/>
                <a:ea typeface="Courier New" pitchFamily="34" charset="-122"/>
                <a:cs typeface="Courier New" pitchFamily="34" charset="-120"/>
              </a:rPr>
              <a:t>) { ... }            </a:t>
            </a:r>
            <a:r>
              <a:rPr lang="en-US" sz="1400" dirty="0">
                <a:solidFill>
                  <a:srgbClr val="8B8B8B"/>
                </a:solidFill>
                <a:latin typeface="Courier New" pitchFamily="34" charset="0"/>
                <a:ea typeface="Courier New" pitchFamily="34" charset="-122"/>
                <a:cs typeface="Courier New" pitchFamily="34" charset="-120"/>
              </a:rPr>
              <a:t>// nunca termina</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Passo 3: um case com validação</a:t>
            </a:r>
            <a:endParaRPr lang="en-US" sz="3000" dirty="0"/>
          </a:p>
        </p:txBody>
      </p:sp>
      <p:sp>
        <p:nvSpPr>
          <p:cNvPr id="5" name="Shape 2"/>
          <p:cNvSpPr/>
          <p:nvPr/>
        </p:nvSpPr>
        <p:spPr>
          <a:xfrm>
            <a:off x="411480" y="1290828"/>
            <a:ext cx="8321040" cy="2660904"/>
          </a:xfrm>
          <a:prstGeom prst="roundRect">
            <a:avLst>
              <a:gd name="adj" fmla="val 2749"/>
            </a:avLst>
          </a:prstGeom>
          <a:solidFill>
            <a:srgbClr val="121212"/>
          </a:solidFill>
          <a:ln w="9525">
            <a:solidFill>
              <a:srgbClr val="2E2E2E"/>
            </a:solidFill>
            <a:prstDash val="solid"/>
          </a:ln>
        </p:spPr>
      </p:sp>
      <p:sp>
        <p:nvSpPr>
          <p:cNvPr id="6" name="Text 3"/>
          <p:cNvSpPr txBox="1"/>
          <p:nvPr/>
        </p:nvSpPr>
        <p:spPr>
          <a:xfrm>
            <a:off x="557784" y="1407871"/>
            <a:ext cx="8028432" cy="242681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case</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F2C572"/>
                </a:solidFill>
                <a:latin typeface="Courier New" pitchFamily="34" charset="0"/>
                <a:ea typeface="Courier New" pitchFamily="34" charset="-122"/>
                <a:cs typeface="Courier New" pitchFamily="34" charset="-120"/>
              </a:rPr>
              <a:t>1</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num = </a:t>
            </a:r>
            <a:r>
              <a:rPr lang="en-US" sz="1700" b="1" dirty="0">
                <a:solidFill>
                  <a:srgbClr val="7CC4FF"/>
                </a:solidFill>
                <a:latin typeface="Courier New" pitchFamily="34" charset="0"/>
                <a:ea typeface="Courier New" pitchFamily="34" charset="-122"/>
                <a:cs typeface="Courier New" pitchFamily="34" charset="-120"/>
              </a:rPr>
              <a:t>Number</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'Digite o número para somar: '</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7CC4FF"/>
                </a:solidFill>
                <a:latin typeface="Courier New" pitchFamily="34" charset="0"/>
                <a:ea typeface="Courier New" pitchFamily="34" charset="-122"/>
                <a:cs typeface="Courier New" pitchFamily="34" charset="-120"/>
              </a:rPr>
              <a:t>isNaN</a:t>
            </a:r>
            <a:r>
              <a:rPr lang="en-US" sz="1700" b="1" dirty="0">
                <a:solidFill>
                  <a:srgbClr val="F0F0F0"/>
                </a:solidFill>
                <a:latin typeface="Courier New" pitchFamily="34" charset="0"/>
                <a:ea typeface="Courier New" pitchFamily="34" charset="-122"/>
                <a:cs typeface="Courier New" pitchFamily="34" charset="-120"/>
              </a:rPr>
              <a:t>(num))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'Da próxima vez digite um número correto!'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 </a:t>
            </a:r>
            <a:r>
              <a:rPr lang="en-US" sz="1700" b="1" dirty="0">
                <a:solidFill>
                  <a:srgbClr val="E16D34"/>
                </a:solidFill>
                <a:latin typeface="Courier New" pitchFamily="34" charset="0"/>
                <a:ea typeface="Courier New" pitchFamily="34" charset="-122"/>
                <a:cs typeface="Courier New" pitchFamily="34" charset="-120"/>
              </a:rPr>
              <a:t>else</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resultado = </a:t>
            </a:r>
            <a:r>
              <a:rPr lang="en-US" sz="1700" b="1" dirty="0">
                <a:solidFill>
                  <a:srgbClr val="7CC4FF"/>
                </a:solidFill>
                <a:latin typeface="Courier New" pitchFamily="34" charset="0"/>
                <a:ea typeface="Courier New" pitchFamily="34" charset="-122"/>
                <a:cs typeface="Courier New" pitchFamily="34" charset="-120"/>
              </a:rPr>
              <a:t>somar</a:t>
            </a:r>
            <a:r>
              <a:rPr lang="en-US" sz="1700" b="1" dirty="0">
                <a:solidFill>
                  <a:srgbClr val="F0F0F0"/>
                </a:solidFill>
                <a:latin typeface="Courier New" pitchFamily="34" charset="0"/>
                <a:ea typeface="Courier New" pitchFamily="34" charset="-122"/>
                <a:cs typeface="Courier New" pitchFamily="34" charset="-120"/>
              </a:rPr>
              <a:t>(resultado, num)</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'Resultado: '</a:t>
            </a:r>
            <a:r>
              <a:rPr lang="en-US" sz="1700" b="1" dirty="0">
                <a:solidFill>
                  <a:srgbClr val="F0F0F0"/>
                </a:solidFill>
                <a:latin typeface="Courier New" pitchFamily="34" charset="0"/>
                <a:ea typeface="Courier New" pitchFamily="34" charset="-122"/>
                <a:cs typeface="Courier New" pitchFamily="34" charset="-120"/>
              </a:rPr>
              <a:t> + resultado)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break</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Se não for número, avisa e </a:t>
            </a:r>
            <a:r>
              <a:rPr lang="en-US" sz="1400" b="1" dirty="0">
                <a:solidFill>
                  <a:srgbClr val="FFFFFF"/>
                </a:solidFill>
                <a:latin typeface="Helvetica Neue" pitchFamily="34" charset="0"/>
                <a:ea typeface="Helvetica Neue" pitchFamily="34" charset="-122"/>
                <a:cs typeface="Helvetica Neue" pitchFamily="34" charset="-120"/>
              </a:rPr>
              <a:t>não mexe</a:t>
            </a:r>
            <a:r>
              <a:rPr lang="en-US" sz="1400" b="1" dirty="0">
                <a:solidFill>
                  <a:srgbClr val="E16D34"/>
                </a:solidFill>
                <a:latin typeface="Helvetica Neue" pitchFamily="34" charset="0"/>
                <a:ea typeface="Helvetica Neue" pitchFamily="34" charset="-122"/>
                <a:cs typeface="Helvetica Neue" pitchFamily="34" charset="-120"/>
              </a:rPr>
              <a:t> no resultado. Os cases 2 e 3 seguem o mesmo modelo, com </a:t>
            </a:r>
            <a:r>
              <a:rPr lang="en-US" sz="1400" b="1" dirty="0">
                <a:solidFill>
                  <a:srgbClr val="F7A072"/>
                </a:solidFill>
                <a:latin typeface="Courier New" pitchFamily="34" charset="0"/>
                <a:ea typeface="Courier New" pitchFamily="34" charset="-122"/>
                <a:cs typeface="Courier New" pitchFamily="34" charset="-120"/>
              </a:rPr>
              <a:t>subtrair</a:t>
            </a:r>
            <a:r>
              <a:rPr lang="en-US" sz="1400" b="1" dirty="0">
                <a:solidFill>
                  <a:srgbClr val="E16D34"/>
                </a:solidFill>
                <a:latin typeface="Helvetica Neue" pitchFamily="34" charset="0"/>
                <a:ea typeface="Helvetica Neue" pitchFamily="34" charset="-122"/>
                <a:cs typeface="Helvetica Neue" pitchFamily="34" charset="-120"/>
              </a:rPr>
              <a:t> e </a:t>
            </a:r>
            <a:r>
              <a:rPr lang="en-US" sz="1400" b="1" dirty="0">
                <a:solidFill>
                  <a:srgbClr val="F7A072"/>
                </a:solidFill>
                <a:latin typeface="Courier New" pitchFamily="34" charset="0"/>
                <a:ea typeface="Courier New" pitchFamily="34" charset="-122"/>
                <a:cs typeface="Courier New" pitchFamily="34" charset="-120"/>
              </a:rPr>
              <a:t>multiplicar</a:t>
            </a:r>
            <a:r>
              <a:rPr lang="en-US" sz="1400" b="1" dirty="0">
                <a:solidFill>
                  <a:srgbClr val="E16D34"/>
                </a:solidFill>
                <a:latin typeface="Helvetica Neue" pitchFamily="34" charset="0"/>
                <a:ea typeface="Helvetica Neue" pitchFamily="34" charset="-122"/>
                <a:cs typeface="Helvetica Neue" pitchFamily="34" charset="-120"/>
              </a:rPr>
              <a:t>.</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pic>
        <p:nvPicPr>
          <p:cNvPr id="4" name="Image 0" descr="preencoded.png">    </p:cNvPr>
          <p:cNvPicPr>
            <a:picLocks noChangeAspect="1"/>
          </p:cNvPicPr>
          <p:nvPr/>
        </p:nvPicPr>
        <p:blipFill>
          <a:blip r:embed="rId2"/>
          <a:stretch>
            <a:fillRect/>
          </a:stretch>
        </p:blipFill>
        <p:spPr>
          <a:xfrm>
            <a:off x="411480" y="274320"/>
            <a:ext cx="502920" cy="502920"/>
          </a:xfrm>
          <a:prstGeom prst="rect">
            <a:avLst/>
          </a:prstGeom>
        </p:spPr>
      </p:pic>
      <p:sp>
        <p:nvSpPr>
          <p:cNvPr id="5" name="Text 1"/>
          <p:cNvSpPr txBox="1"/>
          <p:nvPr/>
        </p:nvSpPr>
        <p:spPr>
          <a:xfrm>
            <a:off x="1005840" y="201168"/>
            <a:ext cx="7680960" cy="658368"/>
          </a:xfrm>
          <a:prstGeom prst="rect">
            <a:avLst/>
          </a:prstGeom>
          <a:noFill/>
          <a:ln/>
        </p:spPr>
        <p:txBody>
          <a:bodyPr wrap="square" lIns="0" tIns="0" rIns="0" bIns="0" rtlCol="0" anchor="ctr"/>
          <a:lstStyle/>
          <a:p>
            <a:pPr algn="ctr" indent="0" marL="0">
              <a:buNone/>
            </a:pPr>
            <a:r>
              <a:rPr lang="en-US" sz="2900" b="1" dirty="0">
                <a:solidFill>
                  <a:srgbClr val="E16D34"/>
                </a:solidFill>
                <a:latin typeface="Montserrat" pitchFamily="34" charset="0"/>
                <a:ea typeface="Montserrat" pitchFamily="34" charset="-122"/>
                <a:cs typeface="Montserrat" pitchFamily="34" charset="-120"/>
              </a:rPr>
              <a:t>Cuidado: let dentro de um case</a:t>
            </a:r>
            <a:endParaRPr lang="en-US" sz="2900" dirty="0"/>
          </a:p>
        </p:txBody>
      </p:sp>
      <p:sp>
        <p:nvSpPr>
          <p:cNvPr id="6" name="Shape 2"/>
          <p:cNvSpPr/>
          <p:nvPr/>
        </p:nvSpPr>
        <p:spPr>
          <a:xfrm>
            <a:off x="548640" y="1097280"/>
            <a:ext cx="8046720" cy="737616"/>
          </a:xfrm>
          <a:prstGeom prst="roundRect">
            <a:avLst>
              <a:gd name="adj" fmla="val 9917"/>
            </a:avLst>
          </a:prstGeom>
          <a:solidFill>
            <a:srgbClr val="1A1A1A"/>
          </a:solidFill>
          <a:ln w="19050">
            <a:solidFill>
              <a:srgbClr val="F85149"/>
            </a:solidFill>
            <a:prstDash val="solid"/>
          </a:ln>
        </p:spPr>
      </p:sp>
      <p:sp>
        <p:nvSpPr>
          <p:cNvPr id="7" name="Text 3"/>
          <p:cNvSpPr txBox="1"/>
          <p:nvPr/>
        </p:nvSpPr>
        <p:spPr>
          <a:xfrm>
            <a:off x="822960" y="1207008"/>
            <a:ext cx="7498080" cy="518160"/>
          </a:xfrm>
          <a:prstGeom prst="rect">
            <a:avLst/>
          </a:prstGeom>
          <a:noFill/>
          <a:ln/>
        </p:spPr>
        <p:txBody>
          <a:bodyPr wrap="square" lIns="0" tIns="0" rIns="0" bIns="0" rtlCol="0" anchor="ctr"/>
          <a:lstStyle/>
          <a:p>
            <a:pPr algn="l" indent="0" marL="0">
              <a:buNone/>
            </a:pPr>
            <a:r>
              <a:rPr lang="en-US" sz="1700" b="1" dirty="0">
                <a:solidFill>
                  <a:srgbClr val="FFFFFF"/>
                </a:solidFill>
                <a:latin typeface="Helvetica Neue" pitchFamily="34" charset="0"/>
                <a:ea typeface="Helvetica Neue" pitchFamily="34" charset="-122"/>
                <a:cs typeface="Helvetica Neue" pitchFamily="34" charset="-120"/>
              </a:rPr>
              <a:t>Todos os cases dividem </a:t>
            </a:r>
            <a:r>
              <a:rPr lang="en-US" sz="1700" b="1" dirty="0">
                <a:solidFill>
                  <a:srgbClr val="F85149"/>
                </a:solidFill>
                <a:latin typeface="Helvetica Neue" pitchFamily="34" charset="0"/>
                <a:ea typeface="Helvetica Neue" pitchFamily="34" charset="-122"/>
                <a:cs typeface="Helvetica Neue" pitchFamily="34" charset="-120"/>
              </a:rPr>
              <a:t>o mesmo bloco</a:t>
            </a:r>
            <a:r>
              <a:rPr lang="en-US" sz="1700" b="1" dirty="0">
                <a:solidFill>
                  <a:srgbClr val="FFFFFF"/>
                </a:solidFill>
                <a:latin typeface="Helvetica Neue" pitchFamily="34" charset="0"/>
                <a:ea typeface="Helvetica Neue" pitchFamily="34" charset="-122"/>
                <a:cs typeface="Helvetica Neue" pitchFamily="34" charset="-120"/>
              </a:rPr>
              <a:t>: </a:t>
            </a:r>
            <a:r>
              <a:rPr lang="en-US" sz="1700" b="1" dirty="0">
                <a:solidFill>
                  <a:srgbClr val="F7A072"/>
                </a:solidFill>
                <a:latin typeface="Courier New" pitchFamily="34" charset="0"/>
                <a:ea typeface="Courier New" pitchFamily="34" charset="-122"/>
                <a:cs typeface="Courier New" pitchFamily="34" charset="-120"/>
              </a:rPr>
              <a:t>let num</a:t>
            </a:r>
            <a:r>
              <a:rPr lang="en-US" sz="1700" b="1" dirty="0">
                <a:solidFill>
                  <a:srgbClr val="FFFFFF"/>
                </a:solidFill>
                <a:latin typeface="Helvetica Neue" pitchFamily="34" charset="0"/>
                <a:ea typeface="Helvetica Neue" pitchFamily="34" charset="-122"/>
                <a:cs typeface="Helvetica Neue" pitchFamily="34" charset="-120"/>
              </a:rPr>
              <a:t> em dois cases dá SyntaxError.</a:t>
            </a:r>
            <a:endParaRPr lang="en-US" sz="1700" dirty="0"/>
          </a:p>
        </p:txBody>
      </p:sp>
      <p:sp>
        <p:nvSpPr>
          <p:cNvPr id="8" name="Text 4"/>
          <p:cNvSpPr txBox="1"/>
          <p:nvPr/>
        </p:nvSpPr>
        <p:spPr>
          <a:xfrm>
            <a:off x="685800" y="2036064"/>
            <a:ext cx="7772400" cy="840740"/>
          </a:xfrm>
          <a:prstGeom prst="rect">
            <a:avLst/>
          </a:prstGeom>
          <a:noFill/>
          <a:ln/>
        </p:spPr>
        <p:txBody>
          <a:bodyPr wrap="square" lIns="0" tIns="0" rIns="0" bIns="0" rtlCol="0" anchor="t"/>
          <a:lstStyle/>
          <a:p>
            <a:pPr algn="l" marL="177800" indent="-177800">
              <a:spcAft>
                <a:spcPts val="500"/>
              </a:spcAft>
              <a:buSzPct val="100000"/>
              <a:buChar char="●"/>
            </a:pPr>
            <a:r>
              <a:rPr lang="en-US" sz="1500" b="1" dirty="0">
                <a:solidFill>
                  <a:srgbClr val="E6E6E6"/>
                </a:solidFill>
                <a:latin typeface="Helvetica Neue" pitchFamily="34" charset="0"/>
                <a:ea typeface="Helvetica Neue" pitchFamily="34" charset="-122"/>
                <a:cs typeface="Helvetica Neue" pitchFamily="34" charset="-120"/>
              </a:rPr>
              <a:t>Por isso declaramos </a:t>
            </a:r>
            <a:r>
              <a:rPr lang="en-US" sz="1500" b="1" dirty="0">
                <a:solidFill>
                  <a:srgbClr val="F7A072"/>
                </a:solidFill>
                <a:latin typeface="Courier New" pitchFamily="34" charset="0"/>
                <a:ea typeface="Courier New" pitchFamily="34" charset="-122"/>
                <a:cs typeface="Courier New" pitchFamily="34" charset="-120"/>
              </a:rPr>
              <a:t>let num</a:t>
            </a:r>
            <a:r>
              <a:rPr lang="en-US" sz="1500" b="1" dirty="0">
                <a:solidFill>
                  <a:srgbClr val="E6E6E6"/>
                </a:solidFill>
                <a:latin typeface="Helvetica Neue" pitchFamily="34" charset="0"/>
                <a:ea typeface="Helvetica Neue" pitchFamily="34" charset="-122"/>
                <a:cs typeface="Helvetica Neue" pitchFamily="34" charset="-120"/>
              </a:rPr>
              <a:t> uma única vez, </a:t>
            </a:r>
            <a:r>
              <a:rPr lang="en-US" sz="1500" b="1" dirty="0">
                <a:solidFill>
                  <a:srgbClr val="FFFFFF"/>
                </a:solidFill>
                <a:latin typeface="Helvetica Neue" pitchFamily="34" charset="0"/>
                <a:ea typeface="Helvetica Neue" pitchFamily="34" charset="-122"/>
                <a:cs typeface="Helvetica Neue" pitchFamily="34" charset="-120"/>
              </a:rPr>
              <a:t>antes</a:t>
            </a:r>
            <a:r>
              <a:rPr lang="en-US" sz="1500" b="1" dirty="0">
                <a:solidFill>
                  <a:srgbClr val="E6E6E6"/>
                </a:solidFill>
                <a:latin typeface="Helvetica Neue" pitchFamily="34" charset="0"/>
                <a:ea typeface="Helvetica Neue" pitchFamily="34" charset="-122"/>
                <a:cs typeface="Helvetica Neue" pitchFamily="34" charset="-120"/>
              </a:rPr>
              <a:t> do laço.</a:t>
            </a:r>
            <a:endParaRPr lang="en-US" sz="1500" dirty="0"/>
          </a:p>
          <a:p>
            <a:pPr algn="l" marL="177800" indent="-177800">
              <a:buSzPct val="100000"/>
              <a:buChar char="●"/>
            </a:pPr>
            <a:r>
              <a:rPr lang="en-US" sz="1500" b="1" dirty="0">
                <a:solidFill>
                  <a:srgbClr val="E6E6E6"/>
                </a:solidFill>
                <a:latin typeface="Helvetica Neue" pitchFamily="34" charset="0"/>
                <a:ea typeface="Helvetica Neue" pitchFamily="34" charset="-122"/>
                <a:cs typeface="Helvetica Neue" pitchFamily="34" charset="-120"/>
              </a:rPr>
              <a:t>Outra saída: colocar chaves { } em volta do código de cada case.</a:t>
            </a:r>
            <a:endParaRPr lang="en-US" sz="1500" dirty="0"/>
          </a:p>
        </p:txBody>
      </p:sp>
      <p:sp>
        <p:nvSpPr>
          <p:cNvPr id="9" name="Shape 5"/>
          <p:cNvSpPr/>
          <p:nvPr/>
        </p:nvSpPr>
        <p:spPr>
          <a:xfrm>
            <a:off x="548640" y="2949956"/>
            <a:ext cx="8046720" cy="1609344"/>
          </a:xfrm>
          <a:prstGeom prst="roundRect">
            <a:avLst>
              <a:gd name="adj" fmla="val 4545"/>
            </a:avLst>
          </a:prstGeom>
          <a:solidFill>
            <a:srgbClr val="121212"/>
          </a:solidFill>
          <a:ln w="9525">
            <a:solidFill>
              <a:srgbClr val="2E2E2E"/>
            </a:solidFill>
            <a:prstDash val="solid"/>
          </a:ln>
        </p:spPr>
      </p:sp>
      <p:sp>
        <p:nvSpPr>
          <p:cNvPr id="10" name="Text 6"/>
          <p:cNvSpPr txBox="1"/>
          <p:nvPr/>
        </p:nvSpPr>
        <p:spPr>
          <a:xfrm>
            <a:off x="694944" y="3066999"/>
            <a:ext cx="7754112" cy="1375258"/>
          </a:xfrm>
          <a:prstGeom prst="rect">
            <a:avLst/>
          </a:prstGeom>
          <a:noFill/>
          <a:ln/>
        </p:spPr>
        <p:txBody>
          <a:bodyPr wrap="square" lIns="0" tIns="0" rIns="0" bIns="0" rtlCol="0" anchor="t"/>
          <a:lstStyle/>
          <a:p>
            <a:pPr algn="l" indent="0" marL="0">
              <a:buNone/>
            </a:pPr>
            <a:r>
              <a:rPr lang="en-US" sz="1400" b="1" dirty="0">
                <a:solidFill>
                  <a:srgbClr val="E16D34"/>
                </a:solidFill>
                <a:latin typeface="Courier New" pitchFamily="34" charset="0"/>
                <a:ea typeface="Courier New" pitchFamily="34" charset="-122"/>
                <a:cs typeface="Courier New" pitchFamily="34" charset="-120"/>
              </a:rPr>
              <a:t>case</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F2C572"/>
                </a:solidFill>
                <a:latin typeface="Courier New" pitchFamily="34" charset="0"/>
                <a:ea typeface="Courier New" pitchFamily="34" charset="-122"/>
                <a:cs typeface="Courier New" pitchFamily="34" charset="-120"/>
              </a:rPr>
              <a:t>1</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let</a:t>
            </a:r>
            <a:r>
              <a:rPr lang="en-US" sz="1400" b="1" dirty="0">
                <a:solidFill>
                  <a:srgbClr val="F0F0F0"/>
                </a:solidFill>
                <a:latin typeface="Courier New" pitchFamily="34" charset="0"/>
                <a:ea typeface="Courier New" pitchFamily="34" charset="-122"/>
                <a:cs typeface="Courier New" pitchFamily="34" charset="-120"/>
              </a:rPr>
              <a:t> num = </a:t>
            </a:r>
            <a:r>
              <a:rPr lang="en-US" sz="1400" b="1" dirty="0">
                <a:solidFill>
                  <a:srgbClr val="7CC4FF"/>
                </a:solidFill>
                <a:latin typeface="Courier New" pitchFamily="34" charset="0"/>
                <a:ea typeface="Courier New" pitchFamily="34" charset="-122"/>
                <a:cs typeface="Courier New" pitchFamily="34" charset="-120"/>
              </a:rPr>
              <a:t>Number</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7CC4FF"/>
                </a:solidFill>
                <a:latin typeface="Courier New" pitchFamily="34" charset="0"/>
                <a:ea typeface="Courier New" pitchFamily="34" charset="-122"/>
                <a:cs typeface="Courier New" pitchFamily="34" charset="-120"/>
              </a:rPr>
              <a:t>prompt</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'Somar: '</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break</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case</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F2C572"/>
                </a:solidFill>
                <a:latin typeface="Courier New" pitchFamily="34" charset="0"/>
                <a:ea typeface="Courier New" pitchFamily="34" charset="-122"/>
                <a:cs typeface="Courier New" pitchFamily="34" charset="-120"/>
              </a:rPr>
              <a:t>2</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let</a:t>
            </a:r>
            <a:r>
              <a:rPr lang="en-US" sz="1400" b="1" dirty="0">
                <a:solidFill>
                  <a:srgbClr val="F0F0F0"/>
                </a:solidFill>
                <a:latin typeface="Courier New" pitchFamily="34" charset="0"/>
                <a:ea typeface="Courier New" pitchFamily="34" charset="-122"/>
                <a:cs typeface="Courier New" pitchFamily="34" charset="-120"/>
              </a:rPr>
              <a:t> num = </a:t>
            </a:r>
            <a:r>
              <a:rPr lang="en-US" sz="1400" b="1" dirty="0">
                <a:solidFill>
                  <a:srgbClr val="7CC4FF"/>
                </a:solidFill>
                <a:latin typeface="Courier New" pitchFamily="34" charset="0"/>
                <a:ea typeface="Courier New" pitchFamily="34" charset="-122"/>
                <a:cs typeface="Courier New" pitchFamily="34" charset="-120"/>
              </a:rPr>
              <a:t>Number</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7CC4FF"/>
                </a:solidFill>
                <a:latin typeface="Courier New" pitchFamily="34" charset="0"/>
                <a:ea typeface="Courier New" pitchFamily="34" charset="-122"/>
                <a:cs typeface="Courier New" pitchFamily="34" charset="-120"/>
              </a:rPr>
              <a:t>prompt</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'Subtrair: '</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SyntaxError: Identifier 'num' has already been declared</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Passo 4: a divisão por zero</a:t>
            </a:r>
            <a:endParaRPr lang="en-US" sz="3000" dirty="0"/>
          </a:p>
        </p:txBody>
      </p:sp>
      <p:sp>
        <p:nvSpPr>
          <p:cNvPr id="5" name="Shape 2"/>
          <p:cNvSpPr/>
          <p:nvPr/>
        </p:nvSpPr>
        <p:spPr>
          <a:xfrm>
            <a:off x="411480" y="1073658"/>
            <a:ext cx="8321040" cy="3095244"/>
          </a:xfrm>
          <a:prstGeom prst="roundRect">
            <a:avLst>
              <a:gd name="adj" fmla="val 2363"/>
            </a:avLst>
          </a:prstGeom>
          <a:solidFill>
            <a:srgbClr val="121212"/>
          </a:solidFill>
          <a:ln w="9525">
            <a:solidFill>
              <a:srgbClr val="2E2E2E"/>
            </a:solidFill>
            <a:prstDash val="solid"/>
          </a:ln>
        </p:spPr>
      </p:sp>
      <p:sp>
        <p:nvSpPr>
          <p:cNvPr id="6" name="Text 3"/>
          <p:cNvSpPr txBox="1"/>
          <p:nvPr/>
        </p:nvSpPr>
        <p:spPr>
          <a:xfrm>
            <a:off x="557784" y="1190701"/>
            <a:ext cx="8028432" cy="2861158"/>
          </a:xfrm>
          <a:prstGeom prst="rect">
            <a:avLst/>
          </a:prstGeom>
          <a:noFill/>
          <a:ln/>
        </p:spPr>
        <p:txBody>
          <a:bodyPr wrap="square" lIns="0" tIns="0" rIns="0" bIns="0" rtlCol="0" anchor="t"/>
          <a:lstStyle/>
          <a:p>
            <a:pPr algn="l" indent="0" marL="0">
              <a:buNone/>
            </a:pPr>
            <a:r>
              <a:rPr lang="en-US" sz="1650" b="1" dirty="0">
                <a:solidFill>
                  <a:srgbClr val="E16D34"/>
                </a:solidFill>
                <a:latin typeface="Courier New" pitchFamily="34" charset="0"/>
                <a:ea typeface="Courier New" pitchFamily="34" charset="-122"/>
                <a:cs typeface="Courier New" pitchFamily="34" charset="-120"/>
              </a:rPr>
              <a:t>case</a:t>
            </a: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F2C572"/>
                </a:solidFill>
                <a:latin typeface="Courier New" pitchFamily="34" charset="0"/>
                <a:ea typeface="Courier New" pitchFamily="34" charset="-122"/>
                <a:cs typeface="Courier New" pitchFamily="34" charset="-120"/>
              </a:rPr>
              <a:t>4</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num = </a:t>
            </a:r>
            <a:r>
              <a:rPr lang="en-US" sz="1650" b="1" dirty="0">
                <a:solidFill>
                  <a:srgbClr val="7CC4FF"/>
                </a:solidFill>
                <a:latin typeface="Courier New" pitchFamily="34" charset="0"/>
                <a:ea typeface="Courier New" pitchFamily="34" charset="-122"/>
                <a:cs typeface="Courier New" pitchFamily="34" charset="-120"/>
              </a:rPr>
              <a:t>Number</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7CC4FF"/>
                </a:solidFill>
                <a:latin typeface="Courier New" pitchFamily="34" charset="0"/>
                <a:ea typeface="Courier New" pitchFamily="34" charset="-122"/>
                <a:cs typeface="Courier New" pitchFamily="34" charset="-120"/>
              </a:rPr>
              <a:t>prompt</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'Digite o número para dividir: '</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E16D34"/>
                </a:solidFill>
                <a:latin typeface="Courier New" pitchFamily="34" charset="0"/>
                <a:ea typeface="Courier New" pitchFamily="34" charset="-122"/>
                <a:cs typeface="Courier New" pitchFamily="34" charset="-120"/>
              </a:rPr>
              <a:t>if</a:t>
            </a: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7CC4FF"/>
                </a:solidFill>
                <a:latin typeface="Courier New" pitchFamily="34" charset="0"/>
                <a:ea typeface="Courier New" pitchFamily="34" charset="-122"/>
                <a:cs typeface="Courier New" pitchFamily="34" charset="-120"/>
              </a:rPr>
              <a:t>isNaN</a:t>
            </a:r>
            <a:r>
              <a:rPr lang="en-US" sz="1650" b="1" dirty="0">
                <a:solidFill>
                  <a:srgbClr val="F0F0F0"/>
                </a:solidFill>
                <a:latin typeface="Courier New" pitchFamily="34" charset="0"/>
                <a:ea typeface="Courier New" pitchFamily="34" charset="-122"/>
                <a:cs typeface="Courier New" pitchFamily="34" charset="-120"/>
              </a:rPr>
              <a:t>(num))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console.</a:t>
            </a:r>
            <a:r>
              <a:rPr lang="en-US" sz="1650" b="1" dirty="0">
                <a:solidFill>
                  <a:srgbClr val="7CC4FF"/>
                </a:solidFill>
                <a:latin typeface="Courier New" pitchFamily="34" charset="0"/>
                <a:ea typeface="Courier New" pitchFamily="34" charset="-122"/>
                <a:cs typeface="Courier New" pitchFamily="34" charset="-120"/>
              </a:rPr>
              <a:t>log</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'Da próxima vez digite um número correto!'</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 </a:t>
            </a:r>
            <a:r>
              <a:rPr lang="en-US" sz="1650" b="1" dirty="0">
                <a:solidFill>
                  <a:srgbClr val="E16D34"/>
                </a:solidFill>
                <a:latin typeface="Courier New" pitchFamily="34" charset="0"/>
                <a:ea typeface="Courier New" pitchFamily="34" charset="-122"/>
                <a:cs typeface="Courier New" pitchFamily="34" charset="-120"/>
              </a:rPr>
              <a:t>else</a:t>
            </a: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E16D34"/>
                </a:solidFill>
                <a:latin typeface="Courier New" pitchFamily="34" charset="0"/>
                <a:ea typeface="Courier New" pitchFamily="34" charset="-122"/>
                <a:cs typeface="Courier New" pitchFamily="34" charset="-120"/>
              </a:rPr>
              <a:t>if</a:t>
            </a:r>
            <a:r>
              <a:rPr lang="en-US" sz="1650" b="1" dirty="0">
                <a:solidFill>
                  <a:srgbClr val="F0F0F0"/>
                </a:solidFill>
                <a:latin typeface="Courier New" pitchFamily="34" charset="0"/>
                <a:ea typeface="Courier New" pitchFamily="34" charset="-122"/>
                <a:cs typeface="Courier New" pitchFamily="34" charset="-120"/>
              </a:rPr>
              <a:t> (num === </a:t>
            </a:r>
            <a:r>
              <a:rPr lang="en-US" sz="1650" b="1" dirty="0">
                <a:solidFill>
                  <a:srgbClr val="F2C572"/>
                </a:solidFill>
                <a:latin typeface="Courier New" pitchFamily="34" charset="0"/>
                <a:ea typeface="Courier New" pitchFamily="34" charset="-122"/>
                <a:cs typeface="Courier New" pitchFamily="34" charset="-120"/>
              </a:rPr>
              <a:t>0</a:t>
            </a:r>
            <a:r>
              <a:rPr lang="en-US" sz="1650" b="1" dirty="0">
                <a:solidFill>
                  <a:srgbClr val="F0F0F0"/>
                </a:solidFill>
                <a:latin typeface="Courier New" pitchFamily="34" charset="0"/>
                <a:ea typeface="Courier New" pitchFamily="34" charset="-122"/>
                <a:cs typeface="Courier New" pitchFamily="34" charset="-120"/>
              </a:rPr>
              <a:t>)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console.</a:t>
            </a:r>
            <a:r>
              <a:rPr lang="en-US" sz="1650" b="1" dirty="0">
                <a:solidFill>
                  <a:srgbClr val="7CC4FF"/>
                </a:solidFill>
                <a:latin typeface="Courier New" pitchFamily="34" charset="0"/>
                <a:ea typeface="Courier New" pitchFamily="34" charset="-122"/>
                <a:cs typeface="Courier New" pitchFamily="34" charset="-120"/>
              </a:rPr>
              <a:t>log</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'Não é possível dividir por zero!'</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 </a:t>
            </a:r>
            <a:r>
              <a:rPr lang="en-US" sz="1650" b="1" dirty="0">
                <a:solidFill>
                  <a:srgbClr val="E16D34"/>
                </a:solidFill>
                <a:latin typeface="Courier New" pitchFamily="34" charset="0"/>
                <a:ea typeface="Courier New" pitchFamily="34" charset="-122"/>
                <a:cs typeface="Courier New" pitchFamily="34" charset="-120"/>
              </a:rPr>
              <a:t>else</a:t>
            </a:r>
            <a:r>
              <a:rPr lang="en-US" sz="1650" b="1" dirty="0">
                <a:solidFill>
                  <a:srgbClr val="F0F0F0"/>
                </a:solidFill>
                <a:latin typeface="Courier New" pitchFamily="34" charset="0"/>
                <a:ea typeface="Courier New" pitchFamily="34" charset="-122"/>
                <a:cs typeface="Courier New" pitchFamily="34" charset="-120"/>
              </a:rPr>
              <a:t>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resultado = </a:t>
            </a:r>
            <a:r>
              <a:rPr lang="en-US" sz="1650" b="1" dirty="0">
                <a:solidFill>
                  <a:srgbClr val="7CC4FF"/>
                </a:solidFill>
                <a:latin typeface="Courier New" pitchFamily="34" charset="0"/>
                <a:ea typeface="Courier New" pitchFamily="34" charset="-122"/>
                <a:cs typeface="Courier New" pitchFamily="34" charset="-120"/>
              </a:rPr>
              <a:t>dividir</a:t>
            </a:r>
            <a:r>
              <a:rPr lang="en-US" sz="1650" b="1" dirty="0">
                <a:solidFill>
                  <a:srgbClr val="F0F0F0"/>
                </a:solidFill>
                <a:latin typeface="Courier New" pitchFamily="34" charset="0"/>
                <a:ea typeface="Courier New" pitchFamily="34" charset="-122"/>
                <a:cs typeface="Courier New" pitchFamily="34" charset="-120"/>
              </a:rPr>
              <a:t>(resultado, num)</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console.</a:t>
            </a:r>
            <a:r>
              <a:rPr lang="en-US" sz="1650" b="1" dirty="0">
                <a:solidFill>
                  <a:srgbClr val="7CC4FF"/>
                </a:solidFill>
                <a:latin typeface="Courier New" pitchFamily="34" charset="0"/>
                <a:ea typeface="Courier New" pitchFamily="34" charset="-122"/>
                <a:cs typeface="Courier New" pitchFamily="34" charset="-120"/>
              </a:rPr>
              <a:t>log</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'Resultado: '</a:t>
            </a:r>
            <a:r>
              <a:rPr lang="en-US" sz="1650" b="1" dirty="0">
                <a:solidFill>
                  <a:srgbClr val="F0F0F0"/>
                </a:solidFill>
                <a:latin typeface="Courier New" pitchFamily="34" charset="0"/>
                <a:ea typeface="Courier New" pitchFamily="34" charset="-122"/>
                <a:cs typeface="Courier New" pitchFamily="34" charset="-120"/>
              </a:rPr>
              <a:t> + resultado)</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E16D34"/>
                </a:solidFill>
                <a:latin typeface="Courier New" pitchFamily="34" charset="0"/>
                <a:ea typeface="Courier New" pitchFamily="34" charset="-122"/>
                <a:cs typeface="Courier New" pitchFamily="34" charset="-120"/>
              </a:rPr>
              <a:t>break</a:t>
            </a:r>
            <a:endParaRPr lang="en-US" sz="165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Uma segunda validação, com </a:t>
            </a:r>
            <a:r>
              <a:rPr lang="en-US" sz="1400" b="1" dirty="0">
                <a:solidFill>
                  <a:srgbClr val="F7A072"/>
                </a:solidFill>
                <a:latin typeface="Courier New" pitchFamily="34" charset="0"/>
                <a:ea typeface="Courier New" pitchFamily="34" charset="-122"/>
                <a:cs typeface="Courier New" pitchFamily="34" charset="-120"/>
              </a:rPr>
              <a:t>else if</a:t>
            </a:r>
            <a:r>
              <a:rPr lang="en-US" sz="1400" b="1" dirty="0">
                <a:solidFill>
                  <a:srgbClr val="E16D34"/>
                </a:solidFill>
                <a:latin typeface="Helvetica Neue" pitchFamily="34" charset="0"/>
                <a:ea typeface="Helvetica Neue" pitchFamily="34" charset="-122"/>
                <a:cs typeface="Helvetica Neue" pitchFamily="34" charset="-120"/>
              </a:rPr>
              <a:t>: primeiro testamos se é número, depois se é zero.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Passo 5: a porcentagem</a:t>
            </a:r>
            <a:endParaRPr lang="en-US" sz="3000" dirty="0"/>
          </a:p>
        </p:txBody>
      </p:sp>
      <p:sp>
        <p:nvSpPr>
          <p:cNvPr id="5" name="Shape 2"/>
          <p:cNvSpPr/>
          <p:nvPr/>
        </p:nvSpPr>
        <p:spPr>
          <a:xfrm>
            <a:off x="411480" y="1290828"/>
            <a:ext cx="8321040" cy="2660904"/>
          </a:xfrm>
          <a:prstGeom prst="roundRect">
            <a:avLst>
              <a:gd name="adj" fmla="val 2749"/>
            </a:avLst>
          </a:prstGeom>
          <a:solidFill>
            <a:srgbClr val="121212"/>
          </a:solidFill>
          <a:ln w="9525">
            <a:solidFill>
              <a:srgbClr val="2E2E2E"/>
            </a:solidFill>
            <a:prstDash val="solid"/>
          </a:ln>
        </p:spPr>
      </p:sp>
      <p:sp>
        <p:nvSpPr>
          <p:cNvPr id="6" name="Text 3"/>
          <p:cNvSpPr txBox="1"/>
          <p:nvPr/>
        </p:nvSpPr>
        <p:spPr>
          <a:xfrm>
            <a:off x="557784" y="1407871"/>
            <a:ext cx="8028432" cy="242681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case</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F2C572"/>
                </a:solidFill>
                <a:latin typeface="Courier New" pitchFamily="34" charset="0"/>
                <a:ea typeface="Courier New" pitchFamily="34" charset="-122"/>
                <a:cs typeface="Courier New" pitchFamily="34" charset="-120"/>
              </a:rPr>
              <a:t>5</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num = </a:t>
            </a:r>
            <a:r>
              <a:rPr lang="en-US" sz="1700" b="1" dirty="0">
                <a:solidFill>
                  <a:srgbClr val="7CC4FF"/>
                </a:solidFill>
                <a:latin typeface="Courier New" pitchFamily="34" charset="0"/>
                <a:ea typeface="Courier New" pitchFamily="34" charset="-122"/>
                <a:cs typeface="Courier New" pitchFamily="34" charset="-120"/>
              </a:rPr>
              <a:t>Number</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'Digite a porcentagem: '</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7CC4FF"/>
                </a:solidFill>
                <a:latin typeface="Courier New" pitchFamily="34" charset="0"/>
                <a:ea typeface="Courier New" pitchFamily="34" charset="-122"/>
                <a:cs typeface="Courier New" pitchFamily="34" charset="-120"/>
              </a:rPr>
              <a:t>isNaN</a:t>
            </a:r>
            <a:r>
              <a:rPr lang="en-US" sz="1700" b="1" dirty="0">
                <a:solidFill>
                  <a:srgbClr val="F0F0F0"/>
                </a:solidFill>
                <a:latin typeface="Courier New" pitchFamily="34" charset="0"/>
                <a:ea typeface="Courier New" pitchFamily="34" charset="-122"/>
                <a:cs typeface="Courier New" pitchFamily="34" charset="-120"/>
              </a:rPr>
              <a:t>(num))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'Da próxima vez digite um número correto!'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 </a:t>
            </a:r>
            <a:r>
              <a:rPr lang="en-US" sz="1700" b="1" dirty="0">
                <a:solidFill>
                  <a:srgbClr val="E16D34"/>
                </a:solidFill>
                <a:latin typeface="Courier New" pitchFamily="34" charset="0"/>
                <a:ea typeface="Courier New" pitchFamily="34" charset="-122"/>
                <a:cs typeface="Courier New" pitchFamily="34" charset="-120"/>
              </a:rPr>
              <a:t>else</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valor = </a:t>
            </a:r>
            <a:r>
              <a:rPr lang="en-US" sz="1700" b="1" dirty="0">
                <a:solidFill>
                  <a:srgbClr val="7CC4FF"/>
                </a:solidFill>
                <a:latin typeface="Courier New" pitchFamily="34" charset="0"/>
                <a:ea typeface="Courier New" pitchFamily="34" charset="-122"/>
                <a:cs typeface="Courier New" pitchFamily="34" charset="-120"/>
              </a:rPr>
              <a:t>porcentagem</a:t>
            </a:r>
            <a:r>
              <a:rPr lang="en-US" sz="1700" b="1" dirty="0">
                <a:solidFill>
                  <a:srgbClr val="F0F0F0"/>
                </a:solidFill>
                <a:latin typeface="Courier New" pitchFamily="34" charset="0"/>
                <a:ea typeface="Courier New" pitchFamily="34" charset="-122"/>
                <a:cs typeface="Courier New" pitchFamily="34" charset="-120"/>
              </a:rPr>
              <a:t>(resultado, num)</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`${num}% de ${resultado} = ${valor}`</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break</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A porcentagem calcula e </a:t>
            </a:r>
            <a:r>
              <a:rPr lang="en-US" sz="1400" b="1" dirty="0">
                <a:solidFill>
                  <a:srgbClr val="FFFFFF"/>
                </a:solidFill>
                <a:latin typeface="Helvetica Neue" pitchFamily="34" charset="0"/>
                <a:ea typeface="Helvetica Neue" pitchFamily="34" charset="-122"/>
                <a:cs typeface="Helvetica Neue" pitchFamily="34" charset="-120"/>
              </a:rPr>
              <a:t>mostra</a:t>
            </a:r>
            <a:r>
              <a:rPr lang="en-US" sz="1400" b="1" dirty="0">
                <a:solidFill>
                  <a:srgbClr val="E16D34"/>
                </a:solidFill>
                <a:latin typeface="Helvetica Neue" pitchFamily="34" charset="0"/>
                <a:ea typeface="Helvetica Neue" pitchFamily="34" charset="-122"/>
                <a:cs typeface="Helvetica Neue" pitchFamily="34" charset="-120"/>
              </a:rPr>
              <a:t> o valor, sem alterar o resultado acumulado.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100" b="1" dirty="0">
                <a:solidFill>
                  <a:srgbClr val="E16D34"/>
                </a:solidFill>
                <a:latin typeface="Montserrat" pitchFamily="34" charset="0"/>
                <a:ea typeface="Montserrat" pitchFamily="34" charset="-122"/>
                <a:cs typeface="Montserrat" pitchFamily="34" charset="-120"/>
              </a:rPr>
              <a:t>Passo 6: ver resultado, sair e opção inválida</a:t>
            </a:r>
            <a:endParaRPr lang="en-US" sz="2100" dirty="0"/>
          </a:p>
        </p:txBody>
      </p:sp>
      <p:sp>
        <p:nvSpPr>
          <p:cNvPr id="5" name="Shape 2"/>
          <p:cNvSpPr/>
          <p:nvPr/>
        </p:nvSpPr>
        <p:spPr>
          <a:xfrm>
            <a:off x="365760" y="1648968"/>
            <a:ext cx="5219700" cy="2508504"/>
          </a:xfrm>
          <a:prstGeom prst="roundRect">
            <a:avLst>
              <a:gd name="adj" fmla="val 2916"/>
            </a:avLst>
          </a:prstGeom>
          <a:solidFill>
            <a:srgbClr val="121212"/>
          </a:solidFill>
          <a:ln w="9525">
            <a:solidFill>
              <a:srgbClr val="2E2E2E"/>
            </a:solidFill>
            <a:prstDash val="solid"/>
          </a:ln>
        </p:spPr>
      </p:sp>
      <p:sp>
        <p:nvSpPr>
          <p:cNvPr id="6" name="Text 3"/>
          <p:cNvSpPr txBox="1"/>
          <p:nvPr/>
        </p:nvSpPr>
        <p:spPr>
          <a:xfrm>
            <a:off x="512064" y="1766011"/>
            <a:ext cx="4927092" cy="2274418"/>
          </a:xfrm>
          <a:prstGeom prst="rect">
            <a:avLst/>
          </a:prstGeom>
          <a:noFill/>
          <a:ln/>
        </p:spPr>
        <p:txBody>
          <a:bodyPr wrap="square" lIns="0" tIns="0" rIns="0" bIns="0" rtlCol="0" anchor="t"/>
          <a:lstStyle/>
          <a:p>
            <a:pPr algn="l" indent="0" marL="0">
              <a:buNone/>
            </a:pPr>
            <a:r>
              <a:rPr lang="en-US" sz="1300" b="1" dirty="0">
                <a:solidFill>
                  <a:srgbClr val="E16D34"/>
                </a:solidFill>
                <a:latin typeface="Courier New" pitchFamily="34" charset="0"/>
                <a:ea typeface="Courier New" pitchFamily="34" charset="-122"/>
                <a:cs typeface="Courier New" pitchFamily="34" charset="-120"/>
              </a:rPr>
              <a:t>case</a:t>
            </a:r>
            <a:r>
              <a:rPr lang="en-US" sz="1300" b="1" dirty="0">
                <a:solidFill>
                  <a:srgbClr val="F0F0F0"/>
                </a:solidFill>
                <a:latin typeface="Courier New" pitchFamily="34" charset="0"/>
                <a:ea typeface="Courier New" pitchFamily="34" charset="-122"/>
                <a:cs typeface="Courier New" pitchFamily="34" charset="-120"/>
              </a:rPr>
              <a:t> </a:t>
            </a:r>
            <a:r>
              <a:rPr lang="en-US" sz="1300" b="1" dirty="0">
                <a:solidFill>
                  <a:srgbClr val="F2C572"/>
                </a:solidFill>
                <a:latin typeface="Courier New" pitchFamily="34" charset="0"/>
                <a:ea typeface="Courier New" pitchFamily="34" charset="-122"/>
                <a:cs typeface="Courier New" pitchFamily="34" charset="-120"/>
              </a:rPr>
              <a:t>6</a:t>
            </a:r>
            <a:r>
              <a:rPr lang="en-US" sz="1300" b="1" dirty="0">
                <a:solidFill>
                  <a:srgbClr val="F0F0F0"/>
                </a:solidFill>
                <a:latin typeface="Courier New" pitchFamily="34" charset="0"/>
                <a:ea typeface="Courier New" pitchFamily="34" charset="-122"/>
                <a:cs typeface="Courier New" pitchFamily="34" charset="-120"/>
              </a:rPr>
              <a:t>:</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console.</a:t>
            </a:r>
            <a:r>
              <a:rPr lang="en-US" sz="1300" b="1" dirty="0">
                <a:solidFill>
                  <a:srgbClr val="7CC4FF"/>
                </a:solidFill>
                <a:latin typeface="Courier New" pitchFamily="34" charset="0"/>
                <a:ea typeface="Courier New" pitchFamily="34" charset="-122"/>
                <a:cs typeface="Courier New" pitchFamily="34" charset="-120"/>
              </a:rPr>
              <a:t>log</a:t>
            </a:r>
            <a:r>
              <a:rPr lang="en-US" sz="1300" b="1" dirty="0">
                <a:solidFill>
                  <a:srgbClr val="F0F0F0"/>
                </a:solidFill>
                <a:latin typeface="Courier New" pitchFamily="34" charset="0"/>
                <a:ea typeface="Courier New" pitchFamily="34" charset="-122"/>
                <a:cs typeface="Courier New" pitchFamily="34" charset="-120"/>
              </a:rPr>
              <a:t>(</a:t>
            </a:r>
            <a:r>
              <a:rPr lang="en-US" sz="1300" b="1" dirty="0">
                <a:solidFill>
                  <a:srgbClr val="A8D8A8"/>
                </a:solidFill>
                <a:latin typeface="Courier New" pitchFamily="34" charset="0"/>
                <a:ea typeface="Courier New" pitchFamily="34" charset="-122"/>
                <a:cs typeface="Courier New" pitchFamily="34" charset="-120"/>
              </a:rPr>
              <a:t>'Resultado: '</a:t>
            </a:r>
            <a:r>
              <a:rPr lang="en-US" sz="1300" b="1" dirty="0">
                <a:solidFill>
                  <a:srgbClr val="F0F0F0"/>
                </a:solidFill>
                <a:latin typeface="Courier New" pitchFamily="34" charset="0"/>
                <a:ea typeface="Courier New" pitchFamily="34" charset="-122"/>
                <a:cs typeface="Courier New" pitchFamily="34" charset="-120"/>
              </a:rPr>
              <a:t> + resultado)</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a:t>
            </a:r>
            <a:r>
              <a:rPr lang="en-US" sz="1300" b="1" dirty="0">
                <a:solidFill>
                  <a:srgbClr val="E16D34"/>
                </a:solidFill>
                <a:latin typeface="Courier New" pitchFamily="34" charset="0"/>
                <a:ea typeface="Courier New" pitchFamily="34" charset="-122"/>
                <a:cs typeface="Courier New" pitchFamily="34" charset="-120"/>
              </a:rPr>
              <a:t>break</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a:t>
            </a:r>
            <a:endParaRPr lang="en-US" sz="1300" dirty="0"/>
          </a:p>
          <a:p>
            <a:pPr algn="l" indent="0" marL="0">
              <a:buNone/>
            </a:pPr>
            <a:r>
              <a:rPr lang="en-US" sz="1300" b="1" dirty="0">
                <a:solidFill>
                  <a:srgbClr val="E16D34"/>
                </a:solidFill>
                <a:latin typeface="Courier New" pitchFamily="34" charset="0"/>
                <a:ea typeface="Courier New" pitchFamily="34" charset="-122"/>
                <a:cs typeface="Courier New" pitchFamily="34" charset="-120"/>
              </a:rPr>
              <a:t>case</a:t>
            </a:r>
            <a:r>
              <a:rPr lang="en-US" sz="1300" b="1" dirty="0">
                <a:solidFill>
                  <a:srgbClr val="F0F0F0"/>
                </a:solidFill>
                <a:latin typeface="Courier New" pitchFamily="34" charset="0"/>
                <a:ea typeface="Courier New" pitchFamily="34" charset="-122"/>
                <a:cs typeface="Courier New" pitchFamily="34" charset="-120"/>
              </a:rPr>
              <a:t> </a:t>
            </a:r>
            <a:r>
              <a:rPr lang="en-US" sz="1300" b="1" dirty="0">
                <a:solidFill>
                  <a:srgbClr val="F2C572"/>
                </a:solidFill>
                <a:latin typeface="Courier New" pitchFamily="34" charset="0"/>
                <a:ea typeface="Courier New" pitchFamily="34" charset="-122"/>
                <a:cs typeface="Courier New" pitchFamily="34" charset="-120"/>
              </a:rPr>
              <a:t>7</a:t>
            </a:r>
            <a:r>
              <a:rPr lang="en-US" sz="1300" b="1" dirty="0">
                <a:solidFill>
                  <a:srgbClr val="F0F0F0"/>
                </a:solidFill>
                <a:latin typeface="Courier New" pitchFamily="34" charset="0"/>
                <a:ea typeface="Courier New" pitchFamily="34" charset="-122"/>
                <a:cs typeface="Courier New" pitchFamily="34" charset="-120"/>
              </a:rPr>
              <a:t>:</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console.</a:t>
            </a:r>
            <a:r>
              <a:rPr lang="en-US" sz="1300" b="1" dirty="0">
                <a:solidFill>
                  <a:srgbClr val="7CC4FF"/>
                </a:solidFill>
                <a:latin typeface="Courier New" pitchFamily="34" charset="0"/>
                <a:ea typeface="Courier New" pitchFamily="34" charset="-122"/>
                <a:cs typeface="Courier New" pitchFamily="34" charset="-120"/>
              </a:rPr>
              <a:t>log</a:t>
            </a:r>
            <a:r>
              <a:rPr lang="en-US" sz="1300" b="1" dirty="0">
                <a:solidFill>
                  <a:srgbClr val="F0F0F0"/>
                </a:solidFill>
                <a:latin typeface="Courier New" pitchFamily="34" charset="0"/>
                <a:ea typeface="Courier New" pitchFamily="34" charset="-122"/>
                <a:cs typeface="Courier New" pitchFamily="34" charset="-120"/>
              </a:rPr>
              <a:t>(</a:t>
            </a:r>
            <a:r>
              <a:rPr lang="en-US" sz="1300" b="1" dirty="0">
                <a:solidFill>
                  <a:srgbClr val="A8D8A8"/>
                </a:solidFill>
                <a:latin typeface="Courier New" pitchFamily="34" charset="0"/>
                <a:ea typeface="Courier New" pitchFamily="34" charset="-122"/>
                <a:cs typeface="Courier New" pitchFamily="34" charset="-120"/>
              </a:rPr>
              <a:t>'Encerrando...'</a:t>
            </a:r>
            <a:r>
              <a:rPr lang="en-US" sz="1300" b="1" dirty="0">
                <a:solidFill>
                  <a:srgbClr val="F0F0F0"/>
                </a:solidFill>
                <a:latin typeface="Courier New" pitchFamily="34" charset="0"/>
                <a:ea typeface="Courier New" pitchFamily="34" charset="-122"/>
                <a:cs typeface="Courier New" pitchFamily="34" charset="-120"/>
              </a:rPr>
              <a:t>)</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a:t>
            </a:r>
            <a:r>
              <a:rPr lang="en-US" sz="1300" b="1" dirty="0">
                <a:solidFill>
                  <a:srgbClr val="E16D34"/>
                </a:solidFill>
                <a:latin typeface="Courier New" pitchFamily="34" charset="0"/>
                <a:ea typeface="Courier New" pitchFamily="34" charset="-122"/>
                <a:cs typeface="Courier New" pitchFamily="34" charset="-120"/>
              </a:rPr>
              <a:t>break</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a:t>
            </a:r>
            <a:endParaRPr lang="en-US" sz="1300" dirty="0"/>
          </a:p>
          <a:p>
            <a:pPr algn="l" indent="0" marL="0">
              <a:buNone/>
            </a:pPr>
            <a:r>
              <a:rPr lang="en-US" sz="1300" b="1" dirty="0">
                <a:solidFill>
                  <a:srgbClr val="E16D34"/>
                </a:solidFill>
                <a:latin typeface="Courier New" pitchFamily="34" charset="0"/>
                <a:ea typeface="Courier New" pitchFamily="34" charset="-122"/>
                <a:cs typeface="Courier New" pitchFamily="34" charset="-120"/>
              </a:rPr>
              <a:t>default</a:t>
            </a:r>
            <a:r>
              <a:rPr lang="en-US" sz="1300" b="1" dirty="0">
                <a:solidFill>
                  <a:srgbClr val="F0F0F0"/>
                </a:solidFill>
                <a:latin typeface="Courier New" pitchFamily="34" charset="0"/>
                <a:ea typeface="Courier New" pitchFamily="34" charset="-122"/>
                <a:cs typeface="Courier New" pitchFamily="34" charset="-120"/>
              </a:rPr>
              <a:t>:</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console.</a:t>
            </a:r>
            <a:r>
              <a:rPr lang="en-US" sz="1300" b="1" dirty="0">
                <a:solidFill>
                  <a:srgbClr val="7CC4FF"/>
                </a:solidFill>
                <a:latin typeface="Courier New" pitchFamily="34" charset="0"/>
                <a:ea typeface="Courier New" pitchFamily="34" charset="-122"/>
                <a:cs typeface="Courier New" pitchFamily="34" charset="-120"/>
              </a:rPr>
              <a:t>log</a:t>
            </a:r>
            <a:r>
              <a:rPr lang="en-US" sz="1300" b="1" dirty="0">
                <a:solidFill>
                  <a:srgbClr val="F0F0F0"/>
                </a:solidFill>
                <a:latin typeface="Courier New" pitchFamily="34" charset="0"/>
                <a:ea typeface="Courier New" pitchFamily="34" charset="-122"/>
                <a:cs typeface="Courier New" pitchFamily="34" charset="-120"/>
              </a:rPr>
              <a:t>(</a:t>
            </a:r>
            <a:r>
              <a:rPr lang="en-US" sz="1300" b="1" dirty="0">
                <a:solidFill>
                  <a:srgbClr val="A8D8A8"/>
                </a:solidFill>
                <a:latin typeface="Courier New" pitchFamily="34" charset="0"/>
                <a:ea typeface="Courier New" pitchFamily="34" charset="-122"/>
                <a:cs typeface="Courier New" pitchFamily="34" charset="-120"/>
              </a:rPr>
              <a:t>'Opção inválida, tente novamente!'</a:t>
            </a:r>
            <a:r>
              <a:rPr lang="en-US" sz="1300" b="1" dirty="0">
                <a:solidFill>
                  <a:srgbClr val="F0F0F0"/>
                </a:solidFill>
                <a:latin typeface="Courier New" pitchFamily="34" charset="0"/>
                <a:ea typeface="Courier New" pitchFamily="34" charset="-122"/>
                <a:cs typeface="Courier New" pitchFamily="34" charset="-120"/>
              </a:rPr>
              <a:t>)</a:t>
            </a:r>
            <a:endParaRPr lang="en-US" sz="1300" dirty="0"/>
          </a:p>
          <a:p>
            <a:pPr algn="l" indent="0" marL="0">
              <a:buNone/>
            </a:pPr>
            <a:r>
              <a:rPr lang="en-US" sz="1300" b="1" dirty="0">
                <a:solidFill>
                  <a:srgbClr val="F0F0F0"/>
                </a:solidFill>
                <a:latin typeface="Courier New" pitchFamily="34" charset="0"/>
                <a:ea typeface="Courier New" pitchFamily="34" charset="-122"/>
                <a:cs typeface="Courier New" pitchFamily="34" charset="-120"/>
              </a:rPr>
              <a:t>  </a:t>
            </a:r>
            <a:r>
              <a:rPr lang="en-US" sz="1300" b="1" dirty="0">
                <a:solidFill>
                  <a:srgbClr val="E16D34"/>
                </a:solidFill>
                <a:latin typeface="Courier New" pitchFamily="34" charset="0"/>
                <a:ea typeface="Courier New" pitchFamily="34" charset="-122"/>
                <a:cs typeface="Courier New" pitchFamily="34" charset="-120"/>
              </a:rPr>
              <a:t>break</a:t>
            </a:r>
            <a:endParaRPr lang="en-US" sz="1300" dirty="0"/>
          </a:p>
        </p:txBody>
      </p:sp>
      <p:sp>
        <p:nvSpPr>
          <p:cNvPr id="7" name="Text 4"/>
          <p:cNvSpPr txBox="1"/>
          <p:nvPr/>
        </p:nvSpPr>
        <p:spPr>
          <a:xfrm>
            <a:off x="5859780" y="1821180"/>
            <a:ext cx="2918460" cy="216408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case 6  </a:t>
            </a:r>
            <a:r>
              <a:rPr lang="en-US" sz="1450" b="1" dirty="0">
                <a:solidFill>
                  <a:srgbClr val="E6E6E6"/>
                </a:solidFill>
                <a:latin typeface="Helvetica Neue" pitchFamily="34" charset="0"/>
                <a:ea typeface="Helvetica Neue" pitchFamily="34" charset="-122"/>
                <a:cs typeface="Helvetica Neue" pitchFamily="34" charset="-120"/>
              </a:rPr>
              <a:t>→ só mostra o valor acumulado.</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case 7  </a:t>
            </a:r>
            <a:r>
              <a:rPr lang="en-US" sz="1450" b="1" dirty="0">
                <a:solidFill>
                  <a:srgbClr val="E6E6E6"/>
                </a:solidFill>
                <a:latin typeface="Helvetica Neue" pitchFamily="34" charset="0"/>
                <a:ea typeface="Helvetica Neue" pitchFamily="34" charset="-122"/>
                <a:cs typeface="Helvetica Neue" pitchFamily="34" charset="-120"/>
              </a:rPr>
              <a:t>→ o while testa </a:t>
            </a:r>
            <a:r>
              <a:rPr lang="en-US" sz="1450" b="1" dirty="0">
                <a:solidFill>
                  <a:srgbClr val="F7A072"/>
                </a:solidFill>
                <a:latin typeface="Courier New" pitchFamily="34" charset="0"/>
                <a:ea typeface="Courier New" pitchFamily="34" charset="-122"/>
                <a:cs typeface="Courier New" pitchFamily="34" charset="-120"/>
              </a:rPr>
              <a:t>op !== 7</a:t>
            </a:r>
            <a:r>
              <a:rPr lang="en-US" sz="1450" b="1" dirty="0">
                <a:solidFill>
                  <a:srgbClr val="E6E6E6"/>
                </a:solidFill>
                <a:latin typeface="Helvetica Neue" pitchFamily="34" charset="0"/>
                <a:ea typeface="Helvetica Neue" pitchFamily="34" charset="-122"/>
                <a:cs typeface="Helvetica Neue" pitchFamily="34" charset="-120"/>
              </a:rPr>
              <a:t> e o laço termina.</a:t>
            </a:r>
            <a:endParaRPr lang="en-US" sz="1450" dirty="0"/>
          </a:p>
          <a:p>
            <a:pPr algn="l" indent="0" marL="0">
              <a:buNone/>
            </a:pPr>
            <a:r>
              <a:rPr lang="en-US" sz="1450" b="1" dirty="0">
                <a:solidFill>
                  <a:srgbClr val="F7A072"/>
                </a:solidFill>
                <a:latin typeface="Courier New" pitchFamily="34" charset="0"/>
                <a:ea typeface="Courier New" pitchFamily="34" charset="-122"/>
                <a:cs typeface="Courier New" pitchFamily="34" charset="-120"/>
              </a:rPr>
              <a:t>default  </a:t>
            </a:r>
            <a:r>
              <a:rPr lang="en-US" sz="1450" b="1" dirty="0">
                <a:solidFill>
                  <a:srgbClr val="E6E6E6"/>
                </a:solidFill>
                <a:latin typeface="Helvetica Neue" pitchFamily="34" charset="0"/>
                <a:ea typeface="Helvetica Neue" pitchFamily="34" charset="-122"/>
                <a:cs typeface="Helvetica Neue" pitchFamily="34" charset="-120"/>
              </a:rPr>
              <a:t>→ qualquer outra opção, inclusive texto (que vira NaN).</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Testando os critérios de aceite</a:t>
            </a:r>
            <a:endParaRPr lang="en-US" sz="3000" dirty="0"/>
          </a:p>
        </p:txBody>
      </p:sp>
      <p:sp>
        <p:nvSpPr>
          <p:cNvPr id="5" name="Shape 2"/>
          <p:cNvSpPr/>
          <p:nvPr/>
        </p:nvSpPr>
        <p:spPr>
          <a:xfrm>
            <a:off x="365760" y="1119378"/>
            <a:ext cx="4937760" cy="3567684"/>
          </a:xfrm>
          <a:prstGeom prst="roundRect">
            <a:avLst>
              <a:gd name="adj" fmla="val 2050"/>
            </a:avLst>
          </a:prstGeom>
          <a:solidFill>
            <a:srgbClr val="121212"/>
          </a:solidFill>
          <a:ln w="9525">
            <a:solidFill>
              <a:srgbClr val="2E2E2E"/>
            </a:solidFill>
            <a:prstDash val="solid"/>
          </a:ln>
        </p:spPr>
      </p:sp>
      <p:sp>
        <p:nvSpPr>
          <p:cNvPr id="6" name="Text 3"/>
          <p:cNvSpPr txBox="1"/>
          <p:nvPr/>
        </p:nvSpPr>
        <p:spPr>
          <a:xfrm>
            <a:off x="512064" y="1236421"/>
            <a:ext cx="4645152" cy="3333598"/>
          </a:xfrm>
          <a:prstGeom prst="rect">
            <a:avLst/>
          </a:prstGeom>
          <a:noFill/>
          <a:ln/>
        </p:spPr>
        <p:txBody>
          <a:bodyPr wrap="square" lIns="0" tIns="0" rIns="0" bIns="0" rtlCol="0" anchor="t"/>
          <a:lstStyle/>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1</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Digite o número para somar: 10</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Resultado: 10</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3</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Digite o número para multiplicar: 3</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Resultado: 30</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4</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Digite o número para dividir: 0</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Não é possível dividir por zero!</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1</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Digite o número para somar: abc</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Da próxima vez digite um número correto!</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5</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Digite a porcentagem: 10</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10% de 30 = 3</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Escolha uma opção: 7</a:t>
            </a:r>
            <a:endParaRPr lang="en-US" sz="1250" dirty="0"/>
          </a:p>
          <a:p>
            <a:pPr algn="l" indent="0" marL="0">
              <a:buNone/>
            </a:pPr>
            <a:r>
              <a:rPr lang="en-US" sz="1250" b="1" dirty="0">
                <a:solidFill>
                  <a:srgbClr val="E6E6E6"/>
                </a:solidFill>
                <a:latin typeface="Courier New" pitchFamily="34" charset="0"/>
                <a:ea typeface="Courier New" pitchFamily="34" charset="-122"/>
                <a:cs typeface="Courier New" pitchFamily="34" charset="-120"/>
              </a:rPr>
              <a:t>Encerrando...</a:t>
            </a:r>
            <a:endParaRPr lang="en-US" sz="1250" dirty="0"/>
          </a:p>
        </p:txBody>
      </p:sp>
      <p:sp>
        <p:nvSpPr>
          <p:cNvPr id="7" name="Text 4"/>
          <p:cNvSpPr txBox="1"/>
          <p:nvPr/>
        </p:nvSpPr>
        <p:spPr>
          <a:xfrm>
            <a:off x="5577840" y="1413510"/>
            <a:ext cx="3200400" cy="297942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acumula  </a:t>
            </a:r>
            <a:r>
              <a:rPr lang="en-US" sz="1450" b="1" dirty="0">
                <a:solidFill>
                  <a:srgbClr val="E6E6E6"/>
                </a:solidFill>
                <a:latin typeface="Helvetica Neue" pitchFamily="34" charset="0"/>
                <a:ea typeface="Helvetica Neue" pitchFamily="34" charset="-122"/>
                <a:cs typeface="Helvetica Neue" pitchFamily="34" charset="-120"/>
              </a:rPr>
              <a:t>→ 10 × 3 = 30: o resultado passa de uma operação para outra.</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protege  </a:t>
            </a:r>
            <a:r>
              <a:rPr lang="en-US" sz="1450" b="1" dirty="0">
                <a:solidFill>
                  <a:srgbClr val="E6E6E6"/>
                </a:solidFill>
                <a:latin typeface="Helvetica Neue" pitchFamily="34" charset="0"/>
                <a:ea typeface="Helvetica Neue" pitchFamily="34" charset="-122"/>
                <a:cs typeface="Helvetica Neue" pitchFamily="34" charset="-120"/>
              </a:rPr>
              <a:t>→ zero na divisão e "abc" geram aviso, e o resultado continua 30.</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encerra  </a:t>
            </a:r>
            <a:r>
              <a:rPr lang="en-US" sz="1450" b="1" dirty="0">
                <a:solidFill>
                  <a:srgbClr val="E6E6E6"/>
                </a:solidFill>
                <a:latin typeface="Helvetica Neue" pitchFamily="34" charset="0"/>
                <a:ea typeface="Helvetica Neue" pitchFamily="34" charset="-122"/>
                <a:cs typeface="Helvetica Neue" pitchFamily="34" charset="-120"/>
              </a:rPr>
              <a:t>→ só quando o usuário escolhe 7.</a:t>
            </a:r>
            <a:endParaRPr lang="en-US" sz="1450" dirty="0"/>
          </a:p>
          <a:p>
            <a:pPr algn="l" indent="0" marL="0">
              <a:buNone/>
            </a:pPr>
            <a:r>
              <a:rPr lang="en-US" sz="1450" b="1" dirty="0">
                <a:solidFill>
                  <a:srgbClr val="E16D34"/>
                </a:solidFill>
                <a:latin typeface="Courier New" pitchFamily="34" charset="0"/>
                <a:ea typeface="Courier New" pitchFamily="34" charset="-122"/>
                <a:cs typeface="Courier New" pitchFamily="34" charset="-120"/>
              </a:rPr>
              <a:t>teste você  </a:t>
            </a:r>
            <a:r>
              <a:rPr lang="en-US" sz="1450" b="1" dirty="0">
                <a:solidFill>
                  <a:srgbClr val="E6E6E6"/>
                </a:solidFill>
                <a:latin typeface="Helvetica Neue" pitchFamily="34" charset="0"/>
                <a:ea typeface="Helvetica Neue" pitchFamily="34" charset="-122"/>
                <a:cs typeface="Helvetica Neue" pitchFamily="34" charset="-120"/>
              </a:rPr>
              <a:t>→ para cada critério de aceite, tente fazer o programa falhar.</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300" b="1" dirty="0">
                <a:solidFill>
                  <a:srgbClr val="E16D34"/>
                </a:solidFill>
                <a:latin typeface="Montserrat" pitchFamily="34" charset="0"/>
                <a:ea typeface="Montserrat" pitchFamily="34" charset="-122"/>
                <a:cs typeface="Montserrat" pitchFamily="34" charset="-120"/>
              </a:rPr>
              <a:t>Refatorando: uma função para ler números</a:t>
            </a:r>
            <a:endParaRPr lang="en-US" sz="2300" dirty="0"/>
          </a:p>
        </p:txBody>
      </p:sp>
      <p:sp>
        <p:nvSpPr>
          <p:cNvPr id="5" name="Shape 2"/>
          <p:cNvSpPr/>
          <p:nvPr/>
        </p:nvSpPr>
        <p:spPr>
          <a:xfrm>
            <a:off x="411480" y="1092708"/>
            <a:ext cx="8321040" cy="2843784"/>
          </a:xfrm>
          <a:prstGeom prst="roundRect">
            <a:avLst>
              <a:gd name="adj" fmla="val 2572"/>
            </a:avLst>
          </a:prstGeom>
          <a:solidFill>
            <a:srgbClr val="121212"/>
          </a:solidFill>
          <a:ln w="9525">
            <a:solidFill>
              <a:srgbClr val="2E2E2E"/>
            </a:solidFill>
            <a:prstDash val="solid"/>
          </a:ln>
        </p:spPr>
      </p:sp>
      <p:sp>
        <p:nvSpPr>
          <p:cNvPr id="6" name="Text 3"/>
          <p:cNvSpPr txBox="1"/>
          <p:nvPr/>
        </p:nvSpPr>
        <p:spPr>
          <a:xfrm>
            <a:off x="557784" y="1209751"/>
            <a:ext cx="8028432" cy="2609698"/>
          </a:xfrm>
          <a:prstGeom prst="rect">
            <a:avLst/>
          </a:prstGeom>
          <a:noFill/>
          <a:ln/>
        </p:spPr>
        <p:txBody>
          <a:bodyPr wrap="square" lIns="0" tIns="0" rIns="0" bIns="0" rtlCol="0" anchor="t"/>
          <a:lstStyle/>
          <a:p>
            <a:pPr algn="l" indent="0" marL="0">
              <a:buNone/>
            </a:pPr>
            <a:r>
              <a:rPr lang="en-US" sz="1500" b="1" dirty="0">
                <a:solidFill>
                  <a:srgbClr val="E16D34"/>
                </a:solidFill>
                <a:latin typeface="Courier New" pitchFamily="34" charset="0"/>
                <a:ea typeface="Courier New" pitchFamily="34" charset="-122"/>
                <a:cs typeface="Courier New" pitchFamily="34" charset="-120"/>
              </a:rPr>
              <a:t>function</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7CC4FF"/>
                </a:solidFill>
                <a:latin typeface="Courier New" pitchFamily="34" charset="0"/>
                <a:ea typeface="Courier New" pitchFamily="34" charset="-122"/>
                <a:cs typeface="Courier New" pitchFamily="34" charset="-120"/>
              </a:rPr>
              <a:t>lerNumero</a:t>
            </a:r>
            <a:r>
              <a:rPr lang="en-US" sz="1500" b="1" dirty="0">
                <a:solidFill>
                  <a:srgbClr val="F0F0F0"/>
                </a:solidFill>
                <a:latin typeface="Courier New" pitchFamily="34" charset="0"/>
                <a:ea typeface="Courier New" pitchFamily="34" charset="-122"/>
                <a:cs typeface="Courier New" pitchFamily="34" charset="-120"/>
              </a:rPr>
              <a:t>(mensagem) {</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E16D34"/>
                </a:solidFill>
                <a:latin typeface="Courier New" pitchFamily="34" charset="0"/>
                <a:ea typeface="Courier New" pitchFamily="34" charset="-122"/>
                <a:cs typeface="Courier New" pitchFamily="34" charset="-120"/>
              </a:rPr>
              <a:t>const</a:t>
            </a:r>
            <a:r>
              <a:rPr lang="en-US" sz="1500" b="1" dirty="0">
                <a:solidFill>
                  <a:srgbClr val="F0F0F0"/>
                </a:solidFill>
                <a:latin typeface="Courier New" pitchFamily="34" charset="0"/>
                <a:ea typeface="Courier New" pitchFamily="34" charset="-122"/>
                <a:cs typeface="Courier New" pitchFamily="34" charset="-120"/>
              </a:rPr>
              <a:t> entrada = </a:t>
            </a:r>
            <a:r>
              <a:rPr lang="en-US" sz="1500" b="1" dirty="0">
                <a:solidFill>
                  <a:srgbClr val="7CC4FF"/>
                </a:solidFill>
                <a:latin typeface="Courier New" pitchFamily="34" charset="0"/>
                <a:ea typeface="Courier New" pitchFamily="34" charset="-122"/>
                <a:cs typeface="Courier New" pitchFamily="34" charset="-120"/>
              </a:rPr>
              <a:t>prompt</a:t>
            </a:r>
            <a:r>
              <a:rPr lang="en-US" sz="1500" b="1" dirty="0">
                <a:solidFill>
                  <a:srgbClr val="F0F0F0"/>
                </a:solidFill>
                <a:latin typeface="Courier New" pitchFamily="34" charset="0"/>
                <a:ea typeface="Courier New" pitchFamily="34" charset="-122"/>
                <a:cs typeface="Courier New" pitchFamily="34" charset="-120"/>
              </a:rPr>
              <a:t>(mensagem).</a:t>
            </a:r>
            <a:r>
              <a:rPr lang="en-US" sz="1500" b="1" dirty="0">
                <a:solidFill>
                  <a:srgbClr val="7CC4FF"/>
                </a:solidFill>
                <a:latin typeface="Courier New" pitchFamily="34" charset="0"/>
                <a:ea typeface="Courier New" pitchFamily="34" charset="-122"/>
                <a:cs typeface="Courier New" pitchFamily="34" charset="-120"/>
              </a:rPr>
              <a:t>replace</a:t>
            </a:r>
            <a:r>
              <a:rPr lang="en-US" sz="1500" b="1" dirty="0">
                <a:solidFill>
                  <a:srgbClr val="F0F0F0"/>
                </a:solidFill>
                <a:latin typeface="Courier New" pitchFamily="34" charset="0"/>
                <a:ea typeface="Courier New" pitchFamily="34" charset="-122"/>
                <a:cs typeface="Courier New" pitchFamily="34" charset="-120"/>
              </a:rPr>
              <a:t>(</a:t>
            </a:r>
            <a:r>
              <a:rPr lang="en-US" sz="1500" b="1" dirty="0">
                <a:solidFill>
                  <a:srgbClr val="A8D8A8"/>
                </a:solidFill>
                <a:latin typeface="Courier New" pitchFamily="34" charset="0"/>
                <a:ea typeface="Courier New" pitchFamily="34" charset="-122"/>
                <a:cs typeface="Courier New" pitchFamily="34" charset="-120"/>
              </a:rPr>
              <a:t>','</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A8D8A8"/>
                </a:solidFill>
                <a:latin typeface="Courier New" pitchFamily="34" charset="0"/>
                <a:ea typeface="Courier New" pitchFamily="34" charset="-122"/>
                <a:cs typeface="Courier New" pitchFamily="34" charset="-120"/>
              </a:rPr>
              <a:t>'.'</a:t>
            </a:r>
            <a:r>
              <a:rPr lang="en-US" sz="1500" b="1" dirty="0">
                <a:solidFill>
                  <a:srgbClr val="F0F0F0"/>
                </a:solidFill>
                <a:latin typeface="Courier New" pitchFamily="34" charset="0"/>
                <a:ea typeface="Courier New" pitchFamily="34" charset="-122"/>
                <a:cs typeface="Courier New" pitchFamily="34" charset="-120"/>
              </a:rPr>
              <a:t>)</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E16D34"/>
                </a:solidFill>
                <a:latin typeface="Courier New" pitchFamily="34" charset="0"/>
                <a:ea typeface="Courier New" pitchFamily="34" charset="-122"/>
                <a:cs typeface="Courier New" pitchFamily="34" charset="-120"/>
              </a:rPr>
              <a:t>if</a:t>
            </a:r>
            <a:r>
              <a:rPr lang="en-US" sz="1500" b="1" dirty="0">
                <a:solidFill>
                  <a:srgbClr val="F0F0F0"/>
                </a:solidFill>
                <a:latin typeface="Courier New" pitchFamily="34" charset="0"/>
                <a:ea typeface="Courier New" pitchFamily="34" charset="-122"/>
                <a:cs typeface="Courier New" pitchFamily="34" charset="-120"/>
              </a:rPr>
              <a:t> (entrada.</a:t>
            </a:r>
            <a:r>
              <a:rPr lang="en-US" sz="1500" b="1" dirty="0">
                <a:solidFill>
                  <a:srgbClr val="7CC4FF"/>
                </a:solidFill>
                <a:latin typeface="Courier New" pitchFamily="34" charset="0"/>
                <a:ea typeface="Courier New" pitchFamily="34" charset="-122"/>
                <a:cs typeface="Courier New" pitchFamily="34" charset="-120"/>
              </a:rPr>
              <a:t>trim</a:t>
            </a:r>
            <a:r>
              <a:rPr lang="en-US" sz="1500" b="1" dirty="0">
                <a:solidFill>
                  <a:srgbClr val="F0F0F0"/>
                </a:solidFill>
                <a:latin typeface="Courier New" pitchFamily="34" charset="0"/>
                <a:ea typeface="Courier New" pitchFamily="34" charset="-122"/>
                <a:cs typeface="Courier New" pitchFamily="34" charset="-120"/>
              </a:rPr>
              <a:t>() === </a:t>
            </a:r>
            <a:r>
              <a:rPr lang="en-US" sz="1500" b="1" dirty="0">
                <a:solidFill>
                  <a:srgbClr val="A8D8A8"/>
                </a:solidFill>
                <a:latin typeface="Courier New" pitchFamily="34" charset="0"/>
                <a:ea typeface="Courier New" pitchFamily="34" charset="-122"/>
                <a:cs typeface="Courier New" pitchFamily="34" charset="-120"/>
              </a:rPr>
              <a:t>''</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E16D34"/>
                </a:solidFill>
                <a:latin typeface="Courier New" pitchFamily="34" charset="0"/>
                <a:ea typeface="Courier New" pitchFamily="34" charset="-122"/>
                <a:cs typeface="Courier New" pitchFamily="34" charset="-120"/>
              </a:rPr>
              <a:t>return</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F2C572"/>
                </a:solidFill>
                <a:latin typeface="Courier New" pitchFamily="34" charset="0"/>
                <a:ea typeface="Courier New" pitchFamily="34" charset="-122"/>
                <a:cs typeface="Courier New" pitchFamily="34" charset="-120"/>
              </a:rPr>
              <a:t>NaN</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E16D34"/>
                </a:solidFill>
                <a:latin typeface="Courier New" pitchFamily="34" charset="0"/>
                <a:ea typeface="Courier New" pitchFamily="34" charset="-122"/>
                <a:cs typeface="Courier New" pitchFamily="34" charset="-120"/>
              </a:rPr>
              <a:t>return</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7CC4FF"/>
                </a:solidFill>
                <a:latin typeface="Courier New" pitchFamily="34" charset="0"/>
                <a:ea typeface="Courier New" pitchFamily="34" charset="-122"/>
                <a:cs typeface="Courier New" pitchFamily="34" charset="-120"/>
              </a:rPr>
              <a:t>Number</a:t>
            </a:r>
            <a:r>
              <a:rPr lang="en-US" sz="1500" b="1" dirty="0">
                <a:solidFill>
                  <a:srgbClr val="F0F0F0"/>
                </a:solidFill>
                <a:latin typeface="Courier New" pitchFamily="34" charset="0"/>
                <a:ea typeface="Courier New" pitchFamily="34" charset="-122"/>
                <a:cs typeface="Courier New" pitchFamily="34" charset="-120"/>
              </a:rPr>
              <a:t>(entrada)</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a:t>
            </a:r>
            <a:endParaRPr lang="en-US" sz="1500" dirty="0"/>
          </a:p>
          <a:p>
            <a:pPr algn="l" indent="0" marL="0">
              <a:buNone/>
            </a:pPr>
            <a:r>
              <a:rPr lang="en-US" sz="1500" b="1" dirty="0">
                <a:solidFill>
                  <a:srgbClr val="E16D34"/>
                </a:solidFill>
                <a:latin typeface="Courier New" pitchFamily="34" charset="0"/>
                <a:ea typeface="Courier New" pitchFamily="34" charset="-122"/>
                <a:cs typeface="Courier New" pitchFamily="34" charset="-120"/>
              </a:rPr>
              <a:t>case</a:t>
            </a: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F2C572"/>
                </a:solidFill>
                <a:latin typeface="Courier New" pitchFamily="34" charset="0"/>
                <a:ea typeface="Courier New" pitchFamily="34" charset="-122"/>
                <a:cs typeface="Courier New" pitchFamily="34" charset="-120"/>
              </a:rPr>
              <a:t>1</a:t>
            </a:r>
            <a:r>
              <a:rPr lang="en-US" sz="1500" b="1" dirty="0">
                <a:solidFill>
                  <a:srgbClr val="F0F0F0"/>
                </a:solidFill>
                <a:latin typeface="Courier New" pitchFamily="34" charset="0"/>
                <a:ea typeface="Courier New" pitchFamily="34" charset="-122"/>
                <a:cs typeface="Courier New" pitchFamily="34" charset="-120"/>
              </a:rPr>
              <a:t>:</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num = </a:t>
            </a:r>
            <a:r>
              <a:rPr lang="en-US" sz="1500" b="1" dirty="0">
                <a:solidFill>
                  <a:srgbClr val="7CC4FF"/>
                </a:solidFill>
                <a:latin typeface="Courier New" pitchFamily="34" charset="0"/>
                <a:ea typeface="Courier New" pitchFamily="34" charset="-122"/>
                <a:cs typeface="Courier New" pitchFamily="34" charset="-120"/>
              </a:rPr>
              <a:t>lerNumero</a:t>
            </a:r>
            <a:r>
              <a:rPr lang="en-US" sz="1500" b="1" dirty="0">
                <a:solidFill>
                  <a:srgbClr val="F0F0F0"/>
                </a:solidFill>
                <a:latin typeface="Courier New" pitchFamily="34" charset="0"/>
                <a:ea typeface="Courier New" pitchFamily="34" charset="-122"/>
                <a:cs typeface="Courier New" pitchFamily="34" charset="-120"/>
              </a:rPr>
              <a:t>(</a:t>
            </a:r>
            <a:r>
              <a:rPr lang="en-US" sz="1500" b="1" dirty="0">
                <a:solidFill>
                  <a:srgbClr val="A8D8A8"/>
                </a:solidFill>
                <a:latin typeface="Courier New" pitchFamily="34" charset="0"/>
                <a:ea typeface="Courier New" pitchFamily="34" charset="-122"/>
                <a:cs typeface="Courier New" pitchFamily="34" charset="-120"/>
              </a:rPr>
              <a:t>'Digite o número para somar: '</a:t>
            </a:r>
            <a:r>
              <a:rPr lang="en-US" sz="1500" b="1" dirty="0">
                <a:solidFill>
                  <a:srgbClr val="F0F0F0"/>
                </a:solidFill>
                <a:latin typeface="Courier New" pitchFamily="34" charset="0"/>
                <a:ea typeface="Courier New" pitchFamily="34" charset="-122"/>
                <a:cs typeface="Courier New" pitchFamily="34" charset="-120"/>
              </a:rPr>
              <a:t>)</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a:t>
            </a:r>
            <a:r>
              <a:rPr lang="en-US" sz="1500" b="1" dirty="0">
                <a:solidFill>
                  <a:srgbClr val="E16D34"/>
                </a:solidFill>
                <a:latin typeface="Courier New" pitchFamily="34" charset="0"/>
                <a:ea typeface="Courier New" pitchFamily="34" charset="-122"/>
                <a:cs typeface="Courier New" pitchFamily="34" charset="-120"/>
              </a:rPr>
              <a:t>if</a:t>
            </a:r>
            <a:r>
              <a:rPr lang="en-US" sz="1500" b="1" dirty="0">
                <a:solidFill>
                  <a:srgbClr val="F0F0F0"/>
                </a:solidFill>
                <a:latin typeface="Courier New" pitchFamily="34" charset="0"/>
                <a:ea typeface="Courier New" pitchFamily="34" charset="-122"/>
                <a:cs typeface="Courier New" pitchFamily="34" charset="-120"/>
              </a:rPr>
              <a:t> (!Number.</a:t>
            </a:r>
            <a:r>
              <a:rPr lang="en-US" sz="1500" b="1" dirty="0">
                <a:solidFill>
                  <a:srgbClr val="7CC4FF"/>
                </a:solidFill>
                <a:latin typeface="Courier New" pitchFamily="34" charset="0"/>
                <a:ea typeface="Courier New" pitchFamily="34" charset="-122"/>
                <a:cs typeface="Courier New" pitchFamily="34" charset="-120"/>
              </a:rPr>
              <a:t>isFinite</a:t>
            </a:r>
            <a:r>
              <a:rPr lang="en-US" sz="1500" b="1" dirty="0">
                <a:solidFill>
                  <a:srgbClr val="F0F0F0"/>
                </a:solidFill>
                <a:latin typeface="Courier New" pitchFamily="34" charset="0"/>
                <a:ea typeface="Courier New" pitchFamily="34" charset="-122"/>
                <a:cs typeface="Courier New" pitchFamily="34" charset="-120"/>
              </a:rPr>
              <a:t>(num)) {</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console.</a:t>
            </a:r>
            <a:r>
              <a:rPr lang="en-US" sz="1500" b="1" dirty="0">
                <a:solidFill>
                  <a:srgbClr val="7CC4FF"/>
                </a:solidFill>
                <a:latin typeface="Courier New" pitchFamily="34" charset="0"/>
                <a:ea typeface="Courier New" pitchFamily="34" charset="-122"/>
                <a:cs typeface="Courier New" pitchFamily="34" charset="-120"/>
              </a:rPr>
              <a:t>log</a:t>
            </a:r>
            <a:r>
              <a:rPr lang="en-US" sz="1500" b="1" dirty="0">
                <a:solidFill>
                  <a:srgbClr val="F0F0F0"/>
                </a:solidFill>
                <a:latin typeface="Courier New" pitchFamily="34" charset="0"/>
                <a:ea typeface="Courier New" pitchFamily="34" charset="-122"/>
                <a:cs typeface="Courier New" pitchFamily="34" charset="-120"/>
              </a:rPr>
              <a:t>(</a:t>
            </a:r>
            <a:r>
              <a:rPr lang="en-US" sz="1500" b="1" dirty="0">
                <a:solidFill>
                  <a:srgbClr val="A8D8A8"/>
                </a:solidFill>
                <a:latin typeface="Courier New" pitchFamily="34" charset="0"/>
                <a:ea typeface="Courier New" pitchFamily="34" charset="-122"/>
                <a:cs typeface="Courier New" pitchFamily="34" charset="-120"/>
              </a:rPr>
              <a:t>'Da próxima vez digite um número correto!'</a:t>
            </a:r>
            <a:r>
              <a:rPr lang="en-US" sz="1500" b="1" dirty="0">
                <a:solidFill>
                  <a:srgbClr val="F0F0F0"/>
                </a:solidFill>
                <a:latin typeface="Courier New" pitchFamily="34" charset="0"/>
                <a:ea typeface="Courier New" pitchFamily="34" charset="-122"/>
                <a:cs typeface="Courier New" pitchFamily="34" charset="-120"/>
              </a:rPr>
              <a:t>)</a:t>
            </a:r>
            <a:endParaRPr lang="en-US" sz="1500" dirty="0"/>
          </a:p>
          <a:p>
            <a:pPr algn="l" indent="0" marL="0">
              <a:buNone/>
            </a:pPr>
            <a:r>
              <a:rPr lang="en-US" sz="1500" b="1" dirty="0">
                <a:solidFill>
                  <a:srgbClr val="F0F0F0"/>
                </a:solidFill>
                <a:latin typeface="Courier New" pitchFamily="34" charset="0"/>
                <a:ea typeface="Courier New" pitchFamily="34" charset="-122"/>
                <a:cs typeface="Courier New" pitchFamily="34" charset="-120"/>
              </a:rPr>
              <a:t>  } </a:t>
            </a:r>
            <a:r>
              <a:rPr lang="en-US" sz="1500" b="1" dirty="0">
                <a:solidFill>
                  <a:srgbClr val="E16D34"/>
                </a:solidFill>
                <a:latin typeface="Courier New" pitchFamily="34" charset="0"/>
                <a:ea typeface="Courier New" pitchFamily="34" charset="-122"/>
                <a:cs typeface="Courier New" pitchFamily="34" charset="-120"/>
              </a:rPr>
              <a:t>else</a:t>
            </a:r>
            <a:r>
              <a:rPr lang="en-US" sz="1500" b="1" dirty="0">
                <a:solidFill>
                  <a:srgbClr val="F0F0F0"/>
                </a:solidFill>
                <a:latin typeface="Courier New" pitchFamily="34" charset="0"/>
                <a:ea typeface="Courier New" pitchFamily="34" charset="-122"/>
                <a:cs typeface="Courier New" pitchFamily="34" charset="-120"/>
              </a:rPr>
              <a:t> { ... }</a:t>
            </a:r>
            <a:endParaRPr lang="en-US" sz="1500" dirty="0"/>
          </a:p>
        </p:txBody>
      </p:sp>
      <p:sp>
        <p:nvSpPr>
          <p:cNvPr id="7" name="Text 4"/>
          <p:cNvSpPr txBox="1"/>
          <p:nvPr/>
        </p:nvSpPr>
        <p:spPr>
          <a:xfrm>
            <a:off x="548640" y="4023360"/>
            <a:ext cx="8046720" cy="73152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A mesma validação se repetia em cinco cases. Uma função resolve de uma vez: é o princípio </a:t>
            </a:r>
            <a:r>
              <a:rPr lang="en-US" sz="1400" b="1" dirty="0">
                <a:solidFill>
                  <a:srgbClr val="FFFFFF"/>
                </a:solidFill>
                <a:latin typeface="Helvetica Neue" pitchFamily="34" charset="0"/>
                <a:ea typeface="Helvetica Neue" pitchFamily="34" charset="-122"/>
                <a:cs typeface="Helvetica Neue" pitchFamily="34" charset="-120"/>
              </a:rPr>
              <a:t>DRY</a:t>
            </a:r>
            <a:r>
              <a:rPr lang="en-US" sz="1400" b="1" dirty="0">
                <a:solidFill>
                  <a:srgbClr val="E16D34"/>
                </a:solidFill>
                <a:latin typeface="Helvetica Neue" pitchFamily="34" charset="0"/>
                <a:ea typeface="Helvetica Neue" pitchFamily="34" charset="-122"/>
                <a:cs typeface="Helvetica Neue" pitchFamily="34" charset="-120"/>
              </a:rPr>
              <a:t> (Don't Repeat Yourself). A calculadora do Módulo 5 no repositório usa essa versão.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Resultado com casas decimais</a:t>
            </a:r>
            <a:endParaRPr lang="en-US" sz="3000" dirty="0"/>
          </a:p>
        </p:txBody>
      </p:sp>
      <p:sp>
        <p:nvSpPr>
          <p:cNvPr id="5" name="Shape 2"/>
          <p:cNvSpPr/>
          <p:nvPr/>
        </p:nvSpPr>
        <p:spPr>
          <a:xfrm>
            <a:off x="411480" y="1549908"/>
            <a:ext cx="8321040" cy="2142744"/>
          </a:xfrm>
          <a:prstGeom prst="roundRect">
            <a:avLst>
              <a:gd name="adj" fmla="val 3414"/>
            </a:avLst>
          </a:prstGeom>
          <a:solidFill>
            <a:srgbClr val="121212"/>
          </a:solidFill>
          <a:ln w="9525">
            <a:solidFill>
              <a:srgbClr val="2E2E2E"/>
            </a:solidFill>
            <a:prstDash val="solid"/>
          </a:ln>
        </p:spPr>
      </p:sp>
      <p:sp>
        <p:nvSpPr>
          <p:cNvPr id="6" name="Text 3"/>
          <p:cNvSpPr txBox="1"/>
          <p:nvPr/>
        </p:nvSpPr>
        <p:spPr>
          <a:xfrm>
            <a:off x="557784" y="1666951"/>
            <a:ext cx="8028432" cy="1908658"/>
          </a:xfrm>
          <a:prstGeom prst="rect">
            <a:avLst/>
          </a:prstGeom>
          <a:noFill/>
          <a:ln/>
        </p:spPr>
        <p:txBody>
          <a:bodyPr wrap="square" lIns="0" tIns="0" rIns="0" bIns="0" rtlCol="0" anchor="t"/>
          <a:lstStyle/>
          <a:p>
            <a:pPr algn="l" indent="0" marL="0">
              <a:buNone/>
            </a:pPr>
            <a:r>
              <a:rPr lang="en-US" sz="1700" b="1" dirty="0">
                <a:solidFill>
                  <a:srgbClr val="F0F0F0"/>
                </a:solidFill>
                <a:latin typeface="Courier New" pitchFamily="34" charset="0"/>
                <a:ea typeface="Courier New" pitchFamily="34" charset="-122"/>
                <a:cs typeface="Courier New" pitchFamily="34" charset="-120"/>
              </a:rPr>
              <a:t>resultado = </a:t>
            </a:r>
            <a:r>
              <a:rPr lang="en-US" sz="1700" b="1" dirty="0">
                <a:solidFill>
                  <a:srgbClr val="7CC4FF"/>
                </a:solidFill>
                <a:latin typeface="Courier New" pitchFamily="34" charset="0"/>
                <a:ea typeface="Courier New" pitchFamily="34" charset="-122"/>
                <a:cs typeface="Courier New" pitchFamily="34" charset="-120"/>
              </a:rPr>
              <a:t>somar</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F2C572"/>
                </a:solidFill>
                <a:latin typeface="Courier New" pitchFamily="34" charset="0"/>
                <a:ea typeface="Courier New" pitchFamily="34" charset="-122"/>
                <a:cs typeface="Courier New" pitchFamily="34" charset="-120"/>
              </a:rPr>
              <a:t>0.1</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F2C572"/>
                </a:solidFill>
                <a:latin typeface="Courier New" pitchFamily="34" charset="0"/>
                <a:ea typeface="Courier New" pitchFamily="34" charset="-122"/>
                <a:cs typeface="Courier New" pitchFamily="34" charset="-120"/>
              </a:rPr>
              <a:t>0.2</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'Resultado: '</a:t>
            </a:r>
            <a:r>
              <a:rPr lang="en-US" sz="1700" b="1" dirty="0">
                <a:solidFill>
                  <a:srgbClr val="F0F0F0"/>
                </a:solidFill>
                <a:latin typeface="Courier New" pitchFamily="34" charset="0"/>
                <a:ea typeface="Courier New" pitchFamily="34" charset="-122"/>
                <a:cs typeface="Courier New" pitchFamily="34" charset="-120"/>
              </a:rPr>
              <a:t> + resultado)</a:t>
            </a:r>
            <a:endParaRPr lang="en-US" sz="1700" dirty="0"/>
          </a:p>
          <a:p>
            <a:pPr algn="l" indent="0" marL="0">
              <a:buNone/>
            </a:pPr>
            <a:r>
              <a:rPr lang="en-US" sz="1700" dirty="0">
                <a:solidFill>
                  <a:srgbClr val="8B8B8B"/>
                </a:solidFill>
                <a:latin typeface="Courier New" pitchFamily="34" charset="0"/>
                <a:ea typeface="Courier New" pitchFamily="34" charset="-122"/>
                <a:cs typeface="Courier New" pitchFamily="34" charset="-120"/>
              </a:rPr>
              <a:t>// Resultado: 0.30000000000000004</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'Resultado: '</a:t>
            </a:r>
            <a:r>
              <a:rPr lang="en-US" sz="1700" b="1" dirty="0">
                <a:solidFill>
                  <a:srgbClr val="F0F0F0"/>
                </a:solidFill>
                <a:latin typeface="Courier New" pitchFamily="34" charset="0"/>
                <a:ea typeface="Courier New" pitchFamily="34" charset="-122"/>
                <a:cs typeface="Courier New" pitchFamily="34" charset="-120"/>
              </a:rPr>
              <a:t> + resultado.</a:t>
            </a:r>
            <a:r>
              <a:rPr lang="en-US" sz="1700" b="1" dirty="0">
                <a:solidFill>
                  <a:srgbClr val="7CC4FF"/>
                </a:solidFill>
                <a:latin typeface="Courier New" pitchFamily="34" charset="0"/>
                <a:ea typeface="Courier New" pitchFamily="34" charset="-122"/>
                <a:cs typeface="Courier New" pitchFamily="34" charset="-120"/>
              </a:rPr>
              <a:t>toFixed</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F2C572"/>
                </a:solidFill>
                <a:latin typeface="Courier New" pitchFamily="34" charset="0"/>
                <a:ea typeface="Courier New" pitchFamily="34" charset="-122"/>
                <a:cs typeface="Courier New" pitchFamily="34" charset="-120"/>
              </a:rPr>
              <a:t>2</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dirty="0">
                <a:solidFill>
                  <a:srgbClr val="8B8B8B"/>
                </a:solidFill>
                <a:latin typeface="Courier New" pitchFamily="34" charset="0"/>
                <a:ea typeface="Courier New" pitchFamily="34" charset="-122"/>
                <a:cs typeface="Courier New" pitchFamily="34" charset="-120"/>
              </a:rPr>
              <a:t>// Resultado: 0.30</a:t>
            </a:r>
            <a:endParaRPr lang="en-US" sz="17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Arredonde só na hora de </a:t>
            </a:r>
            <a:r>
              <a:rPr lang="en-US" sz="1400" b="1" dirty="0">
                <a:solidFill>
                  <a:srgbClr val="FFFFFF"/>
                </a:solidFill>
                <a:latin typeface="Helvetica Neue" pitchFamily="34" charset="0"/>
                <a:ea typeface="Helvetica Neue" pitchFamily="34" charset="-122"/>
                <a:cs typeface="Helvetica Neue" pitchFamily="34" charset="-120"/>
              </a:rPr>
              <a:t>mostrar</a:t>
            </a:r>
            <a:r>
              <a:rPr lang="en-US" sz="1400" b="1" dirty="0">
                <a:solidFill>
                  <a:srgbClr val="E16D34"/>
                </a:solidFill>
                <a:latin typeface="Helvetica Neue" pitchFamily="34" charset="0"/>
                <a:ea typeface="Helvetica Neue" pitchFamily="34" charset="-122"/>
                <a:cs typeface="Helvetica Neue" pitchFamily="34" charset="-120"/>
              </a:rPr>
              <a:t>. A variável </a:t>
            </a:r>
            <a:r>
              <a:rPr lang="en-US" sz="1400" b="1" dirty="0">
                <a:solidFill>
                  <a:srgbClr val="F7A072"/>
                </a:solidFill>
                <a:latin typeface="Courier New" pitchFamily="34" charset="0"/>
                <a:ea typeface="Courier New" pitchFamily="34" charset="-122"/>
                <a:cs typeface="Courier New" pitchFamily="34" charset="-120"/>
              </a:rPr>
              <a:t>resultado</a:t>
            </a:r>
            <a:r>
              <a:rPr lang="en-US" sz="1400" b="1" dirty="0">
                <a:solidFill>
                  <a:srgbClr val="E16D34"/>
                </a:solidFill>
                <a:latin typeface="Helvetica Neue" pitchFamily="34" charset="0"/>
                <a:ea typeface="Helvetica Neue" pitchFamily="34" charset="-122"/>
                <a:cs typeface="Helvetica Neue" pitchFamily="34" charset="-120"/>
              </a:rPr>
              <a:t> continua com o valor completo para as próximas contas.</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Tente quebrar o seu programa</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914400" y="1051560"/>
          <a:ext cx="7315200" cy="914400"/>
        </p:xfrm>
        <a:graphic>
          <a:graphicData uri="http://schemas.openxmlformats.org/drawingml/2006/table">
            <a:tbl>
              <a:tblPr/>
              <a:tblGrid>
                <a:gridCol w="2011680"/>
                <a:gridCol w="3017520"/>
                <a:gridCol w="2286000"/>
              </a:tblGrid>
              <a:tr h="393192">
                <a:tc>
                  <a:txBody>
                    <a:bodyPr/>
                    <a:lstStyle/>
                    <a:p>
                      <a:pPr algn="ctr" indent="0" marL="0">
                        <a:buNone/>
                      </a:pPr>
                      <a:r>
                        <a:rPr lang="en-US" sz="1300" b="1" dirty="0">
                          <a:solidFill>
                            <a:srgbClr val="000000"/>
                          </a:solidFill>
                          <a:latin typeface="Helvetica Neue" pitchFamily="34" charset="0"/>
                          <a:ea typeface="Helvetica Neue" pitchFamily="34" charset="-122"/>
                          <a:cs typeface="Helvetica Neue" pitchFamily="34" charset="-120"/>
                        </a:rPr>
                        <a:t>Digite…</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E16D34"/>
                    </a:solidFill>
                  </a:tcPr>
                </a:tc>
                <a:tc>
                  <a:txBody>
                    <a:bodyPr/>
                    <a:lstStyle/>
                    <a:p>
                      <a:pPr algn="ctr" indent="0" marL="0">
                        <a:buNone/>
                      </a:pPr>
                      <a:r>
                        <a:rPr lang="en-US" sz="1300" b="1" dirty="0">
                          <a:solidFill>
                            <a:srgbClr val="000000"/>
                          </a:solidFill>
                          <a:latin typeface="Helvetica Neue" pitchFamily="34" charset="0"/>
                          <a:ea typeface="Helvetica Neue" pitchFamily="34" charset="-122"/>
                          <a:cs typeface="Helvetica Neue" pitchFamily="34" charset="-120"/>
                        </a:rPr>
                        <a:t>O que testa</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E16D34"/>
                    </a:solidFill>
                  </a:tcPr>
                </a:tc>
                <a:tc>
                  <a:txBody>
                    <a:bodyPr/>
                    <a:lstStyle/>
                    <a:p>
                      <a:pPr algn="ctr" indent="0" marL="0">
                        <a:buNone/>
                      </a:pPr>
                      <a:r>
                        <a:rPr lang="en-US" sz="1300" b="1" dirty="0">
                          <a:solidFill>
                            <a:srgbClr val="000000"/>
                          </a:solidFill>
                          <a:latin typeface="Helvetica Neue" pitchFamily="34" charset="0"/>
                          <a:ea typeface="Helvetica Neue" pitchFamily="34" charset="-122"/>
                          <a:cs typeface="Helvetica Neue" pitchFamily="34" charset="-120"/>
                        </a:rPr>
                        <a:t>Esperado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E16D34"/>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Enter vazio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Entrada vazia</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Aviso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abc</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Texto no lugar de número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Aviso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7,5</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Vírgula decimal</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7.5 ou aviso claro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0 na divisão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Regra de negócio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Aviso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-5</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Número negativo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Funciona</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1e999</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Número gigante</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Aviso</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r h="393192">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9 no menu</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Opção que não existe</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c>
                  <a:txBody>
                    <a:bodyP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Opção inválida</a:t>
                      </a:r>
                      <a:endParaRPr lang="en-US" sz="1300" dirty="0">
                        <a:latin typeface="Helvetica Neue" charset="0"/>
                        <a:ea typeface="Helvetica Neue" charset="0"/>
                        <a:cs typeface="Helvetica Neue" charset="0"/>
                      </a:endParaRPr>
                    </a:p>
                  </a:txBody>
                  <a:tcPr marL="36576" marR="36576"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1A1A1A"/>
                    </a:solidFill>
                  </a:tcPr>
                </a:tc>
              </a:tr>
            </a:tbl>
          </a:graphicData>
        </a:graphic>
      </p:graphicFrame>
      <p:sp>
        <p:nvSpPr>
          <p:cNvPr id="6" name="Text 2"/>
          <p:cNvSpPr txBox="1"/>
          <p:nvPr/>
        </p:nvSpPr>
        <p:spPr>
          <a:xfrm>
            <a:off x="731520" y="4315968"/>
            <a:ext cx="7680960" cy="3657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Testar é tentar fazer o programa </a:t>
            </a:r>
            <a:r>
              <a:rPr lang="en-US" sz="1400" b="1" dirty="0">
                <a:solidFill>
                  <a:srgbClr val="FFFFFF"/>
                </a:solidFill>
                <a:latin typeface="Helvetica Neue" pitchFamily="34" charset="0"/>
                <a:ea typeface="Helvetica Neue" pitchFamily="34" charset="-122"/>
                <a:cs typeface="Helvetica Neue" pitchFamily="34" charset="-120"/>
              </a:rPr>
              <a:t>falhar</a:t>
            </a:r>
            <a:r>
              <a:rPr lang="en-US" sz="1400" b="1" dirty="0">
                <a:solidFill>
                  <a:srgbClr val="E16D34"/>
                </a:solidFill>
                <a:latin typeface="Helvetica Neue" pitchFamily="34" charset="0"/>
                <a:ea typeface="Helvetica Neue" pitchFamily="34" charset="-122"/>
                <a:cs typeface="Helvetica Neue" pitchFamily="34" charset="-120"/>
              </a:rPr>
              <a:t>. Se ele sobreviver a tudo isso, está pronto.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16D34"/>
        </a:solidFill>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000000"/>
                </a:solidFill>
                <a:latin typeface="Montserrat" pitchFamily="34" charset="0"/>
                <a:ea typeface="Montserrat" pitchFamily="34" charset="-122"/>
                <a:cs typeface="Montserrat" pitchFamily="34" charset="-120"/>
              </a:rPr>
              <a:t>LIONS</a:t>
            </a:r>
            <a:r>
              <a:rPr lang="en-US" sz="800" b="1" spc="200" kern="0" dirty="0">
                <a:solidFill>
                  <a:srgbClr val="000000"/>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56032"/>
            <a:ext cx="5943600" cy="502920"/>
          </a:xfrm>
          <a:prstGeom prst="rect">
            <a:avLst/>
          </a:prstGeom>
          <a:noFill/>
          <a:ln/>
        </p:spPr>
        <p:txBody>
          <a:bodyPr wrap="square" lIns="0" tIns="0" rIns="0" bIns="0" rtlCol="0" anchor="ctr"/>
          <a:lstStyle/>
          <a:p>
            <a:pPr indent="0" marL="0">
              <a:buNone/>
            </a:pPr>
            <a:r>
              <a:rPr lang="en-US" sz="2400" b="1" dirty="0">
                <a:solidFill>
                  <a:srgbClr val="000000"/>
                </a:solidFill>
                <a:latin typeface="Helvetica Neue" pitchFamily="34" charset="0"/>
                <a:ea typeface="Helvetica Neue" pitchFamily="34" charset="-122"/>
                <a:cs typeface="Helvetica Neue" pitchFamily="34" charset="-120"/>
              </a:rPr>
              <a:t>Projeto Calculadora</a:t>
            </a:r>
            <a:endParaRPr lang="en-US" sz="2400" dirty="0"/>
          </a:p>
        </p:txBody>
      </p:sp>
      <p:sp>
        <p:nvSpPr>
          <p:cNvPr id="5" name="Text 2"/>
          <p:cNvSpPr txBox="1"/>
          <p:nvPr/>
        </p:nvSpPr>
        <p:spPr>
          <a:xfrm>
            <a:off x="6492240" y="329184"/>
            <a:ext cx="2194560" cy="365760"/>
          </a:xfrm>
          <a:prstGeom prst="roundRect">
            <a:avLst>
              <a:gd name="adj" fmla="val 50000"/>
            </a:avLst>
          </a:prstGeom>
          <a:solidFill>
            <a:srgbClr val="000000"/>
          </a:solidFill>
          <a:ln/>
        </p:spPr>
        <p:txBody>
          <a:bodyPr wrap="square" lIns="0" tIns="0" rIns="0" bIns="0" rtlCol="0" anchor="ctr"/>
          <a:lstStyle/>
          <a:p>
            <a:pPr algn="ctr" indent="0" marL="0">
              <a:buNone/>
            </a:pPr>
            <a:r>
              <a:rPr lang="en-US" sz="1200" b="1" dirty="0">
                <a:solidFill>
                  <a:srgbClr val="E16D34"/>
                </a:solidFill>
                <a:latin typeface="Helvetica Neue" pitchFamily="34" charset="0"/>
                <a:ea typeface="Helvetica Neue" pitchFamily="34" charset="-122"/>
                <a:cs typeface="Helvetica Neue" pitchFamily="34" charset="-120"/>
              </a:rPr>
              <a:t>Escopo mínimo</a:t>
            </a:r>
            <a:endParaRPr lang="en-US" sz="1200" dirty="0"/>
          </a:p>
        </p:txBody>
      </p:sp>
      <p:sp>
        <p:nvSpPr>
          <p:cNvPr id="6" name="Text 3"/>
          <p:cNvSpPr txBox="1"/>
          <p:nvPr/>
        </p:nvSpPr>
        <p:spPr>
          <a:xfrm>
            <a:off x="502920" y="932688"/>
            <a:ext cx="8138160" cy="563880"/>
          </a:xfrm>
          <a:prstGeom prst="rect">
            <a:avLst/>
          </a:prstGeom>
          <a:noFill/>
          <a:ln/>
        </p:spPr>
        <p:txBody>
          <a:bodyPr wrap="square" lIns="0" tIns="0" rIns="0" bIns="0" rtlCol="0" anchor="t"/>
          <a:lstStyle/>
          <a:p>
            <a:pPr algn="l" indent="0" marL="0">
              <a:buNone/>
            </a:pPr>
            <a:r>
              <a:rPr lang="en-US" sz="1700" b="1" dirty="0">
                <a:solidFill>
                  <a:srgbClr val="000000"/>
                </a:solidFill>
                <a:latin typeface="Helvetica Neue" pitchFamily="34" charset="0"/>
                <a:ea typeface="Helvetica Neue" pitchFamily="34" charset="-122"/>
                <a:cs typeface="Helvetica Neue" pitchFamily="34" charset="-120"/>
              </a:rPr>
              <a:t>O projeto só está completo quando </a:t>
            </a:r>
            <a:r>
              <a:rPr lang="en-US" sz="1700" b="1" dirty="0">
                <a:solidFill>
                  <a:srgbClr val="000000"/>
                </a:solidFill>
                <a:latin typeface="Helvetica Neue" pitchFamily="34" charset="0"/>
                <a:ea typeface="Helvetica Neue" pitchFamily="34" charset="-122"/>
                <a:cs typeface="Helvetica Neue" pitchFamily="34" charset="-120"/>
              </a:rPr>
              <a:t>todos</a:t>
            </a:r>
            <a:r>
              <a:rPr lang="en-US" sz="1700" b="1" dirty="0">
                <a:solidFill>
                  <a:srgbClr val="000000"/>
                </a:solidFill>
                <a:latin typeface="Helvetica Neue" pitchFamily="34" charset="0"/>
                <a:ea typeface="Helvetica Neue" pitchFamily="34" charset="-122"/>
                <a:cs typeface="Helvetica Neue" pitchFamily="34" charset="-120"/>
              </a:rPr>
              <a:t> os itens funcionam:</a:t>
            </a:r>
            <a:endParaRPr lang="en-US" sz="1700" dirty="0"/>
          </a:p>
        </p:txBody>
      </p:sp>
      <p:sp>
        <p:nvSpPr>
          <p:cNvPr id="7" name="Text 4"/>
          <p:cNvSpPr txBox="1"/>
          <p:nvPr/>
        </p:nvSpPr>
        <p:spPr>
          <a:xfrm>
            <a:off x="502920" y="1560576"/>
            <a:ext cx="8138160" cy="2308860"/>
          </a:xfrm>
          <a:prstGeom prst="rect">
            <a:avLst/>
          </a:prstGeom>
          <a:noFill/>
          <a:ln/>
        </p:spPr>
        <p:txBody>
          <a:bodyPr wrap="square" lIns="0" tIns="0" rIns="0" bIns="0" rtlCol="0" anchor="t"/>
          <a:lstStyle/>
          <a:p>
            <a:pPr algn="l" marL="342900" indent="-342900">
              <a:spcAft>
                <a:spcPts val="300"/>
              </a:spcAft>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Menu numérico que avisa quando a opção é inválida.</a:t>
            </a:r>
            <a:endParaRPr lang="en-US" sz="1700" dirty="0"/>
          </a:p>
          <a:p>
            <a:pPr algn="l" marL="342900" indent="-342900">
              <a:spcAft>
                <a:spcPts val="300"/>
              </a:spcAft>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Entrada que não é número gera aviso e não altera o resultado.</a:t>
            </a:r>
            <a:endParaRPr lang="en-US" sz="1700" dirty="0"/>
          </a:p>
          <a:p>
            <a:pPr algn="l" marL="342900" indent="-342900">
              <a:spcAft>
                <a:spcPts val="300"/>
              </a:spcAft>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O laço só termina quando o usuário escolhe sair.</a:t>
            </a:r>
            <a:endParaRPr lang="en-US" sz="1700" dirty="0"/>
          </a:p>
          <a:p>
            <a:pPr algn="l" marL="342900" indent="-342900">
              <a:spcAft>
                <a:spcPts val="300"/>
              </a:spcAft>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Existe a opção de ver o resultado acumulado.</a:t>
            </a:r>
            <a:endParaRPr lang="en-US" sz="1700" dirty="0"/>
          </a:p>
          <a:p>
            <a:pPr algn="l" marL="342900" indent="-342900">
              <a:spcAft>
                <a:spcPts val="300"/>
              </a:spcAft>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A divisão por zero mostra uma mensagem clara.</a:t>
            </a:r>
            <a:endParaRPr lang="en-US" sz="1700" dirty="0"/>
          </a:p>
          <a:p>
            <a:pPr algn="l" marL="342900" indent="-342900">
              <a:buSzPct val="100000"/>
              <a:buFont typeface="+mj-lt"/>
              <a:buAutoNum type="arabicPeriod" startAt="1"/>
            </a:pPr>
            <a:r>
              <a:rPr lang="en-US" sz="1700" b="1" dirty="0">
                <a:solidFill>
                  <a:srgbClr val="000000"/>
                </a:solidFill>
                <a:latin typeface="Helvetica Neue" pitchFamily="34" charset="0"/>
                <a:ea typeface="Helvetica Neue" pitchFamily="34" charset="-122"/>
                <a:cs typeface="Helvetica Neue" pitchFamily="34" charset="-120"/>
              </a:rPr>
              <a:t>Cada operação está na sua própria função, e o resultado acumula entre as operações.</a:t>
            </a:r>
            <a:endParaRPr lang="en-US" sz="1700" dirty="0"/>
          </a:p>
        </p:txBody>
      </p:sp>
      <p:sp>
        <p:nvSpPr>
          <p:cNvPr id="8" name="Shape 5"/>
          <p:cNvSpPr/>
          <p:nvPr/>
        </p:nvSpPr>
        <p:spPr>
          <a:xfrm>
            <a:off x="502920" y="4143756"/>
            <a:ext cx="8138160" cy="664464"/>
          </a:xfrm>
          <a:prstGeom prst="roundRect">
            <a:avLst>
              <a:gd name="adj" fmla="val 11009"/>
            </a:avLst>
          </a:prstGeom>
          <a:solidFill>
            <a:srgbClr val="000000"/>
          </a:solidFill>
          <a:ln w="9525">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649224" y="4293108"/>
            <a:ext cx="365760" cy="365760"/>
          </a:xfrm>
          <a:prstGeom prst="rect">
            <a:avLst/>
          </a:prstGeom>
        </p:spPr>
      </p:pic>
      <p:sp>
        <p:nvSpPr>
          <p:cNvPr id="10" name="Text 6"/>
          <p:cNvSpPr txBox="1"/>
          <p:nvPr/>
        </p:nvSpPr>
        <p:spPr>
          <a:xfrm>
            <a:off x="1143000" y="4235196"/>
            <a:ext cx="7360920" cy="481584"/>
          </a:xfrm>
          <a:prstGeom prst="rect">
            <a:avLst/>
          </a:prstGeom>
          <a:noFill/>
          <a:ln/>
        </p:spPr>
        <p:txBody>
          <a:bodyPr wrap="square" lIns="0" tIns="0" rIns="0" bIns="0" rtlCol="0" anchor="ctr"/>
          <a:lstStyle/>
          <a:p>
            <a:pPr algn="l" indent="0" marL="0">
              <a:buNone/>
            </a:pPr>
            <a:r>
              <a:rPr lang="en-US" sz="1400" b="1" dirty="0">
                <a:solidFill>
                  <a:srgbClr val="E16D34"/>
                </a:solidFill>
                <a:latin typeface="Helvetica Neue" pitchFamily="34" charset="0"/>
                <a:ea typeface="Helvetica Neue" pitchFamily="34" charset="-122"/>
                <a:cs typeface="Helvetica Neue" pitchFamily="34" charset="-120"/>
              </a:rPr>
              <a:t>Dica: </a:t>
            </a:r>
            <a:r>
              <a:rPr lang="en-US" sz="1400" b="1" dirty="0">
                <a:solidFill>
                  <a:srgbClr val="FFFFFF"/>
                </a:solidFill>
                <a:latin typeface="Helvetica Neue" pitchFamily="34" charset="0"/>
                <a:ea typeface="Helvetica Neue" pitchFamily="34" charset="-122"/>
                <a:cs typeface="Helvetica Neue" pitchFamily="34" charset="-120"/>
              </a:rPr>
              <a:t>o código feito em aula está no repositório, em </a:t>
            </a:r>
            <a:r>
              <a:rPr lang="en-US" sz="1400" b="1" dirty="0">
                <a:solidFill>
                  <a:srgbClr val="FFFFFF"/>
                </a:solidFill>
                <a:latin typeface="Courier New" pitchFamily="34" charset="0"/>
                <a:ea typeface="Courier New" pitchFamily="34" charset="-122"/>
                <a:cs typeface="Courier New" pitchFamily="34" charset="-120"/>
              </a:rPr>
              <a:t>modulo03/exercicios_slides/calculadora.js</a:t>
            </a: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000000"/>
                </a:solidFill>
                <a:latin typeface="Helvetica Neue"/>
                <a:ea typeface="Helvetica Neue"/>
                <a:cs typeface="Helvetica Neue"/>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Indo além (opcional)</a:t>
            </a:r>
            <a:endParaRPr lang="en-US" sz="3000" dirty="0"/>
          </a:p>
        </p:txBody>
      </p:sp>
      <p:sp>
        <p:nvSpPr>
          <p:cNvPr id="5" name="Shape 2"/>
          <p:cNvSpPr/>
          <p:nvPr/>
        </p:nvSpPr>
        <p:spPr>
          <a:xfrm>
            <a:off x="411480" y="1219200"/>
            <a:ext cx="4023360" cy="1258824"/>
          </a:xfrm>
          <a:prstGeom prst="roundRect">
            <a:avLst>
              <a:gd name="adj" fmla="val 7264"/>
            </a:avLst>
          </a:prstGeom>
          <a:solidFill>
            <a:srgbClr val="1A1A1A"/>
          </a:solidFill>
          <a:ln w="6350">
            <a:solidFill>
              <a:srgbClr val="1A1A1A"/>
            </a:solidFill>
            <a:prstDash val="solid"/>
          </a:ln>
        </p:spPr>
      </p:sp>
      <p:pic>
        <p:nvPicPr>
          <p:cNvPr id="6" name="Image 0" descr="preencoded.png">    </p:cNvPr>
          <p:cNvPicPr>
            <a:picLocks noChangeAspect="1"/>
          </p:cNvPicPr>
          <p:nvPr/>
        </p:nvPicPr>
        <p:blipFill>
          <a:blip r:embed="rId2"/>
          <a:stretch>
            <a:fillRect/>
          </a:stretch>
        </p:blipFill>
        <p:spPr>
          <a:xfrm>
            <a:off x="594360" y="1402080"/>
            <a:ext cx="384048" cy="384048"/>
          </a:xfrm>
          <a:prstGeom prst="rect">
            <a:avLst/>
          </a:prstGeom>
        </p:spPr>
      </p:pic>
      <p:sp>
        <p:nvSpPr>
          <p:cNvPr id="7" name="Text 3"/>
          <p:cNvSpPr txBox="1"/>
          <p:nvPr/>
        </p:nvSpPr>
        <p:spPr>
          <a:xfrm>
            <a:off x="1106424" y="1402080"/>
            <a:ext cx="3145536" cy="384048"/>
          </a:xfrm>
          <a:prstGeom prst="rect">
            <a:avLst/>
          </a:prstGeom>
          <a:noFill/>
          <a:ln/>
        </p:spPr>
        <p:txBody>
          <a:bodyPr wrap="square" lIns="0" tIns="0" rIns="0" bIns="0" rtlCol="0" anchor="ctr"/>
          <a:lstStyle/>
          <a:p>
            <a:pPr algn="l" indent="0" marL="0">
              <a:buNone/>
            </a:pPr>
            <a:r>
              <a:rPr lang="en-US" sz="1550" b="1" dirty="0">
                <a:solidFill>
                  <a:srgbClr val="E16D34"/>
                </a:solidFill>
                <a:latin typeface="Helvetica Neue" pitchFamily="34" charset="0"/>
                <a:ea typeface="Helvetica Neue" pitchFamily="34" charset="-122"/>
                <a:cs typeface="Helvetica Neue" pitchFamily="34" charset="-120"/>
              </a:rPr>
              <a:t>Pitágoras</a:t>
            </a:r>
            <a:endParaRPr lang="en-US" sz="1550" dirty="0"/>
          </a:p>
        </p:txBody>
      </p:sp>
      <p:sp>
        <p:nvSpPr>
          <p:cNvPr id="8" name="Text 4"/>
          <p:cNvSpPr txBox="1"/>
          <p:nvPr/>
        </p:nvSpPr>
        <p:spPr>
          <a:xfrm>
            <a:off x="594360" y="1877568"/>
            <a:ext cx="3657600" cy="417576"/>
          </a:xfrm>
          <a:prstGeom prst="rect">
            <a:avLst/>
          </a:prstGeom>
          <a:noFill/>
          <a:ln/>
        </p:spPr>
        <p:txBody>
          <a:bodyPr wrap="square" lIns="0" tIns="0" rIns="0" bIns="0" rtlCol="0" anchor="t"/>
          <a:lstStyle/>
          <a:p>
            <a:pPr algn="l" indent="0" marL="0">
              <a:buNone/>
            </a:pPr>
            <a:r>
              <a:rPr lang="en-US" sz="1250" b="1" dirty="0">
                <a:solidFill>
                  <a:srgbClr val="E6E6E6"/>
                </a:solidFill>
                <a:latin typeface="Helvetica Neue" pitchFamily="34" charset="0"/>
                <a:ea typeface="Helvetica Neue" pitchFamily="34" charset="-122"/>
                <a:cs typeface="Helvetica Neue" pitchFamily="34" charset="-120"/>
              </a:rPr>
              <a:t>Hipotenusa a partir de dois catetos: </a:t>
            </a:r>
            <a:r>
              <a:rPr lang="en-US" sz="1250" b="1" dirty="0">
                <a:solidFill>
                  <a:srgbClr val="F7A072"/>
                </a:solidFill>
                <a:latin typeface="Courier New" pitchFamily="34" charset="0"/>
                <a:ea typeface="Courier New" pitchFamily="34" charset="-122"/>
                <a:cs typeface="Courier New" pitchFamily="34" charset="-120"/>
              </a:rPr>
              <a:t>Math.sqrt(a * a + b * b)</a:t>
            </a:r>
            <a:r>
              <a:rPr lang="en-US" sz="1250" b="1" dirty="0">
                <a:solidFill>
                  <a:srgbClr val="E6E6E6"/>
                </a:solidFill>
                <a:latin typeface="Helvetica Neue" pitchFamily="34" charset="0"/>
                <a:ea typeface="Helvetica Neue" pitchFamily="34" charset="-122"/>
                <a:cs typeface="Helvetica Neue" pitchFamily="34" charset="-120"/>
              </a:rPr>
              <a:t>.</a:t>
            </a:r>
            <a:endParaRPr lang="en-US" sz="1250" dirty="0"/>
          </a:p>
        </p:txBody>
      </p:sp>
      <p:sp>
        <p:nvSpPr>
          <p:cNvPr id="9" name="Shape 5"/>
          <p:cNvSpPr/>
          <p:nvPr/>
        </p:nvSpPr>
        <p:spPr>
          <a:xfrm>
            <a:off x="4709160" y="1219200"/>
            <a:ext cx="4023360" cy="1258824"/>
          </a:xfrm>
          <a:prstGeom prst="roundRect">
            <a:avLst>
              <a:gd name="adj" fmla="val 7264"/>
            </a:avLst>
          </a:prstGeom>
          <a:solidFill>
            <a:srgbClr val="1A1A1A"/>
          </a:solidFill>
          <a:ln w="6350">
            <a:solidFill>
              <a:srgbClr val="1A1A1A"/>
            </a:solidFill>
            <a:prstDash val="solid"/>
          </a:ln>
        </p:spPr>
      </p:sp>
      <p:pic>
        <p:nvPicPr>
          <p:cNvPr id="10" name="Image 1" descr="preencoded.png">    </p:cNvPr>
          <p:cNvPicPr>
            <a:picLocks noChangeAspect="1"/>
          </p:cNvPicPr>
          <p:nvPr/>
        </p:nvPicPr>
        <p:blipFill>
          <a:blip r:embed="rId3"/>
          <a:stretch>
            <a:fillRect/>
          </a:stretch>
        </p:blipFill>
        <p:spPr>
          <a:xfrm>
            <a:off x="4892040" y="1402080"/>
            <a:ext cx="384048" cy="384048"/>
          </a:xfrm>
          <a:prstGeom prst="rect">
            <a:avLst/>
          </a:prstGeom>
        </p:spPr>
      </p:pic>
      <p:sp>
        <p:nvSpPr>
          <p:cNvPr id="11" name="Text 6"/>
          <p:cNvSpPr txBox="1"/>
          <p:nvPr/>
        </p:nvSpPr>
        <p:spPr>
          <a:xfrm>
            <a:off x="5404104" y="1402080"/>
            <a:ext cx="3145536" cy="384048"/>
          </a:xfrm>
          <a:prstGeom prst="rect">
            <a:avLst/>
          </a:prstGeom>
          <a:noFill/>
          <a:ln/>
        </p:spPr>
        <p:txBody>
          <a:bodyPr wrap="square" lIns="0" tIns="0" rIns="0" bIns="0" rtlCol="0" anchor="ctr"/>
          <a:lstStyle/>
          <a:p>
            <a:pPr algn="l" indent="0" marL="0">
              <a:buNone/>
            </a:pPr>
            <a:r>
              <a:rPr lang="en-US" sz="1550" b="1" dirty="0">
                <a:solidFill>
                  <a:srgbClr val="FFFFFF"/>
                </a:solidFill>
                <a:latin typeface="Helvetica Neue" pitchFamily="34" charset="0"/>
                <a:ea typeface="Helvetica Neue" pitchFamily="34" charset="-122"/>
                <a:cs typeface="Helvetica Neue" pitchFamily="34" charset="-120"/>
              </a:rPr>
              <a:t>Potência e raiz</a:t>
            </a:r>
            <a:endParaRPr lang="en-US" sz="1550" dirty="0"/>
          </a:p>
        </p:txBody>
      </p:sp>
      <p:sp>
        <p:nvSpPr>
          <p:cNvPr id="12" name="Text 7"/>
          <p:cNvSpPr txBox="1"/>
          <p:nvPr/>
        </p:nvSpPr>
        <p:spPr>
          <a:xfrm>
            <a:off x="4892040" y="1877568"/>
            <a:ext cx="3657600" cy="227076"/>
          </a:xfrm>
          <a:prstGeom prst="rect">
            <a:avLst/>
          </a:prstGeom>
          <a:noFill/>
          <a:ln/>
        </p:spPr>
        <p:txBody>
          <a:bodyPr wrap="square" lIns="0" tIns="0" rIns="0" bIns="0" rtlCol="0" anchor="t"/>
          <a:lstStyle/>
          <a:p>
            <a:pPr algn="l" indent="0" marL="0">
              <a:buNone/>
            </a:pPr>
            <a:r>
              <a:rPr lang="en-US" sz="1250" b="1" dirty="0">
                <a:solidFill>
                  <a:srgbClr val="E6E6E6"/>
                </a:solidFill>
                <a:latin typeface="Helvetica Neue" pitchFamily="34" charset="0"/>
                <a:ea typeface="Helvetica Neue" pitchFamily="34" charset="-122"/>
                <a:cs typeface="Helvetica Neue" pitchFamily="34" charset="-120"/>
              </a:rPr>
              <a:t>Com </a:t>
            </a:r>
            <a:r>
              <a:rPr lang="en-US" sz="1250" b="1" dirty="0">
                <a:solidFill>
                  <a:srgbClr val="F7A072"/>
                </a:solidFill>
                <a:latin typeface="Courier New" pitchFamily="34" charset="0"/>
                <a:ea typeface="Courier New" pitchFamily="34" charset="-122"/>
                <a:cs typeface="Courier New" pitchFamily="34" charset="-120"/>
              </a:rPr>
              <a:t>Math.pow</a:t>
            </a:r>
            <a:r>
              <a:rPr lang="en-US" sz="1250" b="1" dirty="0">
                <a:solidFill>
                  <a:srgbClr val="E6E6E6"/>
                </a:solidFill>
                <a:latin typeface="Helvetica Neue" pitchFamily="34" charset="0"/>
                <a:ea typeface="Helvetica Neue" pitchFamily="34" charset="-122"/>
                <a:cs typeface="Helvetica Neue" pitchFamily="34" charset="-120"/>
              </a:rPr>
              <a:t> e </a:t>
            </a:r>
            <a:r>
              <a:rPr lang="en-US" sz="1250" b="1" dirty="0">
                <a:solidFill>
                  <a:srgbClr val="F7A072"/>
                </a:solidFill>
                <a:latin typeface="Courier New" pitchFamily="34" charset="0"/>
                <a:ea typeface="Courier New" pitchFamily="34" charset="-122"/>
                <a:cs typeface="Courier New" pitchFamily="34" charset="-120"/>
              </a:rPr>
              <a:t>Math.sqrt</a:t>
            </a:r>
            <a:r>
              <a:rPr lang="en-US" sz="1250" b="1" dirty="0">
                <a:solidFill>
                  <a:srgbClr val="E6E6E6"/>
                </a:solidFill>
                <a:latin typeface="Helvetica Neue" pitchFamily="34" charset="0"/>
                <a:ea typeface="Helvetica Neue" pitchFamily="34" charset="-122"/>
                <a:cs typeface="Helvetica Neue" pitchFamily="34" charset="-120"/>
              </a:rPr>
              <a:t>.</a:t>
            </a:r>
            <a:endParaRPr lang="en-US" sz="1250" dirty="0"/>
          </a:p>
        </p:txBody>
      </p:sp>
      <p:sp>
        <p:nvSpPr>
          <p:cNvPr id="13" name="Shape 8"/>
          <p:cNvSpPr/>
          <p:nvPr/>
        </p:nvSpPr>
        <p:spPr>
          <a:xfrm>
            <a:off x="411480" y="2679192"/>
            <a:ext cx="4023360" cy="1258824"/>
          </a:xfrm>
          <a:prstGeom prst="roundRect">
            <a:avLst>
              <a:gd name="adj" fmla="val 7264"/>
            </a:avLst>
          </a:prstGeom>
          <a:solidFill>
            <a:srgbClr val="1A1A1A"/>
          </a:solidFill>
          <a:ln w="6350">
            <a:solidFill>
              <a:srgbClr val="1A1A1A"/>
            </a:solidFill>
            <a:prstDash val="solid"/>
          </a:ln>
        </p:spPr>
      </p:sp>
      <p:pic>
        <p:nvPicPr>
          <p:cNvPr id="14" name="Image 2" descr="preencoded.png">    </p:cNvPr>
          <p:cNvPicPr>
            <a:picLocks noChangeAspect="1"/>
          </p:cNvPicPr>
          <p:nvPr/>
        </p:nvPicPr>
        <p:blipFill>
          <a:blip r:embed="rId4"/>
          <a:stretch>
            <a:fillRect/>
          </a:stretch>
        </p:blipFill>
        <p:spPr>
          <a:xfrm>
            <a:off x="594360" y="2862072"/>
            <a:ext cx="384048" cy="384048"/>
          </a:xfrm>
          <a:prstGeom prst="rect">
            <a:avLst/>
          </a:prstGeom>
        </p:spPr>
      </p:pic>
      <p:sp>
        <p:nvSpPr>
          <p:cNvPr id="15" name="Text 9"/>
          <p:cNvSpPr txBox="1"/>
          <p:nvPr/>
        </p:nvSpPr>
        <p:spPr>
          <a:xfrm>
            <a:off x="1106424" y="2862072"/>
            <a:ext cx="3145536" cy="384048"/>
          </a:xfrm>
          <a:prstGeom prst="rect">
            <a:avLst/>
          </a:prstGeom>
          <a:noFill/>
          <a:ln/>
        </p:spPr>
        <p:txBody>
          <a:bodyPr wrap="square" lIns="0" tIns="0" rIns="0" bIns="0" rtlCol="0" anchor="ctr"/>
          <a:lstStyle/>
          <a:p>
            <a:pPr algn="l" indent="0" marL="0">
              <a:buNone/>
            </a:pPr>
            <a:r>
              <a:rPr lang="en-US" sz="1550" b="1" dirty="0">
                <a:solidFill>
                  <a:srgbClr val="F7A072"/>
                </a:solidFill>
                <a:latin typeface="Helvetica Neue" pitchFamily="34" charset="0"/>
                <a:ea typeface="Helvetica Neue" pitchFamily="34" charset="-122"/>
                <a:cs typeface="Helvetica Neue" pitchFamily="34" charset="-120"/>
              </a:rPr>
              <a:t>Limite e derivada</a:t>
            </a:r>
            <a:endParaRPr lang="en-US" sz="1550" dirty="0"/>
          </a:p>
        </p:txBody>
      </p:sp>
      <p:sp>
        <p:nvSpPr>
          <p:cNvPr id="16" name="Text 10"/>
          <p:cNvSpPr txBox="1"/>
          <p:nvPr/>
        </p:nvSpPr>
        <p:spPr>
          <a:xfrm>
            <a:off x="594360" y="3337560"/>
            <a:ext cx="3657600" cy="417576"/>
          </a:xfrm>
          <a:prstGeom prst="rect">
            <a:avLst/>
          </a:prstGeom>
          <a:noFill/>
          <a:ln/>
        </p:spPr>
        <p:txBody>
          <a:bodyPr wrap="square" lIns="0" tIns="0" rIns="0" bIns="0" rtlCol="0" anchor="t"/>
          <a:lstStyle/>
          <a:p>
            <a:pPr algn="l" indent="0" marL="0">
              <a:buNone/>
            </a:pPr>
            <a:r>
              <a:rPr lang="en-US" sz="1250" b="1" dirty="0">
                <a:solidFill>
                  <a:srgbClr val="E6E6E6"/>
                </a:solidFill>
                <a:latin typeface="Helvetica Neue" pitchFamily="34" charset="0"/>
                <a:ea typeface="Helvetica Neue" pitchFamily="34" charset="-122"/>
                <a:cs typeface="Helvetica Neue" pitchFamily="34" charset="-120"/>
              </a:rPr>
              <a:t>Aproximações numéricas, com valores cada vez mais próximos do ponto.</a:t>
            </a:r>
            <a:endParaRPr lang="en-US" sz="1250" dirty="0"/>
          </a:p>
        </p:txBody>
      </p:sp>
      <p:sp>
        <p:nvSpPr>
          <p:cNvPr id="17" name="Shape 11"/>
          <p:cNvSpPr/>
          <p:nvPr/>
        </p:nvSpPr>
        <p:spPr>
          <a:xfrm>
            <a:off x="4709160" y="2679192"/>
            <a:ext cx="4023360" cy="1258824"/>
          </a:xfrm>
          <a:prstGeom prst="roundRect">
            <a:avLst>
              <a:gd name="adj" fmla="val 7264"/>
            </a:avLst>
          </a:prstGeom>
          <a:solidFill>
            <a:srgbClr val="1A1A1A"/>
          </a:solidFill>
          <a:ln w="6350">
            <a:solidFill>
              <a:srgbClr val="1A1A1A"/>
            </a:solidFill>
            <a:prstDash val="solid"/>
          </a:ln>
        </p:spPr>
      </p:sp>
      <p:pic>
        <p:nvPicPr>
          <p:cNvPr id="18" name="Image 3" descr="preencoded.png">    </p:cNvPr>
          <p:cNvPicPr>
            <a:picLocks noChangeAspect="1"/>
          </p:cNvPicPr>
          <p:nvPr/>
        </p:nvPicPr>
        <p:blipFill>
          <a:blip r:embed="rId5"/>
          <a:stretch>
            <a:fillRect/>
          </a:stretch>
        </p:blipFill>
        <p:spPr>
          <a:xfrm>
            <a:off x="4892040" y="2862072"/>
            <a:ext cx="384048" cy="384048"/>
          </a:xfrm>
          <a:prstGeom prst="rect">
            <a:avLst/>
          </a:prstGeom>
        </p:spPr>
      </p:pic>
      <p:sp>
        <p:nvSpPr>
          <p:cNvPr id="19" name="Text 12"/>
          <p:cNvSpPr txBox="1"/>
          <p:nvPr/>
        </p:nvSpPr>
        <p:spPr>
          <a:xfrm>
            <a:off x="5404104" y="2862072"/>
            <a:ext cx="3145536" cy="384048"/>
          </a:xfrm>
          <a:prstGeom prst="rect">
            <a:avLst/>
          </a:prstGeom>
          <a:noFill/>
          <a:ln/>
        </p:spPr>
        <p:txBody>
          <a:bodyPr wrap="square" lIns="0" tIns="0" rIns="0" bIns="0" rtlCol="0" anchor="ctr"/>
          <a:lstStyle/>
          <a:p>
            <a:pPr algn="l" indent="0" marL="0">
              <a:buNone/>
            </a:pPr>
            <a:r>
              <a:rPr lang="en-US" sz="1550" b="1" dirty="0">
                <a:solidFill>
                  <a:srgbClr val="F85149"/>
                </a:solidFill>
                <a:latin typeface="Helvetica Neue" pitchFamily="34" charset="0"/>
                <a:ea typeface="Helvetica Neue" pitchFamily="34" charset="-122"/>
                <a:cs typeface="Helvetica Neue" pitchFamily="34" charset="-120"/>
              </a:rPr>
              <a:t>Ideias suas</a:t>
            </a:r>
            <a:endParaRPr lang="en-US" sz="1550" dirty="0"/>
          </a:p>
        </p:txBody>
      </p:sp>
      <p:sp>
        <p:nvSpPr>
          <p:cNvPr id="20" name="Text 13"/>
          <p:cNvSpPr txBox="1"/>
          <p:nvPr/>
        </p:nvSpPr>
        <p:spPr>
          <a:xfrm>
            <a:off x="4892040" y="3337560"/>
            <a:ext cx="3657600" cy="417576"/>
          </a:xfrm>
          <a:prstGeom prst="rect">
            <a:avLst/>
          </a:prstGeom>
          <a:noFill/>
          <a:ln/>
        </p:spPr>
        <p:txBody>
          <a:bodyPr wrap="square" lIns="0" tIns="0" rIns="0" bIns="0" rtlCol="0" anchor="t"/>
          <a:lstStyle/>
          <a:p>
            <a:pPr algn="l" indent="0" marL="0">
              <a:buNone/>
            </a:pPr>
            <a:r>
              <a:rPr lang="en-US" sz="1250" b="1" dirty="0">
                <a:solidFill>
                  <a:srgbClr val="E6E6E6"/>
                </a:solidFill>
                <a:latin typeface="Helvetica Neue" pitchFamily="34" charset="0"/>
                <a:ea typeface="Helvetica Neue" pitchFamily="34" charset="-122"/>
                <a:cs typeface="Helvetica Neue" pitchFamily="34" charset="-120"/>
              </a:rPr>
              <a:t>Média, fatorial, conversão de unidades…</a:t>
            </a:r>
            <a:endParaRPr lang="en-US" sz="1250" dirty="0"/>
          </a:p>
        </p:txBody>
      </p:sp>
      <p:sp>
        <p:nvSpPr>
          <p:cNvPr id="21" name="Text 14"/>
          <p:cNvSpPr txBox="1"/>
          <p:nvPr/>
        </p:nvSpPr>
        <p:spPr>
          <a:xfrm>
            <a:off x="640080" y="4187952"/>
            <a:ext cx="7863840" cy="566928"/>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Só depois que o escopo mínimo estiver funcionando. Cada extra segue o padrão: função, validação e um case no switch.</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Lista de exercícios</a:t>
            </a:r>
            <a:endParaRPr lang="en-US" sz="3000" dirty="0"/>
          </a:p>
        </p:txBody>
      </p:sp>
      <p:pic>
        <p:nvPicPr>
          <p:cNvPr id="5" name="Image 0" descr="preencoded.png">    </p:cNvPr>
          <p:cNvPicPr>
            <a:picLocks noChangeAspect="1"/>
          </p:cNvPicPr>
          <p:nvPr/>
        </p:nvPicPr>
        <p:blipFill>
          <a:blip r:embed="rId2"/>
          <a:stretch>
            <a:fillRect/>
          </a:stretch>
        </p:blipFill>
        <p:spPr>
          <a:xfrm>
            <a:off x="685800" y="1252728"/>
            <a:ext cx="502920" cy="502920"/>
          </a:xfrm>
          <a:prstGeom prst="rect">
            <a:avLst/>
          </a:prstGeom>
        </p:spPr>
      </p:pic>
      <p:sp>
        <p:nvSpPr>
          <p:cNvPr id="6" name="Text 2"/>
          <p:cNvSpPr txBox="1"/>
          <p:nvPr/>
        </p:nvSpPr>
        <p:spPr>
          <a:xfrm>
            <a:off x="1463040" y="1234440"/>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Parte 0: aquecimento</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Funções, validações e switch em peças soltas.</a:t>
            </a:r>
            <a:endParaRPr lang="en-US" sz="1650" dirty="0"/>
          </a:p>
        </p:txBody>
      </p:sp>
      <p:pic>
        <p:nvPicPr>
          <p:cNvPr id="7" name="Image 1" descr="preencoded.png">    </p:cNvPr>
          <p:cNvPicPr>
            <a:picLocks noChangeAspect="1"/>
          </p:cNvPicPr>
          <p:nvPr/>
        </p:nvPicPr>
        <p:blipFill>
          <a:blip r:embed="rId3"/>
          <a:stretch>
            <a:fillRect/>
          </a:stretch>
        </p:blipFill>
        <p:spPr>
          <a:xfrm>
            <a:off x="685800" y="1975104"/>
            <a:ext cx="502920" cy="502920"/>
          </a:xfrm>
          <a:prstGeom prst="rect">
            <a:avLst/>
          </a:prstGeom>
        </p:spPr>
      </p:pic>
      <p:sp>
        <p:nvSpPr>
          <p:cNvPr id="8" name="Text 3"/>
          <p:cNvSpPr txBox="1"/>
          <p:nvPr/>
        </p:nvSpPr>
        <p:spPr>
          <a:xfrm>
            <a:off x="1463040" y="1956816"/>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Parte 1: complete o código</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Validador de número e operações com switch.</a:t>
            </a:r>
            <a:endParaRPr lang="en-US" sz="1650" dirty="0"/>
          </a:p>
        </p:txBody>
      </p:sp>
      <p:pic>
        <p:nvPicPr>
          <p:cNvPr id="9" name="Image 2" descr="preencoded.png">    </p:cNvPr>
          <p:cNvPicPr>
            <a:picLocks noChangeAspect="1"/>
          </p:cNvPicPr>
          <p:nvPr/>
        </p:nvPicPr>
        <p:blipFill>
          <a:blip r:embed="rId4"/>
          <a:stretch>
            <a:fillRect/>
          </a:stretch>
        </p:blipFill>
        <p:spPr>
          <a:xfrm>
            <a:off x="685800" y="2697480"/>
            <a:ext cx="502920" cy="502920"/>
          </a:xfrm>
          <a:prstGeom prst="rect">
            <a:avLst/>
          </a:prstGeom>
        </p:spPr>
      </p:pic>
      <p:sp>
        <p:nvSpPr>
          <p:cNvPr id="10" name="Text 4"/>
          <p:cNvSpPr txBox="1"/>
          <p:nvPr/>
        </p:nvSpPr>
        <p:spPr>
          <a:xfrm>
            <a:off x="1463040" y="2679192"/>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Parte 2: ache o bug</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 divisão que devolve Infinity.</a:t>
            </a:r>
            <a:endParaRPr lang="en-US" sz="1650" dirty="0"/>
          </a:p>
        </p:txBody>
      </p:sp>
      <p:pic>
        <p:nvPicPr>
          <p:cNvPr id="11" name="Image 3" descr="preencoded.png">    </p:cNvPr>
          <p:cNvPicPr>
            <a:picLocks noChangeAspect="1"/>
          </p:cNvPicPr>
          <p:nvPr/>
        </p:nvPicPr>
        <p:blipFill>
          <a:blip r:embed="rId5"/>
          <a:stretch>
            <a:fillRect/>
          </a:stretch>
        </p:blipFill>
        <p:spPr>
          <a:xfrm>
            <a:off x="685800" y="3419856"/>
            <a:ext cx="502920" cy="502920"/>
          </a:xfrm>
          <a:prstGeom prst="rect">
            <a:avLst/>
          </a:prstGeom>
        </p:spPr>
      </p:pic>
      <p:sp>
        <p:nvSpPr>
          <p:cNvPr id="12" name="Text 5"/>
          <p:cNvSpPr txBox="1"/>
          <p:nvPr/>
        </p:nvSpPr>
        <p:spPr>
          <a:xfrm>
            <a:off x="1463040" y="3401568"/>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Desafio final</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Juntar todos os pedaços numa calculadora completa.</a:t>
            </a:r>
            <a:endParaRPr lang="en-US" sz="1650" dirty="0"/>
          </a:p>
        </p:txBody>
      </p:sp>
      <p:sp>
        <p:nvSpPr>
          <p:cNvPr id="13" name="Text 6"/>
          <p:cNvSpPr txBox="1"/>
          <p:nvPr/>
        </p:nvSpPr>
        <p:spPr>
          <a:xfrm>
            <a:off x="731520" y="4160520"/>
            <a:ext cx="7680960" cy="594360"/>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No repositório: </a:t>
            </a:r>
            <a:r>
              <a:rPr lang="en-US" sz="1500" b="1" dirty="0">
                <a:solidFill>
                  <a:srgbClr val="F7A072"/>
                </a:solidFill>
                <a:latin typeface="Courier New" pitchFamily="34" charset="0"/>
                <a:ea typeface="Courier New" pitchFamily="34" charset="-122"/>
                <a:cs typeface="Courier New" pitchFamily="34" charset="-120"/>
              </a:rPr>
              <a:t>modulo03/lista_de_exercicios/codigo_calculadora.md</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417320"/>
            <a:ext cx="7680960" cy="1188720"/>
          </a:xfrm>
          <a:prstGeom prst="rect">
            <a:avLst/>
          </a:prstGeom>
          <a:noFill/>
          <a:ln/>
        </p:spPr>
        <p:txBody>
          <a:bodyPr wrap="square" lIns="0" tIns="0" rIns="0" bIns="0" rtlCol="0" anchor="b"/>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Projeto 2: Clínica Médica</a:t>
            </a:r>
            <a:endParaRPr lang="en-US" sz="3200" dirty="0"/>
          </a:p>
        </p:txBody>
      </p:sp>
      <p:sp>
        <p:nvSpPr>
          <p:cNvPr id="5" name="Text 1"/>
          <p:cNvSpPr txBox="1"/>
          <p:nvPr/>
        </p:nvSpPr>
        <p:spPr>
          <a:xfrm>
            <a:off x="1097280" y="2743200"/>
            <a:ext cx="6949440" cy="1005840"/>
          </a:xfrm>
          <a:prstGeom prst="rect">
            <a:avLst/>
          </a:prstGeom>
          <a:noFill/>
          <a:ln/>
        </p:spPr>
        <p:txBody>
          <a:bodyPr wrap="square" lIns="0" tIns="0" rIns="0" bIns="0" rtlCol="0" anchor="t"/>
          <a:lstStyle/>
          <a:p>
            <a:pPr algn="ctr" indent="0" marL="0">
              <a:buNone/>
            </a:pPr>
            <a:r>
              <a:rPr lang="en-US" sz="1600" b="1" dirty="0">
                <a:solidFill>
                  <a:srgbClr val="E6E6E6"/>
                </a:solidFill>
                <a:latin typeface="Helvetica Neue" pitchFamily="34" charset="0"/>
                <a:ea typeface="Helvetica Neue" pitchFamily="34" charset="-122"/>
                <a:cs typeface="Helvetica Neue" pitchFamily="34" charset="-120"/>
              </a:rPr>
              <a:t>O mesmo processo, agora com arrays e objetos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que o sistema faz?</a:t>
            </a:r>
            <a:endParaRPr lang="en-US" sz="3000" dirty="0"/>
          </a:p>
        </p:txBody>
      </p:sp>
      <p:pic>
        <p:nvPicPr>
          <p:cNvPr id="5" name="Image 0" descr="preencoded.png">    </p:cNvPr>
          <p:cNvPicPr>
            <a:picLocks noChangeAspect="1"/>
          </p:cNvPicPr>
          <p:nvPr/>
        </p:nvPicPr>
        <p:blipFill>
          <a:blip r:embed="rId2"/>
          <a:stretch>
            <a:fillRect/>
          </a:stretch>
        </p:blipFill>
        <p:spPr>
          <a:xfrm>
            <a:off x="685800" y="1161288"/>
            <a:ext cx="502920" cy="502920"/>
          </a:xfrm>
          <a:prstGeom prst="rect">
            <a:avLst/>
          </a:prstGeom>
        </p:spPr>
      </p:pic>
      <p:sp>
        <p:nvSpPr>
          <p:cNvPr id="6" name="Text 2"/>
          <p:cNvSpPr txBox="1"/>
          <p:nvPr/>
        </p:nvSpPr>
        <p:spPr>
          <a:xfrm>
            <a:off x="1463040" y="1143000"/>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Agendamento de consultas</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Um sistema para a clínica, rodando no terminal com Node.js.</a:t>
            </a:r>
            <a:endParaRPr lang="en-US" sz="1650" dirty="0"/>
          </a:p>
        </p:txBody>
      </p:sp>
      <p:pic>
        <p:nvPicPr>
          <p:cNvPr id="7" name="Image 1" descr="preencoded.png">    </p:cNvPr>
          <p:cNvPicPr>
            <a:picLocks noChangeAspect="1"/>
          </p:cNvPicPr>
          <p:nvPr/>
        </p:nvPicPr>
        <p:blipFill>
          <a:blip r:embed="rId3"/>
          <a:stretch>
            <a:fillRect/>
          </a:stretch>
        </p:blipFill>
        <p:spPr>
          <a:xfrm>
            <a:off x="685800" y="2089404"/>
            <a:ext cx="502920" cy="502920"/>
          </a:xfrm>
          <a:prstGeom prst="rect">
            <a:avLst/>
          </a:prstGeom>
        </p:spPr>
      </p:pic>
      <p:sp>
        <p:nvSpPr>
          <p:cNvPr id="8" name="Text 3"/>
          <p:cNvSpPr txBox="1"/>
          <p:nvPr/>
        </p:nvSpPr>
        <p:spPr>
          <a:xfrm>
            <a:off x="1463040" y="2071116"/>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Menu de ações</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Adicionar, listar, atualizar e cancelar consultas, e sair.</a:t>
            </a:r>
            <a:endParaRPr lang="en-US" sz="1650" dirty="0"/>
          </a:p>
        </p:txBody>
      </p:sp>
      <p:pic>
        <p:nvPicPr>
          <p:cNvPr id="9" name="Image 2" descr="preencoded.png">    </p:cNvPr>
          <p:cNvPicPr>
            <a:picLocks noChangeAspect="1"/>
          </p:cNvPicPr>
          <p:nvPr/>
        </p:nvPicPr>
        <p:blipFill>
          <a:blip r:embed="rId4"/>
          <a:stretch>
            <a:fillRect/>
          </a:stretch>
        </p:blipFill>
        <p:spPr>
          <a:xfrm>
            <a:off x="685800" y="3017520"/>
            <a:ext cx="502920" cy="502920"/>
          </a:xfrm>
          <a:prstGeom prst="rect">
            <a:avLst/>
          </a:prstGeom>
        </p:spPr>
      </p:pic>
      <p:sp>
        <p:nvSpPr>
          <p:cNvPr id="10" name="Text 4"/>
          <p:cNvSpPr txBox="1"/>
          <p:nvPr/>
        </p:nvSpPr>
        <p:spPr>
          <a:xfrm>
            <a:off x="1463040" y="2999232"/>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Objetos dentro de um array</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Cada consulta é um objeto; todas ficam guardadas num array.</a:t>
            </a:r>
            <a:endParaRPr lang="en-US" sz="1650" dirty="0"/>
          </a:p>
        </p:txBody>
      </p:sp>
      <p:pic>
        <p:nvPicPr>
          <p:cNvPr id="11" name="Image 3" descr="preencoded.png">    </p:cNvPr>
          <p:cNvPicPr>
            <a:picLocks noChangeAspect="1"/>
          </p:cNvPicPr>
          <p:nvPr/>
        </p:nvPicPr>
        <p:blipFill>
          <a:blip r:embed="rId5"/>
          <a:stretch>
            <a:fillRect/>
          </a:stretch>
        </p:blipFill>
        <p:spPr>
          <a:xfrm>
            <a:off x="685800" y="3945636"/>
            <a:ext cx="502920" cy="502920"/>
          </a:xfrm>
          <a:prstGeom prst="rect">
            <a:avLst/>
          </a:prstGeom>
        </p:spPr>
      </p:pic>
      <p:sp>
        <p:nvSpPr>
          <p:cNvPr id="12" name="Text 5"/>
          <p:cNvSpPr txBox="1"/>
          <p:nvPr/>
        </p:nvSpPr>
        <p:spPr>
          <a:xfrm>
            <a:off x="1463040" y="3927348"/>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Validação</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Número de consulta que não existe gera aviso, sem alterar nada.</a:t>
            </a:r>
            <a:endParaRPr lang="en-US" sz="16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Escopo da clínica</a:t>
            </a:r>
            <a:endParaRPr lang="en-US" sz="3000" dirty="0"/>
          </a:p>
        </p:txBody>
      </p:sp>
      <p:sp>
        <p:nvSpPr>
          <p:cNvPr id="5" name="Shape 2"/>
          <p:cNvSpPr/>
          <p:nvPr/>
        </p:nvSpPr>
        <p:spPr>
          <a:xfrm>
            <a:off x="411480" y="1686052"/>
            <a:ext cx="4023360" cy="2406904"/>
          </a:xfrm>
          <a:prstGeom prst="roundRect">
            <a:avLst>
              <a:gd name="adj" fmla="val 3799"/>
            </a:avLst>
          </a:prstGeom>
          <a:solidFill>
            <a:srgbClr val="1A1A1A"/>
          </a:solidFill>
          <a:ln w="6350">
            <a:solidFill>
              <a:srgbClr val="1A1A1A"/>
            </a:solidFill>
            <a:prstDash val="solid"/>
          </a:ln>
        </p:spPr>
      </p:sp>
      <p:pic>
        <p:nvPicPr>
          <p:cNvPr id="6" name="Image 0" descr="preencoded.png">    </p:cNvPr>
          <p:cNvPicPr>
            <a:picLocks noChangeAspect="1"/>
          </p:cNvPicPr>
          <p:nvPr/>
        </p:nvPicPr>
        <p:blipFill>
          <a:blip r:embed="rId2"/>
          <a:stretch>
            <a:fillRect/>
          </a:stretch>
        </p:blipFill>
        <p:spPr>
          <a:xfrm>
            <a:off x="594360" y="1868932"/>
            <a:ext cx="384048" cy="384048"/>
          </a:xfrm>
          <a:prstGeom prst="rect">
            <a:avLst/>
          </a:prstGeom>
        </p:spPr>
      </p:pic>
      <p:sp>
        <p:nvSpPr>
          <p:cNvPr id="7" name="Text 3"/>
          <p:cNvSpPr txBox="1"/>
          <p:nvPr/>
        </p:nvSpPr>
        <p:spPr>
          <a:xfrm>
            <a:off x="1106424" y="1868932"/>
            <a:ext cx="3145536" cy="384048"/>
          </a:xfrm>
          <a:prstGeom prst="rect">
            <a:avLst/>
          </a:prstGeom>
          <a:noFill/>
          <a:ln/>
        </p:spPr>
        <p:txBody>
          <a:bodyPr wrap="square" lIns="0" tIns="0" rIns="0" bIns="0" rtlCol="0" anchor="ctr"/>
          <a:lstStyle/>
          <a:p>
            <a:pPr algn="l" indent="0" marL="0">
              <a:buNone/>
            </a:pPr>
            <a:r>
              <a:rPr lang="en-US" sz="1750" b="1" dirty="0">
                <a:solidFill>
                  <a:srgbClr val="FFFFFF"/>
                </a:solidFill>
                <a:latin typeface="Helvetica Neue" pitchFamily="34" charset="0"/>
                <a:ea typeface="Helvetica Neue" pitchFamily="34" charset="-122"/>
                <a:cs typeface="Helvetica Neue" pitchFamily="34" charset="-120"/>
              </a:rPr>
              <a:t>Dentro do escopo</a:t>
            </a:r>
            <a:endParaRPr lang="en-US" sz="1750" dirty="0"/>
          </a:p>
        </p:txBody>
      </p:sp>
      <p:sp>
        <p:nvSpPr>
          <p:cNvPr id="8" name="Text 4"/>
          <p:cNvSpPr txBox="1"/>
          <p:nvPr/>
        </p:nvSpPr>
        <p:spPr>
          <a:xfrm>
            <a:off x="594360" y="2344420"/>
            <a:ext cx="3657600" cy="1565656"/>
          </a:xfrm>
          <a:prstGeom prst="rect">
            <a:avLst/>
          </a:prstGeom>
          <a:noFill/>
          <a:ln/>
        </p:spPr>
        <p:txBody>
          <a:bodyPr wrap="square" lIns="0" tIns="0" rIns="0" bIns="0" rtlCol="0" anchor="t"/>
          <a:lstStyle/>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Adicionar consulta (paciente, médico, data e hora)</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Listar todas as consultas</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Atualizar uma consulta</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Cancelar uma consulta</a:t>
            </a:r>
            <a:endParaRPr lang="en-US" sz="1450" dirty="0"/>
          </a:p>
          <a:p>
            <a:pPr algn="l" marL="177800" indent="-177800">
              <a:buSzPct val="100000"/>
              <a:buChar char="●"/>
            </a:pPr>
            <a:r>
              <a:rPr lang="en-US" sz="1450" b="1" dirty="0">
                <a:solidFill>
                  <a:srgbClr val="E6E6E6"/>
                </a:solidFill>
                <a:latin typeface="Helvetica Neue" pitchFamily="34" charset="0"/>
                <a:ea typeface="Helvetica Neue" pitchFamily="34" charset="-122"/>
                <a:cs typeface="Helvetica Neue" pitchFamily="34" charset="-120"/>
              </a:rPr>
              <a:t>Sair do programa</a:t>
            </a:r>
            <a:endParaRPr lang="en-US" sz="1450" dirty="0"/>
          </a:p>
        </p:txBody>
      </p:sp>
      <p:sp>
        <p:nvSpPr>
          <p:cNvPr id="9" name="Shape 5"/>
          <p:cNvSpPr/>
          <p:nvPr/>
        </p:nvSpPr>
        <p:spPr>
          <a:xfrm>
            <a:off x="4709160" y="1686052"/>
            <a:ext cx="4023360" cy="2406904"/>
          </a:xfrm>
          <a:prstGeom prst="roundRect">
            <a:avLst>
              <a:gd name="adj" fmla="val 3799"/>
            </a:avLst>
          </a:prstGeom>
          <a:solidFill>
            <a:srgbClr val="1A1A1A"/>
          </a:solidFill>
          <a:ln w="6350">
            <a:solidFill>
              <a:srgbClr val="1A1A1A"/>
            </a:solidFill>
            <a:prstDash val="solid"/>
          </a:ln>
        </p:spPr>
      </p:sp>
      <p:pic>
        <p:nvPicPr>
          <p:cNvPr id="10" name="Image 1" descr="preencoded.png">    </p:cNvPr>
          <p:cNvPicPr>
            <a:picLocks noChangeAspect="1"/>
          </p:cNvPicPr>
          <p:nvPr/>
        </p:nvPicPr>
        <p:blipFill>
          <a:blip r:embed="rId3"/>
          <a:stretch>
            <a:fillRect/>
          </a:stretch>
        </p:blipFill>
        <p:spPr>
          <a:xfrm>
            <a:off x="4892040" y="1868932"/>
            <a:ext cx="384048" cy="384048"/>
          </a:xfrm>
          <a:prstGeom prst="rect">
            <a:avLst/>
          </a:prstGeom>
        </p:spPr>
      </p:pic>
      <p:sp>
        <p:nvSpPr>
          <p:cNvPr id="11" name="Text 6"/>
          <p:cNvSpPr txBox="1"/>
          <p:nvPr/>
        </p:nvSpPr>
        <p:spPr>
          <a:xfrm>
            <a:off x="5404104" y="1868932"/>
            <a:ext cx="3145536" cy="384048"/>
          </a:xfrm>
          <a:prstGeom prst="rect">
            <a:avLst/>
          </a:prstGeom>
          <a:noFill/>
          <a:ln/>
        </p:spPr>
        <p:txBody>
          <a:bodyPr wrap="square" lIns="0" tIns="0" rIns="0" bIns="0" rtlCol="0" anchor="ctr"/>
          <a:lstStyle/>
          <a:p>
            <a:pPr algn="l" indent="0" marL="0">
              <a:buNone/>
            </a:pPr>
            <a:r>
              <a:rPr lang="en-US" sz="1750" b="1" dirty="0">
                <a:solidFill>
                  <a:srgbClr val="F85149"/>
                </a:solidFill>
                <a:latin typeface="Helvetica Neue" pitchFamily="34" charset="0"/>
                <a:ea typeface="Helvetica Neue" pitchFamily="34" charset="-122"/>
                <a:cs typeface="Helvetica Neue" pitchFamily="34" charset="-120"/>
              </a:rPr>
              <a:t>Fora do escopo</a:t>
            </a:r>
            <a:endParaRPr lang="en-US" sz="1750" dirty="0"/>
          </a:p>
        </p:txBody>
      </p:sp>
      <p:sp>
        <p:nvSpPr>
          <p:cNvPr id="12" name="Text 7"/>
          <p:cNvSpPr txBox="1"/>
          <p:nvPr/>
        </p:nvSpPr>
        <p:spPr>
          <a:xfrm>
            <a:off x="4892040" y="2344420"/>
            <a:ext cx="3657600" cy="1243076"/>
          </a:xfrm>
          <a:prstGeom prst="rect">
            <a:avLst/>
          </a:prstGeom>
          <a:noFill/>
          <a:ln/>
        </p:spPr>
        <p:txBody>
          <a:bodyPr wrap="square" lIns="0" tIns="0" rIns="0" bIns="0" rtlCol="0" anchor="t"/>
          <a:lstStyle/>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Cadastro separado de médicos e pacientes</a:t>
            </a:r>
            <a:endParaRPr lang="en-US" sz="1450" dirty="0"/>
          </a:p>
          <a:p>
            <a:pPr algn="l" marL="177800" indent="-177800">
              <a:spcAft>
                <a:spcPts val="400"/>
              </a:spcAft>
              <a:buSzPct val="100000"/>
              <a:buChar char="●"/>
            </a:pPr>
            <a:r>
              <a:rPr lang="en-US" sz="1450" b="1" dirty="0">
                <a:solidFill>
                  <a:srgbClr val="E6E6E6"/>
                </a:solidFill>
                <a:latin typeface="Helvetica Neue" pitchFamily="34" charset="0"/>
                <a:ea typeface="Helvetica Neue" pitchFamily="34" charset="-122"/>
                <a:cs typeface="Helvetica Neue" pitchFamily="34" charset="-120"/>
              </a:rPr>
              <a:t>Salvar em arquivo ou banco de dados</a:t>
            </a:r>
            <a:endParaRPr lang="en-US" sz="1450" dirty="0"/>
          </a:p>
          <a:p>
            <a:pPr algn="l" marL="177800" indent="-177800">
              <a:buSzPct val="100000"/>
              <a:buChar char="●"/>
            </a:pPr>
            <a:r>
              <a:rPr lang="en-US" sz="1450" b="1" dirty="0">
                <a:solidFill>
                  <a:srgbClr val="E6E6E6"/>
                </a:solidFill>
                <a:latin typeface="Helvetica Neue" pitchFamily="34" charset="0"/>
                <a:ea typeface="Helvetica Neue" pitchFamily="34" charset="-122"/>
                <a:cs typeface="Helvetica Neue" pitchFamily="34" charset="-120"/>
              </a:rPr>
              <a:t>Interface gráfica</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Cada consulta é um objeto</a:t>
            </a:r>
            <a:endParaRPr lang="en-US" sz="3000" dirty="0"/>
          </a:p>
        </p:txBody>
      </p:sp>
      <p:sp>
        <p:nvSpPr>
          <p:cNvPr id="5" name="Shape 2"/>
          <p:cNvSpPr/>
          <p:nvPr/>
        </p:nvSpPr>
        <p:spPr>
          <a:xfrm>
            <a:off x="365760" y="1702308"/>
            <a:ext cx="4023360" cy="2401824"/>
          </a:xfrm>
          <a:prstGeom prst="roundRect">
            <a:avLst>
              <a:gd name="adj" fmla="val 3046"/>
            </a:avLst>
          </a:prstGeom>
          <a:solidFill>
            <a:srgbClr val="121212"/>
          </a:solidFill>
          <a:ln w="9525">
            <a:solidFill>
              <a:srgbClr val="2E2E2E"/>
            </a:solidFill>
            <a:prstDash val="solid"/>
          </a:ln>
        </p:spPr>
      </p:sp>
      <p:sp>
        <p:nvSpPr>
          <p:cNvPr id="6" name="Text 3"/>
          <p:cNvSpPr txBox="1"/>
          <p:nvPr/>
        </p:nvSpPr>
        <p:spPr>
          <a:xfrm>
            <a:off x="512064" y="1819351"/>
            <a:ext cx="3730752" cy="216773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consultas =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consultas.</a:t>
            </a:r>
            <a:r>
              <a:rPr lang="en-US" sz="1700" b="1" dirty="0">
                <a:solidFill>
                  <a:srgbClr val="7CC4FF"/>
                </a:solidFill>
                <a:latin typeface="Courier New" pitchFamily="34" charset="0"/>
                <a:ea typeface="Courier New" pitchFamily="34" charset="-122"/>
                <a:cs typeface="Courier New" pitchFamily="34" charset="-120"/>
              </a:rPr>
              <a:t>push</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paciente: </a:t>
            </a:r>
            <a:r>
              <a:rPr lang="en-US" sz="1700" b="1" dirty="0">
                <a:solidFill>
                  <a:srgbClr val="A8D8A8"/>
                </a:solidFill>
                <a:latin typeface="Courier New" pitchFamily="34" charset="0"/>
                <a:ea typeface="Courier New" pitchFamily="34" charset="-122"/>
                <a:cs typeface="Courier New" pitchFamily="34" charset="-120"/>
              </a:rPr>
              <a:t>'Maria'</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medico: </a:t>
            </a:r>
            <a:r>
              <a:rPr lang="en-US" sz="1700" b="1" dirty="0">
                <a:solidFill>
                  <a:srgbClr val="A8D8A8"/>
                </a:solidFill>
                <a:latin typeface="Courier New" pitchFamily="34" charset="0"/>
                <a:ea typeface="Courier New" pitchFamily="34" charset="-122"/>
                <a:cs typeface="Courier New" pitchFamily="34" charset="-120"/>
              </a:rPr>
              <a:t>'Dr. Carlos'</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data: </a:t>
            </a:r>
            <a:r>
              <a:rPr lang="en-US" sz="1700" b="1" dirty="0">
                <a:solidFill>
                  <a:srgbClr val="A8D8A8"/>
                </a:solidFill>
                <a:latin typeface="Courier New" pitchFamily="34" charset="0"/>
                <a:ea typeface="Courier New" pitchFamily="34" charset="-122"/>
                <a:cs typeface="Courier New" pitchFamily="34" charset="-120"/>
              </a:rPr>
              <a:t>'2026-10-05'</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hora: </a:t>
            </a:r>
            <a:r>
              <a:rPr lang="en-US" sz="1700" b="1" dirty="0">
                <a:solidFill>
                  <a:srgbClr val="A8D8A8"/>
                </a:solidFill>
                <a:latin typeface="Courier New" pitchFamily="34" charset="0"/>
                <a:ea typeface="Courier New" pitchFamily="34" charset="-122"/>
                <a:cs typeface="Courier New" pitchFamily="34" charset="-120"/>
              </a:rPr>
              <a:t>'14:30'</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p:txBody>
      </p:sp>
      <p:sp>
        <p:nvSpPr>
          <p:cNvPr id="7" name="Text 4"/>
          <p:cNvSpPr txBox="1"/>
          <p:nvPr/>
        </p:nvSpPr>
        <p:spPr>
          <a:xfrm>
            <a:off x="4663440" y="1524000"/>
            <a:ext cx="4114800" cy="2758440"/>
          </a:xfrm>
          <a:prstGeom prst="rect">
            <a:avLst/>
          </a:prstGeom>
          <a:noFill/>
          <a:ln/>
        </p:spPr>
        <p:txBody>
          <a:bodyPr wrap="square" lIns="0" tIns="0" rIns="0" bIns="0" rtlCol="0" anchor="ctr"/>
          <a:lstStyle/>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consultas  </a:t>
            </a:r>
            <a:r>
              <a:rPr lang="en-US" sz="1450" b="1" dirty="0">
                <a:solidFill>
                  <a:srgbClr val="E6E6E6"/>
                </a:solidFill>
                <a:latin typeface="Helvetica Neue" pitchFamily="34" charset="0"/>
                <a:ea typeface="Helvetica Neue" pitchFamily="34" charset="-122"/>
                <a:cs typeface="Helvetica Neue" pitchFamily="34" charset="-120"/>
              </a:rPr>
              <a:t>→ o array que guarda todas as consultas.</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 ... }  </a:t>
            </a:r>
            <a:r>
              <a:rPr lang="en-US" sz="1450" b="1" dirty="0">
                <a:solidFill>
                  <a:srgbClr val="E6E6E6"/>
                </a:solidFill>
                <a:latin typeface="Helvetica Neue" pitchFamily="34" charset="0"/>
                <a:ea typeface="Helvetica Neue" pitchFamily="34" charset="-122"/>
                <a:cs typeface="Helvetica Neue" pitchFamily="34" charset="-120"/>
              </a:rPr>
              <a:t>→ cada consulta tem quatro campos: paciente, médico, data e hora.</a:t>
            </a:r>
            <a:endParaRPr lang="en-US" sz="1450" dirty="0"/>
          </a:p>
          <a:p>
            <a:pPr algn="l" indent="0" marL="0">
              <a:spcAft>
                <a:spcPts val="1200"/>
              </a:spcAft>
              <a:buNone/>
            </a:pPr>
            <a:r>
              <a:rPr lang="en-US" sz="1450" b="1" dirty="0">
                <a:solidFill>
                  <a:srgbClr val="F7A072"/>
                </a:solidFill>
                <a:latin typeface="Courier New" pitchFamily="34" charset="0"/>
                <a:ea typeface="Courier New" pitchFamily="34" charset="-122"/>
                <a:cs typeface="Courier New" pitchFamily="34" charset="-120"/>
              </a:rPr>
              <a:t>push  </a:t>
            </a:r>
            <a:r>
              <a:rPr lang="en-US" sz="1450" b="1" dirty="0">
                <a:solidFill>
                  <a:srgbClr val="E6E6E6"/>
                </a:solidFill>
                <a:latin typeface="Helvetica Neue" pitchFamily="34" charset="0"/>
                <a:ea typeface="Helvetica Neue" pitchFamily="34" charset="-122"/>
                <a:cs typeface="Helvetica Neue" pitchFamily="34" charset="-120"/>
              </a:rPr>
              <a:t>→ adiciona a nova consulta no fim do array.</a:t>
            </a:r>
            <a:endParaRPr lang="en-US" sz="1450" dirty="0"/>
          </a:p>
          <a:p>
            <a:pPr algn="l" indent="0" marL="0">
              <a:buNone/>
            </a:pPr>
            <a:r>
              <a:rPr lang="en-US" sz="1450" b="1" dirty="0">
                <a:solidFill>
                  <a:srgbClr val="E16D34"/>
                </a:solidFill>
                <a:latin typeface="Courier New" pitchFamily="34" charset="0"/>
                <a:ea typeface="Courier New" pitchFamily="34" charset="-122"/>
                <a:cs typeface="Courier New" pitchFamily="34" charset="-120"/>
              </a:rPr>
              <a:t>memória  </a:t>
            </a:r>
            <a:r>
              <a:rPr lang="en-US" sz="1450" b="1" dirty="0">
                <a:solidFill>
                  <a:srgbClr val="E6E6E6"/>
                </a:solidFill>
                <a:latin typeface="Helvetica Neue" pitchFamily="34" charset="0"/>
                <a:ea typeface="Helvetica Neue" pitchFamily="34" charset="-122"/>
                <a:cs typeface="Helvetica Neue" pitchFamily="34" charset="-120"/>
              </a:rPr>
              <a:t>→ fechou o programa, os dados somem. Banco de dados fica para o Módulo 8.</a:t>
            </a:r>
            <a:endParaRPr lang="en-US" sz="14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fluxo da clínica</a:t>
            </a:r>
            <a:endParaRPr lang="en-US" sz="3000" dirty="0"/>
          </a:p>
        </p:txBody>
      </p:sp>
      <p:pic>
        <p:nvPicPr>
          <p:cNvPr id="5" name="Image 0" descr="preencoded.png">    </p:cNvPr>
          <p:cNvPicPr>
            <a:picLocks noChangeAspect="1"/>
          </p:cNvPicPr>
          <p:nvPr/>
        </p:nvPicPr>
        <p:blipFill>
          <a:blip r:embed="rId2"/>
          <a:stretch>
            <a:fillRect/>
          </a:stretch>
        </p:blipFill>
        <p:spPr>
          <a:xfrm>
            <a:off x="1211580" y="1554480"/>
            <a:ext cx="685800" cy="685800"/>
          </a:xfrm>
          <a:prstGeom prst="rect">
            <a:avLst/>
          </a:prstGeom>
        </p:spPr>
      </p:pic>
      <p:sp>
        <p:nvSpPr>
          <p:cNvPr id="6" name="Text 2"/>
          <p:cNvSpPr txBox="1"/>
          <p:nvPr/>
        </p:nvSpPr>
        <p:spPr>
          <a:xfrm>
            <a:off x="59436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Início</a:t>
            </a:r>
            <a:endParaRPr lang="en-US" sz="1700" dirty="0"/>
          </a:p>
        </p:txBody>
      </p:sp>
      <p:sp>
        <p:nvSpPr>
          <p:cNvPr id="7" name="Text 3"/>
          <p:cNvSpPr txBox="1"/>
          <p:nvPr/>
        </p:nvSpPr>
        <p:spPr>
          <a:xfrm>
            <a:off x="658368" y="2743200"/>
            <a:ext cx="1792224" cy="1188720"/>
          </a:xfrm>
          <a:prstGeom prst="rect">
            <a:avLst/>
          </a:prstGeom>
          <a:noFill/>
          <a:ln/>
        </p:spPr>
        <p:txBody>
          <a:bodyPr wrap="square" lIns="0" tIns="0" rIns="0" bIns="0" rtlCol="0" anchor="t"/>
          <a:lstStyle/>
          <a:p>
            <a:pPr algn="ctr" indent="0" marL="0">
              <a:buNone/>
            </a:pPr>
            <a:r>
              <a:rPr lang="en-US" sz="1300" b="1" dirty="0">
                <a:solidFill>
                  <a:srgbClr val="F7A072"/>
                </a:solidFill>
                <a:latin typeface="Courier New" pitchFamily="34" charset="0"/>
                <a:ea typeface="Courier New" pitchFamily="34" charset="-122"/>
                <a:cs typeface="Courier New" pitchFamily="34" charset="-120"/>
              </a:rPr>
              <a:t>consultas = []</a:t>
            </a:r>
            <a:endParaRPr lang="en-US" sz="1300" dirty="0"/>
          </a:p>
        </p:txBody>
      </p:sp>
      <p:sp>
        <p:nvSpPr>
          <p:cNvPr id="8" name="Shape 4"/>
          <p:cNvSpPr/>
          <p:nvPr/>
        </p:nvSpPr>
        <p:spPr>
          <a:xfrm>
            <a:off x="2007108" y="1897380"/>
            <a:ext cx="1106424" cy="0"/>
          </a:xfrm>
          <a:prstGeom prst="line">
            <a:avLst/>
          </a:prstGeom>
          <a:noFill/>
          <a:ln w="25400">
            <a:solidFill>
              <a:srgbClr val="E6E6E6"/>
            </a:solidFill>
            <a:prstDash val="solid"/>
            <a:tailEnd type="triangle"/>
          </a:ln>
        </p:spPr>
      </p:sp>
      <p:pic>
        <p:nvPicPr>
          <p:cNvPr id="9" name="Image 1" descr="preencoded.png">    </p:cNvPr>
          <p:cNvPicPr>
            <a:picLocks noChangeAspect="1"/>
          </p:cNvPicPr>
          <p:nvPr/>
        </p:nvPicPr>
        <p:blipFill>
          <a:blip r:embed="rId3"/>
          <a:stretch>
            <a:fillRect/>
          </a:stretch>
        </p:blipFill>
        <p:spPr>
          <a:xfrm>
            <a:off x="3223260" y="1554480"/>
            <a:ext cx="685800" cy="685800"/>
          </a:xfrm>
          <a:prstGeom prst="rect">
            <a:avLst/>
          </a:prstGeom>
        </p:spPr>
      </p:pic>
      <p:sp>
        <p:nvSpPr>
          <p:cNvPr id="10" name="Text 5"/>
          <p:cNvSpPr txBox="1"/>
          <p:nvPr/>
        </p:nvSpPr>
        <p:spPr>
          <a:xfrm>
            <a:off x="260604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Menu</a:t>
            </a:r>
            <a:endParaRPr lang="en-US" sz="1700" dirty="0"/>
          </a:p>
        </p:txBody>
      </p:sp>
      <p:sp>
        <p:nvSpPr>
          <p:cNvPr id="11" name="Text 6"/>
          <p:cNvSpPr txBox="1"/>
          <p:nvPr/>
        </p:nvSpPr>
        <p:spPr>
          <a:xfrm>
            <a:off x="267004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Opções de 0 a 4.</a:t>
            </a:r>
            <a:endParaRPr lang="en-US" sz="1300" dirty="0"/>
          </a:p>
        </p:txBody>
      </p:sp>
      <p:sp>
        <p:nvSpPr>
          <p:cNvPr id="12" name="Shape 7"/>
          <p:cNvSpPr/>
          <p:nvPr/>
        </p:nvSpPr>
        <p:spPr>
          <a:xfrm>
            <a:off x="4018788" y="1897380"/>
            <a:ext cx="1106424" cy="0"/>
          </a:xfrm>
          <a:prstGeom prst="line">
            <a:avLst/>
          </a:prstGeom>
          <a:noFill/>
          <a:ln w="25400">
            <a:solidFill>
              <a:srgbClr val="E6E6E6"/>
            </a:solidFill>
            <a:prstDash val="solid"/>
            <a:tailEnd type="triangle"/>
          </a:ln>
        </p:spPr>
      </p:sp>
      <p:pic>
        <p:nvPicPr>
          <p:cNvPr id="13" name="Image 2" descr="preencoded.png">    </p:cNvPr>
          <p:cNvPicPr>
            <a:picLocks noChangeAspect="1"/>
          </p:cNvPicPr>
          <p:nvPr/>
        </p:nvPicPr>
        <p:blipFill>
          <a:blip r:embed="rId4"/>
          <a:stretch>
            <a:fillRect/>
          </a:stretch>
        </p:blipFill>
        <p:spPr>
          <a:xfrm>
            <a:off x="5234940" y="1554480"/>
            <a:ext cx="685800" cy="685800"/>
          </a:xfrm>
          <a:prstGeom prst="rect">
            <a:avLst/>
          </a:prstGeom>
        </p:spPr>
      </p:pic>
      <p:sp>
        <p:nvSpPr>
          <p:cNvPr id="14" name="Text 8"/>
          <p:cNvSpPr txBox="1"/>
          <p:nvPr/>
        </p:nvSpPr>
        <p:spPr>
          <a:xfrm>
            <a:off x="461772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Lê a opção</a:t>
            </a:r>
            <a:endParaRPr lang="en-US" sz="1700" dirty="0"/>
          </a:p>
        </p:txBody>
      </p:sp>
      <p:sp>
        <p:nvSpPr>
          <p:cNvPr id="15" name="Text 9"/>
          <p:cNvSpPr txBox="1"/>
          <p:nvPr/>
        </p:nvSpPr>
        <p:spPr>
          <a:xfrm>
            <a:off x="468172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Com o </a:t>
            </a:r>
            <a:r>
              <a:rPr lang="en-US" sz="1300" b="1" dirty="0">
                <a:solidFill>
                  <a:srgbClr val="F7A072"/>
                </a:solidFill>
                <a:latin typeface="Courier New" pitchFamily="34" charset="0"/>
                <a:ea typeface="Courier New" pitchFamily="34" charset="-122"/>
                <a:cs typeface="Courier New" pitchFamily="34" charset="-120"/>
              </a:rPr>
              <a:t>prompt</a:t>
            </a:r>
            <a:r>
              <a:rPr lang="en-US" sz="1300" b="1" dirty="0">
                <a:solidFill>
                  <a:srgbClr val="E6E6E6"/>
                </a:solidFill>
                <a:latin typeface="Helvetica Neue" pitchFamily="34" charset="0"/>
                <a:ea typeface="Helvetica Neue" pitchFamily="34" charset="-122"/>
                <a:cs typeface="Helvetica Neue" pitchFamily="34" charset="-120"/>
              </a:rPr>
              <a:t>.</a:t>
            </a:r>
            <a:endParaRPr lang="en-US" sz="1300" dirty="0"/>
          </a:p>
        </p:txBody>
      </p:sp>
      <p:sp>
        <p:nvSpPr>
          <p:cNvPr id="16" name="Shape 10"/>
          <p:cNvSpPr/>
          <p:nvPr/>
        </p:nvSpPr>
        <p:spPr>
          <a:xfrm>
            <a:off x="6030468" y="1897380"/>
            <a:ext cx="1106424" cy="0"/>
          </a:xfrm>
          <a:prstGeom prst="line">
            <a:avLst/>
          </a:prstGeom>
          <a:noFill/>
          <a:ln w="25400">
            <a:solidFill>
              <a:srgbClr val="E6E6E6"/>
            </a:solidFill>
            <a:prstDash val="solid"/>
            <a:tailEnd type="triangle"/>
          </a:ln>
        </p:spPr>
      </p:sp>
      <p:pic>
        <p:nvPicPr>
          <p:cNvPr id="17" name="Image 3" descr="preencoded.png">    </p:cNvPr>
          <p:cNvPicPr>
            <a:picLocks noChangeAspect="1"/>
          </p:cNvPicPr>
          <p:nvPr/>
        </p:nvPicPr>
        <p:blipFill>
          <a:blip r:embed="rId5"/>
          <a:stretch>
            <a:fillRect/>
          </a:stretch>
        </p:blipFill>
        <p:spPr>
          <a:xfrm>
            <a:off x="7246620" y="1554480"/>
            <a:ext cx="685800" cy="685800"/>
          </a:xfrm>
          <a:prstGeom prst="rect">
            <a:avLst/>
          </a:prstGeom>
        </p:spPr>
      </p:pic>
      <p:sp>
        <p:nvSpPr>
          <p:cNvPr id="18" name="Text 11"/>
          <p:cNvSpPr txBox="1"/>
          <p:nvPr/>
        </p:nvSpPr>
        <p:spPr>
          <a:xfrm>
            <a:off x="6629400" y="2350008"/>
            <a:ext cx="1920240" cy="365760"/>
          </a:xfrm>
          <a:prstGeom prst="rect">
            <a:avLst/>
          </a:prstGeom>
          <a:noFill/>
          <a:ln/>
        </p:spPr>
        <p:txBody>
          <a:bodyPr wrap="square" lIns="0" tIns="0" rIns="0" bIns="0" rtlCol="0" anchor="ctr"/>
          <a:lstStyle/>
          <a:p>
            <a:pPr algn="ctr" indent="0" marL="0">
              <a:buNone/>
            </a:pPr>
            <a:r>
              <a:rPr lang="en-US" sz="1700" b="1" dirty="0">
                <a:solidFill>
                  <a:srgbClr val="E16D34"/>
                </a:solidFill>
                <a:latin typeface="Helvetica Neue" pitchFamily="34" charset="0"/>
                <a:ea typeface="Helvetica Neue" pitchFamily="34" charset="-122"/>
                <a:cs typeface="Helvetica Neue" pitchFamily="34" charset="-120"/>
              </a:rPr>
              <a:t>if / else if</a:t>
            </a:r>
            <a:endParaRPr lang="en-US" sz="1700" dirty="0"/>
          </a:p>
        </p:txBody>
      </p:sp>
      <p:sp>
        <p:nvSpPr>
          <p:cNvPr id="19" name="Text 12"/>
          <p:cNvSpPr txBox="1"/>
          <p:nvPr/>
        </p:nvSpPr>
        <p:spPr>
          <a:xfrm>
            <a:off x="6693408" y="2743200"/>
            <a:ext cx="1792224" cy="1188720"/>
          </a:xfrm>
          <a:prstGeom prst="rect">
            <a:avLst/>
          </a:prstGeom>
          <a:noFill/>
          <a:ln/>
        </p:spPr>
        <p:txBody>
          <a:bodyPr wrap="square" lIns="0" tIns="0" rIns="0" bIns="0" rtlCol="0" anchor="t"/>
          <a:lstStyle/>
          <a:p>
            <a:pPr algn="ctr" indent="0" marL="0">
              <a:buNone/>
            </a:pPr>
            <a:r>
              <a:rPr lang="en-US" sz="1300" b="1" dirty="0">
                <a:solidFill>
                  <a:srgbClr val="E6E6E6"/>
                </a:solidFill>
                <a:latin typeface="Helvetica Neue" pitchFamily="34" charset="0"/>
                <a:ea typeface="Helvetica Neue" pitchFamily="34" charset="-122"/>
                <a:cs typeface="Helvetica Neue" pitchFamily="34" charset="-120"/>
              </a:rPr>
              <a:t>Executa a ação escolhida.</a:t>
            </a:r>
            <a:endParaRPr lang="en-US" sz="1300" dirty="0"/>
          </a:p>
        </p:txBody>
      </p:sp>
      <p:sp>
        <p:nvSpPr>
          <p:cNvPr id="20" name="Text 13"/>
          <p:cNvSpPr txBox="1"/>
          <p:nvPr/>
        </p:nvSpPr>
        <p:spPr>
          <a:xfrm>
            <a:off x="548640" y="4160520"/>
            <a:ext cx="8046720" cy="594360"/>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Depois de cada ação, volta ao menu. A opção </a:t>
            </a:r>
            <a:r>
              <a:rPr lang="en-US" sz="1500" b="1" dirty="0">
                <a:solidFill>
                  <a:srgbClr val="FFFFFF"/>
                </a:solidFill>
                <a:latin typeface="Helvetica Neue" pitchFamily="34" charset="0"/>
                <a:ea typeface="Helvetica Neue" pitchFamily="34" charset="-122"/>
                <a:cs typeface="Helvetica Neue" pitchFamily="34" charset="-120"/>
              </a:rPr>
              <a:t>0</a:t>
            </a:r>
            <a:r>
              <a:rPr lang="en-US" sz="1500" b="1" dirty="0">
                <a:solidFill>
                  <a:srgbClr val="E16D34"/>
                </a:solidFill>
                <a:latin typeface="Helvetica Neue" pitchFamily="34" charset="0"/>
                <a:ea typeface="Helvetica Neue" pitchFamily="34" charset="-122"/>
                <a:cs typeface="Helvetica Neue" pitchFamily="34" charset="-120"/>
              </a:rPr>
              <a:t> encerra o programa.</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laço da clínica: do...while</a:t>
            </a:r>
            <a:endParaRPr lang="en-US" sz="3000" dirty="0"/>
          </a:p>
        </p:txBody>
      </p:sp>
      <p:sp>
        <p:nvSpPr>
          <p:cNvPr id="5" name="Shape 2"/>
          <p:cNvSpPr/>
          <p:nvPr/>
        </p:nvSpPr>
        <p:spPr>
          <a:xfrm>
            <a:off x="411480" y="1069848"/>
            <a:ext cx="8321040" cy="3102864"/>
          </a:xfrm>
          <a:prstGeom prst="roundRect">
            <a:avLst>
              <a:gd name="adj" fmla="val 2358"/>
            </a:avLst>
          </a:prstGeom>
          <a:solidFill>
            <a:srgbClr val="121212"/>
          </a:solidFill>
          <a:ln w="9525">
            <a:solidFill>
              <a:srgbClr val="2E2E2E"/>
            </a:solidFill>
            <a:prstDash val="solid"/>
          </a:ln>
        </p:spPr>
      </p:sp>
      <p:sp>
        <p:nvSpPr>
          <p:cNvPr id="6" name="Text 3"/>
          <p:cNvSpPr txBox="1"/>
          <p:nvPr/>
        </p:nvSpPr>
        <p:spPr>
          <a:xfrm>
            <a:off x="557784" y="1186891"/>
            <a:ext cx="8028432" cy="2868778"/>
          </a:xfrm>
          <a:prstGeom prst="rect">
            <a:avLst/>
          </a:prstGeom>
          <a:noFill/>
          <a:ln/>
        </p:spPr>
        <p:txBody>
          <a:bodyPr wrap="square" lIns="0" tIns="0" rIns="0" bIns="0" rtlCol="0" anchor="t"/>
          <a:lstStyle/>
          <a:p>
            <a:pPr algn="l" indent="0" marL="0">
              <a:buNone/>
            </a:pPr>
            <a:r>
              <a:rPr lang="en-US" sz="1400" b="1" dirty="0">
                <a:solidFill>
                  <a:srgbClr val="E16D34"/>
                </a:solidFill>
                <a:latin typeface="Courier New" pitchFamily="34" charset="0"/>
                <a:ea typeface="Courier New" pitchFamily="34" charset="-122"/>
                <a:cs typeface="Courier New" pitchFamily="34" charset="-120"/>
              </a:rPr>
              <a:t>let</a:t>
            </a:r>
            <a:r>
              <a:rPr lang="en-US" sz="1400" b="1" dirty="0">
                <a:solidFill>
                  <a:srgbClr val="F0F0F0"/>
                </a:solidFill>
                <a:latin typeface="Courier New" pitchFamily="34" charset="0"/>
                <a:ea typeface="Courier New" pitchFamily="34" charset="-122"/>
                <a:cs typeface="Courier New" pitchFamily="34" charset="-120"/>
              </a:rPr>
              <a:t> op</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E16D34"/>
                </a:solidFill>
                <a:latin typeface="Courier New" pitchFamily="34" charset="0"/>
                <a:ea typeface="Courier New" pitchFamily="34" charset="-122"/>
                <a:cs typeface="Courier New" pitchFamily="34" charset="-120"/>
              </a:rPr>
              <a:t>do</a:t>
            </a:r>
            <a:r>
              <a:rPr lang="en-US" sz="1400" b="1" dirty="0">
                <a:solidFill>
                  <a:srgbClr val="F0F0F0"/>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console.</a:t>
            </a:r>
            <a:r>
              <a:rPr lang="en-US" sz="1400" b="1" dirty="0">
                <a:solidFill>
                  <a:srgbClr val="7CC4FF"/>
                </a:solidFill>
                <a:latin typeface="Courier New" pitchFamily="34" charset="0"/>
                <a:ea typeface="Courier New" pitchFamily="34" charset="-122"/>
                <a:cs typeface="Courier New" pitchFamily="34" charset="-120"/>
              </a:rPr>
              <a:t>log</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'\n[1] Adicionar  [2] Listar  [3] Atualizar'</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console.</a:t>
            </a:r>
            <a:r>
              <a:rPr lang="en-US" sz="1400" b="1" dirty="0">
                <a:solidFill>
                  <a:srgbClr val="7CC4FF"/>
                </a:solidFill>
                <a:latin typeface="Courier New" pitchFamily="34" charset="0"/>
                <a:ea typeface="Courier New" pitchFamily="34" charset="-122"/>
                <a:cs typeface="Courier New" pitchFamily="34" charset="-120"/>
              </a:rPr>
              <a:t>log</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'[4] Cancelar  [0] Sair'</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op = </a:t>
            </a:r>
            <a:r>
              <a:rPr lang="en-US" sz="1400" b="1" dirty="0">
                <a:solidFill>
                  <a:srgbClr val="7CC4FF"/>
                </a:solidFill>
                <a:latin typeface="Courier New" pitchFamily="34" charset="0"/>
                <a:ea typeface="Courier New" pitchFamily="34" charset="-122"/>
                <a:cs typeface="Courier New" pitchFamily="34" charset="-120"/>
              </a:rPr>
              <a:t>Number</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7CC4FF"/>
                </a:solidFill>
                <a:latin typeface="Courier New" pitchFamily="34" charset="0"/>
                <a:ea typeface="Courier New" pitchFamily="34" charset="-122"/>
                <a:cs typeface="Courier New" pitchFamily="34" charset="-120"/>
              </a:rPr>
              <a:t>prompt</a:t>
            </a:r>
            <a:r>
              <a:rPr lang="en-US" sz="1400" b="1" dirty="0">
                <a:solidFill>
                  <a:srgbClr val="F0F0F0"/>
                </a:solidFill>
                <a:latin typeface="Courier New" pitchFamily="34" charset="0"/>
                <a:ea typeface="Courier New" pitchFamily="34" charset="-122"/>
                <a:cs typeface="Courier New" pitchFamily="34" charset="-120"/>
              </a:rPr>
              <a:t>(</a:t>
            </a:r>
            <a:r>
              <a:rPr lang="en-US" sz="1400" b="1" dirty="0">
                <a:solidFill>
                  <a:srgbClr val="A8D8A8"/>
                </a:solidFill>
                <a:latin typeface="Courier New" pitchFamily="34" charset="0"/>
                <a:ea typeface="Courier New" pitchFamily="34" charset="-122"/>
                <a:cs typeface="Courier New" pitchFamily="34" charset="-120"/>
              </a:rPr>
              <a:t>'Escolha uma opção: '</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if</a:t>
            </a:r>
            <a:r>
              <a:rPr lang="en-US" sz="1400" b="1" dirty="0">
                <a:solidFill>
                  <a:srgbClr val="F0F0F0"/>
                </a:solidFill>
                <a:latin typeface="Courier New" pitchFamily="34" charset="0"/>
                <a:ea typeface="Courier New" pitchFamily="34" charset="-122"/>
                <a:cs typeface="Courier New" pitchFamily="34" charset="-120"/>
              </a:rPr>
              <a:t> (op === </a:t>
            </a:r>
            <a:r>
              <a:rPr lang="en-US" sz="1400" b="1" dirty="0">
                <a:solidFill>
                  <a:srgbClr val="F2C572"/>
                </a:solidFill>
                <a:latin typeface="Courier New" pitchFamily="34" charset="0"/>
                <a:ea typeface="Courier New" pitchFamily="34" charset="-122"/>
                <a:cs typeface="Courier New" pitchFamily="34" charset="-120"/>
              </a:rPr>
              <a:t>1</a:t>
            </a:r>
            <a:r>
              <a:rPr lang="en-US" sz="1400" b="1" dirty="0">
                <a:solidFill>
                  <a:srgbClr val="F0F0F0"/>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adicionar</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 </a:t>
            </a:r>
            <a:r>
              <a:rPr lang="en-US" sz="1400" b="1" dirty="0">
                <a:solidFill>
                  <a:srgbClr val="E16D34"/>
                </a:solidFill>
                <a:latin typeface="Courier New" pitchFamily="34" charset="0"/>
                <a:ea typeface="Courier New" pitchFamily="34" charset="-122"/>
                <a:cs typeface="Courier New" pitchFamily="34" charset="-120"/>
              </a:rPr>
              <a:t>else</a:t>
            </a: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if</a:t>
            </a:r>
            <a:r>
              <a:rPr lang="en-US" sz="1400" b="1" dirty="0">
                <a:solidFill>
                  <a:srgbClr val="F0F0F0"/>
                </a:solidFill>
                <a:latin typeface="Courier New" pitchFamily="34" charset="0"/>
                <a:ea typeface="Courier New" pitchFamily="34" charset="-122"/>
                <a:cs typeface="Courier New" pitchFamily="34" charset="-120"/>
              </a:rPr>
              <a:t> (op === </a:t>
            </a:r>
            <a:r>
              <a:rPr lang="en-US" sz="1400" b="1" dirty="0">
                <a:solidFill>
                  <a:srgbClr val="F2C572"/>
                </a:solidFill>
                <a:latin typeface="Courier New" pitchFamily="34" charset="0"/>
                <a:ea typeface="Courier New" pitchFamily="34" charset="-122"/>
                <a:cs typeface="Courier New" pitchFamily="34" charset="-120"/>
              </a:rPr>
              <a:t>2</a:t>
            </a:r>
            <a:r>
              <a:rPr lang="en-US" sz="1400" b="1" dirty="0">
                <a:solidFill>
                  <a:srgbClr val="F0F0F0"/>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dirty="0">
                <a:solidFill>
                  <a:srgbClr val="8B8B8B"/>
                </a:solidFill>
                <a:latin typeface="Courier New" pitchFamily="34" charset="0"/>
                <a:ea typeface="Courier New" pitchFamily="34" charset="-122"/>
                <a:cs typeface="Courier New" pitchFamily="34" charset="-120"/>
              </a:rPr>
              <a:t>// listar</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 </a:t>
            </a:r>
            <a:r>
              <a:rPr lang="en-US" sz="1400" dirty="0">
                <a:solidFill>
                  <a:srgbClr val="8B8B8B"/>
                </a:solidFill>
                <a:latin typeface="Courier New" pitchFamily="34" charset="0"/>
                <a:ea typeface="Courier New" pitchFamily="34" charset="-122"/>
                <a:cs typeface="Courier New" pitchFamily="34" charset="-120"/>
              </a:rPr>
              <a:t>// ...</a:t>
            </a:r>
            <a:endParaRPr lang="en-US" sz="1400" dirty="0"/>
          </a:p>
          <a:p>
            <a:pPr algn="l" indent="0" marL="0">
              <a:buNone/>
            </a:pPr>
            <a:r>
              <a:rPr lang="en-US" sz="1400" b="1" dirty="0">
                <a:solidFill>
                  <a:srgbClr val="F0F0F0"/>
                </a:solidFill>
                <a:latin typeface="Courier New" pitchFamily="34" charset="0"/>
                <a:ea typeface="Courier New" pitchFamily="34" charset="-122"/>
                <a:cs typeface="Courier New" pitchFamily="34" charset="-120"/>
              </a:rPr>
              <a:t>} </a:t>
            </a:r>
            <a:r>
              <a:rPr lang="en-US" sz="1400" b="1" dirty="0">
                <a:solidFill>
                  <a:srgbClr val="E16D34"/>
                </a:solidFill>
                <a:latin typeface="Courier New" pitchFamily="34" charset="0"/>
                <a:ea typeface="Courier New" pitchFamily="34" charset="-122"/>
                <a:cs typeface="Courier New" pitchFamily="34" charset="-120"/>
              </a:rPr>
              <a:t>while</a:t>
            </a:r>
            <a:r>
              <a:rPr lang="en-US" sz="1400" b="1" dirty="0">
                <a:solidFill>
                  <a:srgbClr val="F0F0F0"/>
                </a:solidFill>
                <a:latin typeface="Courier New" pitchFamily="34" charset="0"/>
                <a:ea typeface="Courier New" pitchFamily="34" charset="-122"/>
                <a:cs typeface="Courier New" pitchFamily="34" charset="-120"/>
              </a:rPr>
              <a:t> (op !== </a:t>
            </a:r>
            <a:r>
              <a:rPr lang="en-US" sz="1400" b="1" dirty="0">
                <a:solidFill>
                  <a:srgbClr val="F2C572"/>
                </a:solidFill>
                <a:latin typeface="Courier New" pitchFamily="34" charset="0"/>
                <a:ea typeface="Courier New" pitchFamily="34" charset="-122"/>
                <a:cs typeface="Courier New" pitchFamily="34" charset="-120"/>
              </a:rPr>
              <a:t>0</a:t>
            </a:r>
            <a:r>
              <a:rPr lang="en-US" sz="1400" b="1" dirty="0">
                <a:solidFill>
                  <a:srgbClr val="F0F0F0"/>
                </a:solidFill>
                <a:latin typeface="Courier New" pitchFamily="34" charset="0"/>
                <a:ea typeface="Courier New" pitchFamily="34" charset="-122"/>
                <a:cs typeface="Courier New" pitchFamily="34" charset="-120"/>
              </a:rPr>
              <a:t>)</a:t>
            </a:r>
            <a:endParaRPr lang="en-US" sz="140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Com </a:t>
            </a:r>
            <a:r>
              <a:rPr lang="en-US" sz="1400" b="1" dirty="0">
                <a:solidFill>
                  <a:srgbClr val="F7A072"/>
                </a:solidFill>
                <a:latin typeface="Courier New" pitchFamily="34" charset="0"/>
                <a:ea typeface="Courier New" pitchFamily="34" charset="-122"/>
                <a:cs typeface="Courier New" pitchFamily="34" charset="-120"/>
              </a:rPr>
              <a:t>let op = 0</a:t>
            </a:r>
            <a:r>
              <a:rPr lang="en-US" sz="1400" b="1" dirty="0">
                <a:solidFill>
                  <a:srgbClr val="E16D34"/>
                </a:solidFill>
                <a:latin typeface="Helvetica Neue" pitchFamily="34" charset="0"/>
                <a:ea typeface="Helvetica Neue" pitchFamily="34" charset="-122"/>
                <a:cs typeface="Helvetica Neue" pitchFamily="34" charset="-120"/>
              </a:rPr>
              <a:t> e </a:t>
            </a:r>
            <a:r>
              <a:rPr lang="en-US" sz="1400" b="1" dirty="0">
                <a:solidFill>
                  <a:srgbClr val="F7A072"/>
                </a:solidFill>
                <a:latin typeface="Courier New" pitchFamily="34" charset="0"/>
                <a:ea typeface="Courier New" pitchFamily="34" charset="-122"/>
                <a:cs typeface="Courier New" pitchFamily="34" charset="-120"/>
              </a:rPr>
              <a:t>while (op !== 0)</a:t>
            </a:r>
            <a:r>
              <a:rPr lang="en-US" sz="1400" b="1" dirty="0">
                <a:solidFill>
                  <a:srgbClr val="E16D34"/>
                </a:solidFill>
                <a:latin typeface="Helvetica Neue" pitchFamily="34" charset="0"/>
                <a:ea typeface="Helvetica Neue" pitchFamily="34" charset="-122"/>
                <a:cs typeface="Helvetica Neue" pitchFamily="34" charset="-120"/>
              </a:rPr>
              <a:t>, o menu </a:t>
            </a:r>
            <a:r>
              <a:rPr lang="en-US" sz="1400" b="1" dirty="0">
                <a:solidFill>
                  <a:srgbClr val="FFFFFF"/>
                </a:solidFill>
                <a:latin typeface="Helvetica Neue" pitchFamily="34" charset="0"/>
                <a:ea typeface="Helvetica Neue" pitchFamily="34" charset="-122"/>
                <a:cs typeface="Helvetica Neue" pitchFamily="34" charset="-120"/>
              </a:rPr>
              <a:t>nem apareceria</a:t>
            </a:r>
            <a:r>
              <a:rPr lang="en-US" sz="1400" b="1" dirty="0">
                <a:solidFill>
                  <a:srgbClr val="E16D34"/>
                </a:solidFill>
                <a:latin typeface="Helvetica Neue" pitchFamily="34" charset="0"/>
                <a:ea typeface="Helvetica Neue" pitchFamily="34" charset="-122"/>
                <a:cs typeface="Helvetica Neue" pitchFamily="34" charset="-120"/>
              </a:rPr>
              <a:t>. O </a:t>
            </a:r>
            <a:r>
              <a:rPr lang="en-US" sz="1400" b="1" dirty="0">
                <a:solidFill>
                  <a:srgbClr val="F7A072"/>
                </a:solidFill>
                <a:latin typeface="Courier New" pitchFamily="34" charset="0"/>
                <a:ea typeface="Courier New" pitchFamily="34" charset="-122"/>
                <a:cs typeface="Courier New" pitchFamily="34" charset="-120"/>
              </a:rPr>
              <a:t>do...while</a:t>
            </a:r>
            <a:r>
              <a:rPr lang="en-US" sz="1400" b="1" dirty="0">
                <a:solidFill>
                  <a:srgbClr val="E16D34"/>
                </a:solidFill>
                <a:latin typeface="Helvetica Neue" pitchFamily="34" charset="0"/>
                <a:ea typeface="Helvetica Neue" pitchFamily="34" charset="-122"/>
                <a:cs typeface="Helvetica Neue" pitchFamily="34" charset="-120"/>
              </a:rPr>
              <a:t> mostra o menu pelo menos uma vez.</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O que cada opção faz?</a:t>
            </a:r>
            <a:endParaRPr lang="en-US" sz="3000" dirty="0"/>
          </a:p>
        </p:txBody>
      </p:sp>
      <p:sp>
        <p:nvSpPr>
          <p:cNvPr id="5" name="Shape 2"/>
          <p:cNvSpPr/>
          <p:nvPr/>
        </p:nvSpPr>
        <p:spPr>
          <a:xfrm>
            <a:off x="411480" y="1316736"/>
            <a:ext cx="2590800" cy="1472184"/>
          </a:xfrm>
          <a:prstGeom prst="roundRect">
            <a:avLst>
              <a:gd name="adj" fmla="val 6211"/>
            </a:avLst>
          </a:prstGeom>
          <a:solidFill>
            <a:srgbClr val="1A1A1A"/>
          </a:solidFill>
          <a:ln w="6350">
            <a:solidFill>
              <a:srgbClr val="1A1A1A"/>
            </a:solidFill>
            <a:prstDash val="solid"/>
          </a:ln>
        </p:spPr>
      </p:sp>
      <p:sp>
        <p:nvSpPr>
          <p:cNvPr id="6" name="Text 3"/>
          <p:cNvSpPr txBox="1"/>
          <p:nvPr/>
        </p:nvSpPr>
        <p:spPr>
          <a:xfrm>
            <a:off x="594360" y="1499616"/>
            <a:ext cx="2225040" cy="384048"/>
          </a:xfrm>
          <a:prstGeom prst="rect">
            <a:avLst/>
          </a:prstGeom>
          <a:noFill/>
          <a:ln/>
        </p:spPr>
        <p:txBody>
          <a:bodyPr wrap="square" lIns="0" tIns="0" rIns="0" bIns="0" rtlCol="0" anchor="ctr"/>
          <a:lstStyle/>
          <a:p>
            <a:pPr algn="l" indent="0" marL="0">
              <a:buNone/>
            </a:pPr>
            <a:r>
              <a:rPr lang="en-US" sz="1600" b="1" dirty="0">
                <a:solidFill>
                  <a:srgbClr val="E16D34"/>
                </a:solidFill>
                <a:latin typeface="Courier New" pitchFamily="34" charset="0"/>
                <a:ea typeface="Courier New" pitchFamily="34" charset="-122"/>
                <a:cs typeface="Courier New" pitchFamily="34" charset="-120"/>
              </a:rPr>
              <a:t>1</a:t>
            </a:r>
            <a:r>
              <a:rPr lang="en-US" sz="1600" b="1" dirty="0">
                <a:solidFill>
                  <a:srgbClr val="E16D34"/>
                </a:solidFill>
                <a:latin typeface="Helvetica Neue" pitchFamily="34" charset="0"/>
                <a:ea typeface="Helvetica Neue" pitchFamily="34" charset="-122"/>
                <a:cs typeface="Helvetica Neue" pitchFamily="34" charset="-120"/>
              </a:rPr>
              <a:t>  Adicionar</a:t>
            </a:r>
            <a:endParaRPr lang="en-US" sz="1600" dirty="0"/>
          </a:p>
        </p:txBody>
      </p:sp>
      <p:sp>
        <p:nvSpPr>
          <p:cNvPr id="7" name="Text 4"/>
          <p:cNvSpPr txBox="1"/>
          <p:nvPr/>
        </p:nvSpPr>
        <p:spPr>
          <a:xfrm>
            <a:off x="594360" y="1975104"/>
            <a:ext cx="2225040" cy="63093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Lê os quatro campos, monta o objeto e usa </a:t>
            </a:r>
            <a:r>
              <a:rPr lang="en-US" sz="1300" b="1" dirty="0">
                <a:solidFill>
                  <a:srgbClr val="F7A072"/>
                </a:solidFill>
                <a:latin typeface="Courier New" pitchFamily="34" charset="0"/>
                <a:ea typeface="Courier New" pitchFamily="34" charset="-122"/>
                <a:cs typeface="Courier New" pitchFamily="34" charset="-120"/>
              </a:rPr>
              <a:t>push</a:t>
            </a:r>
            <a:r>
              <a:rPr lang="en-US" sz="1300" b="1" dirty="0">
                <a:solidFill>
                  <a:srgbClr val="E6E6E6"/>
                </a:solidFill>
                <a:latin typeface="Helvetica Neue" pitchFamily="34" charset="0"/>
                <a:ea typeface="Helvetica Neue" pitchFamily="34" charset="-122"/>
                <a:cs typeface="Helvetica Neue" pitchFamily="34" charset="-120"/>
              </a:rPr>
              <a:t>.</a:t>
            </a:r>
            <a:endParaRPr lang="en-US" sz="1300" dirty="0"/>
          </a:p>
        </p:txBody>
      </p:sp>
      <p:sp>
        <p:nvSpPr>
          <p:cNvPr id="8" name="Shape 5"/>
          <p:cNvSpPr/>
          <p:nvPr/>
        </p:nvSpPr>
        <p:spPr>
          <a:xfrm>
            <a:off x="3276600" y="1316736"/>
            <a:ext cx="2590800" cy="1472184"/>
          </a:xfrm>
          <a:prstGeom prst="roundRect">
            <a:avLst>
              <a:gd name="adj" fmla="val 6211"/>
            </a:avLst>
          </a:prstGeom>
          <a:solidFill>
            <a:srgbClr val="1A1A1A"/>
          </a:solidFill>
          <a:ln w="6350">
            <a:solidFill>
              <a:srgbClr val="1A1A1A"/>
            </a:solidFill>
            <a:prstDash val="solid"/>
          </a:ln>
        </p:spPr>
      </p:sp>
      <p:sp>
        <p:nvSpPr>
          <p:cNvPr id="9" name="Text 6"/>
          <p:cNvSpPr txBox="1"/>
          <p:nvPr/>
        </p:nvSpPr>
        <p:spPr>
          <a:xfrm>
            <a:off x="3459480" y="1499616"/>
            <a:ext cx="222504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Courier New" pitchFamily="34" charset="0"/>
                <a:ea typeface="Courier New" pitchFamily="34" charset="-122"/>
                <a:cs typeface="Courier New" pitchFamily="34" charset="-120"/>
              </a:rPr>
              <a:t>2</a:t>
            </a:r>
            <a:r>
              <a:rPr lang="en-US" sz="1600" b="1" dirty="0">
                <a:solidFill>
                  <a:srgbClr val="FFFFFF"/>
                </a:solidFill>
                <a:latin typeface="Helvetica Neue" pitchFamily="34" charset="0"/>
                <a:ea typeface="Helvetica Neue" pitchFamily="34" charset="-122"/>
                <a:cs typeface="Helvetica Neue" pitchFamily="34" charset="-120"/>
              </a:rPr>
              <a:t>  Listar</a:t>
            </a:r>
            <a:endParaRPr lang="en-US" sz="1600" dirty="0"/>
          </a:p>
        </p:txBody>
      </p:sp>
      <p:sp>
        <p:nvSpPr>
          <p:cNvPr id="10" name="Text 7"/>
          <p:cNvSpPr txBox="1"/>
          <p:nvPr/>
        </p:nvSpPr>
        <p:spPr>
          <a:xfrm>
            <a:off x="3459480" y="1975104"/>
            <a:ext cx="2225040" cy="63093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Mostra cada consulta com um número na frente: 1, 2, 3…</a:t>
            </a:r>
            <a:endParaRPr lang="en-US" sz="1300" dirty="0"/>
          </a:p>
        </p:txBody>
      </p:sp>
      <p:sp>
        <p:nvSpPr>
          <p:cNvPr id="11" name="Shape 8"/>
          <p:cNvSpPr/>
          <p:nvPr/>
        </p:nvSpPr>
        <p:spPr>
          <a:xfrm>
            <a:off x="6141720" y="1316736"/>
            <a:ext cx="2590800" cy="1472184"/>
          </a:xfrm>
          <a:prstGeom prst="roundRect">
            <a:avLst>
              <a:gd name="adj" fmla="val 6211"/>
            </a:avLst>
          </a:prstGeom>
          <a:solidFill>
            <a:srgbClr val="1A1A1A"/>
          </a:solidFill>
          <a:ln w="6350">
            <a:solidFill>
              <a:srgbClr val="1A1A1A"/>
            </a:solidFill>
            <a:prstDash val="solid"/>
          </a:ln>
        </p:spPr>
      </p:sp>
      <p:sp>
        <p:nvSpPr>
          <p:cNvPr id="12" name="Text 9"/>
          <p:cNvSpPr txBox="1"/>
          <p:nvPr/>
        </p:nvSpPr>
        <p:spPr>
          <a:xfrm>
            <a:off x="6324600" y="1499616"/>
            <a:ext cx="2225040" cy="384048"/>
          </a:xfrm>
          <a:prstGeom prst="rect">
            <a:avLst/>
          </a:prstGeom>
          <a:noFill/>
          <a:ln/>
        </p:spPr>
        <p:txBody>
          <a:bodyPr wrap="square" lIns="0" tIns="0" rIns="0" bIns="0" rtlCol="0" anchor="ctr"/>
          <a:lstStyle/>
          <a:p>
            <a:pPr algn="l" indent="0" marL="0">
              <a:buNone/>
            </a:pPr>
            <a:r>
              <a:rPr lang="en-US" sz="1600" b="1" dirty="0">
                <a:solidFill>
                  <a:srgbClr val="F7A072"/>
                </a:solidFill>
                <a:latin typeface="Courier New" pitchFamily="34" charset="0"/>
                <a:ea typeface="Courier New" pitchFamily="34" charset="-122"/>
                <a:cs typeface="Courier New" pitchFamily="34" charset="-120"/>
              </a:rPr>
              <a:t>3</a:t>
            </a:r>
            <a:r>
              <a:rPr lang="en-US" sz="1600" b="1" dirty="0">
                <a:solidFill>
                  <a:srgbClr val="F7A072"/>
                </a:solidFill>
                <a:latin typeface="Helvetica Neue" pitchFamily="34" charset="0"/>
                <a:ea typeface="Helvetica Neue" pitchFamily="34" charset="-122"/>
                <a:cs typeface="Helvetica Neue" pitchFamily="34" charset="-120"/>
              </a:rPr>
              <a:t>  Atualizar</a:t>
            </a:r>
            <a:endParaRPr lang="en-US" sz="1600" dirty="0"/>
          </a:p>
        </p:txBody>
      </p:sp>
      <p:sp>
        <p:nvSpPr>
          <p:cNvPr id="13" name="Text 10"/>
          <p:cNvSpPr txBox="1"/>
          <p:nvPr/>
        </p:nvSpPr>
        <p:spPr>
          <a:xfrm>
            <a:off x="6324600" y="1975104"/>
            <a:ext cx="2225040" cy="63093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O usuário escolhe a consulta pelo número da listagem.</a:t>
            </a:r>
            <a:endParaRPr lang="en-US" sz="1300" dirty="0"/>
          </a:p>
        </p:txBody>
      </p:sp>
      <p:sp>
        <p:nvSpPr>
          <p:cNvPr id="14" name="Shape 11"/>
          <p:cNvSpPr/>
          <p:nvPr/>
        </p:nvSpPr>
        <p:spPr>
          <a:xfrm>
            <a:off x="1844040" y="2990088"/>
            <a:ext cx="2590800" cy="1472184"/>
          </a:xfrm>
          <a:prstGeom prst="roundRect">
            <a:avLst>
              <a:gd name="adj" fmla="val 6211"/>
            </a:avLst>
          </a:prstGeom>
          <a:solidFill>
            <a:srgbClr val="1A1A1A"/>
          </a:solidFill>
          <a:ln w="6350">
            <a:solidFill>
              <a:srgbClr val="1A1A1A"/>
            </a:solidFill>
            <a:prstDash val="solid"/>
          </a:ln>
        </p:spPr>
      </p:sp>
      <p:sp>
        <p:nvSpPr>
          <p:cNvPr id="15" name="Text 12"/>
          <p:cNvSpPr txBox="1"/>
          <p:nvPr/>
        </p:nvSpPr>
        <p:spPr>
          <a:xfrm>
            <a:off x="2026920" y="3172968"/>
            <a:ext cx="2225040" cy="384048"/>
          </a:xfrm>
          <a:prstGeom prst="rect">
            <a:avLst/>
          </a:prstGeom>
          <a:noFill/>
          <a:ln/>
        </p:spPr>
        <p:txBody>
          <a:bodyPr wrap="square" lIns="0" tIns="0" rIns="0" bIns="0" rtlCol="0" anchor="ctr"/>
          <a:lstStyle/>
          <a:p>
            <a:pPr algn="l" indent="0" marL="0">
              <a:buNone/>
            </a:pPr>
            <a:r>
              <a:rPr lang="en-US" sz="1600" b="1" dirty="0">
                <a:solidFill>
                  <a:srgbClr val="F85149"/>
                </a:solidFill>
                <a:latin typeface="Courier New" pitchFamily="34" charset="0"/>
                <a:ea typeface="Courier New" pitchFamily="34" charset="-122"/>
                <a:cs typeface="Courier New" pitchFamily="34" charset="-120"/>
              </a:rPr>
              <a:t>4</a:t>
            </a:r>
            <a:r>
              <a:rPr lang="en-US" sz="1600" b="1" dirty="0">
                <a:solidFill>
                  <a:srgbClr val="F85149"/>
                </a:solidFill>
                <a:latin typeface="Helvetica Neue" pitchFamily="34" charset="0"/>
                <a:ea typeface="Helvetica Neue" pitchFamily="34" charset="-122"/>
                <a:cs typeface="Helvetica Neue" pitchFamily="34" charset="-120"/>
              </a:rPr>
              <a:t>  Cancelar</a:t>
            </a:r>
            <a:endParaRPr lang="en-US" sz="1600" dirty="0"/>
          </a:p>
        </p:txBody>
      </p:sp>
      <p:sp>
        <p:nvSpPr>
          <p:cNvPr id="16" name="Text 13"/>
          <p:cNvSpPr txBox="1"/>
          <p:nvPr/>
        </p:nvSpPr>
        <p:spPr>
          <a:xfrm>
            <a:off x="2026920" y="3648456"/>
            <a:ext cx="2225040" cy="43281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Remove a consulta escolhida com </a:t>
            </a:r>
            <a:r>
              <a:rPr lang="en-US" sz="1300" b="1" dirty="0">
                <a:solidFill>
                  <a:srgbClr val="F7A072"/>
                </a:solidFill>
                <a:latin typeface="Courier New" pitchFamily="34" charset="0"/>
                <a:ea typeface="Courier New" pitchFamily="34" charset="-122"/>
                <a:cs typeface="Courier New" pitchFamily="34" charset="-120"/>
              </a:rPr>
              <a:t>splice</a:t>
            </a:r>
            <a:r>
              <a:rPr lang="en-US" sz="1300" b="1" dirty="0">
                <a:solidFill>
                  <a:srgbClr val="E6E6E6"/>
                </a:solidFill>
                <a:latin typeface="Helvetica Neue" pitchFamily="34" charset="0"/>
                <a:ea typeface="Helvetica Neue" pitchFamily="34" charset="-122"/>
                <a:cs typeface="Helvetica Neue" pitchFamily="34" charset="-120"/>
              </a:rPr>
              <a:t>.</a:t>
            </a:r>
            <a:endParaRPr lang="en-US" sz="1300" dirty="0"/>
          </a:p>
        </p:txBody>
      </p:sp>
      <p:sp>
        <p:nvSpPr>
          <p:cNvPr id="17" name="Shape 14"/>
          <p:cNvSpPr/>
          <p:nvPr/>
        </p:nvSpPr>
        <p:spPr>
          <a:xfrm>
            <a:off x="4709160" y="2990088"/>
            <a:ext cx="2590800" cy="1472184"/>
          </a:xfrm>
          <a:prstGeom prst="roundRect">
            <a:avLst>
              <a:gd name="adj" fmla="val 6211"/>
            </a:avLst>
          </a:prstGeom>
          <a:solidFill>
            <a:srgbClr val="1A1A1A"/>
          </a:solidFill>
          <a:ln w="6350">
            <a:solidFill>
              <a:srgbClr val="1A1A1A"/>
            </a:solidFill>
            <a:prstDash val="solid"/>
          </a:ln>
        </p:spPr>
      </p:sp>
      <p:sp>
        <p:nvSpPr>
          <p:cNvPr id="18" name="Text 15"/>
          <p:cNvSpPr txBox="1"/>
          <p:nvPr/>
        </p:nvSpPr>
        <p:spPr>
          <a:xfrm>
            <a:off x="4892040" y="3172968"/>
            <a:ext cx="2225040" cy="384048"/>
          </a:xfrm>
          <a:prstGeom prst="rect">
            <a:avLst/>
          </a:prstGeom>
          <a:noFill/>
          <a:ln/>
        </p:spPr>
        <p:txBody>
          <a:bodyPr wrap="square" lIns="0" tIns="0" rIns="0" bIns="0" rtlCol="0" anchor="ctr"/>
          <a:lstStyle/>
          <a:p>
            <a:pPr algn="l" indent="0" marL="0">
              <a:buNone/>
            </a:pPr>
            <a:r>
              <a:rPr lang="en-US" sz="1600" b="1" dirty="0">
                <a:solidFill>
                  <a:srgbClr val="E16D34"/>
                </a:solidFill>
                <a:latin typeface="Courier New" pitchFamily="34" charset="0"/>
                <a:ea typeface="Courier New" pitchFamily="34" charset="-122"/>
                <a:cs typeface="Courier New" pitchFamily="34" charset="-120"/>
              </a:rPr>
              <a:t>0</a:t>
            </a:r>
            <a:r>
              <a:rPr lang="en-US" sz="1600" b="1" dirty="0">
                <a:solidFill>
                  <a:srgbClr val="E16D34"/>
                </a:solidFill>
                <a:latin typeface="Helvetica Neue" pitchFamily="34" charset="0"/>
                <a:ea typeface="Helvetica Neue" pitchFamily="34" charset="-122"/>
                <a:cs typeface="Helvetica Neue" pitchFamily="34" charset="-120"/>
              </a:rPr>
              <a:t>  Sair</a:t>
            </a:r>
            <a:endParaRPr lang="en-US" sz="1600" dirty="0"/>
          </a:p>
        </p:txBody>
      </p:sp>
      <p:sp>
        <p:nvSpPr>
          <p:cNvPr id="19" name="Text 16"/>
          <p:cNvSpPr txBox="1"/>
          <p:nvPr/>
        </p:nvSpPr>
        <p:spPr>
          <a:xfrm>
            <a:off x="4892040" y="3648456"/>
            <a:ext cx="2225040" cy="43281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Encerra o laço e o programa.</a:t>
            </a:r>
            <a:endParaRPr lang="en-US" sz="13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Listando as consultas</a:t>
            </a:r>
            <a:endParaRPr lang="en-US" sz="3000" dirty="0"/>
          </a:p>
        </p:txBody>
      </p:sp>
      <p:sp>
        <p:nvSpPr>
          <p:cNvPr id="5" name="Shape 2"/>
          <p:cNvSpPr/>
          <p:nvPr/>
        </p:nvSpPr>
        <p:spPr>
          <a:xfrm>
            <a:off x="411480" y="1397508"/>
            <a:ext cx="8321040" cy="2660904"/>
          </a:xfrm>
          <a:prstGeom prst="roundRect">
            <a:avLst>
              <a:gd name="adj" fmla="val 2749"/>
            </a:avLst>
          </a:prstGeom>
          <a:solidFill>
            <a:srgbClr val="121212"/>
          </a:solidFill>
          <a:ln w="9525">
            <a:solidFill>
              <a:srgbClr val="2E2E2E"/>
            </a:solidFill>
            <a:prstDash val="solid"/>
          </a:ln>
        </p:spPr>
      </p:sp>
      <p:sp>
        <p:nvSpPr>
          <p:cNvPr id="6" name="Text 3"/>
          <p:cNvSpPr txBox="1"/>
          <p:nvPr/>
        </p:nvSpPr>
        <p:spPr>
          <a:xfrm>
            <a:off x="557784" y="1514551"/>
            <a:ext cx="8028432" cy="242681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if</a:t>
            </a:r>
            <a:r>
              <a:rPr lang="en-US" sz="1700" b="1" dirty="0">
                <a:solidFill>
                  <a:srgbClr val="F0F0F0"/>
                </a:solidFill>
                <a:latin typeface="Courier New" pitchFamily="34" charset="0"/>
                <a:ea typeface="Courier New" pitchFamily="34" charset="-122"/>
                <a:cs typeface="Courier New" pitchFamily="34" charset="-120"/>
              </a:rPr>
              <a:t> (consultas.length === </a:t>
            </a:r>
            <a:r>
              <a:rPr lang="en-US" sz="1700" b="1" dirty="0">
                <a:solidFill>
                  <a:srgbClr val="F2C572"/>
                </a:solidFill>
                <a:latin typeface="Courier New" pitchFamily="34" charset="0"/>
                <a:ea typeface="Courier New" pitchFamily="34" charset="-122"/>
                <a:cs typeface="Courier New" pitchFamily="34" charset="-120"/>
              </a:rPr>
              <a:t>0</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'Nenhuma consulta agendada.'</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else</a:t>
            </a: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for</a:t>
            </a: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i = </a:t>
            </a:r>
            <a:r>
              <a:rPr lang="en-US" sz="1700" b="1" dirty="0">
                <a:solidFill>
                  <a:srgbClr val="F2C572"/>
                </a:solidFill>
                <a:latin typeface="Courier New" pitchFamily="34" charset="0"/>
                <a:ea typeface="Courier New" pitchFamily="34" charset="-122"/>
                <a:cs typeface="Courier New" pitchFamily="34" charset="-120"/>
              </a:rPr>
              <a:t>0</a:t>
            </a:r>
            <a:r>
              <a:rPr lang="en-US" sz="1700" b="1" dirty="0">
                <a:solidFill>
                  <a:srgbClr val="F0F0F0"/>
                </a:solidFill>
                <a:latin typeface="Courier New" pitchFamily="34" charset="0"/>
                <a:ea typeface="Courier New" pitchFamily="34" charset="-122"/>
                <a:cs typeface="Courier New" pitchFamily="34" charset="-120"/>
              </a:rPr>
              <a:t>; i &lt; consultas.length; i++)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c = consultas[i]</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`${i + 1}. ${c.paciente} - ${c.medico}`</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console.</a:t>
            </a:r>
            <a:r>
              <a:rPr lang="en-US" sz="1700" b="1" dirty="0">
                <a:solidFill>
                  <a:srgbClr val="7CC4FF"/>
                </a:solidFill>
                <a:latin typeface="Courier New" pitchFamily="34" charset="0"/>
                <a:ea typeface="Courier New" pitchFamily="34" charset="-122"/>
                <a:cs typeface="Courier New" pitchFamily="34" charset="-120"/>
              </a:rPr>
              <a:t>log</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   ${c.data} - ${c.hora}`</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a:t>
            </a:r>
            <a:endParaRPr lang="en-US" sz="1700" dirty="0"/>
          </a:p>
        </p:txBody>
      </p:sp>
      <p:sp>
        <p:nvSpPr>
          <p:cNvPr id="7" name="Text 4"/>
          <p:cNvSpPr txBox="1"/>
          <p:nvPr/>
        </p:nvSpPr>
        <p:spPr>
          <a:xfrm>
            <a:off x="548640" y="4450080"/>
            <a:ext cx="8046720" cy="30480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O </a:t>
            </a:r>
            <a:r>
              <a:rPr lang="en-US" sz="1400" b="1" dirty="0">
                <a:solidFill>
                  <a:srgbClr val="F7A072"/>
                </a:solidFill>
                <a:latin typeface="Courier New" pitchFamily="34" charset="0"/>
                <a:ea typeface="Courier New" pitchFamily="34" charset="-122"/>
                <a:cs typeface="Courier New" pitchFamily="34" charset="-120"/>
              </a:rPr>
              <a:t>i + 1</a:t>
            </a:r>
            <a:r>
              <a:rPr lang="en-US" sz="1400" b="1" dirty="0">
                <a:solidFill>
                  <a:srgbClr val="E16D34"/>
                </a:solidFill>
                <a:latin typeface="Helvetica Neue" pitchFamily="34" charset="0"/>
                <a:ea typeface="Helvetica Neue" pitchFamily="34" charset="-122"/>
                <a:cs typeface="Helvetica Neue" pitchFamily="34" charset="-120"/>
              </a:rPr>
              <a:t> faz a listagem começar em 1, mesmo com o array começando em 0.</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2500" b="1" dirty="0">
                <a:solidFill>
                  <a:srgbClr val="E16D34"/>
                </a:solidFill>
                <a:latin typeface="Montserrat" pitchFamily="34" charset="0"/>
                <a:ea typeface="Montserrat" pitchFamily="34" charset="-122"/>
                <a:cs typeface="Montserrat" pitchFamily="34" charset="-120"/>
              </a:rPr>
              <a:t>Número da consulta x posição no array</a:t>
            </a:r>
            <a:endParaRPr lang="en-US" sz="2500" dirty="0"/>
          </a:p>
        </p:txBody>
      </p:sp>
      <p:sp>
        <p:nvSpPr>
          <p:cNvPr id="5" name="Text 2"/>
          <p:cNvSpPr txBox="1"/>
          <p:nvPr/>
        </p:nvSpPr>
        <p:spPr>
          <a:xfrm>
            <a:off x="365760" y="1754886"/>
            <a:ext cx="4069080" cy="329184"/>
          </a:xfrm>
          <a:prstGeom prst="rect">
            <a:avLst/>
          </a:prstGeom>
          <a:noFill/>
          <a:ln/>
        </p:spPr>
        <p:txBody>
          <a:bodyPr wrap="square" lIns="0" tIns="0" rIns="0" bIns="0" rtlCol="0" anchor="ctr"/>
          <a:lstStyle/>
          <a:p>
            <a:pPr algn="l" indent="0" marL="0">
              <a:buNone/>
            </a:pPr>
            <a:r>
              <a:rPr lang="en-US" sz="1500" b="1" dirty="0">
                <a:solidFill>
                  <a:srgbClr val="E16D34"/>
                </a:solidFill>
                <a:latin typeface="Helvetica Neue" pitchFamily="34" charset="0"/>
                <a:ea typeface="Helvetica Neue" pitchFamily="34" charset="-122"/>
                <a:cs typeface="Helvetica Neue" pitchFamily="34" charset="-120"/>
              </a:rPr>
              <a:t>O usuário vê a listagem</a:t>
            </a:r>
            <a:endParaRPr lang="en-US" sz="1500" dirty="0"/>
          </a:p>
        </p:txBody>
      </p:sp>
      <p:sp>
        <p:nvSpPr>
          <p:cNvPr id="6" name="Shape 3"/>
          <p:cNvSpPr/>
          <p:nvPr/>
        </p:nvSpPr>
        <p:spPr>
          <a:xfrm>
            <a:off x="365760" y="2129790"/>
            <a:ext cx="4069080" cy="1357884"/>
          </a:xfrm>
          <a:prstGeom prst="roundRect">
            <a:avLst>
              <a:gd name="adj" fmla="val 5387"/>
            </a:avLst>
          </a:prstGeom>
          <a:solidFill>
            <a:srgbClr val="121212"/>
          </a:solidFill>
          <a:ln w="9525">
            <a:solidFill>
              <a:srgbClr val="2E2E2E"/>
            </a:solidFill>
            <a:prstDash val="solid"/>
          </a:ln>
        </p:spPr>
      </p:sp>
      <p:sp>
        <p:nvSpPr>
          <p:cNvPr id="7" name="Text 4"/>
          <p:cNvSpPr txBox="1"/>
          <p:nvPr/>
        </p:nvSpPr>
        <p:spPr>
          <a:xfrm>
            <a:off x="512064" y="2246833"/>
            <a:ext cx="3776472" cy="1123798"/>
          </a:xfrm>
          <a:prstGeom prst="rect">
            <a:avLst/>
          </a:prstGeom>
          <a:noFill/>
          <a:ln/>
        </p:spPr>
        <p:txBody>
          <a:bodyPr wrap="square" lIns="0" tIns="0" rIns="0" bIns="0" rtlCol="0" anchor="t"/>
          <a:lstStyle/>
          <a:p>
            <a:pPr algn="l" indent="0" marL="0">
              <a:buNone/>
            </a:pPr>
            <a:r>
              <a:rPr lang="en-US" sz="1350" b="1" dirty="0">
                <a:solidFill>
                  <a:srgbClr val="E6E6E6"/>
                </a:solidFill>
                <a:latin typeface="Courier New" pitchFamily="34" charset="0"/>
                <a:ea typeface="Courier New" pitchFamily="34" charset="-122"/>
                <a:cs typeface="Courier New" pitchFamily="34" charset="-120"/>
              </a:rPr>
              <a:t>1. Maria - Dr. Carlos</a:t>
            </a:r>
            <a:endParaRPr lang="en-US" sz="1350" dirty="0"/>
          </a:p>
          <a:p>
            <a:pPr algn="l" indent="0" marL="0">
              <a:buNone/>
            </a:pPr>
            <a:r>
              <a:rPr lang="en-US" sz="1350" b="1" dirty="0">
                <a:solidFill>
                  <a:srgbClr val="E6E6E6"/>
                </a:solidFill>
                <a:latin typeface="Courier New" pitchFamily="34" charset="0"/>
                <a:ea typeface="Courier New" pitchFamily="34" charset="-122"/>
                <a:cs typeface="Courier New" pitchFamily="34" charset="-120"/>
              </a:rPr>
              <a:t>   2026-10-05 - 14:30</a:t>
            </a:r>
            <a:endParaRPr lang="en-US" sz="1350" dirty="0"/>
          </a:p>
          <a:p>
            <a:pPr algn="l" indent="0" marL="0">
              <a:buNone/>
            </a:pPr>
            <a:r>
              <a:rPr lang="en-US" sz="1350" b="1" dirty="0">
                <a:solidFill>
                  <a:srgbClr val="E6E6E6"/>
                </a:solidFill>
                <a:latin typeface="Courier New" pitchFamily="34" charset="0"/>
                <a:ea typeface="Courier New" pitchFamily="34" charset="-122"/>
                <a:cs typeface="Courier New" pitchFamily="34" charset="-120"/>
              </a:rPr>
              <a:t>2. João - Dra. Ana</a:t>
            </a:r>
            <a:endParaRPr lang="en-US" sz="1350" dirty="0"/>
          </a:p>
          <a:p>
            <a:pPr algn="l" indent="0" marL="0">
              <a:buNone/>
            </a:pPr>
            <a:r>
              <a:rPr lang="en-US" sz="1350" b="1" dirty="0">
                <a:solidFill>
                  <a:srgbClr val="E6E6E6"/>
                </a:solidFill>
                <a:latin typeface="Courier New" pitchFamily="34" charset="0"/>
                <a:ea typeface="Courier New" pitchFamily="34" charset="-122"/>
                <a:cs typeface="Courier New" pitchFamily="34" charset="-120"/>
              </a:rPr>
              <a:t>   2026-10-06 - 09:00</a:t>
            </a:r>
            <a:endParaRPr lang="en-US" sz="1350" dirty="0"/>
          </a:p>
        </p:txBody>
      </p:sp>
      <p:sp>
        <p:nvSpPr>
          <p:cNvPr id="8" name="Text 5"/>
          <p:cNvSpPr txBox="1"/>
          <p:nvPr/>
        </p:nvSpPr>
        <p:spPr>
          <a:xfrm>
            <a:off x="4709160" y="1754886"/>
            <a:ext cx="40690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Helvetica Neue" pitchFamily="34" charset="0"/>
                <a:ea typeface="Helvetica Neue" pitchFamily="34" charset="-122"/>
                <a:cs typeface="Helvetica Neue" pitchFamily="34" charset="-120"/>
              </a:rPr>
              <a:t>No código</a:t>
            </a:r>
            <a:endParaRPr lang="en-US" sz="1500" dirty="0"/>
          </a:p>
        </p:txBody>
      </p:sp>
      <p:sp>
        <p:nvSpPr>
          <p:cNvPr id="9" name="Shape 6"/>
          <p:cNvSpPr/>
          <p:nvPr/>
        </p:nvSpPr>
        <p:spPr>
          <a:xfrm>
            <a:off x="4709160" y="2129790"/>
            <a:ext cx="4069080" cy="1357884"/>
          </a:xfrm>
          <a:prstGeom prst="roundRect">
            <a:avLst>
              <a:gd name="adj" fmla="val 5387"/>
            </a:avLst>
          </a:prstGeom>
          <a:solidFill>
            <a:srgbClr val="121212"/>
          </a:solidFill>
          <a:ln w="9525">
            <a:solidFill>
              <a:srgbClr val="2E2E2E"/>
            </a:solidFill>
            <a:prstDash val="solid"/>
          </a:ln>
        </p:spPr>
      </p:sp>
      <p:sp>
        <p:nvSpPr>
          <p:cNvPr id="10" name="Text 7"/>
          <p:cNvSpPr txBox="1"/>
          <p:nvPr/>
        </p:nvSpPr>
        <p:spPr>
          <a:xfrm>
            <a:off x="4855464" y="2246833"/>
            <a:ext cx="3776472" cy="1123798"/>
          </a:xfrm>
          <a:prstGeom prst="rect">
            <a:avLst/>
          </a:prstGeom>
          <a:noFill/>
          <a:ln/>
        </p:spPr>
        <p:txBody>
          <a:bodyPr wrap="square" lIns="0" tIns="0" rIns="0" bIns="0" rtlCol="0" anchor="t"/>
          <a:lstStyle/>
          <a:p>
            <a:pPr algn="l" indent="0" marL="0">
              <a:buNone/>
            </a:pPr>
            <a:r>
              <a:rPr lang="en-US" sz="1350" b="1" dirty="0">
                <a:solidFill>
                  <a:srgbClr val="E16D34"/>
                </a:solidFill>
                <a:latin typeface="Courier New" pitchFamily="34" charset="0"/>
                <a:ea typeface="Courier New" pitchFamily="34" charset="-122"/>
                <a:cs typeface="Courier New" pitchFamily="34" charset="-120"/>
              </a:rPr>
              <a:t>let</a:t>
            </a:r>
            <a:r>
              <a:rPr lang="en-US" sz="1350" b="1" dirty="0">
                <a:solidFill>
                  <a:srgbClr val="F0F0F0"/>
                </a:solidFill>
                <a:latin typeface="Courier New" pitchFamily="34" charset="0"/>
                <a:ea typeface="Courier New" pitchFamily="34" charset="-122"/>
                <a:cs typeface="Courier New" pitchFamily="34" charset="-120"/>
              </a:rPr>
              <a:t> num = </a:t>
            </a:r>
            <a:r>
              <a:rPr lang="en-US" sz="1350" b="1" dirty="0">
                <a:solidFill>
                  <a:srgbClr val="7CC4FF"/>
                </a:solidFill>
                <a:latin typeface="Courier New" pitchFamily="34" charset="0"/>
                <a:ea typeface="Courier New" pitchFamily="34" charset="-122"/>
                <a:cs typeface="Courier New" pitchFamily="34" charset="-120"/>
              </a:rPr>
              <a:t>Number</a:t>
            </a:r>
            <a:r>
              <a:rPr lang="en-US" sz="1350" b="1" dirty="0">
                <a:solidFill>
                  <a:srgbClr val="F0F0F0"/>
                </a:solidFill>
                <a:latin typeface="Courier New" pitchFamily="34" charset="0"/>
                <a:ea typeface="Courier New" pitchFamily="34" charset="-122"/>
                <a:cs typeface="Courier New" pitchFamily="34" charset="-120"/>
              </a:rPr>
              <a:t>(</a:t>
            </a:r>
            <a:r>
              <a:rPr lang="en-US" sz="1350" b="1" dirty="0">
                <a:solidFill>
                  <a:srgbClr val="7CC4FF"/>
                </a:solidFill>
                <a:latin typeface="Courier New" pitchFamily="34" charset="0"/>
                <a:ea typeface="Courier New" pitchFamily="34" charset="-122"/>
                <a:cs typeface="Courier New" pitchFamily="34" charset="-120"/>
              </a:rPr>
              <a:t>prompt</a:t>
            </a:r>
            <a:r>
              <a:rPr lang="en-US" sz="1350" b="1" dirty="0">
                <a:solidFill>
                  <a:srgbClr val="F0F0F0"/>
                </a:solidFill>
                <a:latin typeface="Courier New" pitchFamily="34" charset="0"/>
                <a:ea typeface="Courier New" pitchFamily="34" charset="-122"/>
                <a:cs typeface="Courier New" pitchFamily="34" charset="-120"/>
              </a:rPr>
              <a:t>(</a:t>
            </a:r>
            <a:r>
              <a:rPr lang="en-US" sz="1350" b="1" dirty="0">
                <a:solidFill>
                  <a:srgbClr val="A8D8A8"/>
                </a:solidFill>
                <a:latin typeface="Courier New" pitchFamily="34" charset="0"/>
                <a:ea typeface="Courier New" pitchFamily="34" charset="-122"/>
                <a:cs typeface="Courier New" pitchFamily="34" charset="-120"/>
              </a:rPr>
              <a:t>'Número: '</a:t>
            </a:r>
            <a:r>
              <a:rPr lang="en-US" sz="1350" b="1" dirty="0">
                <a:solidFill>
                  <a:srgbClr val="F0F0F0"/>
                </a:solidFill>
                <a:latin typeface="Courier New" pitchFamily="34" charset="0"/>
                <a:ea typeface="Courier New" pitchFamily="34" charset="-122"/>
                <a:cs typeface="Courier New" pitchFamily="34" charset="-120"/>
              </a:rPr>
              <a:t>))</a:t>
            </a:r>
            <a:endParaRPr lang="en-US" sz="1350" dirty="0"/>
          </a:p>
          <a:p>
            <a:pPr algn="l" indent="0" marL="0">
              <a:buNone/>
            </a:pPr>
            <a:r>
              <a:rPr lang="en-US" sz="1350" b="1" dirty="0">
                <a:solidFill>
                  <a:srgbClr val="E16D34"/>
                </a:solidFill>
                <a:latin typeface="Courier New" pitchFamily="34" charset="0"/>
                <a:ea typeface="Courier New" pitchFamily="34" charset="-122"/>
                <a:cs typeface="Courier New" pitchFamily="34" charset="-120"/>
              </a:rPr>
              <a:t>let</a:t>
            </a:r>
            <a:r>
              <a:rPr lang="en-US" sz="1350" b="1" dirty="0">
                <a:solidFill>
                  <a:srgbClr val="F0F0F0"/>
                </a:solidFill>
                <a:latin typeface="Courier New" pitchFamily="34" charset="0"/>
                <a:ea typeface="Courier New" pitchFamily="34" charset="-122"/>
                <a:cs typeface="Courier New" pitchFamily="34" charset="-120"/>
              </a:rPr>
              <a:t> posicao = num - </a:t>
            </a:r>
            <a:r>
              <a:rPr lang="en-US" sz="1350" b="1" dirty="0">
                <a:solidFill>
                  <a:srgbClr val="F2C572"/>
                </a:solidFill>
                <a:latin typeface="Courier New" pitchFamily="34" charset="0"/>
                <a:ea typeface="Courier New" pitchFamily="34" charset="-122"/>
                <a:cs typeface="Courier New" pitchFamily="34" charset="-120"/>
              </a:rPr>
              <a:t>1</a:t>
            </a:r>
            <a:endParaRPr lang="en-US" sz="1350" dirty="0"/>
          </a:p>
          <a:p>
            <a:pPr algn="l" indent="0" marL="0">
              <a:buNone/>
            </a:pPr>
            <a:r>
              <a:rPr lang="en-US" sz="1350" dirty="0">
                <a:solidFill>
                  <a:srgbClr val="8B8B8B"/>
                </a:solidFill>
                <a:latin typeface="Courier New" pitchFamily="34" charset="0"/>
                <a:ea typeface="Courier New" pitchFamily="34" charset="-122"/>
                <a:cs typeface="Courier New" pitchFamily="34" charset="-120"/>
              </a:rPr>
              <a:t>// 1 vira 0, 2 vira 1...</a:t>
            </a:r>
            <a:endParaRPr lang="en-US" sz="1350" dirty="0"/>
          </a:p>
          <a:p>
            <a:pPr algn="l" indent="0" marL="0">
              <a:buNone/>
            </a:pPr>
            <a:r>
              <a:rPr lang="en-US" sz="1350" b="1" dirty="0">
                <a:solidFill>
                  <a:srgbClr val="F0F0F0"/>
                </a:solidFill>
                <a:latin typeface="Courier New" pitchFamily="34" charset="0"/>
                <a:ea typeface="Courier New" pitchFamily="34" charset="-122"/>
                <a:cs typeface="Courier New" pitchFamily="34" charset="-120"/>
              </a:rPr>
              <a:t> </a:t>
            </a:r>
            <a:endParaRPr lang="en-US" sz="1350" dirty="0"/>
          </a:p>
          <a:p>
            <a:pPr algn="l" indent="0" marL="0">
              <a:buNone/>
            </a:pPr>
            <a:r>
              <a:rPr lang="en-US" sz="1350" b="1" dirty="0">
                <a:solidFill>
                  <a:srgbClr val="F0F0F0"/>
                </a:solidFill>
                <a:latin typeface="Courier New" pitchFamily="34" charset="0"/>
                <a:ea typeface="Courier New" pitchFamily="34" charset="-122"/>
                <a:cs typeface="Courier New" pitchFamily="34" charset="-120"/>
              </a:rPr>
              <a:t>consultas.</a:t>
            </a:r>
            <a:r>
              <a:rPr lang="en-US" sz="1350" b="1" dirty="0">
                <a:solidFill>
                  <a:srgbClr val="7CC4FF"/>
                </a:solidFill>
                <a:latin typeface="Courier New" pitchFamily="34" charset="0"/>
                <a:ea typeface="Courier New" pitchFamily="34" charset="-122"/>
                <a:cs typeface="Courier New" pitchFamily="34" charset="-120"/>
              </a:rPr>
              <a:t>splice</a:t>
            </a:r>
            <a:r>
              <a:rPr lang="en-US" sz="1350" b="1" dirty="0">
                <a:solidFill>
                  <a:srgbClr val="F0F0F0"/>
                </a:solidFill>
                <a:latin typeface="Courier New" pitchFamily="34" charset="0"/>
                <a:ea typeface="Courier New" pitchFamily="34" charset="-122"/>
                <a:cs typeface="Courier New" pitchFamily="34" charset="-120"/>
              </a:rPr>
              <a:t>(posicao, </a:t>
            </a:r>
            <a:r>
              <a:rPr lang="en-US" sz="1350" b="1" dirty="0">
                <a:solidFill>
                  <a:srgbClr val="F2C572"/>
                </a:solidFill>
                <a:latin typeface="Courier New" pitchFamily="34" charset="0"/>
                <a:ea typeface="Courier New" pitchFamily="34" charset="-122"/>
                <a:cs typeface="Courier New" pitchFamily="34" charset="-120"/>
              </a:rPr>
              <a:t>1</a:t>
            </a:r>
            <a:r>
              <a:rPr lang="en-US" sz="1350" b="1" dirty="0">
                <a:solidFill>
                  <a:srgbClr val="F0F0F0"/>
                </a:solidFill>
                <a:latin typeface="Courier New" pitchFamily="34" charset="0"/>
                <a:ea typeface="Courier New" pitchFamily="34" charset="-122"/>
                <a:cs typeface="Courier New" pitchFamily="34" charset="-120"/>
              </a:rPr>
              <a:t>)</a:t>
            </a:r>
            <a:endParaRPr lang="en-US" sz="1350" dirty="0"/>
          </a:p>
        </p:txBody>
      </p:sp>
      <p:sp>
        <p:nvSpPr>
          <p:cNvPr id="11" name="Text 8"/>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A listagem começa em </a:t>
            </a:r>
            <a:r>
              <a:rPr lang="en-US" sz="1400" b="1" dirty="0">
                <a:solidFill>
                  <a:srgbClr val="FFFFFF"/>
                </a:solidFill>
                <a:latin typeface="Helvetica Neue" pitchFamily="34" charset="0"/>
                <a:ea typeface="Helvetica Neue" pitchFamily="34" charset="-122"/>
                <a:cs typeface="Helvetica Neue" pitchFamily="34" charset="-120"/>
              </a:rPr>
              <a:t>1</a:t>
            </a:r>
            <a:r>
              <a:rPr lang="en-US" sz="1400" b="1" dirty="0">
                <a:solidFill>
                  <a:srgbClr val="E16D34"/>
                </a:solidFill>
                <a:latin typeface="Helvetica Neue" pitchFamily="34" charset="0"/>
                <a:ea typeface="Helvetica Neue" pitchFamily="34" charset="-122"/>
                <a:cs typeface="Helvetica Neue" pitchFamily="34" charset="-120"/>
              </a:rPr>
              <a:t>, mas o array começa em </a:t>
            </a:r>
            <a:r>
              <a:rPr lang="en-US" sz="1400" b="1" dirty="0">
                <a:solidFill>
                  <a:srgbClr val="FFFFFF"/>
                </a:solidFill>
                <a:latin typeface="Helvetica Neue" pitchFamily="34" charset="0"/>
                <a:ea typeface="Helvetica Neue" pitchFamily="34" charset="-122"/>
                <a:cs typeface="Helvetica Neue" pitchFamily="34" charset="-120"/>
              </a:rPr>
              <a:t>0</a:t>
            </a:r>
            <a:r>
              <a:rPr lang="en-US" sz="1400" b="1" dirty="0">
                <a:solidFill>
                  <a:srgbClr val="E16D34"/>
                </a:solidFill>
                <a:latin typeface="Helvetica Neue" pitchFamily="34" charset="0"/>
                <a:ea typeface="Helvetica Neue" pitchFamily="34" charset="-122"/>
                <a:cs typeface="Helvetica Neue" pitchFamily="34" charset="-120"/>
              </a:rPr>
              <a:t>: subtraia 1 do número digitado.</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Validando o número da consulta</a:t>
            </a:r>
            <a:endParaRPr lang="en-US" sz="3000" dirty="0"/>
          </a:p>
        </p:txBody>
      </p:sp>
      <p:sp>
        <p:nvSpPr>
          <p:cNvPr id="5" name="Shape 2"/>
          <p:cNvSpPr/>
          <p:nvPr/>
        </p:nvSpPr>
        <p:spPr>
          <a:xfrm>
            <a:off x="411480" y="1450848"/>
            <a:ext cx="8321040" cy="2340864"/>
          </a:xfrm>
          <a:prstGeom prst="roundRect">
            <a:avLst>
              <a:gd name="adj" fmla="val 3125"/>
            </a:avLst>
          </a:prstGeom>
          <a:solidFill>
            <a:srgbClr val="121212"/>
          </a:solidFill>
          <a:ln w="9525">
            <a:solidFill>
              <a:srgbClr val="2E2E2E"/>
            </a:solidFill>
            <a:prstDash val="solid"/>
          </a:ln>
        </p:spPr>
      </p:sp>
      <p:sp>
        <p:nvSpPr>
          <p:cNvPr id="6" name="Text 3"/>
          <p:cNvSpPr txBox="1"/>
          <p:nvPr/>
        </p:nvSpPr>
        <p:spPr>
          <a:xfrm>
            <a:off x="557784" y="1567891"/>
            <a:ext cx="8028432" cy="2106778"/>
          </a:xfrm>
          <a:prstGeom prst="rect">
            <a:avLst/>
          </a:prstGeom>
          <a:noFill/>
          <a:ln/>
        </p:spPr>
        <p:txBody>
          <a:bodyPr wrap="square" lIns="0" tIns="0" rIns="0" bIns="0" rtlCol="0" anchor="t"/>
          <a:lstStyle/>
          <a:p>
            <a:pPr algn="l" indent="0" marL="0">
              <a:buNone/>
            </a:pPr>
            <a:r>
              <a:rPr lang="en-US" sz="1650" b="1" dirty="0">
                <a:solidFill>
                  <a:srgbClr val="E16D34"/>
                </a:solidFill>
                <a:latin typeface="Courier New" pitchFamily="34" charset="0"/>
                <a:ea typeface="Courier New" pitchFamily="34" charset="-122"/>
                <a:cs typeface="Courier New" pitchFamily="34" charset="-120"/>
              </a:rPr>
              <a:t>let</a:t>
            </a:r>
            <a:r>
              <a:rPr lang="en-US" sz="1650" b="1" dirty="0">
                <a:solidFill>
                  <a:srgbClr val="F0F0F0"/>
                </a:solidFill>
                <a:latin typeface="Courier New" pitchFamily="34" charset="0"/>
                <a:ea typeface="Courier New" pitchFamily="34" charset="-122"/>
                <a:cs typeface="Courier New" pitchFamily="34" charset="-120"/>
              </a:rPr>
              <a:t> num = </a:t>
            </a:r>
            <a:r>
              <a:rPr lang="en-US" sz="1650" b="1" dirty="0">
                <a:solidFill>
                  <a:srgbClr val="7CC4FF"/>
                </a:solidFill>
                <a:latin typeface="Courier New" pitchFamily="34" charset="0"/>
                <a:ea typeface="Courier New" pitchFamily="34" charset="-122"/>
                <a:cs typeface="Courier New" pitchFamily="34" charset="-120"/>
              </a:rPr>
              <a:t>Number</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7CC4FF"/>
                </a:solidFill>
                <a:latin typeface="Courier New" pitchFamily="34" charset="0"/>
                <a:ea typeface="Courier New" pitchFamily="34" charset="-122"/>
                <a:cs typeface="Courier New" pitchFamily="34" charset="-120"/>
              </a:rPr>
              <a:t>prompt</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'Digite o número da consulta: '</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E16D34"/>
                </a:solidFill>
                <a:latin typeface="Courier New" pitchFamily="34" charset="0"/>
                <a:ea typeface="Courier New" pitchFamily="34" charset="-122"/>
                <a:cs typeface="Courier New" pitchFamily="34" charset="-120"/>
              </a:rPr>
              <a:t>let</a:t>
            </a:r>
            <a:r>
              <a:rPr lang="en-US" sz="1650" b="1" dirty="0">
                <a:solidFill>
                  <a:srgbClr val="F0F0F0"/>
                </a:solidFill>
                <a:latin typeface="Courier New" pitchFamily="34" charset="0"/>
                <a:ea typeface="Courier New" pitchFamily="34" charset="-122"/>
                <a:cs typeface="Courier New" pitchFamily="34" charset="-120"/>
              </a:rPr>
              <a:t> posicao = num - </a:t>
            </a:r>
            <a:r>
              <a:rPr lang="en-US" sz="1650" b="1" dirty="0">
                <a:solidFill>
                  <a:srgbClr val="F2C572"/>
                </a:solidFill>
                <a:latin typeface="Courier New" pitchFamily="34" charset="0"/>
                <a:ea typeface="Courier New" pitchFamily="34" charset="-122"/>
                <a:cs typeface="Courier New" pitchFamily="34" charset="-120"/>
              </a:rPr>
              <a:t>1</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endParaRPr lang="en-US" sz="1650" dirty="0"/>
          </a:p>
          <a:p>
            <a:pPr algn="l" indent="0" marL="0">
              <a:buNone/>
            </a:pPr>
            <a:r>
              <a:rPr lang="en-US" sz="1650" b="1" dirty="0">
                <a:solidFill>
                  <a:srgbClr val="E16D34"/>
                </a:solidFill>
                <a:latin typeface="Courier New" pitchFamily="34" charset="0"/>
                <a:ea typeface="Courier New" pitchFamily="34" charset="-122"/>
                <a:cs typeface="Courier New" pitchFamily="34" charset="-120"/>
              </a:rPr>
              <a:t>if</a:t>
            </a: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7CC4FF"/>
                </a:solidFill>
                <a:latin typeface="Courier New" pitchFamily="34" charset="0"/>
                <a:ea typeface="Courier New" pitchFamily="34" charset="-122"/>
                <a:cs typeface="Courier New" pitchFamily="34" charset="-120"/>
              </a:rPr>
              <a:t>isNaN</a:t>
            </a:r>
            <a:r>
              <a:rPr lang="en-US" sz="1650" b="1" dirty="0">
                <a:solidFill>
                  <a:srgbClr val="F0F0F0"/>
                </a:solidFill>
                <a:latin typeface="Courier New" pitchFamily="34" charset="0"/>
                <a:ea typeface="Courier New" pitchFamily="34" charset="-122"/>
                <a:cs typeface="Courier New" pitchFamily="34" charset="-120"/>
              </a:rPr>
              <a:t>(num) || posicao &lt; </a:t>
            </a:r>
            <a:r>
              <a:rPr lang="en-US" sz="1650" b="1" dirty="0">
                <a:solidFill>
                  <a:srgbClr val="F2C572"/>
                </a:solidFill>
                <a:latin typeface="Courier New" pitchFamily="34" charset="0"/>
                <a:ea typeface="Courier New" pitchFamily="34" charset="-122"/>
                <a:cs typeface="Courier New" pitchFamily="34" charset="-120"/>
              </a:rPr>
              <a:t>0</a:t>
            </a:r>
            <a:r>
              <a:rPr lang="en-US" sz="1650" b="1" dirty="0">
                <a:solidFill>
                  <a:srgbClr val="F0F0F0"/>
                </a:solidFill>
                <a:latin typeface="Courier New" pitchFamily="34" charset="0"/>
                <a:ea typeface="Courier New" pitchFamily="34" charset="-122"/>
                <a:cs typeface="Courier New" pitchFamily="34" charset="-120"/>
              </a:rPr>
              <a:t> || posicao &gt;= consultas.length)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console.</a:t>
            </a:r>
            <a:r>
              <a:rPr lang="en-US" sz="1650" b="1" dirty="0">
                <a:solidFill>
                  <a:srgbClr val="7CC4FF"/>
                </a:solidFill>
                <a:latin typeface="Courier New" pitchFamily="34" charset="0"/>
                <a:ea typeface="Courier New" pitchFamily="34" charset="-122"/>
                <a:cs typeface="Courier New" pitchFamily="34" charset="-120"/>
              </a:rPr>
              <a:t>log</a:t>
            </a:r>
            <a:r>
              <a:rPr lang="en-US" sz="1650" b="1" dirty="0">
                <a:solidFill>
                  <a:srgbClr val="F0F0F0"/>
                </a:solidFill>
                <a:latin typeface="Courier New" pitchFamily="34" charset="0"/>
                <a:ea typeface="Courier New" pitchFamily="34" charset="-122"/>
                <a:cs typeface="Courier New" pitchFamily="34" charset="-120"/>
              </a:rPr>
              <a:t>(</a:t>
            </a:r>
            <a:r>
              <a:rPr lang="en-US" sz="1650" b="1" dirty="0">
                <a:solidFill>
                  <a:srgbClr val="A8D8A8"/>
                </a:solidFill>
                <a:latin typeface="Courier New" pitchFamily="34" charset="0"/>
                <a:ea typeface="Courier New" pitchFamily="34" charset="-122"/>
                <a:cs typeface="Courier New" pitchFamily="34" charset="-120"/>
              </a:rPr>
              <a:t>'Consulta não encontrada.'</a:t>
            </a:r>
            <a:r>
              <a:rPr lang="en-US" sz="1650" b="1" dirty="0">
                <a:solidFill>
                  <a:srgbClr val="F0F0F0"/>
                </a:solidFill>
                <a:latin typeface="Courier New" pitchFamily="34" charset="0"/>
                <a:ea typeface="Courier New" pitchFamily="34" charset="-122"/>
                <a:cs typeface="Courier New" pitchFamily="34" charset="-120"/>
              </a:rPr>
              <a:t>)</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r>
              <a:rPr lang="en-US" sz="1650" b="1" dirty="0">
                <a:solidFill>
                  <a:srgbClr val="E16D34"/>
                </a:solidFill>
                <a:latin typeface="Courier New" pitchFamily="34" charset="0"/>
                <a:ea typeface="Courier New" pitchFamily="34" charset="-122"/>
                <a:cs typeface="Courier New" pitchFamily="34" charset="-120"/>
              </a:rPr>
              <a:t>else</a:t>
            </a:r>
            <a:r>
              <a:rPr lang="en-US" sz="1650" b="1" dirty="0">
                <a:solidFill>
                  <a:srgbClr val="F0F0F0"/>
                </a:solidFill>
                <a:latin typeface="Courier New" pitchFamily="34" charset="0"/>
                <a:ea typeface="Courier New" pitchFamily="34" charset="-122"/>
                <a:cs typeface="Courier New" pitchFamily="34" charset="-120"/>
              </a:rPr>
              <a:t> {</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  </a:t>
            </a:r>
            <a:r>
              <a:rPr lang="en-US" sz="1650" dirty="0">
                <a:solidFill>
                  <a:srgbClr val="8B8B8B"/>
                </a:solidFill>
                <a:latin typeface="Courier New" pitchFamily="34" charset="0"/>
                <a:ea typeface="Courier New" pitchFamily="34" charset="-122"/>
                <a:cs typeface="Courier New" pitchFamily="34" charset="-120"/>
              </a:rPr>
              <a:t>// atualiza ou cancela a consulta</a:t>
            </a:r>
            <a:endParaRPr lang="en-US" sz="1650" dirty="0"/>
          </a:p>
          <a:p>
            <a:pPr algn="l" indent="0" marL="0">
              <a:buNone/>
            </a:pPr>
            <a:r>
              <a:rPr lang="en-US" sz="1650" b="1" dirty="0">
                <a:solidFill>
                  <a:srgbClr val="F0F0F0"/>
                </a:solidFill>
                <a:latin typeface="Courier New" pitchFamily="34" charset="0"/>
                <a:ea typeface="Courier New" pitchFamily="34" charset="-122"/>
                <a:cs typeface="Courier New" pitchFamily="34" charset="-120"/>
              </a:rPr>
              <a:t>}</a:t>
            </a:r>
            <a:endParaRPr lang="en-US" sz="1650" dirty="0"/>
          </a:p>
        </p:txBody>
      </p:sp>
      <p:sp>
        <p:nvSpPr>
          <p:cNvPr id="7" name="Text 4"/>
          <p:cNvSpPr txBox="1"/>
          <p:nvPr/>
        </p:nvSpPr>
        <p:spPr>
          <a:xfrm>
            <a:off x="548640" y="4236720"/>
            <a:ext cx="8046720" cy="51816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Basta </a:t>
            </a:r>
            <a:r>
              <a:rPr lang="en-US" sz="1400" b="1" dirty="0">
                <a:solidFill>
                  <a:srgbClr val="FFFFFF"/>
                </a:solidFill>
                <a:latin typeface="Helvetica Neue" pitchFamily="34" charset="0"/>
                <a:ea typeface="Helvetica Neue" pitchFamily="34" charset="-122"/>
                <a:cs typeface="Helvetica Neue" pitchFamily="34" charset="-120"/>
              </a:rPr>
              <a:t>uma</a:t>
            </a:r>
            <a:r>
              <a:rPr lang="en-US" sz="1400" b="1" dirty="0">
                <a:solidFill>
                  <a:srgbClr val="E16D34"/>
                </a:solidFill>
                <a:latin typeface="Helvetica Neue" pitchFamily="34" charset="0"/>
                <a:ea typeface="Helvetica Neue" pitchFamily="34" charset="-122"/>
                <a:cs typeface="Helvetica Neue" pitchFamily="34" charset="-120"/>
              </a:rPr>
              <a:t> condição ser verdadeira para a consulta não existir: não é número, é menor que 1 ou é maior que a quantidade de consultas.</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Atualizando uma consulta</a:t>
            </a:r>
            <a:endParaRPr lang="en-US" sz="3000" dirty="0"/>
          </a:p>
        </p:txBody>
      </p:sp>
      <p:sp>
        <p:nvSpPr>
          <p:cNvPr id="5" name="Shape 2"/>
          <p:cNvSpPr/>
          <p:nvPr/>
        </p:nvSpPr>
        <p:spPr>
          <a:xfrm>
            <a:off x="411480" y="1443228"/>
            <a:ext cx="8321040" cy="2142744"/>
          </a:xfrm>
          <a:prstGeom prst="roundRect">
            <a:avLst>
              <a:gd name="adj" fmla="val 3414"/>
            </a:avLst>
          </a:prstGeom>
          <a:solidFill>
            <a:srgbClr val="121212"/>
          </a:solidFill>
          <a:ln w="9525">
            <a:solidFill>
              <a:srgbClr val="2E2E2E"/>
            </a:solidFill>
            <a:prstDash val="solid"/>
          </a:ln>
        </p:spPr>
      </p:sp>
      <p:sp>
        <p:nvSpPr>
          <p:cNvPr id="6" name="Text 3"/>
          <p:cNvSpPr txBox="1"/>
          <p:nvPr/>
        </p:nvSpPr>
        <p:spPr>
          <a:xfrm>
            <a:off x="557784" y="1560271"/>
            <a:ext cx="8028432" cy="1908658"/>
          </a:xfrm>
          <a:prstGeom prst="rect">
            <a:avLst/>
          </a:prstGeom>
          <a:noFill/>
          <a:ln/>
        </p:spPr>
        <p:txBody>
          <a:bodyPr wrap="square" lIns="0" tIns="0" rIns="0" bIns="0" rtlCol="0" anchor="t"/>
          <a:lstStyle/>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consulta = consultas[posicao]</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novaData = </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`Nova data (${consulta.data}): `</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E16D34"/>
                </a:solidFill>
                <a:latin typeface="Courier New" pitchFamily="34" charset="0"/>
                <a:ea typeface="Courier New" pitchFamily="34" charset="-122"/>
                <a:cs typeface="Courier New" pitchFamily="34" charset="-120"/>
              </a:rPr>
              <a:t>let</a:t>
            </a:r>
            <a:r>
              <a:rPr lang="en-US" sz="1700" b="1" dirty="0">
                <a:solidFill>
                  <a:srgbClr val="F0F0F0"/>
                </a:solidFill>
                <a:latin typeface="Courier New" pitchFamily="34" charset="0"/>
                <a:ea typeface="Courier New" pitchFamily="34" charset="-122"/>
                <a:cs typeface="Courier New" pitchFamily="34" charset="-120"/>
              </a:rPr>
              <a:t> novaHora = </a:t>
            </a:r>
            <a:r>
              <a:rPr lang="en-US" sz="1700" b="1" dirty="0">
                <a:solidFill>
                  <a:srgbClr val="7CC4FF"/>
                </a:solidFill>
                <a:latin typeface="Courier New" pitchFamily="34" charset="0"/>
                <a:ea typeface="Courier New" pitchFamily="34" charset="-122"/>
                <a:cs typeface="Courier New" pitchFamily="34" charset="-120"/>
              </a:rPr>
              <a:t>prompt</a:t>
            </a:r>
            <a:r>
              <a:rPr lang="en-US" sz="1700" b="1" dirty="0">
                <a:solidFill>
                  <a:srgbClr val="F0F0F0"/>
                </a:solidFill>
                <a:latin typeface="Courier New" pitchFamily="34" charset="0"/>
                <a:ea typeface="Courier New" pitchFamily="34" charset="-122"/>
                <a:cs typeface="Courier New" pitchFamily="34" charset="-120"/>
              </a:rPr>
              <a:t>(</a:t>
            </a:r>
            <a:r>
              <a:rPr lang="en-US" sz="1700" b="1" dirty="0">
                <a:solidFill>
                  <a:srgbClr val="A8D8A8"/>
                </a:solidFill>
                <a:latin typeface="Courier New" pitchFamily="34" charset="0"/>
                <a:ea typeface="Courier New" pitchFamily="34" charset="-122"/>
                <a:cs typeface="Courier New" pitchFamily="34" charset="-120"/>
              </a:rPr>
              <a:t>`Nova hora (${consulta.hora}): `</a:t>
            </a:r>
            <a:r>
              <a:rPr lang="en-US" sz="1700" b="1" dirty="0">
                <a:solidFill>
                  <a:srgbClr val="F0F0F0"/>
                </a:solidFill>
                <a:latin typeface="Courier New" pitchFamily="34" charset="0"/>
                <a:ea typeface="Courier New" pitchFamily="34" charset="-122"/>
                <a:cs typeface="Courier New" pitchFamily="34" charset="-120"/>
              </a:rPr>
              <a:t>)</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 </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consulta.data = novaData || consulta.data</a:t>
            </a:r>
            <a:endParaRPr lang="en-US" sz="1700" dirty="0"/>
          </a:p>
          <a:p>
            <a:pPr algn="l" indent="0" marL="0">
              <a:buNone/>
            </a:pPr>
            <a:r>
              <a:rPr lang="en-US" sz="1700" b="1" dirty="0">
                <a:solidFill>
                  <a:srgbClr val="F0F0F0"/>
                </a:solidFill>
                <a:latin typeface="Courier New" pitchFamily="34" charset="0"/>
                <a:ea typeface="Courier New" pitchFamily="34" charset="-122"/>
                <a:cs typeface="Courier New" pitchFamily="34" charset="-120"/>
              </a:rPr>
              <a:t>consulta.hora = novaHora || consulta.hora</a:t>
            </a:r>
            <a:endParaRPr lang="en-US" sz="1700" dirty="0"/>
          </a:p>
        </p:txBody>
      </p:sp>
      <p:sp>
        <p:nvSpPr>
          <p:cNvPr id="7" name="Text 4"/>
          <p:cNvSpPr txBox="1"/>
          <p:nvPr/>
        </p:nvSpPr>
        <p:spPr>
          <a:xfrm>
            <a:off x="548640" y="4023360"/>
            <a:ext cx="8046720" cy="731520"/>
          </a:xfrm>
          <a:prstGeom prst="rect">
            <a:avLst/>
          </a:prstGeom>
          <a:noFill/>
          <a:ln/>
        </p:spPr>
        <p:txBody>
          <a:bodyPr wrap="square" lIns="0" tIns="0" rIns="0" bIns="0" rtlCol="0" anchor="ctr"/>
          <a:lstStyle/>
          <a:p>
            <a:pPr algn="ctr" indent="0" marL="0">
              <a:buNone/>
            </a:pPr>
            <a:r>
              <a:rPr lang="en-US" sz="1400" b="1" dirty="0">
                <a:solidFill>
                  <a:srgbClr val="E16D34"/>
                </a:solidFill>
                <a:latin typeface="Helvetica Neue" pitchFamily="34" charset="0"/>
                <a:ea typeface="Helvetica Neue" pitchFamily="34" charset="-122"/>
                <a:cs typeface="Helvetica Neue" pitchFamily="34" charset="-120"/>
              </a:rPr>
              <a:t>O objeto é uma </a:t>
            </a:r>
            <a:r>
              <a:rPr lang="en-US" sz="1400" b="1" dirty="0">
                <a:solidFill>
                  <a:srgbClr val="FFFFFF"/>
                </a:solidFill>
                <a:latin typeface="Helvetica Neue" pitchFamily="34" charset="0"/>
                <a:ea typeface="Helvetica Neue" pitchFamily="34" charset="-122"/>
                <a:cs typeface="Helvetica Neue" pitchFamily="34" charset="-120"/>
              </a:rPr>
              <a:t>referência</a:t>
            </a:r>
            <a:r>
              <a:rPr lang="en-US" sz="1400" b="1" dirty="0">
                <a:solidFill>
                  <a:srgbClr val="E16D34"/>
                </a:solidFill>
                <a:latin typeface="Helvetica Neue" pitchFamily="34" charset="0"/>
                <a:ea typeface="Helvetica Neue" pitchFamily="34" charset="-122"/>
                <a:cs typeface="Helvetica Neue" pitchFamily="34" charset="-120"/>
              </a:rPr>
              <a:t>: alterar </a:t>
            </a:r>
            <a:r>
              <a:rPr lang="en-US" sz="1400" b="1" dirty="0">
                <a:solidFill>
                  <a:srgbClr val="F7A072"/>
                </a:solidFill>
                <a:latin typeface="Courier New" pitchFamily="34" charset="0"/>
                <a:ea typeface="Courier New" pitchFamily="34" charset="-122"/>
                <a:cs typeface="Courier New" pitchFamily="34" charset="-120"/>
              </a:rPr>
              <a:t>consulta.data</a:t>
            </a:r>
            <a:r>
              <a:rPr lang="en-US" sz="1400" b="1" dirty="0">
                <a:solidFill>
                  <a:srgbClr val="E16D34"/>
                </a:solidFill>
                <a:latin typeface="Helvetica Neue" pitchFamily="34" charset="0"/>
                <a:ea typeface="Helvetica Neue" pitchFamily="34" charset="-122"/>
                <a:cs typeface="Helvetica Neue" pitchFamily="34" charset="-120"/>
              </a:rPr>
              <a:t> já altera o item dentro do array. E o </a:t>
            </a:r>
            <a:r>
              <a:rPr lang="en-US" sz="1400" b="1" dirty="0">
                <a:solidFill>
                  <a:srgbClr val="F7A072"/>
                </a:solidFill>
                <a:latin typeface="Courier New" pitchFamily="34" charset="0"/>
                <a:ea typeface="Courier New" pitchFamily="34" charset="-122"/>
                <a:cs typeface="Courier New" pitchFamily="34" charset="-120"/>
              </a:rPr>
              <a:t>||</a:t>
            </a:r>
            <a:r>
              <a:rPr lang="en-US" sz="1400" b="1" dirty="0">
                <a:solidFill>
                  <a:srgbClr val="E16D34"/>
                </a:solidFill>
                <a:latin typeface="Helvetica Neue" pitchFamily="34" charset="0"/>
                <a:ea typeface="Helvetica Neue" pitchFamily="34" charset="-122"/>
                <a:cs typeface="Helvetica Neue" pitchFamily="34" charset="-120"/>
              </a:rPr>
              <a:t> mantém o valor antigo quando o usuário só aperta Enter (texto vazio é falsy).</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16D34"/>
        </a:solidFill>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000000"/>
                </a:solidFill>
                <a:latin typeface="Montserrat" pitchFamily="34" charset="0"/>
                <a:ea typeface="Montserrat" pitchFamily="34" charset="-122"/>
                <a:cs typeface="Montserrat" pitchFamily="34" charset="-120"/>
              </a:rPr>
              <a:t>LIONS</a:t>
            </a:r>
            <a:r>
              <a:rPr lang="en-US" sz="800" b="1" spc="200" kern="0" dirty="0">
                <a:solidFill>
                  <a:srgbClr val="000000"/>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56032"/>
            <a:ext cx="5943600" cy="502920"/>
          </a:xfrm>
          <a:prstGeom prst="rect">
            <a:avLst/>
          </a:prstGeom>
          <a:noFill/>
          <a:ln/>
        </p:spPr>
        <p:txBody>
          <a:bodyPr wrap="square" lIns="0" tIns="0" rIns="0" bIns="0" rtlCol="0" anchor="ctr"/>
          <a:lstStyle/>
          <a:p>
            <a:pPr indent="0" marL="0">
              <a:buNone/>
            </a:pPr>
            <a:r>
              <a:rPr lang="en-US" sz="2400" b="1" dirty="0">
                <a:solidFill>
                  <a:srgbClr val="000000"/>
                </a:solidFill>
                <a:latin typeface="Helvetica Neue" pitchFamily="34" charset="0"/>
                <a:ea typeface="Helvetica Neue" pitchFamily="34" charset="-122"/>
                <a:cs typeface="Helvetica Neue" pitchFamily="34" charset="-120"/>
              </a:rPr>
              <a:t>Projeto Clínica Médica</a:t>
            </a:r>
            <a:endParaRPr lang="en-US" sz="2400" dirty="0"/>
          </a:p>
        </p:txBody>
      </p:sp>
      <p:sp>
        <p:nvSpPr>
          <p:cNvPr id="5" name="Text 2"/>
          <p:cNvSpPr txBox="1"/>
          <p:nvPr/>
        </p:nvSpPr>
        <p:spPr>
          <a:xfrm>
            <a:off x="6492240" y="329184"/>
            <a:ext cx="2194560" cy="365760"/>
          </a:xfrm>
          <a:prstGeom prst="roundRect">
            <a:avLst>
              <a:gd name="adj" fmla="val 50000"/>
            </a:avLst>
          </a:prstGeom>
          <a:solidFill>
            <a:srgbClr val="000000"/>
          </a:solidFill>
          <a:ln/>
        </p:spPr>
        <p:txBody>
          <a:bodyPr wrap="square" lIns="0" tIns="0" rIns="0" bIns="0" rtlCol="0" anchor="ctr"/>
          <a:lstStyle/>
          <a:p>
            <a:pPr algn="ctr" indent="0" marL="0">
              <a:buNone/>
            </a:pPr>
            <a:r>
              <a:rPr lang="en-US" sz="1200" b="1" dirty="0">
                <a:solidFill>
                  <a:srgbClr val="E16D34"/>
                </a:solidFill>
                <a:latin typeface="Helvetica Neue" pitchFamily="34" charset="0"/>
                <a:ea typeface="Helvetica Neue" pitchFamily="34" charset="-122"/>
                <a:cs typeface="Helvetica Neue" pitchFamily="34" charset="-120"/>
              </a:rPr>
              <a:t>Escopo mínimo</a:t>
            </a:r>
            <a:endParaRPr lang="en-US" sz="1200" dirty="0"/>
          </a:p>
        </p:txBody>
      </p:sp>
      <p:sp>
        <p:nvSpPr>
          <p:cNvPr id="6" name="Text 3"/>
          <p:cNvSpPr txBox="1"/>
          <p:nvPr/>
        </p:nvSpPr>
        <p:spPr>
          <a:xfrm>
            <a:off x="502920" y="932688"/>
            <a:ext cx="8138160" cy="289560"/>
          </a:xfrm>
          <a:prstGeom prst="rect">
            <a:avLst/>
          </a:prstGeom>
          <a:noFill/>
          <a:ln/>
        </p:spPr>
        <p:txBody>
          <a:bodyPr wrap="square" lIns="0" tIns="0" rIns="0" bIns="0" rtlCol="0" anchor="t"/>
          <a:lstStyle/>
          <a:p>
            <a:pPr algn="l" indent="0" marL="0">
              <a:buNone/>
            </a:pPr>
            <a:r>
              <a:rPr lang="en-US" sz="1600" b="1" dirty="0">
                <a:solidFill>
                  <a:srgbClr val="000000"/>
                </a:solidFill>
                <a:latin typeface="Helvetica Neue" pitchFamily="34" charset="0"/>
                <a:ea typeface="Helvetica Neue" pitchFamily="34" charset="-122"/>
                <a:cs typeface="Helvetica Neue" pitchFamily="34" charset="-120"/>
              </a:rPr>
              <a:t>O projeto só está completo quando </a:t>
            </a:r>
            <a:r>
              <a:rPr lang="en-US" sz="1600" b="1" dirty="0">
                <a:solidFill>
                  <a:srgbClr val="000000"/>
                </a:solidFill>
                <a:latin typeface="Helvetica Neue" pitchFamily="34" charset="0"/>
                <a:ea typeface="Helvetica Neue" pitchFamily="34" charset="-122"/>
                <a:cs typeface="Helvetica Neue" pitchFamily="34" charset="-120"/>
              </a:rPr>
              <a:t>todos</a:t>
            </a:r>
            <a:r>
              <a:rPr lang="en-US" sz="1600" b="1" dirty="0">
                <a:solidFill>
                  <a:srgbClr val="000000"/>
                </a:solidFill>
                <a:latin typeface="Helvetica Neue" pitchFamily="34" charset="0"/>
                <a:ea typeface="Helvetica Neue" pitchFamily="34" charset="-122"/>
                <a:cs typeface="Helvetica Neue" pitchFamily="34" charset="-120"/>
              </a:rPr>
              <a:t> os itens funcionam:</a:t>
            </a:r>
            <a:endParaRPr lang="en-US" sz="1600" dirty="0"/>
          </a:p>
        </p:txBody>
      </p:sp>
      <p:sp>
        <p:nvSpPr>
          <p:cNvPr id="7" name="Text 4"/>
          <p:cNvSpPr txBox="1"/>
          <p:nvPr/>
        </p:nvSpPr>
        <p:spPr>
          <a:xfrm>
            <a:off x="502920" y="1286256"/>
            <a:ext cx="8138160" cy="2430780"/>
          </a:xfrm>
          <a:prstGeom prst="rect">
            <a:avLst/>
          </a:prstGeom>
          <a:noFill/>
          <a:ln/>
        </p:spPr>
        <p:txBody>
          <a:bodyPr wrap="square" lIns="0" tIns="0" rIns="0" bIns="0" rtlCol="0" anchor="t"/>
          <a:lstStyle/>
          <a:p>
            <a:pPr algn="l" marL="342900" indent="-342900">
              <a:spcAft>
                <a:spcPts val="300"/>
              </a:spcAft>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Menu numérico que avisa quando a opção é inválida; o laço só termina ao escolher sair.</a:t>
            </a:r>
            <a:endParaRPr lang="en-US" sz="1600" dirty="0"/>
          </a:p>
          <a:p>
            <a:pPr algn="l" marL="342900" indent="-342900">
              <a:spcAft>
                <a:spcPts val="300"/>
              </a:spcAft>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Cada consulta é um objeto com </a:t>
            </a:r>
            <a:r>
              <a:rPr lang="en-US" sz="1600" b="1" dirty="0">
                <a:solidFill>
                  <a:srgbClr val="000000"/>
                </a:solidFill>
                <a:latin typeface="Courier New" pitchFamily="34" charset="0"/>
                <a:ea typeface="Courier New" pitchFamily="34" charset="-122"/>
                <a:cs typeface="Courier New" pitchFamily="34" charset="-120"/>
              </a:rPr>
              <a:t>paciente</a:t>
            </a:r>
            <a:r>
              <a:rPr lang="en-US" sz="1600" b="1" dirty="0">
                <a:solidFill>
                  <a:srgbClr val="000000"/>
                </a:solidFill>
                <a:latin typeface="Helvetica Neue" pitchFamily="34" charset="0"/>
                <a:ea typeface="Helvetica Neue" pitchFamily="34" charset="-122"/>
                <a:cs typeface="Helvetica Neue" pitchFamily="34" charset="-120"/>
              </a:rPr>
              <a:t>, </a:t>
            </a:r>
            <a:r>
              <a:rPr lang="en-US" sz="1600" b="1" dirty="0">
                <a:solidFill>
                  <a:srgbClr val="000000"/>
                </a:solidFill>
                <a:latin typeface="Courier New" pitchFamily="34" charset="0"/>
                <a:ea typeface="Courier New" pitchFamily="34" charset="-122"/>
                <a:cs typeface="Courier New" pitchFamily="34" charset="-120"/>
              </a:rPr>
              <a:t>medico</a:t>
            </a:r>
            <a:r>
              <a:rPr lang="en-US" sz="1600" b="1" dirty="0">
                <a:solidFill>
                  <a:srgbClr val="000000"/>
                </a:solidFill>
                <a:latin typeface="Helvetica Neue" pitchFamily="34" charset="0"/>
                <a:ea typeface="Helvetica Neue" pitchFamily="34" charset="-122"/>
                <a:cs typeface="Helvetica Neue" pitchFamily="34" charset="-120"/>
              </a:rPr>
              <a:t>, </a:t>
            </a:r>
            <a:r>
              <a:rPr lang="en-US" sz="1600" b="1" dirty="0">
                <a:solidFill>
                  <a:srgbClr val="000000"/>
                </a:solidFill>
                <a:latin typeface="Courier New" pitchFamily="34" charset="0"/>
                <a:ea typeface="Courier New" pitchFamily="34" charset="-122"/>
                <a:cs typeface="Courier New" pitchFamily="34" charset="-120"/>
              </a:rPr>
              <a:t>data</a:t>
            </a:r>
            <a:r>
              <a:rPr lang="en-US" sz="1600" b="1" dirty="0">
                <a:solidFill>
                  <a:srgbClr val="000000"/>
                </a:solidFill>
                <a:latin typeface="Helvetica Neue" pitchFamily="34" charset="0"/>
                <a:ea typeface="Helvetica Neue" pitchFamily="34" charset="-122"/>
                <a:cs typeface="Helvetica Neue" pitchFamily="34" charset="-120"/>
              </a:rPr>
              <a:t> e </a:t>
            </a:r>
            <a:r>
              <a:rPr lang="en-US" sz="1600" b="1" dirty="0">
                <a:solidFill>
                  <a:srgbClr val="000000"/>
                </a:solidFill>
                <a:latin typeface="Courier New" pitchFamily="34" charset="0"/>
                <a:ea typeface="Courier New" pitchFamily="34" charset="-122"/>
                <a:cs typeface="Courier New" pitchFamily="34" charset="-120"/>
              </a:rPr>
              <a:t>hora</a:t>
            </a:r>
            <a:r>
              <a:rPr lang="en-US" sz="1600" b="1" dirty="0">
                <a:solidFill>
                  <a:srgbClr val="000000"/>
                </a:solidFill>
                <a:latin typeface="Helvetica Neue" pitchFamily="34" charset="0"/>
                <a:ea typeface="Helvetica Neue" pitchFamily="34" charset="-122"/>
                <a:cs typeface="Helvetica Neue" pitchFamily="34" charset="-120"/>
              </a:rPr>
              <a:t>.</a:t>
            </a:r>
            <a:endParaRPr lang="en-US" sz="1600" dirty="0"/>
          </a:p>
          <a:p>
            <a:pPr algn="l" marL="342900" indent="-342900">
              <a:spcAft>
                <a:spcPts val="300"/>
              </a:spcAft>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A listagem mostra as consultas numeradas a partir de 1.</a:t>
            </a:r>
            <a:endParaRPr lang="en-US" sz="1600" dirty="0"/>
          </a:p>
          <a:p>
            <a:pPr algn="l" marL="342900" indent="-342900">
              <a:spcAft>
                <a:spcPts val="300"/>
              </a:spcAft>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Sem consultas, a listagem avisa "Nenhuma consulta agendada.".</a:t>
            </a:r>
            <a:endParaRPr lang="en-US" sz="1600" dirty="0"/>
          </a:p>
          <a:p>
            <a:pPr algn="l" marL="342900" indent="-342900">
              <a:spcAft>
                <a:spcPts val="300"/>
              </a:spcAft>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Atualizar e cancelar só funcionam com um número que existe; senão, o sistema avisa.</a:t>
            </a:r>
            <a:endParaRPr lang="en-US" sz="1600" dirty="0"/>
          </a:p>
          <a:p>
            <a:pPr algn="l" marL="342900" indent="-342900">
              <a:buSzPct val="100000"/>
              <a:buFont typeface="+mj-lt"/>
              <a:buAutoNum type="arabicPeriod" startAt="1"/>
            </a:pPr>
            <a:r>
              <a:rPr lang="en-US" sz="1600" b="1" dirty="0">
                <a:solidFill>
                  <a:srgbClr val="000000"/>
                </a:solidFill>
                <a:latin typeface="Helvetica Neue" pitchFamily="34" charset="0"/>
                <a:ea typeface="Helvetica Neue" pitchFamily="34" charset="-122"/>
                <a:cs typeface="Helvetica Neue" pitchFamily="34" charset="-120"/>
              </a:rPr>
              <a:t>Depois de cancelar, a consulta não aparece mais na listagem.</a:t>
            </a:r>
            <a:endParaRPr lang="en-US" sz="1600" dirty="0"/>
          </a:p>
        </p:txBody>
      </p:sp>
      <p:sp>
        <p:nvSpPr>
          <p:cNvPr id="8" name="Shape 5"/>
          <p:cNvSpPr/>
          <p:nvPr/>
        </p:nvSpPr>
        <p:spPr>
          <a:xfrm>
            <a:off x="502920" y="3991356"/>
            <a:ext cx="8138160" cy="664464"/>
          </a:xfrm>
          <a:prstGeom prst="roundRect">
            <a:avLst>
              <a:gd name="adj" fmla="val 11009"/>
            </a:avLst>
          </a:prstGeom>
          <a:solidFill>
            <a:srgbClr val="000000"/>
          </a:solidFill>
          <a:ln w="9525">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649224" y="4140708"/>
            <a:ext cx="365760" cy="365760"/>
          </a:xfrm>
          <a:prstGeom prst="rect">
            <a:avLst/>
          </a:prstGeom>
        </p:spPr>
      </p:pic>
      <p:sp>
        <p:nvSpPr>
          <p:cNvPr id="10" name="Text 6"/>
          <p:cNvSpPr txBox="1"/>
          <p:nvPr/>
        </p:nvSpPr>
        <p:spPr>
          <a:xfrm>
            <a:off x="1143000" y="4082796"/>
            <a:ext cx="7360920" cy="481584"/>
          </a:xfrm>
          <a:prstGeom prst="rect">
            <a:avLst/>
          </a:prstGeom>
          <a:noFill/>
          <a:ln/>
        </p:spPr>
        <p:txBody>
          <a:bodyPr wrap="square" lIns="0" tIns="0" rIns="0" bIns="0" rtlCol="0" anchor="ctr"/>
          <a:lstStyle/>
          <a:p>
            <a:pPr algn="l" indent="0" marL="0">
              <a:buNone/>
            </a:pPr>
            <a:r>
              <a:rPr lang="en-US" sz="1400" b="1" dirty="0">
                <a:solidFill>
                  <a:srgbClr val="E16D34"/>
                </a:solidFill>
                <a:latin typeface="Helvetica Neue" pitchFamily="34" charset="0"/>
                <a:ea typeface="Helvetica Neue" pitchFamily="34" charset="-122"/>
                <a:cs typeface="Helvetica Neue" pitchFamily="34" charset="-120"/>
              </a:rPr>
              <a:t>Dica: </a:t>
            </a:r>
            <a:r>
              <a:rPr lang="en-US" sz="1400" b="1" dirty="0">
                <a:solidFill>
                  <a:srgbClr val="FFFFFF"/>
                </a:solidFill>
                <a:latin typeface="Helvetica Neue" pitchFamily="34" charset="0"/>
                <a:ea typeface="Helvetica Neue" pitchFamily="34" charset="-122"/>
                <a:cs typeface="Helvetica Neue" pitchFamily="34" charset="-120"/>
              </a:rPr>
              <a:t>o enunciado completo está no repositório, em </a:t>
            </a:r>
            <a:r>
              <a:rPr lang="en-US" sz="1400" b="1" dirty="0">
                <a:solidFill>
                  <a:srgbClr val="FFFFFF"/>
                </a:solidFill>
                <a:latin typeface="Courier New" pitchFamily="34" charset="0"/>
                <a:ea typeface="Courier New" pitchFamily="34" charset="-122"/>
                <a:cs typeface="Courier New" pitchFamily="34" charset="-120"/>
              </a:rPr>
              <a:t>modulo03/conteudo/projeto_clinica_medica.md</a:t>
            </a: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000000"/>
                </a:solidFill>
                <a:latin typeface="Helvetica Neue"/>
                <a:ea typeface="Helvetica Neue"/>
                <a:cs typeface="Helvetica Neue"/>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Indo além (opcional)</a:t>
            </a:r>
            <a:endParaRPr lang="en-US" sz="3000" dirty="0"/>
          </a:p>
        </p:txBody>
      </p:sp>
      <p:sp>
        <p:nvSpPr>
          <p:cNvPr id="5" name="Shape 2"/>
          <p:cNvSpPr/>
          <p:nvPr/>
        </p:nvSpPr>
        <p:spPr>
          <a:xfrm>
            <a:off x="411480" y="1203960"/>
            <a:ext cx="4023360" cy="1274064"/>
          </a:xfrm>
          <a:prstGeom prst="roundRect">
            <a:avLst>
              <a:gd name="adj" fmla="val 7177"/>
            </a:avLst>
          </a:prstGeom>
          <a:solidFill>
            <a:srgbClr val="1A1A1A"/>
          </a:solidFill>
          <a:ln w="6350">
            <a:solidFill>
              <a:srgbClr val="1A1A1A"/>
            </a:solidFill>
            <a:prstDash val="solid"/>
          </a:ln>
        </p:spPr>
      </p:sp>
      <p:pic>
        <p:nvPicPr>
          <p:cNvPr id="6" name="Image 0" descr="preencoded.png">    </p:cNvPr>
          <p:cNvPicPr>
            <a:picLocks noChangeAspect="1"/>
          </p:cNvPicPr>
          <p:nvPr/>
        </p:nvPicPr>
        <p:blipFill>
          <a:blip r:embed="rId2"/>
          <a:stretch>
            <a:fillRect/>
          </a:stretch>
        </p:blipFill>
        <p:spPr>
          <a:xfrm>
            <a:off x="594360" y="1386840"/>
            <a:ext cx="384048" cy="384048"/>
          </a:xfrm>
          <a:prstGeom prst="rect">
            <a:avLst/>
          </a:prstGeom>
        </p:spPr>
      </p:pic>
      <p:sp>
        <p:nvSpPr>
          <p:cNvPr id="7" name="Text 3"/>
          <p:cNvSpPr txBox="1"/>
          <p:nvPr/>
        </p:nvSpPr>
        <p:spPr>
          <a:xfrm>
            <a:off x="1106424" y="1386840"/>
            <a:ext cx="3145536" cy="384048"/>
          </a:xfrm>
          <a:prstGeom prst="rect">
            <a:avLst/>
          </a:prstGeom>
          <a:noFill/>
          <a:ln/>
        </p:spPr>
        <p:txBody>
          <a:bodyPr wrap="square" lIns="0" tIns="0" rIns="0" bIns="0" rtlCol="0" anchor="ctr"/>
          <a:lstStyle/>
          <a:p>
            <a:pPr algn="l" indent="0" marL="0">
              <a:buNone/>
            </a:pPr>
            <a:r>
              <a:rPr lang="en-US" sz="1600" b="1" dirty="0">
                <a:solidFill>
                  <a:srgbClr val="E16D34"/>
                </a:solidFill>
                <a:latin typeface="Helvetica Neue" pitchFamily="34" charset="0"/>
                <a:ea typeface="Helvetica Neue" pitchFamily="34" charset="-122"/>
                <a:cs typeface="Helvetica Neue" pitchFamily="34" charset="-120"/>
              </a:rPr>
              <a:t>Campos obrigatórios</a:t>
            </a:r>
            <a:endParaRPr lang="en-US" sz="1600" dirty="0"/>
          </a:p>
        </p:txBody>
      </p:sp>
      <p:sp>
        <p:nvSpPr>
          <p:cNvPr id="8" name="Text 4"/>
          <p:cNvSpPr txBox="1"/>
          <p:nvPr/>
        </p:nvSpPr>
        <p:spPr>
          <a:xfrm>
            <a:off x="594360" y="1862328"/>
            <a:ext cx="3657600" cy="43281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Não aceitar paciente ou médico em branco.</a:t>
            </a:r>
            <a:endParaRPr lang="en-US" sz="1300" dirty="0"/>
          </a:p>
        </p:txBody>
      </p:sp>
      <p:sp>
        <p:nvSpPr>
          <p:cNvPr id="9" name="Shape 5"/>
          <p:cNvSpPr/>
          <p:nvPr/>
        </p:nvSpPr>
        <p:spPr>
          <a:xfrm>
            <a:off x="4709160" y="1203960"/>
            <a:ext cx="4023360" cy="1274064"/>
          </a:xfrm>
          <a:prstGeom prst="roundRect">
            <a:avLst>
              <a:gd name="adj" fmla="val 7177"/>
            </a:avLst>
          </a:prstGeom>
          <a:solidFill>
            <a:srgbClr val="1A1A1A"/>
          </a:solidFill>
          <a:ln w="6350">
            <a:solidFill>
              <a:srgbClr val="1A1A1A"/>
            </a:solidFill>
            <a:prstDash val="solid"/>
          </a:ln>
        </p:spPr>
      </p:sp>
      <p:pic>
        <p:nvPicPr>
          <p:cNvPr id="10" name="Image 1" descr="preencoded.png">    </p:cNvPr>
          <p:cNvPicPr>
            <a:picLocks noChangeAspect="1"/>
          </p:cNvPicPr>
          <p:nvPr/>
        </p:nvPicPr>
        <p:blipFill>
          <a:blip r:embed="rId3"/>
          <a:stretch>
            <a:fillRect/>
          </a:stretch>
        </p:blipFill>
        <p:spPr>
          <a:xfrm>
            <a:off x="4892040" y="1386840"/>
            <a:ext cx="384048" cy="384048"/>
          </a:xfrm>
          <a:prstGeom prst="rect">
            <a:avLst/>
          </a:prstGeom>
        </p:spPr>
      </p:pic>
      <p:sp>
        <p:nvSpPr>
          <p:cNvPr id="11" name="Text 6"/>
          <p:cNvSpPr txBox="1"/>
          <p:nvPr/>
        </p:nvSpPr>
        <p:spPr>
          <a:xfrm>
            <a:off x="5404104" y="1386840"/>
            <a:ext cx="3145536"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Horário ocupado</a:t>
            </a:r>
            <a:endParaRPr lang="en-US" sz="1600" dirty="0"/>
          </a:p>
        </p:txBody>
      </p:sp>
      <p:sp>
        <p:nvSpPr>
          <p:cNvPr id="12" name="Text 7"/>
          <p:cNvSpPr txBox="1"/>
          <p:nvPr/>
        </p:nvSpPr>
        <p:spPr>
          <a:xfrm>
            <a:off x="4892040" y="1862328"/>
            <a:ext cx="3657600" cy="43281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Impedir duas consultas com o mesmo médico, na mesma data e hora.</a:t>
            </a:r>
            <a:endParaRPr lang="en-US" sz="1300" dirty="0"/>
          </a:p>
        </p:txBody>
      </p:sp>
      <p:sp>
        <p:nvSpPr>
          <p:cNvPr id="13" name="Shape 8"/>
          <p:cNvSpPr/>
          <p:nvPr/>
        </p:nvSpPr>
        <p:spPr>
          <a:xfrm>
            <a:off x="411480" y="2679192"/>
            <a:ext cx="4023360" cy="1274064"/>
          </a:xfrm>
          <a:prstGeom prst="roundRect">
            <a:avLst>
              <a:gd name="adj" fmla="val 7177"/>
            </a:avLst>
          </a:prstGeom>
          <a:solidFill>
            <a:srgbClr val="1A1A1A"/>
          </a:solidFill>
          <a:ln w="6350">
            <a:solidFill>
              <a:srgbClr val="1A1A1A"/>
            </a:solidFill>
            <a:prstDash val="solid"/>
          </a:ln>
        </p:spPr>
      </p:sp>
      <p:pic>
        <p:nvPicPr>
          <p:cNvPr id="14" name="Image 2" descr="preencoded.png">    </p:cNvPr>
          <p:cNvPicPr>
            <a:picLocks noChangeAspect="1"/>
          </p:cNvPicPr>
          <p:nvPr/>
        </p:nvPicPr>
        <p:blipFill>
          <a:blip r:embed="rId4"/>
          <a:stretch>
            <a:fillRect/>
          </a:stretch>
        </p:blipFill>
        <p:spPr>
          <a:xfrm>
            <a:off x="594360" y="2862072"/>
            <a:ext cx="384048" cy="384048"/>
          </a:xfrm>
          <a:prstGeom prst="rect">
            <a:avLst/>
          </a:prstGeom>
        </p:spPr>
      </p:pic>
      <p:sp>
        <p:nvSpPr>
          <p:cNvPr id="15" name="Text 9"/>
          <p:cNvSpPr txBox="1"/>
          <p:nvPr/>
        </p:nvSpPr>
        <p:spPr>
          <a:xfrm>
            <a:off x="1106424" y="2862072"/>
            <a:ext cx="3145536" cy="384048"/>
          </a:xfrm>
          <a:prstGeom prst="rect">
            <a:avLst/>
          </a:prstGeom>
          <a:noFill/>
          <a:ln/>
        </p:spPr>
        <p:txBody>
          <a:bodyPr wrap="square" lIns="0" tIns="0" rIns="0" bIns="0" rtlCol="0" anchor="ctr"/>
          <a:lstStyle/>
          <a:p>
            <a:pPr algn="l" indent="0" marL="0">
              <a:buNone/>
            </a:pPr>
            <a:r>
              <a:rPr lang="en-US" sz="1600" b="1" dirty="0">
                <a:solidFill>
                  <a:srgbClr val="F7A072"/>
                </a:solidFill>
                <a:latin typeface="Helvetica Neue" pitchFamily="34" charset="0"/>
                <a:ea typeface="Helvetica Neue" pitchFamily="34" charset="-122"/>
                <a:cs typeface="Helvetica Neue" pitchFamily="34" charset="-120"/>
              </a:rPr>
              <a:t>Buscas</a:t>
            </a:r>
            <a:endParaRPr lang="en-US" sz="1600" dirty="0"/>
          </a:p>
        </p:txBody>
      </p:sp>
      <p:sp>
        <p:nvSpPr>
          <p:cNvPr id="16" name="Text 10"/>
          <p:cNvSpPr txBox="1"/>
          <p:nvPr/>
        </p:nvSpPr>
        <p:spPr>
          <a:xfrm>
            <a:off x="594360" y="3337560"/>
            <a:ext cx="3657600" cy="43281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Consultas de um paciente ou de um dia específico.</a:t>
            </a:r>
            <a:endParaRPr lang="en-US" sz="1300" dirty="0"/>
          </a:p>
        </p:txBody>
      </p:sp>
      <p:sp>
        <p:nvSpPr>
          <p:cNvPr id="17" name="Shape 11"/>
          <p:cNvSpPr/>
          <p:nvPr/>
        </p:nvSpPr>
        <p:spPr>
          <a:xfrm>
            <a:off x="4709160" y="2679192"/>
            <a:ext cx="4023360" cy="1274064"/>
          </a:xfrm>
          <a:prstGeom prst="roundRect">
            <a:avLst>
              <a:gd name="adj" fmla="val 7177"/>
            </a:avLst>
          </a:prstGeom>
          <a:solidFill>
            <a:srgbClr val="1A1A1A"/>
          </a:solidFill>
          <a:ln w="6350">
            <a:solidFill>
              <a:srgbClr val="1A1A1A"/>
            </a:solidFill>
            <a:prstDash val="solid"/>
          </a:ln>
        </p:spPr>
      </p:sp>
      <p:pic>
        <p:nvPicPr>
          <p:cNvPr id="18" name="Image 3" descr="preencoded.png">    </p:cNvPr>
          <p:cNvPicPr>
            <a:picLocks noChangeAspect="1"/>
          </p:cNvPicPr>
          <p:nvPr/>
        </p:nvPicPr>
        <p:blipFill>
          <a:blip r:embed="rId5"/>
          <a:stretch>
            <a:fillRect/>
          </a:stretch>
        </p:blipFill>
        <p:spPr>
          <a:xfrm>
            <a:off x="4892040" y="2862072"/>
            <a:ext cx="384048" cy="384048"/>
          </a:xfrm>
          <a:prstGeom prst="rect">
            <a:avLst/>
          </a:prstGeom>
        </p:spPr>
      </p:pic>
      <p:sp>
        <p:nvSpPr>
          <p:cNvPr id="19" name="Text 12"/>
          <p:cNvSpPr txBox="1"/>
          <p:nvPr/>
        </p:nvSpPr>
        <p:spPr>
          <a:xfrm>
            <a:off x="5404104" y="2862072"/>
            <a:ext cx="3145536" cy="384048"/>
          </a:xfrm>
          <a:prstGeom prst="rect">
            <a:avLst/>
          </a:prstGeom>
          <a:noFill/>
          <a:ln/>
        </p:spPr>
        <p:txBody>
          <a:bodyPr wrap="square" lIns="0" tIns="0" rIns="0" bIns="0" rtlCol="0" anchor="ctr"/>
          <a:lstStyle/>
          <a:p>
            <a:pPr algn="l" indent="0" marL="0">
              <a:buNone/>
            </a:pPr>
            <a:r>
              <a:rPr lang="en-US" sz="1600" b="1" dirty="0">
                <a:solidFill>
                  <a:srgbClr val="F85149"/>
                </a:solidFill>
                <a:latin typeface="Helvetica Neue" pitchFamily="34" charset="0"/>
                <a:ea typeface="Helvetica Neue" pitchFamily="34" charset="-122"/>
                <a:cs typeface="Helvetica Neue" pitchFamily="34" charset="-120"/>
              </a:rPr>
              <a:t>Contador</a:t>
            </a:r>
            <a:endParaRPr lang="en-US" sz="1600" dirty="0"/>
          </a:p>
        </p:txBody>
      </p:sp>
      <p:sp>
        <p:nvSpPr>
          <p:cNvPr id="20" name="Text 13"/>
          <p:cNvSpPr txBox="1"/>
          <p:nvPr/>
        </p:nvSpPr>
        <p:spPr>
          <a:xfrm>
            <a:off x="4892040" y="3337560"/>
            <a:ext cx="3657600" cy="234696"/>
          </a:xfrm>
          <a:prstGeom prst="rect">
            <a:avLst/>
          </a:prstGeom>
          <a:noFill/>
          <a:ln/>
        </p:spPr>
        <p:txBody>
          <a:bodyPr wrap="square" lIns="0" tIns="0" rIns="0" bIns="0" rtlCol="0" anchor="t"/>
          <a:lstStyle/>
          <a:p>
            <a:pPr algn="l" indent="0" marL="0">
              <a:buNone/>
            </a:pPr>
            <a:r>
              <a:rPr lang="en-US" sz="1300" b="1" dirty="0">
                <a:solidFill>
                  <a:srgbClr val="E6E6E6"/>
                </a:solidFill>
                <a:latin typeface="Helvetica Neue" pitchFamily="34" charset="0"/>
                <a:ea typeface="Helvetica Neue" pitchFamily="34" charset="-122"/>
                <a:cs typeface="Helvetica Neue" pitchFamily="34" charset="-120"/>
              </a:rPr>
              <a:t>Quantas consultas cada médico tem.</a:t>
            </a:r>
            <a:endParaRPr lang="en-US" sz="1300" dirty="0"/>
          </a:p>
        </p:txBody>
      </p:sp>
      <p:sp>
        <p:nvSpPr>
          <p:cNvPr id="21" name="Text 14"/>
          <p:cNvSpPr txBox="1"/>
          <p:nvPr/>
        </p:nvSpPr>
        <p:spPr>
          <a:xfrm>
            <a:off x="640080" y="4187952"/>
            <a:ext cx="7863840" cy="566928"/>
          </a:xfrm>
          <a:prstGeom prst="rect">
            <a:avLst/>
          </a:prstGeom>
          <a:noFill/>
          <a:ln/>
        </p:spPr>
        <p:txBody>
          <a:bodyPr wrap="square" lIns="0" tIns="0" rIns="0" bIns="0" rtlCol="0" anchor="ctr"/>
          <a:lstStyle/>
          <a:p>
            <a:pPr algn="ctr" indent="0" marL="0">
              <a:buNone/>
            </a:pPr>
            <a:r>
              <a:rPr lang="en-US" sz="1500" b="1" dirty="0">
                <a:solidFill>
                  <a:srgbClr val="E16D34"/>
                </a:solidFill>
                <a:latin typeface="Helvetica Neue" pitchFamily="34" charset="0"/>
                <a:ea typeface="Helvetica Neue" pitchFamily="34" charset="-122"/>
                <a:cs typeface="Helvetica Neue" pitchFamily="34" charset="-120"/>
              </a:rPr>
              <a:t>Outras ideias: especialidade do médico, telefone do paciente, status da consulta (agendada, realizada, cancelada).</a:t>
            </a:r>
            <a:endParaRPr lang="en-US" sz="150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Próximos passos</a:t>
            </a:r>
            <a:endParaRPr lang="en-US" sz="3000" dirty="0"/>
          </a:p>
        </p:txBody>
      </p:sp>
      <p:pic>
        <p:nvPicPr>
          <p:cNvPr id="5" name="Image 0" descr="preencoded.png">    </p:cNvPr>
          <p:cNvPicPr>
            <a:picLocks noChangeAspect="1"/>
          </p:cNvPicPr>
          <p:nvPr/>
        </p:nvPicPr>
        <p:blipFill>
          <a:blip r:embed="rId2"/>
          <a:stretch>
            <a:fillRect/>
          </a:stretch>
        </p:blipFill>
        <p:spPr>
          <a:xfrm>
            <a:off x="685800" y="1728216"/>
            <a:ext cx="502920" cy="502920"/>
          </a:xfrm>
          <a:prstGeom prst="rect">
            <a:avLst/>
          </a:prstGeom>
        </p:spPr>
      </p:pic>
      <p:sp>
        <p:nvSpPr>
          <p:cNvPr id="6" name="Text 2"/>
          <p:cNvSpPr txBox="1"/>
          <p:nvPr/>
        </p:nvSpPr>
        <p:spPr>
          <a:xfrm>
            <a:off x="1463040" y="1709928"/>
            <a:ext cx="6995160" cy="50292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Módulo 4: Git e GitHub</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Versionar os projetos e colaborar com a equipe.</a:t>
            </a:r>
            <a:endParaRPr lang="en-US" sz="1650" dirty="0"/>
          </a:p>
        </p:txBody>
      </p:sp>
      <p:pic>
        <p:nvPicPr>
          <p:cNvPr id="7" name="Image 1" descr="preencoded.png">    </p:cNvPr>
          <p:cNvPicPr>
            <a:picLocks noChangeAspect="1"/>
          </p:cNvPicPr>
          <p:nvPr/>
        </p:nvPicPr>
        <p:blipFill>
          <a:blip r:embed="rId3"/>
          <a:stretch>
            <a:fillRect/>
          </a:stretch>
        </p:blipFill>
        <p:spPr>
          <a:xfrm>
            <a:off x="685800" y="2450592"/>
            <a:ext cx="502920" cy="502920"/>
          </a:xfrm>
          <a:prstGeom prst="rect">
            <a:avLst/>
          </a:prstGeom>
        </p:spPr>
      </p:pic>
      <p:sp>
        <p:nvSpPr>
          <p:cNvPr id="8" name="Text 3"/>
          <p:cNvSpPr txBox="1"/>
          <p:nvPr/>
        </p:nvSpPr>
        <p:spPr>
          <a:xfrm>
            <a:off x="1463040" y="2432304"/>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Módulo 5: import e export</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 calculadora dividida em vários arquivos, uma operação em cada.</a:t>
            </a:r>
            <a:endParaRPr lang="en-US" sz="1650" dirty="0"/>
          </a:p>
        </p:txBody>
      </p:sp>
      <p:pic>
        <p:nvPicPr>
          <p:cNvPr id="9" name="Image 2" descr="preencoded.png">    </p:cNvPr>
          <p:cNvPicPr>
            <a:picLocks noChangeAspect="1"/>
          </p:cNvPicPr>
          <p:nvPr/>
        </p:nvPicPr>
        <p:blipFill>
          <a:blip r:embed="rId4"/>
          <a:stretch>
            <a:fillRect/>
          </a:stretch>
        </p:blipFill>
        <p:spPr>
          <a:xfrm>
            <a:off x="685800" y="3378708"/>
            <a:ext cx="502920" cy="502920"/>
          </a:xfrm>
          <a:prstGeom prst="rect">
            <a:avLst/>
          </a:prstGeom>
        </p:spPr>
      </p:pic>
      <p:sp>
        <p:nvSpPr>
          <p:cNvPr id="10" name="Text 4"/>
          <p:cNvSpPr txBox="1"/>
          <p:nvPr/>
        </p:nvSpPr>
        <p:spPr>
          <a:xfrm>
            <a:off x="1463040" y="3360420"/>
            <a:ext cx="6995160" cy="708660"/>
          </a:xfrm>
          <a:prstGeom prst="rect">
            <a:avLst/>
          </a:prstGeom>
          <a:noFill/>
          <a:ln/>
        </p:spPr>
        <p:txBody>
          <a:bodyPr wrap="square" lIns="0" tIns="0" rIns="0" bIns="0" rtlCol="0" anchor="t"/>
          <a:lstStyle/>
          <a:p>
            <a:pPr algn="l" indent="0" marL="0">
              <a:buNone/>
            </a:pPr>
            <a:r>
              <a:rPr lang="en-US" sz="1650" b="1" dirty="0">
                <a:solidFill>
                  <a:srgbClr val="E16D34"/>
                </a:solidFill>
                <a:latin typeface="Helvetica Neue" pitchFamily="34" charset="0"/>
                <a:ea typeface="Helvetica Neue" pitchFamily="34" charset="-122"/>
                <a:cs typeface="Helvetica Neue" pitchFamily="34" charset="-120"/>
              </a:rPr>
              <a:t>Módulo 6: organização de projetos</a:t>
            </a:r>
            <a:endParaRPr lang="en-US" sz="1650" dirty="0"/>
          </a:p>
          <a:p>
            <a:pPr algn="l" indent="0" marL="0">
              <a:buNone/>
            </a:pPr>
            <a:r>
              <a:rPr lang="en-US" sz="1500" b="1" dirty="0">
                <a:solidFill>
                  <a:srgbClr val="E6E6E6"/>
                </a:solidFill>
                <a:latin typeface="Helvetica Neue" pitchFamily="34" charset="0"/>
                <a:ea typeface="Helvetica Neue" pitchFamily="34" charset="-122"/>
                <a:cs typeface="Helvetica Neue" pitchFamily="34" charset="-120"/>
              </a:rPr>
              <a:t>A clínica em vários arquivos, com médicos e pacientes cadastrados.</a:t>
            </a:r>
            <a:endParaRPr lang="en-US" sz="16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4846320"/>
            <a:ext cx="1280160" cy="201168"/>
          </a:xfrm>
          <a:prstGeom prst="rect">
            <a:avLst/>
          </a:prstGeom>
          <a:noFill/>
          <a:ln/>
        </p:spPr>
        <p:txBody>
          <a:bodyPr wrap="square" lIns="0" tIns="0" rIns="0" bIns="0" rtlCol="0" anchor="ctr"/>
          <a:lstStyle/>
          <a:p>
            <a:pPr algn="l" indent="0" marL="0">
              <a:buNone/>
            </a:pPr>
            <a:r>
              <a:rPr lang="en-US" sz="800" b="1" spc="200" kern="0" dirty="0">
                <a:solidFill>
                  <a:srgbClr val="FFFFFF"/>
                </a:solidFill>
                <a:latin typeface="Montserrat" pitchFamily="34" charset="0"/>
                <a:ea typeface="Montserrat" pitchFamily="34" charset="-122"/>
                <a:cs typeface="Montserrat" pitchFamily="34" charset="-120"/>
              </a:rPr>
              <a:t>LIONS</a:t>
            </a:r>
            <a:r>
              <a:rPr lang="en-US" sz="800" b="1" spc="200" kern="0" dirty="0">
                <a:solidFill>
                  <a:srgbClr val="E16D34"/>
                </a:solidFill>
                <a:latin typeface="Montserrat" pitchFamily="34" charset="0"/>
                <a:ea typeface="Montserrat" pitchFamily="34" charset="-122"/>
                <a:cs typeface="Montserrat" pitchFamily="34" charset="-120"/>
              </a:rPr>
              <a:t>DEV</a:t>
            </a:r>
            <a:endParaRPr lang="en-US" sz="800" dirty="0"/>
          </a:p>
        </p:txBody>
      </p:sp>
      <p:sp>
        <p:nvSpPr>
          <p:cNvPr id="4" name="Text 1"/>
          <p:cNvSpPr txBox="1"/>
          <p:nvPr/>
        </p:nvSpPr>
        <p:spPr>
          <a:xfrm>
            <a:off x="457200" y="201168"/>
            <a:ext cx="8229600" cy="658368"/>
          </a:xfrm>
          <a:prstGeom prst="rect">
            <a:avLst/>
          </a:prstGeom>
          <a:noFill/>
          <a:ln/>
        </p:spPr>
        <p:txBody>
          <a:bodyPr wrap="square" lIns="0" tIns="0" rIns="0" bIns="0" rtlCol="0" anchor="ctr"/>
          <a:lstStyle/>
          <a:p>
            <a:pPr algn="ctr" indent="0" marL="0">
              <a:buNone/>
            </a:pPr>
            <a:r>
              <a:rPr lang="en-US" sz="3000" b="1" dirty="0">
                <a:solidFill>
                  <a:srgbClr val="E16D34"/>
                </a:solidFill>
                <a:latin typeface="Montserrat" pitchFamily="34" charset="0"/>
                <a:ea typeface="Montserrat" pitchFamily="34" charset="-122"/>
                <a:cs typeface="Montserrat" pitchFamily="34" charset="-120"/>
              </a:rPr>
              <a:t>Material do módulo</a:t>
            </a:r>
            <a:endParaRPr lang="en-US" sz="3000" dirty="0"/>
          </a:p>
        </p:txBody>
      </p:sp>
      <p:sp>
        <p:nvSpPr>
          <p:cNvPr id="5" name="Shape 2"/>
          <p:cNvSpPr/>
          <p:nvPr/>
        </p:nvSpPr>
        <p:spPr>
          <a:xfrm>
            <a:off x="685800" y="1170432"/>
            <a:ext cx="2788920" cy="2788920"/>
          </a:xfrm>
          <a:prstGeom prst="roundRect">
            <a:avLst>
              <a:gd name="adj" fmla="val 3279"/>
            </a:avLst>
          </a:prstGeom>
          <a:solidFill>
            <a:srgbClr val="FFFFFF"/>
          </a:solidFill>
          <a:ln w="19050">
            <a:solidFill>
              <a:srgbClr val="E16D34"/>
            </a:solidFill>
            <a:prstDash val="solid"/>
          </a:ln>
        </p:spPr>
      </p:sp>
      <p:pic>
        <p:nvPicPr>
          <p:cNvPr id="6" name="Image 0" descr="QR code para https://github.com/nicolassmotta/curso-lions-dev/tree/main/modulo03">    </p:cNvPr>
          <p:cNvPicPr>
            <a:picLocks noChangeAspect="1"/>
          </p:cNvPicPr>
          <p:nvPr/>
        </p:nvPicPr>
        <p:blipFill>
          <a:blip r:embed="rId2"/>
          <a:stretch>
            <a:fillRect/>
          </a:stretch>
        </p:blipFill>
        <p:spPr>
          <a:xfrm>
            <a:off x="822960" y="1307592"/>
            <a:ext cx="2514600" cy="2514600"/>
          </a:xfrm>
          <a:prstGeom prst="rect">
            <a:avLst/>
          </a:prstGeom>
        </p:spPr>
      </p:pic>
      <p:sp>
        <p:nvSpPr>
          <p:cNvPr id="7" name="Text 3"/>
          <p:cNvSpPr txBox="1"/>
          <p:nvPr/>
        </p:nvSpPr>
        <p:spPr>
          <a:xfrm>
            <a:off x="685800" y="4041648"/>
            <a:ext cx="2788920" cy="274320"/>
          </a:xfrm>
          <a:prstGeom prst="rect">
            <a:avLst/>
          </a:prstGeom>
          <a:noFill/>
          <a:ln/>
        </p:spPr>
        <p:txBody>
          <a:bodyPr wrap="square" lIns="0" tIns="0" rIns="0" bIns="0" rtlCol="0" anchor="ctr"/>
          <a:lstStyle/>
          <a:p>
            <a:pPr algn="ctr" indent="0" marL="0">
              <a:buNone/>
            </a:pPr>
            <a:r>
              <a:rPr lang="en-US" sz="1100" b="1" dirty="0">
                <a:solidFill>
                  <a:srgbClr val="9CA3AF"/>
                </a:solidFill>
                <a:latin typeface="Helvetica Neue" pitchFamily="34" charset="0"/>
                <a:ea typeface="Helvetica Neue" pitchFamily="34" charset="-122"/>
                <a:cs typeface="Helvetica Neue" pitchFamily="34" charset="-120"/>
              </a:rPr>
              <a:t>Aponte a câmera do celular</a:t>
            </a:r>
            <a:endParaRPr lang="en-US" sz="1100" dirty="0"/>
          </a:p>
        </p:txBody>
      </p:sp>
      <p:sp>
        <p:nvSpPr>
          <p:cNvPr id="8" name="Text 4"/>
          <p:cNvSpPr txBox="1"/>
          <p:nvPr/>
        </p:nvSpPr>
        <p:spPr>
          <a:xfrm>
            <a:off x="3886200" y="1170432"/>
            <a:ext cx="4846320" cy="566928"/>
          </a:xfrm>
          <a:prstGeom prst="rect">
            <a:avLst/>
          </a:prstGeom>
          <a:noFill/>
          <a:ln/>
        </p:spPr>
        <p:txBody>
          <a:bodyPr wrap="square" lIns="0" tIns="0" rIns="0" bIns="0" rtlCol="0" anchor="t"/>
          <a:lstStyle/>
          <a:p>
            <a:pPr indent="0" marL="0">
              <a:buNone/>
            </a:pPr>
            <a:r>
              <a:rPr lang="en-US" sz="1100" b="1" dirty="0">
                <a:solidFill>
                  <a:srgbClr val="9CA3AF"/>
                </a:solidFill>
                <a:latin typeface="Courier New" pitchFamily="34" charset="0"/>
                <a:ea typeface="Courier New" pitchFamily="34" charset="-122"/>
                <a:cs typeface="Courier New" pitchFamily="34" charset="-120"/>
              </a:rPr>
              <a:t>github.com/nicolassmotta/curso-lions-dev/</a:t>
            </a:r>
            <a:endParaRPr lang="en-US" sz="1100" dirty="0"/>
          </a:p>
          <a:p>
            <a:pPr indent="0" marL="0">
              <a:buNone/>
            </a:pPr>
            <a:r>
              <a:rPr lang="en-US" sz="1100" b="1" dirty="0">
                <a:solidFill>
                  <a:srgbClr val="9CA3AF"/>
                </a:solidFill>
                <a:latin typeface="Courier New" pitchFamily="34" charset="0"/>
                <a:ea typeface="Courier New" pitchFamily="34" charset="-122"/>
                <a:cs typeface="Courier New" pitchFamily="34" charset="-120"/>
              </a:rPr>
              <a:t>tree/main/</a:t>
            </a:r>
            <a:r>
              <a:rPr lang="en-US" sz="1500" b="1" dirty="0">
                <a:solidFill>
                  <a:srgbClr val="E16D34"/>
                </a:solidFill>
                <a:latin typeface="Courier New" pitchFamily="34" charset="0"/>
                <a:ea typeface="Courier New" pitchFamily="34" charset="-122"/>
                <a:cs typeface="Courier New" pitchFamily="34" charset="-120"/>
              </a:rPr>
              <a:t>modulo03</a:t>
            </a:r>
            <a:endParaRPr lang="en-US" sz="1100" dirty="0"/>
          </a:p>
        </p:txBody>
      </p:sp>
      <p:pic>
        <p:nvPicPr>
          <p:cNvPr id="9" name="Image 1" descr="preencoded.png">    </p:cNvPr>
          <p:cNvPicPr>
            <a:picLocks noChangeAspect="1"/>
          </p:cNvPicPr>
          <p:nvPr/>
        </p:nvPicPr>
        <p:blipFill>
          <a:blip r:embed="rId3"/>
          <a:stretch>
            <a:fillRect/>
          </a:stretch>
        </p:blipFill>
        <p:spPr>
          <a:xfrm>
            <a:off x="3886200" y="1965960"/>
            <a:ext cx="384048" cy="384048"/>
          </a:xfrm>
          <a:prstGeom prst="rect">
            <a:avLst/>
          </a:prstGeom>
        </p:spPr>
      </p:pic>
      <p:sp>
        <p:nvSpPr>
          <p:cNvPr id="10" name="Text 5"/>
          <p:cNvSpPr txBox="1"/>
          <p:nvPr/>
        </p:nvSpPr>
        <p:spPr>
          <a:xfrm>
            <a:off x="4416552" y="1920240"/>
            <a:ext cx="4315968" cy="502920"/>
          </a:xfrm>
          <a:prstGeom prst="rect">
            <a:avLst/>
          </a:prstGeom>
          <a:noFill/>
          <a:ln/>
        </p:spPr>
        <p:txBody>
          <a:bodyPr wrap="square" lIns="0" tIns="0" rIns="0" bIns="0" rtlCol="0" anchor="ctr"/>
          <a:lstStyle/>
          <a:p>
            <a:pPr indent="0" marL="0">
              <a:buNone/>
            </a:pPr>
            <a:r>
              <a:rPr lang="en-US" sz="1250" b="1" dirty="0">
                <a:solidFill>
                  <a:srgbClr val="F7A072"/>
                </a:solidFill>
                <a:latin typeface="Courier New" pitchFamily="34" charset="0"/>
                <a:ea typeface="Courier New" pitchFamily="34" charset="-122"/>
                <a:cs typeface="Courier New" pitchFamily="34" charset="-120"/>
              </a:rPr>
              <a:t>conteudo/</a:t>
            </a:r>
            <a:endParaRPr lang="en-US" sz="1250" dirty="0"/>
          </a:p>
          <a:p>
            <a:pPr algn="l" indent="0" marL="0">
              <a:buNone/>
            </a:pPr>
            <a:r>
              <a:rPr lang="en-US" sz="1150" b="1" dirty="0">
                <a:solidFill>
                  <a:srgbClr val="E6E6E6"/>
                </a:solidFill>
                <a:latin typeface="Helvetica Neue" pitchFamily="34" charset="0"/>
                <a:ea typeface="Helvetica Neue" pitchFamily="34" charset="-122"/>
                <a:cs typeface="Helvetica Neue" pitchFamily="34" charset="-120"/>
              </a:rPr>
              <a:t>teoria comentada e o </a:t>
            </a:r>
            <a:r>
              <a:rPr lang="en-US" sz="1150" b="1" dirty="0">
                <a:solidFill>
                  <a:srgbClr val="FFFFFF"/>
                </a:solidFill>
                <a:latin typeface="Helvetica Neue" pitchFamily="34" charset="0"/>
                <a:ea typeface="Helvetica Neue" pitchFamily="34" charset="-122"/>
                <a:cs typeface="Helvetica Neue" pitchFamily="34" charset="-120"/>
              </a:rPr>
              <a:t>cheat sheet</a:t>
            </a:r>
            <a:r>
              <a:rPr lang="en-US" sz="1150" b="1" dirty="0">
                <a:solidFill>
                  <a:srgbClr val="E6E6E6"/>
                </a:solidFill>
                <a:latin typeface="Helvetica Neue" pitchFamily="34" charset="0"/>
                <a:ea typeface="Helvetica Neue" pitchFamily="34" charset="-122"/>
                <a:cs typeface="Helvetica Neue" pitchFamily="34" charset="-120"/>
              </a:rPr>
              <a:t> do módulo</a:t>
            </a:r>
            <a:endParaRPr lang="en-US" sz="1250" dirty="0"/>
          </a:p>
        </p:txBody>
      </p:sp>
      <p:pic>
        <p:nvPicPr>
          <p:cNvPr id="11" name="Image 2" descr="preencoded.png">    </p:cNvPr>
          <p:cNvPicPr>
            <a:picLocks noChangeAspect="1"/>
          </p:cNvPicPr>
          <p:nvPr/>
        </p:nvPicPr>
        <p:blipFill>
          <a:blip r:embed="rId4"/>
          <a:stretch>
            <a:fillRect/>
          </a:stretch>
        </p:blipFill>
        <p:spPr>
          <a:xfrm>
            <a:off x="3886200" y="2642616"/>
            <a:ext cx="384048" cy="384048"/>
          </a:xfrm>
          <a:prstGeom prst="rect">
            <a:avLst/>
          </a:prstGeom>
        </p:spPr>
      </p:pic>
      <p:sp>
        <p:nvSpPr>
          <p:cNvPr id="12" name="Text 6"/>
          <p:cNvSpPr txBox="1"/>
          <p:nvPr/>
        </p:nvSpPr>
        <p:spPr>
          <a:xfrm>
            <a:off x="4416552" y="2596896"/>
            <a:ext cx="4315968" cy="502920"/>
          </a:xfrm>
          <a:prstGeom prst="rect">
            <a:avLst/>
          </a:prstGeom>
          <a:noFill/>
          <a:ln/>
        </p:spPr>
        <p:txBody>
          <a:bodyPr wrap="square" lIns="0" tIns="0" rIns="0" bIns="0" rtlCol="0" anchor="ctr"/>
          <a:lstStyle/>
          <a:p>
            <a:pPr indent="0" marL="0">
              <a:buNone/>
            </a:pPr>
            <a:r>
              <a:rPr lang="en-US" sz="1250" b="1" dirty="0">
                <a:solidFill>
                  <a:srgbClr val="F7A072"/>
                </a:solidFill>
                <a:latin typeface="Courier New" pitchFamily="34" charset="0"/>
                <a:ea typeface="Courier New" pitchFamily="34" charset="-122"/>
                <a:cs typeface="Courier New" pitchFamily="34" charset="-120"/>
              </a:rPr>
              <a:t>exercicios_slides/</a:t>
            </a:r>
            <a:endParaRPr lang="en-US" sz="1250" dirty="0"/>
          </a:p>
          <a:p>
            <a:pPr algn="l" indent="0" marL="0">
              <a:buNone/>
            </a:pPr>
            <a:r>
              <a:rPr lang="en-US" sz="1150" b="1" dirty="0">
                <a:solidFill>
                  <a:srgbClr val="E6E6E6"/>
                </a:solidFill>
                <a:latin typeface="Helvetica Neue" pitchFamily="34" charset="0"/>
                <a:ea typeface="Helvetica Neue" pitchFamily="34" charset="-122"/>
                <a:cs typeface="Helvetica Neue" pitchFamily="34" charset="-120"/>
              </a:rPr>
              <a:t>os exercícios feitos em aula</a:t>
            </a:r>
            <a:endParaRPr lang="en-US" sz="1250" dirty="0"/>
          </a:p>
        </p:txBody>
      </p:sp>
      <p:pic>
        <p:nvPicPr>
          <p:cNvPr id="13" name="Image 3" descr="preencoded.png">    </p:cNvPr>
          <p:cNvPicPr>
            <a:picLocks noChangeAspect="1"/>
          </p:cNvPicPr>
          <p:nvPr/>
        </p:nvPicPr>
        <p:blipFill>
          <a:blip r:embed="rId5"/>
          <a:stretch>
            <a:fillRect/>
          </a:stretch>
        </p:blipFill>
        <p:spPr>
          <a:xfrm>
            <a:off x="3886200" y="3319272"/>
            <a:ext cx="384048" cy="384048"/>
          </a:xfrm>
          <a:prstGeom prst="rect">
            <a:avLst/>
          </a:prstGeom>
        </p:spPr>
      </p:pic>
      <p:sp>
        <p:nvSpPr>
          <p:cNvPr id="14" name="Text 7"/>
          <p:cNvSpPr txBox="1"/>
          <p:nvPr/>
        </p:nvSpPr>
        <p:spPr>
          <a:xfrm>
            <a:off x="4416552" y="3273552"/>
            <a:ext cx="4315968" cy="502920"/>
          </a:xfrm>
          <a:prstGeom prst="rect">
            <a:avLst/>
          </a:prstGeom>
          <a:noFill/>
          <a:ln/>
        </p:spPr>
        <p:txBody>
          <a:bodyPr wrap="square" lIns="0" tIns="0" rIns="0" bIns="0" rtlCol="0" anchor="ctr"/>
          <a:lstStyle/>
          <a:p>
            <a:pPr indent="0" marL="0">
              <a:buNone/>
            </a:pPr>
            <a:r>
              <a:rPr lang="en-US" sz="1250" b="1" dirty="0">
                <a:solidFill>
                  <a:srgbClr val="F7A072"/>
                </a:solidFill>
                <a:latin typeface="Courier New" pitchFamily="34" charset="0"/>
                <a:ea typeface="Courier New" pitchFamily="34" charset="-122"/>
                <a:cs typeface="Courier New" pitchFamily="34" charset="-120"/>
              </a:rPr>
              <a:t>lista_de_exercicios/</a:t>
            </a:r>
            <a:endParaRPr lang="en-US" sz="1250" dirty="0"/>
          </a:p>
          <a:p>
            <a:pPr algn="l" indent="0" marL="0">
              <a:buNone/>
            </a:pPr>
            <a:r>
              <a:rPr lang="en-US" sz="1150" b="1" dirty="0">
                <a:solidFill>
                  <a:srgbClr val="E6E6E6"/>
                </a:solidFill>
                <a:latin typeface="Helvetica Neue" pitchFamily="34" charset="0"/>
                <a:ea typeface="Helvetica Neue" pitchFamily="34" charset="-122"/>
                <a:cs typeface="Helvetica Neue" pitchFamily="34" charset="-120"/>
              </a:rPr>
              <a:t>listas para praticar em casa</a:t>
            </a:r>
            <a:endParaRPr lang="en-US" sz="1250" dirty="0"/>
          </a:p>
        </p:txBody>
      </p:sp>
      <p:sp>
        <p:nvSpPr>
          <p:cNvPr id="25" name="Slide Number Placeholder 0"/>
          <p:cNvSpPr>
            <a:spLocks noGrp="1"/>
          </p:cNvSpPr>
          <p:nvPr>
            <p:ph type="sldNum" sz="quarter" idx="4294967295"/>
          </p:nvPr>
        </p:nvSpPr>
        <p:spPr>
          <a:xfrm>
            <a:off x="8275320" y="4846320"/>
            <a:ext cx="54864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B8B8B"/>
                </a:solidFill>
                <a:latin typeface="Helvetica Neue"/>
                <a:ea typeface="Helvetica Neue"/>
                <a:cs typeface="Helvetica Neue"/>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Símbolo Lions Dev">    </p:cNvPr>
          <p:cNvPicPr>
            <a:picLocks noChangeAspect="1"/>
          </p:cNvPicPr>
          <p:nvPr/>
        </p:nvPicPr>
        <p:blipFill>
          <a:blip r:embed="rId2"/>
          <a:stretch>
            <a:fillRect/>
          </a:stretch>
        </p:blipFill>
        <p:spPr>
          <a:xfrm>
            <a:off x="4242816" y="502920"/>
            <a:ext cx="658368" cy="749808"/>
          </a:xfrm>
          <a:prstGeom prst="rect">
            <a:avLst/>
          </a:prstGeom>
        </p:spPr>
      </p:pic>
      <p:sp>
        <p:nvSpPr>
          <p:cNvPr id="4" name="Text 0"/>
          <p:cNvSpPr txBox="1"/>
          <p:nvPr/>
        </p:nvSpPr>
        <p:spPr>
          <a:xfrm>
            <a:off x="731520" y="1417320"/>
            <a:ext cx="7680960" cy="1188720"/>
          </a:xfrm>
          <a:prstGeom prst="rect">
            <a:avLst/>
          </a:prstGeom>
          <a:noFill/>
          <a:ln/>
        </p:spPr>
        <p:txBody>
          <a:bodyPr wrap="square" lIns="0" tIns="0" rIns="0" bIns="0" rtlCol="0" anchor="b"/>
          <a:lstStyle/>
          <a:p>
            <a:pPr algn="ctr" indent="0" marL="0">
              <a:buNone/>
            </a:pPr>
            <a:r>
              <a:rPr lang="en-US" sz="3200" b="1" dirty="0">
                <a:solidFill>
                  <a:srgbClr val="E16D34"/>
                </a:solidFill>
                <a:latin typeface="Montserrat" pitchFamily="34" charset="0"/>
                <a:ea typeface="Montserrat" pitchFamily="34" charset="-122"/>
                <a:cs typeface="Montserrat" pitchFamily="34" charset="-120"/>
              </a:rPr>
              <a:t>Fim!</a:t>
            </a:r>
            <a:endParaRPr lang="en-US" sz="3200" dirty="0"/>
          </a:p>
        </p:txBody>
      </p:sp>
      <p:sp>
        <p:nvSpPr>
          <p:cNvPr id="5" name="Text 1"/>
          <p:cNvSpPr txBox="1"/>
          <p:nvPr/>
        </p:nvSpPr>
        <p:spPr>
          <a:xfrm>
            <a:off x="1097280" y="2743200"/>
            <a:ext cx="6949440" cy="1005840"/>
          </a:xfrm>
          <a:prstGeom prst="rect">
            <a:avLst/>
          </a:prstGeom>
          <a:noFill/>
          <a:ln/>
        </p:spPr>
        <p:txBody>
          <a:bodyPr wrap="square" lIns="0" tIns="0" rIns="0" bIns="0" rtlCol="0" anchor="t"/>
          <a:lstStyle/>
          <a:p>
            <a:pPr algn="ctr" indent="0" marL="0">
              <a:buNone/>
            </a:pPr>
            <a:r>
              <a:rPr lang="en-US" sz="1600" b="1" dirty="0">
                <a:solidFill>
                  <a:srgbClr val="E6E6E6"/>
                </a:solidFill>
                <a:latin typeface="Helvetica Neue" pitchFamily="34" charset="0"/>
                <a:ea typeface="Helvetica Neue" pitchFamily="34" charset="-122"/>
                <a:cs typeface="Helvetica Neue" pitchFamily="34" charset="-120"/>
              </a:rPr>
              <a:t>Bora codar: é programando que se aprende a programar.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Lions 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3 — Desenvolvimento de uma Calculadora em JavaScript com Node.js</dc:title>
  <dc:subject>PptxGenJS Presentation</dc:subject>
  <dc:creator>Nicolas Cardoso Motta</dc:creator>
  <cp:lastModifiedBy>Nicolas Cardoso Motta</cp:lastModifiedBy>
  <cp:revision>1</cp:revision>
  <dcterms:created xsi:type="dcterms:W3CDTF">2026-09-27T23:25:28Z</dcterms:created>
  <dcterms:modified xsi:type="dcterms:W3CDTF">2026-09-27T23:25:28Z</dcterms:modified>
</cp:coreProperties>
</file>