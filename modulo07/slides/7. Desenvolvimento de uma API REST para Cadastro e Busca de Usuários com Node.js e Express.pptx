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7 — APIs REST com Node.js e Express.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de abertura (5 minutos) do Módulo 6. Peça para a turma explicar cada cartão com as próprias palavras antes de você falar.
Termine com a pergunta do rodapé. Resposta esperada: hoje não tem como: o programa só roda no seu terminal. Uma API resolve isso, e é o assunto 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curso: hoje é o Módulo 7 (APIs REST com Express). Os módulos com o sinal de visto já passaram; o laranja é o de hoje.
Adiante o próximo passo: o Módulo 8 (Banco de Dados com MongoDB) depende do que a turma aprender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a lógica do Módulo 6 não se perde: as funções de cadastro, busca e remoção viram o corpo das rotas. A seção "Flashcards como API", no fim da aula, é onde isso acontece. Pergunte o que continua igual e o que muda.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alta. No fim da aula, volte a este slide e peça para cada um dizer qual item já consegue fazer sozinho.
• Compreender a arquitetura cliente-servidor.
• Entender o protocolo HTTP: métodos, status, headers e body.
• Saber o que é uma API REST e como organizar as rotas.
• Criar um servidor com Express: rotas, middlewares, validação e express.Router().
• Testar a API com Postman, Insomnia ou cURL e transformar os flashcards numa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a turma responder antes de mostrar 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Acesso só onde ela roda: Só quem está naquele computador consegue usar.
• Pouco intuitiva: Menus no terminal não servem para o usuário comum.
• Sem autenticação: Não há login nem controle de quem pode fazer o quê.
• Manutenção limitada: Cada computador tem a sua cópia: atualizar é um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"Cliente-Servidor". Antes de avançar, faça uma pergunta rápida que ligue o assunto novo ao que a turma já sabe.
Frase de apoio: A solução para essas limitações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Cliente: O dispositivo ou software que solicita dados, páginas ou serviços: o navegador, um app.
• Servidor: O dispositivo ou software que fornece os dados e serviços para os clientes.
• Request e response: O cliente envia uma requisição (request) e o servidor devolve uma resposta (response).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exemplos do mesmo ciclo: o navegador pedindo uma página, o Instagram pedindo o feed, jogadores trocando dados com o servidor do jogo.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Vantagens: Centralização: dados organizados num só lugar. Escalabilidade: muitos clientes usando o mesmo servidor. Segurança: controle de quem pode ler, criar, alterar ou remover.
• Desvantagens: Dependência: servidor fora do ar, ninguém acessa. Latência: a resposta depende da internet e da carga do servidor. Custo: hospedagem, domínio, banco de dados…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"Protocolo HTTP".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 língua da web: HyperText Transfer Protocol: o protocolo que cliente e servidor usam para trocar dados.
• Métodos: Dizem a ação: ler, criar, atualizar ou remover.
• Códigos de status: Dizem o resultado: deu certo, o cliente errou ou o servidor falhou.
• Headers e body: Informações extras da mensagem e os dados em 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ideia da anatomia de um comando no Módulo 1: cada parte da URL tem uma função.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GET Ler: Buscar dados.
• POST Criar: Cadastrar um novo recurso.
• PUT Atualizar: Alterar um recurso que existe.
• DELETE Remover: Apagar um recurso.
Mensagem principal: É o CRUD do Módulo 6, agora pela rede. Existe também o PATCH, para atualizar só uma parte do recurso.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2xx · Sucesso: (com o código do card)
• 4xx · Erro do cliente: (com o código do card)
• 5xx · Erro do servidor: (com o código do card)
Mensagem principal: O status diz de quem é o problema: 4xx, o pedido veio errado; 5xx, o servidor quebrou.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"Requisição" x "Resposta". Pergunte qual diferença chama mais atenção antes de explicar.
Mensagem principal: Os headers trazem informações extras, como o tipo do conteúdo e a autenticação. O body traz os dados, em JSON numa API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"O que são APIs REST?".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forma de organizar a comunicação entre cliente e servidor usando recursos, rotas e métodos HTTP.
Pontos para falar:
• Recurso: A informação que a API manipula: baralhos, flashcards, contatos.
• Endpoint: O endereço que dá acesso ao recurso, como /baralhos.
• Método HTTP: A ação sobre o recurso. O mesmo endpoint faz coisas diferentes com métodos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Convenção REST: o recurso no plural (/baralhos). O projeto de flashcards do repositório segue esse padrão.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Frontend (cliente): A parte visual: telas, botões e formulários. Envia requisições para o servidor.
• Backend (servidor): Recebe as requisições, aplica as regras, manipula os dados e devolve a resposta. É o que vamos construir.
Mensagem principal: O frontend chega no Módulo 11. Até lá, quem faz o papel do cliente é o Postman.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"Criando uma API com Express".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Um framework para Node.js: Facilita criar servidores web e APIs, instalado pelo npm.
• Rotas simples: Liga um método e um caminho a uma função, em uma linha.
• Construído sobre o http: O módulo nativo do Módulo 5, com muito menos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Destaques:
• npm install express: baixa o Express para a node_modules.
• "type": "module": adicione no package.json: o código usa import.
• .gitignore: coloque a node_modules/ nele antes do primeiro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convenção a aplicação se chama app. O nome router fica reservado para o express.Router(), que aparece no fim deste módulo para separar as rotas em arquivos.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Rode node index.js: o terminal fica "preso", porque o servidor está no ar esperando requisições.
• No navegador, acesse http://localhost:3000.
• O Express encontra a rota GET / e responde 200 OK com "Hello World!".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O servidor roda a versão que estava salva quando ele foi ligado. Mudanças não aparecem sozinhas.
• Pare com Ctrl + C e rode de novo, a cada alteração.
• Ou use o modo de observação do Node: ele reinicia sozinho sempre que você salva.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Se já existe um servidor na porta 3000, o novo não sobe e o Node mostra EADDRINUSE.
• Quase sempre é um servidor antigo esquecido em outro terminal: feche com Ctrl + C.
• Ou use outra porta, como 3001.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"Testando a API". Antes de avançar, faça uma pergunta rápida que ligue o assunto novo ao que a turma já sabe.
Frase de apoio: O navegador só faz GET. Para os outros métodos, usamos ferramentas.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curso usamos o Postman, instalado pelo script setup_dev.sh do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os comandos no terminal junto com a turma, um de cada vez.
Mensagem principal: O -X define o método, o -H adiciona um header e o -d envia o body. No Postman, é o mesmo, só que com botões.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"Rotas".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app.get: o método HTTP: get, post, put ou delete.
• '/baralhos': o caminho que o cliente acessa.
• req: a requisição: o que o cliente enviou.
• res: a resposta: o que vamos devolver.
• =&gt; { }: a função executada quando a requisição chegar.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Cada combinação de método + caminho é uma rota diferente: GET / e POST / não se confundem.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dê uns 30 segundos para a turma pensar e colete palpites (mão levantada ou chat) antes de avançar. Depois da resposta, se der tempo, rode o código na frente de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Responde "Primeira rota!". A segunda nunca é alcançada.
• O Express testa as rotas na ordem em que foram criadas e para na primeira que combina.
• A ordem também importa com parâmetros: se /baralhos/:id vier antes de /baralhos/busca, o texto "busca" é tratado como um id.
• Regra prática: rotas fixas primeiro, rotas com parâmetro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"req.body, req.params e req.query". Antes de avançar, faça uma pergunta rápida que ligue o assunto novo ao que a turma já sabe.
Frase de apoio: Três jeitos de o cliente mandar dados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req.body: No corpo da requisição, em JSON. Usado para criar e atualizar. (com o código do card)
• req.params: Na própria rota, no lugar do :nome. Identifica um item. (com o código do card)
• req.query: Depois do ? na URL. Usado para buscas e filtros. (com o código do card)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POST /baralhos   { "titulo": "Node" }
→ 201 { "mensagem": "Dados recebidos pelo req.body",
        "titulo": "Node" 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GET /baralhos/2
→ 200 { "mensagem": "Parâmetro recebido pelo req.params",
        "id": "2" 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Antes de rodar, peça para a turma prever a saída. Saída esperada:
GET /flashcards?termo=node
→ 200 { "mensagem": "Busca recebida pelo req.query",
        "termo": "node" 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Sem o app.use(express.json()), o Express não lê o JSON do body.
• Coloque o express.json() antes das rotas.
• No Postman, envie em Body &gt; raw &gt; JSON: é isso que coloca o header Content-Type: application/json.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Em GET /baralhos/2, o req.params.id é a string "2", não o número 2.
• Comparar com o id do objeto usando === dá false, e o item "não existe".
• Converta antes de buscar: parseInt(req.params.id). O mesmo vale para o req.query.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"Respondendo o cliente".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status() define o código (sem ele, o padrão é 200). O send() com um objeto já envia JSON; o res.json() faz o mesmo de forma explícita.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Cada requisição recebe uma única resposta. A segunda dá erro: Cannot set headers after they are sent.
• Acontece quando o código responde o erro e continua executando até o próximo res.send.
• Por isso usamos return res.status(...): o return encerra a função ali.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Se a rota não chama res.send, o cliente fica esperando para sempre.
• No Postman, a requisição fica carregando até dar timeout.
• Toda rota, e todo caminho dentro dela (if, else), precisa terminar com uma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204 é comum em DELETE e em atualizações que não precisam devolver o recurso. O próximo slide é um quiz: deixar a turma prever antes de mostrar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Quiz: dê uns 30 segundos para a turma pensar e colete palpites (mão levantada ou chat) antes de avançar. Depois da resposta, se der tempo, rode o código na frente de todos.
Pergunta do slide: Pense antes de testar: o que aparece no Postman?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O Postman mostra 204 e o body vazio: o Express descarta o conteúdo de uma resposta 204.
• Não é erro, é a regra do HTTP: 204 significa "sem conteúdo".
• Mensagem para o usuário? Responda 200 com JSON. Nada a devolver? res.status(204).send().
• No frontend, não tente ler JSON de uma resposta 204: não há nada para 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"Middlewares".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der, mostre isto ao vivo no programa, em vez de só no print.
• Uma função que fica entre a chegada da requisição e a resposta final.
• Pode registrar logs, validar dados, verificar autenticação ou tratar erros.
• O next() passa a requisição adiante: para o próximo middleware ou para a rota.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middleware precisa chamar next() ou responder. Se não fizer nenhum dos dois, a requisição fica pendurada. No Módulo 9, o middleware de autenticação usa exatamente essa estrutura.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4 parâmetros: é o err na frente que faz o Express reconhecer um middleware de erro.
• depois das rotas: ele recebe os erros que as rotas lançaram.
• 500: o cliente recebe uma resposta clara, e o servidor não cai.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Sem isso, o Express responde uma página HTML genérica. Com isso, o cliente recebe um JSON padronizado, como o resto da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PUT Substitui: Envia o recurso inteiro. O que não foi enviado pode ser apagado.
• PATCH Altera uma parte: Envia só os campos que mudaram. O resto fica como estava.
Mensagem principal: Na prática, muitas APIs usam o PUT de forma parcial, como a nossa. No Módulo 9, a atividade dos livros usa 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"Validando os dados". Antes de avançar, faça uma pergunta rápida que ligue o assunto novo ao que a turma já sabe.
Frase de apoio: Nunca confie no que o cliente manda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Campo faltando: O cliente esqueceu um campo obrigatório. (com o código do card)
• Tipo errado: Texto onde deveria vir um número. (com o código do card)
• Texto vazio: Só espaços passam no !pergunta. (com o código do card)
• Campo a mais: O cliente tenta escolher o que não devia. (com o código do card)
Mensagem principal: Validar antes da lógica: a função recebe dados confiáveis, e o cliente recebe um 400 que explica o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repositório, o POST /flashcards ainda não confere pergunta e resposta: sem esses ifs, dá para criar um flashcard vazio. Bom exercício ao vivo: testar no Postman antes e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Com if (!quantidade), uma quantidade 0 é recusada: o 0 é falsy, como vimos no Módulo 2.
• O mesmo vale para false e para o texto vazio: às vezes, eles são valores válidos.
• Para saber se o campo veio, compare com undefined. Para saber se o valor serve, confira o tipo e o intervalo.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A mesma validação serve para o POST e o PUT, sem repetir código. No Módulo 9, o boilerplate faz isso com o validarCampos.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"Flashcards como API". Antes de avançar, faça uma pergunta rápida que ligue o assunto novo ao que a turma já sabe.
Frase de apoio: O mesmo sistema, agora acessado por rotas HTTP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Estrutura: Cada flashcard tem uma pergunta e uma resposta. Os flashcards são organizados em baralhos.
• Requisitos: Criar baralhos e flashcards. Buscar individualmente ou por baralho. Atualizar e remover.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Cadastro e busca: Gerar um id para cada baralho. Título obrigatório; sem título, mensagem de erro. Listar todos os baralhos, com id e título.
• Atualização e remoção: Localizar o baralho pelo id antes de alterar. Remover um baralho remove os flashcards dele. Id inexistente: mensagem de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O servidor é criado com o Express e as requisições aceitam JSON.
• As funcionalidades são acessadas por rotas: POST cadastra, GET lista e busca, PUT atualiza e DELETE remove.
• Os status HTTP são adequados: 200, 201, 400 e 404.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Antes (Módulo 6): index.js: menu no terminal. Arquivos de baralhos e flashcards com as funções.
• Agora (Módulo 7): index.js: servidor Express com as rotas. As mesmas funções, chamadas pelas rotas.
Mensagem principal: A lógica não muda. Só troca quem chama as funções: antes era o menu, agora é o cliente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Cada flashcard guarda o idBaralho: o relacionamento 1:N do Módulo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A função devolve um objeto com error ou com data. Quem decide o status HTTP é a rota, não a função.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Erro de validação → 400. Criado → 201, devolvendo o baralho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Testando: POST /baralhos
• Requisição
• POST /baralhos
• { "titulo": "Node.js"}
• Resposta
• 201 Created
• { "message": "Baralho criado!", "baralho": { "id": 3, "titulo": "Node.js" }}
• Teste também sem o título: a resposta deve ser 400 com a mensagem de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PUT usa as duas fontes: o id vem do req.params e o título novo vem do req.body.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O laço anda de trás para frente: ao remover com splice, os itens seguintes mudam de posição, e um laço para frente pularia alguns.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Rotas do exemplo completo, em modulo07/exercicios_slides/flashcards/index.js.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"Organizando as rotas". Antes de avançar, faça uma pergunta rápida que ligue o assunto novo ao que a turma já sabe.
Frase de apoio: Dez rotas num arquivo só? O express.Router() separa por recurso.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Destaques:
• Router(): um "mini app" que só guarda rotas.
• router.post('/'): o caminho é relativo: o prefixo vem depois, no index.js.
• ../: o arquivo está na pasta routes: os imports sobem um nível, com o .js no final (Módulo 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index.js fica só com a configuração: cada recurso tem o seu arquivo de rotas. É a mesma organização do boilerplate do Módulo 9 (pasta routes/).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Com router.get("/baralhos") e app.use("/baralhos", router), a rota vira /baralhos/baralhos. O GET /baralhos dá 404.
• O prefixo fica só no app.use. Dentro do arquivo de rotas, os caminhos começam em /.
• Deu 404 numa rota que existe? Confira o caminho completo: prefixo + caminho do router.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 da Prática: combine o tempo, peça para a turma abrir o VS Code e circule pela sala durante as atividades.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(Express): leia o enunciado em voz alta, combine o tempo (15 a 25 minutos, conforme a turma) e circule pela sala.
• Crie a pasta modulo07.
• Use o flashcards dos slides (ou do repositório) para entender o Express.
• Copie os exercícios de CRUD do Módulo 6 para a pasta nova.
• Adapte cada um para ser acessado por rotas, e não pelo terminal.
• Teste todas as rotas no Postman, no Insomnia ou com cURL.
Dica: use node --watch index.js para o servidor reiniciar sozinho, e confira os status: 201 ao criar, 400 com dado inválido, 404 com id inexistente.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Lista de código: Rotas GET, POST, PUT e DELETE, req.body, req.params e status: complete, ache o bug e preveja a resposta.
• APIs aplicadas: Estudantes, Filmes e Livros: um CRUD REST completo em cada.
• Desafio: Uma API de tarefas, escrita do zero.
Mensagem principal: No repositório: modulo07/lista_de_exercicios/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QR code e peça para a turma abrir a pasta modulo07 no celular agora, antes de ir embora.
Lembre o que tem lá: conteudo, exercicios_slides, lista_de_exercicios, exercicios_resolvidos. O cheat sheet do módulo fica em conteudo/ e resume a aula em duas páginas.
Link: https://github.com/nicolassmotta/curso-lions-dev/tree/main/modulo07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retome os objetivos do começo, abra para dúvidas e lembre onde ficam a lista de exercícios e o material no repositório.
Frase de saída: No Módulo 8, os dados saem da memória e vão para um banco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4-5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8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3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1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5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6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6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-3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3-4.png"/><Relationship Id="rId3" Type="http://schemas.openxmlformats.org/officeDocument/2006/relationships/image" Target="../media/image-80-3.png"/><Relationship Id="rId4" Type="http://schemas.openxmlformats.org/officeDocument/2006/relationships/image" Target="../media/image-8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image" Target="../media/image-81-4.png"/><Relationship Id="rId5" Type="http://schemas.openxmlformats.org/officeDocument/2006/relationships/image" Target="../media/image-2-2.png"/><Relationship Id="rId6" Type="http://schemas.openxmlformats.org/officeDocument/2006/relationships/image" Target="../media/image-3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40233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070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1500" b="1" spc="3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1060704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Curso de Programação</a:t>
            </a:r>
            <a:endParaRPr lang="en-US" sz="950" dirty="0"/>
          </a:p>
        </p:txBody>
      </p:sp>
      <p:pic>
        <p:nvPicPr>
          <p:cNvPr id="6" name="Image 1" descr="Símbolo Lions Dev em degrad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01047"/>
            <a:ext cx="3520440" cy="400084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7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938528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APIs REST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Express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 Nicolas Cardoso Motta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Revisando o Módulo 6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545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69545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CRUD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170938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Create, Read, Update e Delete: as quatro operações de qualquer cadastro.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27660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69545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169545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 único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2170938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id identifica cada registro; atualizar e remover começam por encontrá-lo.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172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69545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169545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Busca e relações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2320290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buscam; a relação guarda o id do outro registro.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Pergunta para abrir: como outra pessoa, em outro computador, usaria o seu cadastro de contatos?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do curso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86107" y="1133856"/>
            <a:ext cx="6771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BASE: JAVASCRIPT, GIT E ORGANIZAÇÃO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186107" y="1389888"/>
            <a:ext cx="6771785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342" y="2779776"/>
            <a:ext cx="5622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1342" y="3035808"/>
            <a:ext cx="5622254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8999" y="2779776"/>
            <a:ext cx="21736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 PROJETO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8999" y="3035808"/>
            <a:ext cx="2173659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6107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6107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31827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15" y="1536192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35639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35639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2381359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Fundamentos de JS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447" y="1536192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485170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485170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3530890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Calculadora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978" y="1536192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634702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634702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4680422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e GitHub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510" y="1536192"/>
            <a:ext cx="219456" cy="21945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784233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784233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5829953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endParaRPr lang="en-US" sz="9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041" y="1536192"/>
            <a:ext cx="219456" cy="21945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933765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933765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25"/>
          <p:cNvSpPr txBox="1"/>
          <p:nvPr/>
        </p:nvSpPr>
        <p:spPr>
          <a:xfrm>
            <a:off x="6979485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busca</a:t>
            </a:r>
            <a:endParaRPr lang="en-US" sz="9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3573" y="1536192"/>
            <a:ext cx="219456" cy="219456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611342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E16D34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611342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400" dirty="0"/>
          </a:p>
        </p:txBody>
      </p:sp>
      <p:sp>
        <p:nvSpPr>
          <p:cNvPr id="37" name="Text 28"/>
          <p:cNvSpPr txBox="1"/>
          <p:nvPr/>
        </p:nvSpPr>
        <p:spPr>
          <a:xfrm>
            <a:off x="657062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Express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1760873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39" name="Text 30"/>
          <p:cNvSpPr txBox="1"/>
          <p:nvPr/>
        </p:nvSpPr>
        <p:spPr>
          <a:xfrm>
            <a:off x="1760873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400" dirty="0"/>
          </a:p>
        </p:txBody>
      </p:sp>
      <p:sp>
        <p:nvSpPr>
          <p:cNvPr id="40" name="Text 31"/>
          <p:cNvSpPr txBox="1"/>
          <p:nvPr/>
        </p:nvSpPr>
        <p:spPr>
          <a:xfrm>
            <a:off x="1806593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2910405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2" name="Text 33"/>
          <p:cNvSpPr txBox="1"/>
          <p:nvPr/>
        </p:nvSpPr>
        <p:spPr>
          <a:xfrm>
            <a:off x="2910405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400" dirty="0"/>
          </a:p>
        </p:txBody>
      </p:sp>
      <p:sp>
        <p:nvSpPr>
          <p:cNvPr id="43" name="Text 34"/>
          <p:cNvSpPr txBox="1"/>
          <p:nvPr/>
        </p:nvSpPr>
        <p:spPr>
          <a:xfrm>
            <a:off x="2956125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e MVC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4059936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5" name="Text 36"/>
          <p:cNvSpPr txBox="1"/>
          <p:nvPr/>
        </p:nvSpPr>
        <p:spPr>
          <a:xfrm>
            <a:off x="4059936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9B</a:t>
            </a:r>
            <a:endParaRPr lang="en-US" sz="2400" dirty="0"/>
          </a:p>
        </p:txBody>
      </p:sp>
      <p:sp>
        <p:nvSpPr>
          <p:cNvPr id="46" name="Text 37"/>
          <p:cNvSpPr txBox="1"/>
          <p:nvPr/>
        </p:nvSpPr>
        <p:spPr>
          <a:xfrm>
            <a:off x="4105656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5209467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48" name="Text 39"/>
          <p:cNvSpPr txBox="1"/>
          <p:nvPr/>
        </p:nvSpPr>
        <p:spPr>
          <a:xfrm>
            <a:off x="5209467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49" name="Text 40"/>
          <p:cNvSpPr txBox="1"/>
          <p:nvPr/>
        </p:nvSpPr>
        <p:spPr>
          <a:xfrm>
            <a:off x="5255187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950" dirty="0"/>
          </a:p>
        </p:txBody>
      </p:sp>
      <p:sp>
        <p:nvSpPr>
          <p:cNvPr id="50" name="Shape 41"/>
          <p:cNvSpPr/>
          <p:nvPr/>
        </p:nvSpPr>
        <p:spPr>
          <a:xfrm>
            <a:off x="6358999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1" name="Text 42"/>
          <p:cNvSpPr txBox="1"/>
          <p:nvPr/>
        </p:nvSpPr>
        <p:spPr>
          <a:xfrm>
            <a:off x="6358999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400" dirty="0"/>
          </a:p>
        </p:txBody>
      </p:sp>
      <p:sp>
        <p:nvSpPr>
          <p:cNvPr id="52" name="Text 43"/>
          <p:cNvSpPr txBox="1"/>
          <p:nvPr/>
        </p:nvSpPr>
        <p:spPr>
          <a:xfrm>
            <a:off x="6404719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950" dirty="0"/>
          </a:p>
        </p:txBody>
      </p:sp>
      <p:sp>
        <p:nvSpPr>
          <p:cNvPr id="53" name="Shape 44"/>
          <p:cNvSpPr/>
          <p:nvPr/>
        </p:nvSpPr>
        <p:spPr>
          <a:xfrm>
            <a:off x="7508530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4" name="Text 45"/>
          <p:cNvSpPr txBox="1"/>
          <p:nvPr/>
        </p:nvSpPr>
        <p:spPr>
          <a:xfrm>
            <a:off x="7508530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400" dirty="0"/>
          </a:p>
        </p:txBody>
      </p:sp>
      <p:sp>
        <p:nvSpPr>
          <p:cNvPr id="55" name="Text 46"/>
          <p:cNvSpPr txBox="1"/>
          <p:nvPr/>
        </p:nvSpPr>
        <p:spPr>
          <a:xfrm>
            <a:off x="7554250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 final</a:t>
            </a:r>
            <a:endParaRPr lang="en-US" sz="950" dirty="0"/>
          </a:p>
        </p:txBody>
      </p:sp>
      <p:sp>
        <p:nvSpPr>
          <p:cNvPr id="56" name="Text 47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está aqui: 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7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APIs REST com Express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projeto flashcards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123406" y="1755648"/>
            <a:ext cx="6897189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123406" y="1755648"/>
            <a:ext cx="1149531" cy="0"/>
          </a:xfrm>
          <a:prstGeom prst="line">
            <a:avLst/>
          </a:prstGeom>
          <a:noFill/>
          <a:ln w="38100">
            <a:solidFill>
              <a:srgbClr val="E16D3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1070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6" y="1481328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M6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CRUD em memória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870601" y="1353312"/>
            <a:ext cx="804672" cy="804672"/>
          </a:xfrm>
          <a:prstGeom prst="ellipse">
            <a:avLst/>
          </a:prstGeom>
          <a:solidFill>
            <a:srgbClr val="E16D34"/>
          </a:solidFill>
          <a:ln w="25400">
            <a:solidFill>
              <a:srgbClr val="E16D3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617" y="1481328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8171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M7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698171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698171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Express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020133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3148149" y="1481328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847703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M8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2847703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2847703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169664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4297680" y="1481328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997234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3997234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dono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3997234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 e JWT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319195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5447211" y="1481328"/>
            <a:ext cx="548640" cy="54864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146766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M9B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5146766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Testado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5146766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Vitest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468727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6596743" y="1481328"/>
            <a:ext cx="548640" cy="54864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296297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M10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6296297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ar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6296297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Render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7618258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7746274" y="1481328"/>
            <a:ext cx="548640" cy="54864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445829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M11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7445829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tela</a:t>
            </a:r>
            <a:endParaRPr lang="en-US" sz="1250" dirty="0"/>
          </a:p>
        </p:txBody>
      </p:sp>
      <p:sp>
        <p:nvSpPr>
          <p:cNvPr id="41" name="Text 31"/>
          <p:cNvSpPr txBox="1"/>
          <p:nvPr/>
        </p:nvSpPr>
        <p:spPr>
          <a:xfrm>
            <a:off x="7445829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548640" y="3127248"/>
            <a:ext cx="8046720" cy="1481328"/>
          </a:xfrm>
          <a:prstGeom prst="roundRect">
            <a:avLst>
              <a:gd name="adj" fmla="val 6173"/>
            </a:avLst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822960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MÓDULO 7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82296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CRUD do terminal vira uma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REST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cada função vira uma rota (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/baralhos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/flashcards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…), testada no Postman. Os dados ainda ficam na memória.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40480" y="868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3858768" y="1417320"/>
            <a:ext cx="4846320" cy="45720"/>
          </a:xfrm>
          <a:prstGeom prst="rect">
            <a:avLst/>
          </a:prstGeom>
          <a:solidFill>
            <a:srgbClr val="E16D34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58768" y="1572768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Compreender a arquitetura cliente-servidor.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Entender o protocolo HTTP: métodos, status, headers e body.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Saber o que é uma API REST e como organizar as rotas.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 um servidor com Express: rotas, middlewares, validação e express.Router().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Testar a API com Postman, Insomnia ou cURL e transformar os flashcards numa API.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Lembra do sistema de flashcards e da agenda do Módulo 6? Quais as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limitações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 uma aplicação que roda só no terminal?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Limitações de uma aplicação local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128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143000"/>
            <a:ext cx="4114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Acesso só onde ela roda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quem está naquele computador consegue usar.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8940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071116"/>
            <a:ext cx="4114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Pouco intuitiva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Menus no terminal não servem para o usuário comum.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1752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999232"/>
            <a:ext cx="4114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autenticação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há login nem controle de quem pode fazer o quê.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4563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927348"/>
            <a:ext cx="4114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Manutenção limitada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computador tem a sua cópia: atualizar é um problema.</a:t>
            </a:r>
            <a:endParaRPr lang="en-US" sz="1650" dirty="0"/>
          </a:p>
        </p:txBody>
      </p:sp>
      <p:sp>
        <p:nvSpPr>
          <p:cNvPr id="13" name="Shape 6"/>
          <p:cNvSpPr/>
          <p:nvPr/>
        </p:nvSpPr>
        <p:spPr>
          <a:xfrm>
            <a:off x="5897880" y="146304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14" name="Image 4" descr="Desafios de uma aplicação de termin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2226506"/>
            <a:ext cx="2697480" cy="11248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Cliente-Servidor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solução para essas limitações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pede e quem entrega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24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264158"/>
            <a:ext cx="42062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dispositivo ou software que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solicita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dados, páginas ou serviços: o navegador, um app.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91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420874"/>
            <a:ext cx="42062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Servidor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dispositivo ou software que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fornece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os dados e serviços para os clientes.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958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577590"/>
            <a:ext cx="42062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 e response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cliente envia uma requisição (request) e o servidor devolve uma resposta (response).</a:t>
            </a:r>
            <a:endParaRPr lang="en-US" sz="1650" dirty="0"/>
          </a:p>
        </p:txBody>
      </p:sp>
      <p:sp>
        <p:nvSpPr>
          <p:cNvPr id="11" name="Shape 5"/>
          <p:cNvSpPr/>
          <p:nvPr/>
        </p:nvSpPr>
        <p:spPr>
          <a:xfrm>
            <a:off x="5669280" y="1554480"/>
            <a:ext cx="31089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12" name="Image 3" descr="Vários clientes acessando um servidor pela intern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65376"/>
            <a:ext cx="2926080" cy="17556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mesmo ciclo em todo lugar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3444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Sites: o navegador pede a págin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3952"/>
            <a:ext cx="2423160" cy="134409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11480" y="3474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Sites: o navegador pede a página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46120" y="123444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9" name="Image 1" descr="Apps: o Instagram pede o fe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604486"/>
            <a:ext cx="2423160" cy="136302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246120" y="3474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Apps: o Instagram pede o feed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6080760" y="123444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12" name="Image 2" descr="Jogos: o servidor sincroniza os jogador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13952"/>
            <a:ext cx="2423160" cy="1344097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080760" y="3474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Jogos: o servidor sincroniza os jogadores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Cliente envia 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→ servidor processa → devolve 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response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Vantagens e desvantagens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626362"/>
            <a:ext cx="4023360" cy="2526284"/>
          </a:xfrm>
          <a:prstGeom prst="roundRect">
            <a:avLst>
              <a:gd name="adj" fmla="val 362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0924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80924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Vantagens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284730"/>
            <a:ext cx="3657600" cy="1685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Centralização: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dados organizados num só lugar.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Escalabilidade: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muitos clientes usando o mesmo servidor.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Segurança: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controle de quem pode ler, criar, alterar ou remover.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626362"/>
            <a:ext cx="4023360" cy="2526284"/>
          </a:xfrm>
          <a:prstGeom prst="roundRect">
            <a:avLst>
              <a:gd name="adj" fmla="val 362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09242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80924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Desvantagens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284730"/>
            <a:ext cx="3657600" cy="1685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Dependência: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servidor fora do ar, ninguém acessa.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Latência: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 resposta depende da internet e da carga do servidor.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hospedagem, domínio, banco de dados…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Protocolo HTTP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HTTP?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702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34874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língua da web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HyperText Transfer Protocol: o protocolo que cliente e servidor usam para trocar dados.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9514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27685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Métodos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Dizem 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ação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ler, criar, atualizar ou remover.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1752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999232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Códigos de status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Dizem 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resultado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deu certo, o cliente errou ou o servidor falhou.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4563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92734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Headers e body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Informações extras da mensagem e os dados em si.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 de uma URL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14630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737360" y="2057400"/>
            <a:ext cx="0" cy="3200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4048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Protocolo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37744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lions.dev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200400" y="2057400"/>
            <a:ext cx="0" cy="6858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377440" y="27706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Domínio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14630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480560" y="2057400"/>
            <a:ext cx="0" cy="320040"/>
          </a:xfrm>
          <a:prstGeom prst="line">
            <a:avLst/>
          </a:prstGeom>
          <a:noFill/>
          <a:ln w="19050">
            <a:solidFill>
              <a:srgbClr val="E16D3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0" y="24048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1463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/lessons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5669280" y="2057400"/>
            <a:ext cx="0" cy="685800"/>
          </a:xfrm>
          <a:prstGeom prst="line">
            <a:avLst/>
          </a:prstGeom>
          <a:noFill/>
          <a:ln w="19050">
            <a:solidFill>
              <a:srgbClr val="F7A07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7706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Caminho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?modulo=8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7223760" y="2057400"/>
            <a:ext cx="0" cy="32004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24048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Query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Durante o curso, o domínio vai ser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seu próprio computador. Ex.: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http://localhost:3000/baralhos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Métodos HTTP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65326"/>
            <a:ext cx="1874520" cy="2226564"/>
          </a:xfrm>
          <a:prstGeom prst="roundRect">
            <a:avLst>
              <a:gd name="adj" fmla="val 487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648206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334006"/>
            <a:ext cx="1508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Ler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692146"/>
            <a:ext cx="150876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Buscar dados.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2560320" y="1465326"/>
            <a:ext cx="1874520" cy="2226564"/>
          </a:xfrm>
          <a:prstGeom prst="roundRect">
            <a:avLst>
              <a:gd name="adj" fmla="val 487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0" y="1648206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2334006"/>
            <a:ext cx="1508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</a:t>
            </a:r>
            <a:endParaRPr lang="en-US" sz="175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2692146"/>
            <a:ext cx="150876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Cadastrar um novo recurso.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709160" y="1465326"/>
            <a:ext cx="1874520" cy="2226564"/>
          </a:xfrm>
          <a:prstGeom prst="roundRect">
            <a:avLst>
              <a:gd name="adj" fmla="val 487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648206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2334006"/>
            <a:ext cx="1508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Atualizar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692146"/>
            <a:ext cx="150876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Alterar um recurso que existe.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858000" y="1465326"/>
            <a:ext cx="1874520" cy="2226564"/>
          </a:xfrm>
          <a:prstGeom prst="roundRect">
            <a:avLst>
              <a:gd name="adj" fmla="val 487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40880" y="1648206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2334006"/>
            <a:ext cx="1508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Remover</a:t>
            </a:r>
            <a:endParaRPr lang="en-US" sz="175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692146"/>
            <a:ext cx="150876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Apagar um recurso.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o CRUD do Módulo 6, agora pela rede. Existe também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para atualizar só uma parte do recurso.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Códigos de status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377696"/>
            <a:ext cx="2590800" cy="2401824"/>
          </a:xfrm>
          <a:prstGeom prst="roundRect">
            <a:avLst>
              <a:gd name="adj" fmla="val 380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560576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2xx · Sucesso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94360" y="2036064"/>
            <a:ext cx="2225040" cy="923544"/>
          </a:xfrm>
          <a:prstGeom prst="roundRect">
            <a:avLst>
              <a:gd name="adj" fmla="val 792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0664" y="2153107"/>
            <a:ext cx="1932432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Content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76600" y="1377696"/>
            <a:ext cx="2590800" cy="2401824"/>
          </a:xfrm>
          <a:prstGeom prst="roundRect">
            <a:avLst>
              <a:gd name="adj" fmla="val 380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59480" y="1560576"/>
            <a:ext cx="22250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4xx · Erro do cliente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3459480" y="2185416"/>
            <a:ext cx="2225040" cy="1319784"/>
          </a:xfrm>
          <a:prstGeom prst="roundRect">
            <a:avLst>
              <a:gd name="adj" fmla="val 554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05784" y="2302459"/>
            <a:ext cx="1932432" cy="1085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Bad Request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Unauthorized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Forbidden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Found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Conflict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41720" y="1377696"/>
            <a:ext cx="2590800" cy="2401824"/>
          </a:xfrm>
          <a:prstGeom prst="roundRect">
            <a:avLst>
              <a:gd name="adj" fmla="val 380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24600" y="1560576"/>
            <a:ext cx="22250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5xx · Erro do servidor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324600" y="2185416"/>
            <a:ext cx="2225040" cy="618744"/>
          </a:xfrm>
          <a:prstGeom prst="roundRect">
            <a:avLst>
              <a:gd name="adj" fmla="val 1182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70904" y="2302459"/>
            <a:ext cx="1932432" cy="384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Internal Server Error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503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Service Unavailable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status diz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quem é o problema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4xx, o pedido veio errado; 5xx, o servidor quebrou.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Headers e body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7358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Requisição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110740"/>
            <a:ext cx="4069080" cy="1395984"/>
          </a:xfrm>
          <a:prstGeom prst="roundRect">
            <a:avLst>
              <a:gd name="adj" fmla="val 524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227783"/>
            <a:ext cx="3776472" cy="116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/baralhos HTTP/1.1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localhost:3000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"titulo": "JavaScript" }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7358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Resposta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110740"/>
            <a:ext cx="4069080" cy="1395984"/>
          </a:xfrm>
          <a:prstGeom prst="roundRect">
            <a:avLst>
              <a:gd name="adj" fmla="val 524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227783"/>
            <a:ext cx="3776472" cy="116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HTTP/1.1 201 Created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3, "titulo": "JavaScript" }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headers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trazem informações extras, como o tipo do conteúdo e a autenticação. 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body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traz os dados, em JSON numa API REST.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são APIs REST?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REST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383792"/>
            <a:ext cx="768096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forma de organizar a comunicação entre cliente e servidor usando 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recursos</a:t>
            </a: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rotas</a:t>
            </a: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métodos HTTP</a:t>
            </a: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4352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203606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Recurso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informação que a API manipula: baralhos, flashcards, contatos.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82468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63040" y="296418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Endpoint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endereço que dá acesso ao recurso, como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/baralhos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04844"/>
            <a:ext cx="502920" cy="5029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63040" y="3686556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Método HTTP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ação sobre o recurso. O mesmo endpoint faz coisas diferentes com métodos diferentes.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recurso, quatro ações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Método e rota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 que faz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Status de sucesso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GET /baralhos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Lista os baralhos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200 OK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GET /baralhos/:id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Busca um baralho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200 OK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POST /baralhos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Cria um baralho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201 Created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PUT /baralhos/:id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Atualiza um baralho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200 OK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DELETE /baralhos/:id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Remove um baralho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200 ou 204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recurso vai no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plural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:id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indica qual item. A ação fica por conta do método.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 backend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697736"/>
            <a:ext cx="402336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8061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8806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 (cliente)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356104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parte visual: telas, botões e formulários. Envia requisições para o servidor.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697736"/>
            <a:ext cx="402336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8061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8806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 (servidor)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356104"/>
            <a:ext cx="365760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Recebe as requisições, aplica as regras, manipula os dados e devolve a resposta.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o que vamos construir.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frontend chega no Módulo 11. Até lá, quem faz o papel do cliente é o Postman.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Criando uma API com Express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o Express?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534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607058"/>
            <a:ext cx="4754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framework para Node.js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Facilita criar servidores web e APIs, instalado pelo npm.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5346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535174"/>
            <a:ext cx="4754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Rotas simples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Liga um método e um caminho a uma função, em uma linha.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8157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463290"/>
            <a:ext cx="4754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Construído sobre o http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módulo nativo do Módulo 5, com muito menos trabalho.</a:t>
            </a:r>
            <a:endParaRPr lang="en-US" sz="1650" dirty="0"/>
          </a:p>
        </p:txBody>
      </p:sp>
      <p:sp>
        <p:nvSpPr>
          <p:cNvPr id="11" name="Shape 5"/>
          <p:cNvSpPr/>
          <p:nvPr/>
        </p:nvSpPr>
        <p:spPr>
          <a:xfrm>
            <a:off x="6492240" y="1737360"/>
            <a:ext cx="21945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12" name="Image 3" descr="Logo do Expres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874520"/>
            <a:ext cx="1920240" cy="1920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220468"/>
            <a:ext cx="4206240" cy="1365504"/>
          </a:xfrm>
          <a:prstGeom prst="roundRect">
            <a:avLst>
              <a:gd name="adj" fmla="val 535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337511"/>
            <a:ext cx="3913632" cy="1131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hello-express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hello-express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init -y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express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821180"/>
            <a:ext cx="3931920" cy="216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baixa o Express para 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"type": "module"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adicione no package.json: o código usa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coloque 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nele antes do primeiro commit.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primeiro servidor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351788"/>
            <a:ext cx="5318760" cy="3102864"/>
          </a:xfrm>
          <a:prstGeom prst="roundRect">
            <a:avLst>
              <a:gd name="adj" fmla="val 235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468831"/>
            <a:ext cx="5026152" cy="2868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express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'express'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 =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port =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(express.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World!'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(port, () =&gt;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`Servidor rodando na porta ${port}`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58840" y="1066800"/>
            <a:ext cx="2819400" cy="3672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express()  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cria a aplicação. Por convenção, chamamos de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.use()  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adiciona um middleware; o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express.json()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permite receber JSON.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.get()  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cria uma rota: método GET no caminho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.send()  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envia a resposta ao cliente.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.listen()  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liga o servidor na porta, e ele fica esperando requisições.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Acessando o servidor</a:t>
            </a:r>
            <a:endParaRPr lang="en-US" sz="3000" dirty="0"/>
          </a:p>
        </p:txBody>
      </p:sp>
      <p:pic>
        <p:nvPicPr>
          <p:cNvPr id="5" name="Image 0" descr="Acessando o servi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77872"/>
            <a:ext cx="4937760" cy="273299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577872"/>
            <a:ext cx="4937760" cy="2732993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882648"/>
            <a:ext cx="3200400" cy="221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index.js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terminal fica "preso", porque o servidor está no ar esperando requisições.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navegador, acesse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Express encontra a rota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responde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200 OK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"Hello World!".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mudou o código? Reinicie o servidor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servidor roda a versão que estava salva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quando ele foi ligado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Mudanças não aparecem sozinhas.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Pare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C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rode de novo, a cada alteração.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 use o modo de observação do Node: ele reinicia sozinho sempre que você salva.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49956"/>
            <a:ext cx="8046720" cy="542544"/>
          </a:xfrm>
          <a:prstGeom prst="roundRect">
            <a:avLst>
              <a:gd name="adj" fmla="val 13483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66999"/>
            <a:ext cx="7754112" cy="308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--watch index.js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porta em uso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já existe um servidor na porta 3000, o novo não sobe e o Node mostra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EADDRINUSE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Quase sempre é um servidor antigo esquecido em outro terminal: feche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C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 use outra porta, como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3001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49956"/>
            <a:ext cx="8046720" cy="542544"/>
          </a:xfrm>
          <a:prstGeom prst="roundRect">
            <a:avLst>
              <a:gd name="adj" fmla="val 13483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66999"/>
            <a:ext cx="7754112" cy="308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listen EADDRINUSE: address already in use :::3000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Testando a API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navegador só faz GET. Para os outros métodos, usamos ferramentas.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desenvolvedor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Insomn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1143000" cy="1143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Insomnia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 e leve: envia requisições e mostra as respostas.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4612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25400">
            <a:solidFill>
              <a:srgbClr val="E16D34"/>
            </a:solidFill>
            <a:prstDash val="solid"/>
          </a:ln>
        </p:spPr>
      </p:sp>
      <p:pic>
        <p:nvPicPr>
          <p:cNvPr id="10" name="Image 1" descr="Postm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17320"/>
            <a:ext cx="1143000" cy="1143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3756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Postman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Testa, documenta e organiza as requisições. É o que vamos usar.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080760" y="11887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cUR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608513"/>
            <a:ext cx="1143000" cy="76061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17220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cURL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6263640" y="32461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Pelo terminal, ótimo para testes rápidos.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Testando com cURL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679448"/>
            <a:ext cx="8321040" cy="1883664"/>
          </a:xfrm>
          <a:prstGeom prst="roundRect">
            <a:avLst>
              <a:gd name="adj" fmla="val 388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796491"/>
            <a:ext cx="8028432" cy="1649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http://localhost:3000/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World!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http://localhost:3000/baralhos \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-H "Content-Type: application/json" \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-d '{"titulo": "Node"}'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define o método,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-H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adiciona um header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envia o body. No Postman, é o mesmo, só que com botões.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Rotas</a:t>
            </a:r>
            <a:endParaRPr 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Anatomia de uma rota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2281428"/>
            <a:ext cx="4480560" cy="1243584"/>
          </a:xfrm>
          <a:prstGeom prst="roundRect">
            <a:avLst>
              <a:gd name="adj" fmla="val 58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2398471"/>
            <a:ext cx="4187952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lógica da rota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'Lista de baralhos'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1447800"/>
            <a:ext cx="3657600" cy="291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método HTTP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get, post, put ou delete.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'/baralhos'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caminho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o cliente acessa.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requisição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que o cliente enviou.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resposta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que vamos devolver.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 { }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função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executada quando a requisição chegar.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Várias rotas no mesmo servidor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73658"/>
            <a:ext cx="8321040" cy="3095244"/>
          </a:xfrm>
          <a:prstGeom prst="roundRect">
            <a:avLst>
              <a:gd name="adj" fmla="val 23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90701"/>
            <a:ext cx="8028432" cy="286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World!'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'/usuarios'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'Recebendo uma requisição em /usuarios'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6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'Recebendo uma requisição de POST'</a:t>
            </a: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50" dirty="0"/>
          </a:p>
          <a:p>
            <a:pPr algn="l" indent="0" marL="0">
              <a:buNone/>
            </a:pPr>
            <a:r>
              <a:rPr lang="en-US" sz="16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combinação de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método + caminho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uma rota diferente: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não se confundem.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Duas rotas iguais: qual responde?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554480" y="1581912"/>
            <a:ext cx="6035040" cy="2249424"/>
          </a:xfrm>
          <a:prstGeom prst="roundRect">
            <a:avLst>
              <a:gd name="adj" fmla="val 325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700784" y="1698955"/>
            <a:ext cx="5742432" cy="2015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'Primeira rota!'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8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'Segunda rota!'</a:t>
            </a: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39684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Pense antes de rodar: qual é a saída?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a primeira rota que bate responde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Responde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"Primeira rota!"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A segunda nunca é alcançada.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81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Express testa as rotas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ordem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em que foram criadas e para na primeira que combina.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ordem também importa com parâmetros: se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/baralhos/:id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vier antes de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/baralhos/busca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texto "busca" é tratado como um id.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Regra prática: rotas fixas primeiro, rotas com parâmetro depois.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req.body, req.params e req.query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Três jeitos de o cliente mandar dados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onde vêm os dados?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615440"/>
            <a:ext cx="2590800" cy="2548128"/>
          </a:xfrm>
          <a:prstGeom prst="roundRect">
            <a:avLst>
              <a:gd name="adj" fmla="val 35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798320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273808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corpo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 requisição, em JSON. Usado para criar e atualizar.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4360" y="3285744"/>
            <a:ext cx="2225040" cy="694944"/>
          </a:xfrm>
          <a:prstGeom prst="roundRect">
            <a:avLst>
              <a:gd name="adj" fmla="val 1052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" y="3402787"/>
            <a:ext cx="193243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/baralhos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"Node"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6600" y="1615440"/>
            <a:ext cx="2590800" cy="2548128"/>
          </a:xfrm>
          <a:prstGeom prst="roundRect">
            <a:avLst>
              <a:gd name="adj" fmla="val 35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9480" y="1798320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req.params</a:t>
            </a:r>
            <a:endParaRPr lang="en-US" sz="1750" dirty="0"/>
          </a:p>
        </p:txBody>
      </p:sp>
      <p:sp>
        <p:nvSpPr>
          <p:cNvPr id="12" name="Text 9"/>
          <p:cNvSpPr txBox="1"/>
          <p:nvPr/>
        </p:nvSpPr>
        <p:spPr>
          <a:xfrm>
            <a:off x="3459480" y="2273808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própria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no lugar do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:nome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Identifica um item.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3459480" y="3285744"/>
            <a:ext cx="2225040" cy="527304"/>
          </a:xfrm>
          <a:prstGeom prst="roundRect">
            <a:avLst>
              <a:gd name="adj" fmla="val 1387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05784" y="3402787"/>
            <a:ext cx="1932432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/baralhos/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41720" y="1615440"/>
            <a:ext cx="2590800" cy="2548128"/>
          </a:xfrm>
          <a:prstGeom prst="roundRect">
            <a:avLst>
              <a:gd name="adj" fmla="val 35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24600" y="1798320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req.query</a:t>
            </a:r>
            <a:endParaRPr lang="en-US" sz="1750" dirty="0"/>
          </a:p>
        </p:txBody>
      </p:sp>
      <p:sp>
        <p:nvSpPr>
          <p:cNvPr id="17" name="Text 14"/>
          <p:cNvSpPr txBox="1"/>
          <p:nvPr/>
        </p:nvSpPr>
        <p:spPr>
          <a:xfrm>
            <a:off x="6324600" y="2273808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Depois do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?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 URL. Usado para buscas e filtros.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324600" y="3064764"/>
            <a:ext cx="2225040" cy="466344"/>
          </a:xfrm>
          <a:prstGeom prst="roundRect">
            <a:avLst>
              <a:gd name="adj" fmla="val 1568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70904" y="3181807"/>
            <a:ext cx="1932432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/flashcards?termo=node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req.body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78052"/>
            <a:ext cx="8321040" cy="2142744"/>
          </a:xfrm>
          <a:prstGeom prst="roundRect">
            <a:avLst>
              <a:gd name="adj" fmla="val 341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95095"/>
            <a:ext cx="8028432" cy="190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titulo = req.body.titulo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mensagem: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 recebidos pelo req.body'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titulo: titulo,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4305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Postman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3704844"/>
            <a:ext cx="8321040" cy="923544"/>
          </a:xfrm>
          <a:prstGeom prst="roundRect">
            <a:avLst>
              <a:gd name="adj" fmla="val 7921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" y="3821887"/>
            <a:ext cx="8028432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/baralhos   { "titulo": "Node"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201 { "mensagem": "Dados recebidos pelo req.body",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"titulo": "Node" 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req.params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78052"/>
            <a:ext cx="8321040" cy="2142744"/>
          </a:xfrm>
          <a:prstGeom prst="roundRect">
            <a:avLst>
              <a:gd name="adj" fmla="val 341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95095"/>
            <a:ext cx="8028432" cy="190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'/baralhos/:id'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= req.params.id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mensagem: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'Parâmetro recebido pelo req.params'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id,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4305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Postman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3704844"/>
            <a:ext cx="8321040" cy="923544"/>
          </a:xfrm>
          <a:prstGeom prst="roundRect">
            <a:avLst>
              <a:gd name="adj" fmla="val 7921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" y="3821887"/>
            <a:ext cx="8028432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/baralhos/2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 { "mensagem": "Parâmetro recebido pelo req.params",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"id": "2" 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req.query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78052"/>
            <a:ext cx="8321040" cy="2142744"/>
          </a:xfrm>
          <a:prstGeom prst="roundRect">
            <a:avLst>
              <a:gd name="adj" fmla="val 341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95095"/>
            <a:ext cx="8028432" cy="190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'/flashcards'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termo = req.query.termo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mensagem: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'Busca recebida pelo req.query'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termo: termo,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4305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Postman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3704844"/>
            <a:ext cx="8321040" cy="923544"/>
          </a:xfrm>
          <a:prstGeom prst="roundRect">
            <a:avLst>
              <a:gd name="adj" fmla="val 7921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" y="3821887"/>
            <a:ext cx="8028432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/flashcards?termo=node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 { "mensagem": "Busca recebida pelo req.query",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"termo": "node" 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req.body chegou undefined?</a:t>
            </a:r>
            <a:endParaRPr lang="en-US" sz="25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Express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lê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JSON do body.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Coloque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express.json()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das rotas.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Postman, envie em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Body &gt; raw &gt; JSON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é isso que coloca o header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949956"/>
            <a:ext cx="8046720" cy="1395984"/>
          </a:xfrm>
          <a:prstGeom prst="roundRect">
            <a:avLst>
              <a:gd name="adj" fmla="val 524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066999"/>
            <a:ext cx="7754112" cy="116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(express.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antes das rotas!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(req.body)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 o express.json(): undefined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req.params é sempre texto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/baralhos/2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req.params.id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a string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"2"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não o número 2.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Comparar com o id do objeto usando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dá false, e o item "não existe".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Converta antes de buscar: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parseInt(req.params.id)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mesmo vale para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req.query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 GET /baralhos/2, req.params.id vale "2"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baralhos.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((b) =&gt; b.id === req.params.id)        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baralhos.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((b) =&gt; b.id ===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(req.params.id))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encontra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Respondendo o cliente</a:t>
            </a:r>
            <a:endParaRPr lang="en-US" sz="3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res.status() e res.send()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351788"/>
            <a:ext cx="8321040" cy="2538984"/>
          </a:xfrm>
          <a:prstGeom prst="roundRect">
            <a:avLst>
              <a:gd name="adj" fmla="val 288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468831"/>
            <a:ext cx="8028432" cy="230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'/baralhos'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titulo = req.body.titulo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(!titulo) {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 título é obrigatório.'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novo = { id: </a:t>
            </a:r>
            <a:r>
              <a:rPr lang="en-US" sz="14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titulo: titulo }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4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4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'Baralho criado!'</a:t>
            </a: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baralho: novo })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status()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define o código (sem ele, o padrão é 200).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send()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um objeto já envia JSON;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res.json()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faz o mesmo de forma explícita.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responder duas vezes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requisição recebe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única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resposta. A segunda dá erro: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set headers after they are sent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Acontece quando o código responde o erro e continua executando até o próximo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res.send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isso usamos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res.status(...)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encerra a função ali.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1121664"/>
          </a:xfrm>
          <a:prstGeom prst="roundRect">
            <a:avLst>
              <a:gd name="adj" fmla="val 652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(!titulo)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'Título obrigatório'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falta o return!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'Criado!'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 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erro: segunda resposta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esqueceu de responder</a:t>
            </a:r>
            <a:endParaRPr lang="en-US" sz="29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a rota não chama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res.send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cliente fica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esperando para sempre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840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Postman, a requisição fica carregando até dar timeout.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 rota, e todo caminho dentro dela (if, else), precisa terminar com uma resposta.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204 No Content: deu certo, sem corpo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11480" y="1075182"/>
            <a:ext cx="8321040" cy="1982724"/>
          </a:xfrm>
          <a:prstGeom prst="roundRect">
            <a:avLst>
              <a:gd name="adj" fmla="val 368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92225"/>
            <a:ext cx="8028432" cy="174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'/baralhos/:id'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resultado = 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deletarBaralho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(req.params.id)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(resultado.error) {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resultado.error })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5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</a:t>
            </a:r>
            <a:r>
              <a:rPr lang="en-US" sz="15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sucesso, sem body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16763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Postman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3441954"/>
            <a:ext cx="8321040" cy="725424"/>
          </a:xfrm>
          <a:prstGeom prst="roundRect">
            <a:avLst>
              <a:gd name="adj" fmla="val 10084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" y="3558997"/>
            <a:ext cx="8028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/baralhos/2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204 No Content   (a resposta não tem body)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204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quando não há nada para devolver. Quer mandar uma confirmação? Aí é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200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JSON.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204 com mensagem: o que o cliente recebe?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1554480" y="2145792"/>
            <a:ext cx="6035040" cy="1121664"/>
          </a:xfrm>
          <a:prstGeom prst="roundRect">
            <a:avLst>
              <a:gd name="adj" fmla="val 652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700784" y="2262835"/>
            <a:ext cx="574243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'/baralhos/:id'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remove o baralho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204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'Baralho removido!'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554480" y="34046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Pense antes de testar: o que aparece no Postman?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204 não tem corpo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Postman mostra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204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o body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vazio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Express descarta o conteúdo de uma resposta 204.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36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é erro, é a regra do HTTP: 204 significa "sem conteúdo".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Mensagem para o usuário? Responda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200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JSON. Nada a devolver?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res.status(204).send()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frontend, não tente ler JSON de uma resposta 204: não há nada para ler.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Middlewares</a:t>
            </a:r>
            <a:endParaRPr lang="en-US" sz="3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um middleware?</a:t>
            </a:r>
            <a:endParaRPr lang="en-US" sz="3000" dirty="0"/>
          </a:p>
        </p:txBody>
      </p:sp>
      <p:pic>
        <p:nvPicPr>
          <p:cNvPr id="5" name="Image 0" descr="O que é um middleware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3212"/>
            <a:ext cx="4937760" cy="278231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553212"/>
            <a:ext cx="4937760" cy="2782312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577840" y="1669288"/>
            <a:ext cx="320040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função que fica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 chegada da requisição e a resposta final.</a:t>
            </a:r>
            <a:endParaRPr lang="en-US" sz="1400" dirty="0"/>
          </a:p>
          <a:p>
            <a:pPr algn="l" marL="177800" indent="-177800">
              <a:spcAft>
                <a:spcPts val="800"/>
              </a:spcAft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Pode registrar logs, validar dados, verificar autenticação ou tratar erros.</a:t>
            </a:r>
            <a:endParaRPr lang="en-US" sz="1400" dirty="0"/>
          </a:p>
          <a:p>
            <a:pPr algn="l" marL="177800" indent="-177800">
              <a:buSzPct val="100000"/>
              <a:buChar char="●"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next()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passa a requisição adiante: para o próximo middleware ou para a rota.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middleware de log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47572"/>
            <a:ext cx="8321040" cy="2401824"/>
          </a:xfrm>
          <a:prstGeom prst="roundRect">
            <a:avLst>
              <a:gd name="adj" fmla="val 3046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64615"/>
            <a:ext cx="8028432" cy="216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((req, res, next) =&gt;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`${req.method} ${req.url}`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</a:t>
            </a:r>
            <a:r>
              <a:rPr lang="en-US" sz="17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 isso, a requisição para aqui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World!'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365912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Saída no terminal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3933444"/>
            <a:ext cx="8321040" cy="725424"/>
          </a:xfrm>
          <a:prstGeom prst="roundRect">
            <a:avLst>
              <a:gd name="adj" fmla="val 10084"/>
            </a:avLst>
          </a:prstGeom>
          <a:solidFill>
            <a:srgbClr val="0A0A0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7784" y="4050487"/>
            <a:ext cx="8028432" cy="491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/baralhos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Middleware de erro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847088"/>
            <a:ext cx="5318760" cy="2112264"/>
          </a:xfrm>
          <a:prstGeom prst="roundRect">
            <a:avLst>
              <a:gd name="adj" fmla="val 34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964131"/>
            <a:ext cx="5026152" cy="187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'CÓDIGO QUEBROU'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sempre com 4 parâmetros, e depois das rotas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((err, req, res, next) =&gt;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(err.stack)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'Alguma coisa deu errado!'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58840" y="1600200"/>
            <a:ext cx="28194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parâmetros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é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 frente que faz o Express reconhecer um middleware de erro.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depois das rotas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ele recebe os erros que as rotas lançaram.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cliente recebe uma resposta clara, e o servidor não cai.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Rota que não existe: 404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2075688"/>
            <a:ext cx="8321040" cy="1091184"/>
          </a:xfrm>
          <a:prstGeom prst="roundRect">
            <a:avLst>
              <a:gd name="adj" fmla="val 670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2192731"/>
            <a:ext cx="8028432" cy="857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depois de todas as rotas, antes do middleware de erro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((req, res) =&gt; {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`Rota ${req.method} ${req.url} não encontrada`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 isso, o Express responde uma página HTML genérica. Com isso, o cliente recebe um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JSON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padronizado, como o resto da 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PUT x PATCH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65326"/>
            <a:ext cx="4023360" cy="2226564"/>
          </a:xfrm>
          <a:prstGeom prst="roundRect">
            <a:avLst>
              <a:gd name="adj" fmla="val 410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64820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334006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Substitui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692146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Envia o recurso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inteiro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que não foi enviado pode ser apagado.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709160" y="1465326"/>
            <a:ext cx="4023360" cy="2226564"/>
          </a:xfrm>
          <a:prstGeom prst="roundRect">
            <a:avLst>
              <a:gd name="adj" fmla="val 410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64820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2334006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Altera uma parte</a:t>
            </a:r>
            <a:endParaRPr lang="en-US" sz="175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269214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Envia só os campos que mudaram. O resto fica como estava.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prática, muitas APIs usam o PUT de forma parcial, como a nossa. No Módulo 9, a atividade dos livros usa PATCH.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Validando os dados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Nunca confie no que o cliente manda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pode chegar no body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402336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52728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25272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Campo faltando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728216"/>
            <a:ext cx="36576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cliente esqueceu um campo obrigatório.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94360" y="2008632"/>
            <a:ext cx="3657600" cy="286512"/>
          </a:xfrm>
          <a:prstGeom prst="roundRect">
            <a:avLst>
              <a:gd name="adj" fmla="val 2553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" y="2125675"/>
            <a:ext cx="3364992" cy="5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"resposta"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"4"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709160" y="1069848"/>
            <a:ext cx="402336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52728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04104" y="125272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Tipo errado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1728216"/>
            <a:ext cx="36576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 onde deveria vir um número.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892040" y="2008632"/>
            <a:ext cx="3657600" cy="286512"/>
          </a:xfrm>
          <a:prstGeom prst="roundRect">
            <a:avLst>
              <a:gd name="adj" fmla="val 2553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038344" y="2125675"/>
            <a:ext cx="3364992" cy="5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"idBaralho"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"abc"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11480" y="2679192"/>
            <a:ext cx="402336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86207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06424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Texto vazio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94360" y="3337560"/>
            <a:ext cx="36576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espaços passam no </a:t>
            </a:r>
            <a:r>
              <a:rPr lang="en-US" sz="10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!pergunta</a:t>
            </a: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94360" y="3617976"/>
            <a:ext cx="3657600" cy="286512"/>
          </a:xfrm>
          <a:prstGeom prst="roundRect">
            <a:avLst>
              <a:gd name="adj" fmla="val 2553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40664" y="3735019"/>
            <a:ext cx="3364992" cy="5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"pergunta"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"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709160" y="2679192"/>
            <a:ext cx="402336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862072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04104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Campo a mais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4892040" y="3337560"/>
            <a:ext cx="365760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cliente tenta escolher o que não devia.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892040" y="3617976"/>
            <a:ext cx="3657600" cy="286512"/>
          </a:xfrm>
          <a:prstGeom prst="roundRect">
            <a:avLst>
              <a:gd name="adj" fmla="val 2553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038344" y="3735019"/>
            <a:ext cx="3364992" cy="52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9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9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50" dirty="0"/>
          </a:p>
        </p:txBody>
      </p:sp>
      <p:sp>
        <p:nvSpPr>
          <p:cNvPr id="29" name="Text 2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Validar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 lógica: a função recebe dados confiáveis, e o cliente recebe um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400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explica o erro.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Validando no começo da rota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85088"/>
            <a:ext cx="8321040" cy="3072384"/>
          </a:xfrm>
          <a:prstGeom prst="roundRect">
            <a:avLst>
              <a:gd name="adj" fmla="val 238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02131"/>
            <a:ext cx="8028432" cy="2838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'/flashcards'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pergunta, resposta, idBaralho } = req.body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(!pergunta || !resposta)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'Faltou pergunta ou resposta.'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=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(idBaralho)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(Number.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isNaN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0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'idBaralho inválido.'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daqui para baixo, os dados já foram conferidos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resultado = 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adicionarFlashcard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(pergunta, resposta, id)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(resultado.error)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resultado.error })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0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flashcard: resultado.data })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barra um problema e encerra com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Passou por todos? Os dados estão conferidos.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!valor também barra o 0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(!quantidade)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uma quantidade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recusada: o 0 é falsy, como vimos no Módulo 2.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mesmo vale para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para o texto vazio: às vezes, eles são valores válidos.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saber se o campo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veio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compare com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Para saber se o valor serve, confira o tipo e o intervalo.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946404"/>
          </a:xfrm>
          <a:prstGeom prst="roundRect">
            <a:avLst>
              <a:gd name="adj" fmla="val 7729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712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(!quantidade)                </a:t>
            </a:r>
            <a:r>
              <a:rPr lang="en-US" sz="13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barra o 0 também: errado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(quantidade === </a:t>
            </a:r>
            <a:r>
              <a:rPr lang="en-US" sz="13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3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campo não veio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quantidade !== </a:t>
            </a:r>
            <a:r>
              <a:rPr lang="en-US" sz="13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'number'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quantidade &lt; </a:t>
            </a:r>
            <a:r>
              <a:rPr lang="en-US" sz="13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3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valor inválido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como middleware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27988"/>
            <a:ext cx="8321040" cy="2386584"/>
          </a:xfrm>
          <a:prstGeom prst="roundRect">
            <a:avLst>
              <a:gd name="adj" fmla="val 306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545031"/>
            <a:ext cx="8028432" cy="2152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validarBaralho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(req, res, next) {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titulo } = req.body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titulo !== </a:t>
            </a:r>
            <a:r>
              <a:rPr lang="en-US" sz="13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'string'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titulo.</a:t>
            </a:r>
            <a:r>
              <a:rPr lang="en-US" sz="13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=== </a:t>
            </a:r>
            <a:r>
              <a:rPr lang="en-US" sz="13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3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3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</a:t>
            </a:r>
            <a:r>
              <a:rPr lang="en-US" sz="13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 título é obrigatório.'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3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'/baralhos'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validarBaralho, (req, res) =&gt; { </a:t>
            </a:r>
            <a:r>
              <a:rPr lang="en-US" sz="13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criar */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3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'/baralhos/:id'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validarBaralho, (req, res) =&gt; { </a:t>
            </a:r>
            <a:r>
              <a:rPr lang="en-US" sz="135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atualizar */</a:t>
            </a:r>
            <a:r>
              <a:rPr lang="en-US" sz="13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mesma validação serve para o POST e o PUT, sem repetir código. No Módulo 9, o boilerplate faz isso com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validarCampos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Flashcards como API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mesmo sistema, agora acessado por rotas HTTP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Relembrando o sistema de flashcards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11480" y="1957832"/>
            <a:ext cx="4023360" cy="1863344"/>
          </a:xfrm>
          <a:prstGeom prst="roundRect">
            <a:avLst>
              <a:gd name="adj" fmla="val 490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4071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21407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Estrutura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616200"/>
            <a:ext cx="365760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flashcard tem uma pergunta e uma resposta.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flashcards são organizados em baralhos.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957832"/>
            <a:ext cx="4023360" cy="1863344"/>
          </a:xfrm>
          <a:prstGeom prst="roundRect">
            <a:avLst>
              <a:gd name="adj" fmla="val 490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140712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21407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Requisitos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616200"/>
            <a:ext cx="3657600" cy="102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Criar baralhos e flashcards.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Buscar individualmente ou por baralho.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Atualizar e remover.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 dos baralhos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736852"/>
            <a:ext cx="4023360" cy="2305304"/>
          </a:xfrm>
          <a:prstGeom prst="roundRect">
            <a:avLst>
              <a:gd name="adj" fmla="val 396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1973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9197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busca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395220"/>
            <a:ext cx="3657600" cy="1243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Gerar um id para cada baralho.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Título obrigatório; sem título, mensagem de erro.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Listar todos os baralhos, com id e título.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736852"/>
            <a:ext cx="4023360" cy="2305304"/>
          </a:xfrm>
          <a:prstGeom prst="roundRect">
            <a:avLst>
              <a:gd name="adj" fmla="val 396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919732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9197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Atualização e remoção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395220"/>
            <a:ext cx="3657600" cy="146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Localizar o baralho pelo id antes de alterar.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Remover um baralho remove os flashcards dele.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 inexistente: mensagem de erro.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 da API com Express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699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17320" y="186994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servidor é criado com o Express e as requisições aceitam JSON.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42616"/>
            <a:ext cx="457200" cy="457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17320" y="2546604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funcionalidades são acessadas por rotas: POST cadastra, GET lista e busca, PUT atualiza e DELETE remove.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51860"/>
            <a:ext cx="457200" cy="4572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17320" y="34518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status HTTP são adequados: 200, 201, 400 e 404.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 estrutura antiga para a nova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672336"/>
            <a:ext cx="4023360" cy="1812544"/>
          </a:xfrm>
          <a:prstGeom prst="roundRect">
            <a:avLst>
              <a:gd name="adj" fmla="val 50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5521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8552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 (Módulo 6)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330704"/>
            <a:ext cx="3657600" cy="75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menu no terminal.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Arquivos de baralhos e flashcards com as funções.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672336"/>
            <a:ext cx="4023360" cy="1812544"/>
          </a:xfrm>
          <a:prstGeom prst="roundRect">
            <a:avLst>
              <a:gd name="adj" fmla="val 50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5521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8552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Agora (Módulo 7)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330704"/>
            <a:ext cx="365760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servidor Express com as rotas.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mesmas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funções, chamadas pelas rotas.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lógica não muda. Só troca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quem chama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as funções: antes era o menu, agora é o cliente HTTP.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dados: dados.js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20368"/>
            <a:ext cx="8321040" cy="2615184"/>
          </a:xfrm>
          <a:prstGeom prst="roundRect">
            <a:avLst>
              <a:gd name="adj" fmla="val 279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537411"/>
            <a:ext cx="8028432" cy="238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baralhos =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titulo: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'JavaScript'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titulo: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'Matematica'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flashcards =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pergunta: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'Quanto é 1+1?'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resposta: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idBaralho: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{ baralhos, flashcards }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flashcard guarda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idBaralho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relacionamento 1:N do Módulo 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lógica: adicionarBaralho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85088"/>
            <a:ext cx="8321040" cy="3072384"/>
          </a:xfrm>
          <a:prstGeom prst="roundRect">
            <a:avLst>
              <a:gd name="adj" fmla="val 238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02131"/>
            <a:ext cx="8028432" cy="2838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adicionarBaralho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(titulo)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(!titulo)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error: </a:t>
            </a:r>
            <a:r>
              <a:rPr lang="en-US" sz="15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 título é obrigatório.'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novoId =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(baralhos.length &gt;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novoId = baralhos[baralhos.length -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].id + </a:t>
            </a:r>
            <a:r>
              <a:rPr lang="en-US" sz="15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novoBaralho = { id: novoId, titulo: titulo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baralhos.</a:t>
            </a:r>
            <a:r>
              <a:rPr lang="en-US" sz="15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(novoBaralho)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data: novoBaralho }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função devolve um objeto com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 com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Quem decide o status HTTP é a rota, não a função.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rota: POST /baralhos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00328"/>
            <a:ext cx="8321040" cy="3255264"/>
          </a:xfrm>
          <a:prstGeom prst="roundRect">
            <a:avLst>
              <a:gd name="adj" fmla="val 22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17371"/>
            <a:ext cx="8028432" cy="3021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titulo = req.body.titulo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resultado = 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adicionarBaralho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(titulo)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(resultado.error) 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6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resultado.error })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6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message: </a:t>
            </a:r>
            <a:r>
              <a:rPr lang="en-US" sz="16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'Baralho criado com sucesso!'</a:t>
            </a: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baralho: resultado.data,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500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 de validação →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400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Criado →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201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devolvendo o baralho novo.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Testando: POST /baralhos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90472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600200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/baralhos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011680"/>
            <a:ext cx="3602736" cy="923544"/>
          </a:xfrm>
          <a:prstGeom prst="roundRect">
            <a:avLst>
              <a:gd name="adj" fmla="val 7921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2128723"/>
            <a:ext cx="3310128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"Node.js"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Resposta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490472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9472" y="1600200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19472" y="2011680"/>
            <a:ext cx="3602736" cy="1716024"/>
          </a:xfrm>
          <a:prstGeom prst="roundRect">
            <a:avLst>
              <a:gd name="adj" fmla="val 4263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65776" y="2128723"/>
            <a:ext cx="3310128" cy="1481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"Baralho criado!"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"baralho"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"titulo"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"Node.js"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também sem o título: a resposta deve ser </a:t>
            </a: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400</a:t>
            </a:r>
            <a:r>
              <a:rPr lang="en-US" sz="13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a mensagem de erro.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e PUT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8321040" cy="3102864"/>
          </a:xfrm>
          <a:prstGeom prst="roundRect">
            <a:avLst>
              <a:gd name="adj" fmla="val 235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86891"/>
            <a:ext cx="8028432" cy="2868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listarBaralho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'/baralhos/:id'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= req.params.id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titulo = req.body.titulo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resultado =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atualizarBaralho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(id, titulo)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(resultado.error)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resultado.error })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baralho: resultado.data })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PUT usa as duas fontes: 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vem do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req.params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título novo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vem do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DELETE: removendo o baralho e os flashcards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8321040" cy="3102864"/>
          </a:xfrm>
          <a:prstGeom prst="roundRect">
            <a:avLst>
              <a:gd name="adj" fmla="val 235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86891"/>
            <a:ext cx="8028432" cy="2868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deletarBaralho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idNum =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parseInt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index = baralhos.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findIndex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((b) =&gt; b.id === idNum)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(index === -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error: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'Baralho não encontrado.'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removido = baralhos[index]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baralhos.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(index,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= flashcards.length -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 &gt;=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i--)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(flashcards[i].idBaralho === idNum) flashcards.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(i,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data: removido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laço anda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 trás para frente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ao remover com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splice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os itens seguintes mudam de posição, e um laço para frente pularia alguns.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Todas as rotas do sistema</a:t>
            </a:r>
            <a:endParaRPr lang="en-US" sz="30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0584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Rota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 que faz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POST /baralhos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Cria um baralho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GET /baralhos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Lista os baralhos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PUT /baralhos/:id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Atualiza um baralho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DELETE /baralhos/:id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Remove o baralho e os flashcards dele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POST /flashcards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Cria um flashcard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GET /flashcards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Lista (ou busca) os flashcards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PUT /flashcards/:id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Atualiza um flashcard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DELETE /flashcards/:id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Remove um flashcard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GET /baralhos/:idBaralho/flashcards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Lista os flashcards de um baralho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Organizando as rotas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Dez rotas num arquivo só? O </a:t>
            </a:r>
            <a:r>
              <a:rPr lang="en-US" sz="16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express.Router()</a:t>
            </a: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separa por recurso.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routes/baralhos.routes.js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146048"/>
            <a:ext cx="5577840" cy="3514344"/>
          </a:xfrm>
          <a:prstGeom prst="roundRect">
            <a:avLst>
              <a:gd name="adj" fmla="val 20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263091"/>
            <a:ext cx="5285232" cy="3280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Router }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'express'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adicionarBaralho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'../adicionar_baralho.js'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listarBaralho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'../listar_baralho.js'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router =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resultado = 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adicionarBaralho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(req.body.titulo)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(resultado.error)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message: resultado.error })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baralho: resultado.data })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listarBaralho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</a:t>
            </a:r>
            <a:r>
              <a:rPr lang="en-US" sz="11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1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router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379220"/>
            <a:ext cx="256032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Router()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um "mini app" que só guarda rotas.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router.post('/')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caminho é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relativo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prefixo vem depois, no index.js.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arquivo está na pasta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os imports sobem um nível, com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final (Módulo 5).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Registrando as rotas no index.js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365760" y="1690878"/>
            <a:ext cx="5577840" cy="2424684"/>
          </a:xfrm>
          <a:prstGeom prst="roundRect">
            <a:avLst>
              <a:gd name="adj" fmla="val 301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807921"/>
            <a:ext cx="5285232" cy="2190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express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'express'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baralhos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'./routes/baralhos.routes.js'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flashcards </a:t>
            </a: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'./routes/flashcards.routes.js'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 = 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(express.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baralhos)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'/flashcards'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flashcards)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25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489710"/>
            <a:ext cx="2560320" cy="2827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app.use('/baralhos')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todas as rotas do arquivo ganham esse prefixo.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vira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/baralhos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;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/:id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vira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/baralhos/:id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 aninhada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/:idBaralho/flashcards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fica no arquivo de baralhos.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prefixo não se repete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950976"/>
          </a:xfrm>
          <a:prstGeom prst="roundRect">
            <a:avLst>
              <a:gd name="adj" fmla="val 7692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</a:t>
            </a:r>
            <a:r>
              <a:rPr lang="en-US" sz="16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router.get("/baralhos")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6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app.use("/baralhos", router)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a rota vira </a:t>
            </a:r>
            <a:r>
              <a:rPr lang="en-US" sz="16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/baralhos/baralhos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</a:t>
            </a:r>
            <a:r>
              <a:rPr lang="en-US" sz="16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/baralhos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dá 404.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24942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prefixo fica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Dentro do arquivo de rotas, os caminhos começam em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Deu 404 numa rota que existe? Confira o caminho completo: prefixo + caminho do router.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39191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50895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routes/baralhos.routes.js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listar)       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certo: GET /baralhos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'/baralhos'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listar) </a:t>
            </a: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errado: GET /baralhos/baralhos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Hora da Prática</a:t>
            </a:r>
            <a:endParaRPr lang="en-US" sz="3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Express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252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a pasta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modulo07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o flashcards dos slides (ou do repositório) para entender o Express.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Copie os exercícios de CRUD do Módulo 6 para a pasta nova.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Adapte cada um para ser acessado por 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rotas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 não pelo terminal.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todas as rotas no Postman, no Insomnia ou com cURL.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3736848"/>
            <a:ext cx="813816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9928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828288"/>
            <a:ext cx="7360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--watch index.js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para o servidor reiniciar sozinho, e confira os status: 201 ao criar, 400 com dado inválido, 404 com id inexistente.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 de exercícios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247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50418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 de código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Rotas GET, POST, PUT e DELETE, req.body, req.params e status: complete, ache o bug e preveja a resposta.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5059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43230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aplicadas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Estudantes, Filmes e Livros: um CRUD REST completo em cada.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7870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36042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API de tarefas, escrita do zero.</a:t>
            </a:r>
            <a:endParaRPr lang="en-US" sz="1650" dirty="0"/>
          </a:p>
        </p:txBody>
      </p:sp>
      <p:sp>
        <p:nvSpPr>
          <p:cNvPr id="11" name="Text 5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repositório: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modulo07/lista_de_exercicios/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do módulo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170432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QR code para https://github.com/nicolassmotta/curso-lions-dev/tree/main/modulo07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251460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Aponte a câmera do celular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886200" y="11704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tree/main/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modulo07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6596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16552" y="1920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teoria comentada e o </a:t>
            </a: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cheat sheet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módulo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532888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416552" y="2487168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exercicios_slides/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exercícios feitos em aula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099816"/>
            <a:ext cx="384048" cy="38404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416552" y="305409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lista_de_exercicios/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listas para praticar em casa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3666744"/>
            <a:ext cx="384048" cy="38404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416552" y="3621024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exercicios_resolvidos/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gabaritos, para conferir depois de tentar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Fim!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Módulo 8, os dados saem da memória e vão para um banco de dados.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Lions 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7</dc:title>
  <dc:subject>PptxGenJS Presentation</dc:subject>
  <dc:creator>Nicolas Cardoso Motta</dc:creator>
  <cp:lastModifiedBy>Nicolas Cardoso Motta</cp:lastModifiedBy>
  <cp:revision>1</cp:revision>
  <dcterms:created xsi:type="dcterms:W3CDTF">2026-09-27T23:25:36Z</dcterms:created>
  <dcterms:modified xsi:type="dcterms:W3CDTF">2026-09-27T23:25:36Z</dcterms:modified>
</cp:coreProperties>
</file>