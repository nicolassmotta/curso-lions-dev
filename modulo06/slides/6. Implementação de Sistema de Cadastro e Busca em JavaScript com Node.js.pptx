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6 — Implementação de Sistema de Cadastro e Busca em JavaScript com Node.js.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de abertura (5 minutos) do Módulo 5. Peça para a turma explicar cada cartão com as próprias palavras antes de você falar.
Termine com a pergunta do rodapé. Resposta esperada: no ESM o Node não completa a extensão sozinho: o caminho precisa ser ./soma.js.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curso: hoje é o Módulo 6 (Sistema de Cadastro e Busca). Os módulos com o sinal de visto já passaram; o laranja é o de hoje.
Adiante o próximo passo: o Módulo 7 (APIs REST com Express) depende do que a turma aprender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projeto que acompanha a turma até o Módulo 11. Hoje é a primeira versão: dados num array e funções de CRUD no terminal. Incentive quem ainda não escolheu a lista aplicada a ficar com Flashcards: o código de hoje vira a base da API do Módulo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alta. No fim da aula, volte a este slide e peça para cada um dizer qual item já consegue fazer sozinho.
• Compreender e aplicar o padrão CRUD.
• Gerenciar dados em memória com arrays e objetos.
• Aplicar a modularização do módulo anterior.
• Dominar busca e filtragem com .findIndex(), .find() e .filter().
• Relacionar dados de listas diferentes usando IDs.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a turma levantar os requisitos antes de mostrar 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Cadastro: Criar novos registros.
• Listagem: Ver os registros que existem.
• Atualização: Alterar os dados de um registro.
• Remoção: Apagar um registro.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Quase todo sistema que gerencia dados faz essas quatro operações:
Pontos para falar:
• Create · Criar: Cadastrar um novo registro. (com o código do card)
• Read · Ler: Listar e buscar registros. (com o código do card)
• Update · Atualizar: Alterar dados de um registro. (com o código do card)
• Delete · Deletar: Remover um registro. (com o código do card)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transição: leia com calma e deixe a ideia assentar antes do próximo slide.
"Vamos a um exemplo: uma agenda de contatos!"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Cadastro de contato: Gerar um ID sequencial para cada contato. Guardar nome, e-mail e uma lista de telefones. Não permitir e-mail duplicado e mostrar uma mensagem de erro.
• Busca de contatos: Listar todos os contatos com as informações cadastradas. Mostrar os telefones como uma lista associada ao contato.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Atualização de contato: Atualizar o nome, o e-mail ou os telefones. O novo e-mail não pode estar em uso: se estiver, mostrar erro.
• Remoção de contato: Remover um contato informando o ID. Pedir confirmação antes de remover.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estrutura parte por parte e diga para que serve cada uma.
Destaques:
• app.js: o menu: importa tudo e chama cada operação.
• contatos.js: a nossa "base de dados": um array de objetos.
• uma operação: cada arquivo cuida de uma letra do CRUD. É a modularização do Módulo 5 na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array de objetos: cada contato é um objeto; todos ficam num array.
• telefones: um array dentro do objeto: um contato pode ter vários.
• export default: para o menu e as outras operações enxergarem a lista.
• banco de dados: num sistema real, usaríamos MongoDB (Módulo 8). Aqui, simulamos na memória.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Aqui a opção fica como texto, sem Number(): por isso os cases usam aspas (case "1"). O importante é o tipo bater com o do switch.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O módulo carrega uma vez só: Todo arquivo que importa contatos.js recebe o mesmo array, não uma cópia.
• Funções recebem a lista: O menu passa contatos para cada função. Um push ou splice lá dentro altera a lista que o menu vê.
• const não impede mudar o conteúdo: Por isso usamos push e splice, e nunca contatos = [...] (lembra do const com array do Módulo 2?).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"Create: adicionando um contato".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laço percorre a lista procurando o e-mail. Se achar, avisa e devolve false para o menu: nada é salvo.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push insere o objeto no fim do array, e o return true avisa o menu que deu certo.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chaves depois do case criam um bloco só dele: o let novoContato não conflita com variáveis de outros cases (o Cuidado do Módulo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Com "último ID + 1", remover o último contato faz o próximo cadastro reaproveitar o ID dele.
• IDs 1, 2 e 3 → remove o 3 → o novo contato também ganha o 3.
• Se outra lista guardava o ID 3 (como uma consulta na clínica), agora ela aponta para a pessoa errada.
• Solução: um contador separado, que só cresce e nunca volta.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A comparação diferencia maiúsculas: o mesmo e-mail passa duas vezes pela validação.
• Padronize o e-mail antes de comparar e antes de salvar.
• O trim() ainda remove os espaços que o usuário digitou sem querer.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"Read: listando os contatos".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Primeiro confere se a lista está vazia: se estiver, avisa e o return encerra a função ali mesmo.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join cola os itens do array numa única string, com o separador que você escolher.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Listar tudo: Devolve a base inteira. É o que o listarContatos faz.
• Buscar específico: Devolve só o que atende a um critério: um ID, um nome, um médico.
Mensagem principal: Mais adiante, vamos usar o filter e o find para as buscas específicas.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"Update: atualizando um contato".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Se encontrar, devolve a posição (0, 1, 2…). Se não encontrar, devolve -1, porque 0 já é uma posição válida.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findIndex procura o contato pelo ID. Se devolver -1, o contato não existe: a função avisa e para.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Só valida se o usuário digitou um e-mail novo. O atual.id !== id deixa a pessoa manter o próprio e-mail: só é erro se ele for de outro contato.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Enter vazio é texto vazio, que é falsy: o || mantém o valor antigo. Se vierem telefones novos, a lista antiga é substituída.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"Delete: removendo um contato".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mesmo findIndex da atualização acha a posição, e o splice(indice, 1) recorta exatamente aquele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parseInt é essencial: o ID do objeto é número, e "3" === 3 é false. Sem converter, o findIndex nunca encontraria o contato.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laço de validação do e-mail vira uma linha com some. Laço com for continua valendo: esses métodos só deixam a intenção mais clara.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"O que é um ID?". Antes de avançar, faça uma pergunta rápida que ligue o assunto novo ao que a turma já sabe.
Frase de apoio: A "impressão digital" de cada registro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Unicidade: Cada registro é único. Imagine achar alguém num país onde todos se chamam João ou Maria.
• Identificação: Garante que estamos mexendo no dado certo, e não num parecido.
• Relacionamento: IDs ligam dados de listas diferentes, como veremos na clínica.
• Performance: Buscar por um número é muito rápido: os sistemas são otimizados para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Integridade: Sem duplicados, não há registros conflitantes e confusos.
• Experiência do usuário: Ninguém se perde com várias contas no mesmo e-mail.
• Segurança: E-mails duplicados podem ser explorados para tomar contas.
• Comunicação: Notificações chegam uma vez só, para a pessoa certa.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Conferir, um a um, se cada requisito do início foi cumprido e onde ele está no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"Relacionamento entre os dados".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Até agora construímos uma agenda: uma tabela única, reta e direta. No mundo real, os sistemas são complexos e as listas se relacionam.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Em vez de criar telefone1, telefone2, telefone3…, um array guarda quantos telefones forem necessários.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Dois cadastros: Um CRUD de pacientes e um CRUD de médicos.
• Nome repetido: Se a ficha da Maria guarda "Dra. Grey" e a médica muda de sobrenome, é preciso alterar a ficha de todos os pacientes dela.
Mensagem principal: Como o sistema sabe que a paciente Maria tem consulta com a Dra. Grey, sem repetir os dados?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Atualiza num lugar só: A médica mudou de sobrenome? O ID continua o mesmo: nenhuma consulta precisa mudar.
• Menos memória: Guardar um número ocupa bem menos que repetir textos grandes.
• Integridade: Só agendamos consultas para IDs que realmente existem.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export default entrega as três listas num objeto só. Nos outros arquivos: import dados from "./dados.js" e depois dados.medicos, dados.pacientes e dados.consultas. Sem essa linha, o import do próximo arquivo para com SyntaxError: does not provide an export named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Médico 1 : N: O Dr. House pode ter consultas com vários pacientes ao longo do tempo.
• Paciente 1 : N: O John Doe pode ter consultas com médicos diferentes, em momentos diferentes.
• Consulta: Liga um médico a um paciente, numa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a turma pensar numa solução antes de apresentar o filter e o find.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"A Busca com Parâmetros". Antes de avançar, faça uma pergunta rápida que ligue o assunto novo ao que a turma já sabe.
Frase de apoio: Dois métodos de array novos: filter e find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Varre o array inteiro e devolve um novo array só com os itens que passaram no teste. Se nenhum passar, devolve [].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Para assim que encontra e devolve o objeto inteiro. Se não encontrar nada, devolve undefined.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filter: Quando você quer vários. (com o código do card)
• find: Quando você quer um objeto. (com o código do card)
• findIndex: Quando você quer a posição. (com o código do card)
Mensagem principal: Ex.: todas as consultas do paciente 1 → filter. O médico de ID 2 → find. Onde está o contato 3, para remover → findIndex.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Cada uma recebe um ID e devolve o objeto completo. No repositório, cada função fica no seu próprio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A consulta só tem os IDs: o find busca o médico e o paciente. O if protege o caso de o ID não existir.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filter separa as consultas do paciente e o forEach chama imprimirConsulta para cada uma delas.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Ao chamar listarConsultasDoPaciente(1), o sistema passa por três listas:
Explique o fluxo da esquerda para a direita:
• 1. Filtro: Separa as consultas com idPaciente: 1.
• 2. Laço: O forEach passa por cada consulta encontrada.
• 3. Médico: find pelo idMedico.
• 4. Paciente: find pelo idPaciente.
Mensagem principal: Com os nomes em mãos, a consulta é impressa, e o laço segue para a próxima.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de listarConsultasDoPaciente(1):
Rode os comandos no terminal junto com a turma, um de cada vez.
Mensagem principal: Duas consultas do mesmo paciente, com médicos diferentes: é o relacionamento 1:N funcionando.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Se o ID não existir, o find devolve undefined, e acessar medico.nome quebra o programa.
• Por isso o código testa se o médico existe antes de usar, e mostra "Desconhecido" no lugar.
• Sempre que usar find, pense: e se não encontrar?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transição: leia com calma e deixe a ideia assentar antes do próximo slide.
"Hoje os dados morrem quando fechamos o terminal. Mais para a frente no curso, vamos salvar tudo num banco de dados de verdade!"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(CRUD): leia o enunciado em voz alta, combine o tempo (15 a 25 minutos, conforme a turma) e circule pela sala.
• Termine o exemplo da agenda de contatos visto em sala.
• Confira cada requisito da tabela "Conferindo os requisitos".
• Faça a lista codigo_crud_arrays.md (push, find, filter e findIndex).
• Escolha uma lista aplicada: Agendamento de Consultas ou Flashcards.
Dica: tudo está no repositório, em modulo06/lista_de_exercicios/. Use um contador para os IDs e padronize os e-mails com toLowerCase().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QR code e peça para a turma abrir a pasta modulo06 no celular agora, antes de ir embora.
Lembre o que tem lá: conteudo, exercicios_slides, lista_de_exercicios, exercicios_resolvidos. O cheat sheet do módulo fica em conteudo/ e resume a aula em duas páginas.
Link: https://github.com/nicolassmotta/curso-lions-dev/tree/main/modulo06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Encerramento: retome os objetivos do começo, abra para dúvidas e lembre onde ficam a lista de exercícios e o material no repositório.
Frase de saída: No Módulo 7, esse CRUD vira uma API de verdade.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image" Target="../media/image-3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7-4.png"/><Relationship Id="rId3" Type="http://schemas.openxmlformats.org/officeDocument/2006/relationships/image" Target="../media/image-7-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2-3.png"/><Relationship Id="rId4" Type="http://schemas.openxmlformats.org/officeDocument/2006/relationships/image" Target="../media/image-4-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5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7-3.png"/><Relationship Id="rId4" Type="http://schemas.openxmlformats.org/officeDocument/2006/relationships/image" Target="../media/image-2-3.png"/><Relationship Id="rId5" Type="http://schemas.openxmlformats.org/officeDocument/2006/relationships/image" Target="../media/image-3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4-5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0-2.png"/><Relationship Id="rId3" Type="http://schemas.openxmlformats.org/officeDocument/2006/relationships/image" Target="../media/image-2-3.png"/><Relationship Id="rId4" Type="http://schemas.openxmlformats.org/officeDocument/2006/relationships/image" Target="../media/image-4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2-2.png"/><Relationship Id="rId3" Type="http://schemas.openxmlformats.org/officeDocument/2006/relationships/image" Target="../media/image-2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7-4.png"/><Relationship Id="rId3" Type="http://schemas.openxmlformats.org/officeDocument/2006/relationships/image" Target="../media/image-43-3.png"/><Relationship Id="rId4" Type="http://schemas.openxmlformats.org/officeDocument/2006/relationships/image" Target="../media/image-3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5-2.png"/><Relationship Id="rId3" Type="http://schemas.openxmlformats.org/officeDocument/2006/relationships/image" Target="../media/image-37-3.png"/><Relationship Id="rId4" Type="http://schemas.openxmlformats.org/officeDocument/2006/relationships/image" Target="../media/image-4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4-3.png"/><Relationship Id="rId4" Type="http://schemas.openxmlformats.org/officeDocument/2006/relationships/image" Target="../media/image-45-2.png"/><Relationship Id="rId5" Type="http://schemas.openxmlformats.org/officeDocument/2006/relationships/image" Target="../media/image-37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image" Target="../media/image-59-4.png"/><Relationship Id="rId5" Type="http://schemas.openxmlformats.org/officeDocument/2006/relationships/image" Target="../media/image-7-2.png"/><Relationship Id="rId6" Type="http://schemas.openxmlformats.org/officeDocument/2006/relationships/image" Target="../media/image-3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402336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6070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1500" b="1" spc="3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1060704" y="658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Curso de Programação</a:t>
            </a:r>
            <a:endParaRPr lang="en-US" sz="950" dirty="0"/>
          </a:p>
        </p:txBody>
      </p:sp>
      <p:pic>
        <p:nvPicPr>
          <p:cNvPr id="6" name="Image 1" descr="Símbolo Lions Dev em degradê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601047"/>
            <a:ext cx="3520440" cy="400084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1572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 6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1938528"/>
            <a:ext cx="4663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de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Cadastro 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Busca</a:t>
            </a:r>
            <a:endParaRPr lang="en-US" sz="36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Professor Nicolas Cardoso Motta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Revisando o Módulo 5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512570"/>
            <a:ext cx="2590800" cy="2132076"/>
          </a:xfrm>
          <a:prstGeom prst="roundRect">
            <a:avLst>
              <a:gd name="adj" fmla="val 42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545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1695450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 = arquivo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320290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arquivo cuida de uma coisa e exporta só o que os outros precisam.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3276600" y="1512570"/>
            <a:ext cx="2590800" cy="2132076"/>
          </a:xfrm>
          <a:prstGeom prst="roundRect">
            <a:avLst>
              <a:gd name="adj" fmla="val 42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69545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1544" y="1695450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CommonJS x ESM</a:t>
            </a:r>
            <a:endParaRPr lang="en-US" sz="1750" dirty="0"/>
          </a:p>
        </p:txBody>
      </p:sp>
      <p:sp>
        <p:nvSpPr>
          <p:cNvPr id="13" name="Text 8"/>
          <p:cNvSpPr txBox="1"/>
          <p:nvPr/>
        </p:nvSpPr>
        <p:spPr>
          <a:xfrm>
            <a:off x="3459480" y="2320290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x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O ESM precisa de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"type": "module"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141720" y="1512570"/>
            <a:ext cx="2590800" cy="2132076"/>
          </a:xfrm>
          <a:prstGeom prst="roundRect">
            <a:avLst>
              <a:gd name="adj" fmla="val 42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695450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836664" y="1695450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Padrão x nomeado</a:t>
            </a:r>
            <a:endParaRPr lang="en-US" sz="1750" dirty="0"/>
          </a:p>
        </p:txBody>
      </p:sp>
      <p:sp>
        <p:nvSpPr>
          <p:cNvPr id="17" name="Text 11"/>
          <p:cNvSpPr txBox="1"/>
          <p:nvPr/>
        </p:nvSpPr>
        <p:spPr>
          <a:xfrm>
            <a:off x="6324600" y="2320290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importa com qualquer nome; o nomeado usa chaves e o nome exato.</a:t>
            </a:r>
            <a:endParaRPr lang="en-US" sz="145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Pergunta para abrir: por que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soma from "./soma"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sem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dá erro no ESM?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Mapa do curso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86107" y="1133856"/>
            <a:ext cx="6771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BASE: JAVASCRIPT, GIT E ORGANIZAÇÃO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186107" y="1389888"/>
            <a:ext cx="6771785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1342" y="2779776"/>
            <a:ext cx="5622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1342" y="3035808"/>
            <a:ext cx="5622254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8999" y="2779776"/>
            <a:ext cx="21736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E PROJETO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58999" y="3035808"/>
            <a:ext cx="2173659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6107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6107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231827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Ambiente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915" y="1536192"/>
            <a:ext cx="219456" cy="2194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335639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335639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2381359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Fundamentos de JS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447" y="1536192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485170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485170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3530890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Calculadora</a:t>
            </a:r>
            <a:endParaRPr lang="en-US" sz="9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978" y="1536192"/>
            <a:ext cx="219456" cy="21945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634702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634702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4680422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e GitHub</a:t>
            </a:r>
            <a:endParaRPr lang="en-US" sz="9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510" y="1536192"/>
            <a:ext cx="219456" cy="21945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784233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784233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2"/>
          <p:cNvSpPr txBox="1"/>
          <p:nvPr/>
        </p:nvSpPr>
        <p:spPr>
          <a:xfrm>
            <a:off x="5829953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Módulos</a:t>
            </a:r>
            <a:endParaRPr lang="en-US" sz="9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041" y="1536192"/>
            <a:ext cx="219456" cy="219456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933765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E16D34"/>
          </a:solidFill>
          <a:ln w="19050">
            <a:solidFill>
              <a:srgbClr val="E16D34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6933765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Text 25"/>
          <p:cNvSpPr txBox="1"/>
          <p:nvPr/>
        </p:nvSpPr>
        <p:spPr>
          <a:xfrm>
            <a:off x="6979485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Cadastro e busca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11342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35" name="Text 27"/>
          <p:cNvSpPr txBox="1"/>
          <p:nvPr/>
        </p:nvSpPr>
        <p:spPr>
          <a:xfrm>
            <a:off x="611342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2400" dirty="0"/>
          </a:p>
        </p:txBody>
      </p:sp>
      <p:sp>
        <p:nvSpPr>
          <p:cNvPr id="36" name="Text 28"/>
          <p:cNvSpPr txBox="1"/>
          <p:nvPr/>
        </p:nvSpPr>
        <p:spPr>
          <a:xfrm>
            <a:off x="657062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APIs com Express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1760873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38" name="Text 30"/>
          <p:cNvSpPr txBox="1"/>
          <p:nvPr/>
        </p:nvSpPr>
        <p:spPr>
          <a:xfrm>
            <a:off x="1760873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2400" dirty="0"/>
          </a:p>
        </p:txBody>
      </p:sp>
      <p:sp>
        <p:nvSpPr>
          <p:cNvPr id="39" name="Text 31"/>
          <p:cNvSpPr txBox="1"/>
          <p:nvPr/>
        </p:nvSpPr>
        <p:spPr>
          <a:xfrm>
            <a:off x="1806593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2910405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1" name="Text 33"/>
          <p:cNvSpPr txBox="1"/>
          <p:nvPr/>
        </p:nvSpPr>
        <p:spPr>
          <a:xfrm>
            <a:off x="2910405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2400" dirty="0"/>
          </a:p>
        </p:txBody>
      </p:sp>
      <p:sp>
        <p:nvSpPr>
          <p:cNvPr id="42" name="Text 34"/>
          <p:cNvSpPr txBox="1"/>
          <p:nvPr/>
        </p:nvSpPr>
        <p:spPr>
          <a:xfrm>
            <a:off x="2956125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JWT e MVC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4059936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4" name="Text 36"/>
          <p:cNvSpPr txBox="1"/>
          <p:nvPr/>
        </p:nvSpPr>
        <p:spPr>
          <a:xfrm>
            <a:off x="4059936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9B</a:t>
            </a:r>
            <a:endParaRPr lang="en-US" sz="2400" dirty="0"/>
          </a:p>
        </p:txBody>
      </p:sp>
      <p:sp>
        <p:nvSpPr>
          <p:cNvPr id="45" name="Text 37"/>
          <p:cNvSpPr txBox="1"/>
          <p:nvPr/>
        </p:nvSpPr>
        <p:spPr>
          <a:xfrm>
            <a:off x="4105656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Testes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5209467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7" name="Text 39"/>
          <p:cNvSpPr txBox="1"/>
          <p:nvPr/>
        </p:nvSpPr>
        <p:spPr>
          <a:xfrm>
            <a:off x="5209467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400" dirty="0"/>
          </a:p>
        </p:txBody>
      </p:sp>
      <p:sp>
        <p:nvSpPr>
          <p:cNvPr id="48" name="Text 40"/>
          <p:cNvSpPr txBox="1"/>
          <p:nvPr/>
        </p:nvSpPr>
        <p:spPr>
          <a:xfrm>
            <a:off x="5255187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6358999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50" name="Text 42"/>
          <p:cNvSpPr txBox="1"/>
          <p:nvPr/>
        </p:nvSpPr>
        <p:spPr>
          <a:xfrm>
            <a:off x="6358999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2400" dirty="0"/>
          </a:p>
        </p:txBody>
      </p:sp>
      <p:sp>
        <p:nvSpPr>
          <p:cNvPr id="51" name="Text 43"/>
          <p:cNvSpPr txBox="1"/>
          <p:nvPr/>
        </p:nvSpPr>
        <p:spPr>
          <a:xfrm>
            <a:off x="6404719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</a:t>
            </a:r>
            <a:endParaRPr lang="en-US" sz="950" dirty="0"/>
          </a:p>
        </p:txBody>
      </p:sp>
      <p:sp>
        <p:nvSpPr>
          <p:cNvPr id="52" name="Shape 44"/>
          <p:cNvSpPr/>
          <p:nvPr/>
        </p:nvSpPr>
        <p:spPr>
          <a:xfrm>
            <a:off x="7508530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53" name="Text 45"/>
          <p:cNvSpPr txBox="1"/>
          <p:nvPr/>
        </p:nvSpPr>
        <p:spPr>
          <a:xfrm>
            <a:off x="7508530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2400" dirty="0"/>
          </a:p>
        </p:txBody>
      </p:sp>
      <p:sp>
        <p:nvSpPr>
          <p:cNvPr id="54" name="Text 46"/>
          <p:cNvSpPr txBox="1"/>
          <p:nvPr/>
        </p:nvSpPr>
        <p:spPr>
          <a:xfrm>
            <a:off x="7554250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Projeto final</a:t>
            </a:r>
            <a:endParaRPr lang="en-US" sz="950" dirty="0"/>
          </a:p>
        </p:txBody>
      </p:sp>
      <p:sp>
        <p:nvSpPr>
          <p:cNvPr id="55" name="Text 47"/>
          <p:cNvSpPr txBox="1"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está aqui: 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 6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Sistema de Cadastro e Busca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projeto flashcards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123406" y="1755648"/>
            <a:ext cx="6897189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721070" y="1353312"/>
            <a:ext cx="804672" cy="804672"/>
          </a:xfrm>
          <a:prstGeom prst="ellipse">
            <a:avLst/>
          </a:prstGeom>
          <a:solidFill>
            <a:srgbClr val="E16D34"/>
          </a:solidFill>
          <a:ln w="25400">
            <a:solidFill>
              <a:srgbClr val="E16D3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6" y="1481328"/>
            <a:ext cx="548640" cy="548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M6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Terminal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CRUD em memória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870601" y="1353312"/>
            <a:ext cx="804672" cy="8046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1998617" y="1481328"/>
            <a:ext cx="548640" cy="5486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98171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M7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1698171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1698171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Express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020133" y="1353312"/>
            <a:ext cx="804672" cy="8046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3148149" y="1481328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847703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M8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2847703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Banco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2847703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169664" y="1353312"/>
            <a:ext cx="804672" cy="8046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4297680" y="1481328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3997234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M9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3997234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dono</a:t>
            </a:r>
            <a:endParaRPr lang="en-US" sz="1250" dirty="0"/>
          </a:p>
        </p:txBody>
      </p:sp>
      <p:sp>
        <p:nvSpPr>
          <p:cNvPr id="25" name="Text 18"/>
          <p:cNvSpPr txBox="1"/>
          <p:nvPr/>
        </p:nvSpPr>
        <p:spPr>
          <a:xfrm>
            <a:off x="3997234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login e JWT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319195" y="1353312"/>
            <a:ext cx="804672" cy="8046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5447211" y="1481328"/>
            <a:ext cx="548640" cy="54864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146766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M9B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5146766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Testado</a:t>
            </a:r>
            <a:endParaRPr lang="en-US" sz="1250" dirty="0"/>
          </a:p>
        </p:txBody>
      </p:sp>
      <p:sp>
        <p:nvSpPr>
          <p:cNvPr id="30" name="Text 22"/>
          <p:cNvSpPr txBox="1"/>
          <p:nvPr/>
        </p:nvSpPr>
        <p:spPr>
          <a:xfrm>
            <a:off x="5146766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Vitest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468727" y="1353312"/>
            <a:ext cx="804672" cy="8046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6596743" y="1481328"/>
            <a:ext cx="548640" cy="54864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296297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M10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6296297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ar</a:t>
            </a:r>
            <a:endParaRPr lang="en-US" sz="1250" dirty="0"/>
          </a:p>
        </p:txBody>
      </p:sp>
      <p:sp>
        <p:nvSpPr>
          <p:cNvPr id="35" name="Text 26"/>
          <p:cNvSpPr txBox="1"/>
          <p:nvPr/>
        </p:nvSpPr>
        <p:spPr>
          <a:xfrm>
            <a:off x="6296297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Render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7618258" y="1353312"/>
            <a:ext cx="804672" cy="8046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>
            <a:off x="7746274" y="1481328"/>
            <a:ext cx="548640" cy="54864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7445829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M11</a:t>
            </a:r>
            <a:endParaRPr lang="en-US" sz="1000" dirty="0"/>
          </a:p>
        </p:txBody>
      </p:sp>
      <p:sp>
        <p:nvSpPr>
          <p:cNvPr id="39" name="Text 29"/>
          <p:cNvSpPr txBox="1"/>
          <p:nvPr/>
        </p:nvSpPr>
        <p:spPr>
          <a:xfrm>
            <a:off x="7445829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tela</a:t>
            </a:r>
            <a:endParaRPr lang="en-US" sz="1250" dirty="0"/>
          </a:p>
        </p:txBody>
      </p:sp>
      <p:sp>
        <p:nvSpPr>
          <p:cNvPr id="40" name="Text 30"/>
          <p:cNvSpPr txBox="1"/>
          <p:nvPr/>
        </p:nvSpPr>
        <p:spPr>
          <a:xfrm>
            <a:off x="7445829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48640" y="3127248"/>
            <a:ext cx="8046720" cy="1481328"/>
          </a:xfrm>
          <a:prstGeom prst="roundRect">
            <a:avLst>
              <a:gd name="adj" fmla="val 6173"/>
            </a:avLst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822960" y="3255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MÓDULO 6</a:t>
            </a:r>
            <a:endParaRPr lang="en-US" sz="1100" dirty="0"/>
          </a:p>
        </p:txBody>
      </p:sp>
      <p:sp>
        <p:nvSpPr>
          <p:cNvPr id="43" name="Text 33"/>
          <p:cNvSpPr txBox="1"/>
          <p:nvPr/>
        </p:nvSpPr>
        <p:spPr>
          <a:xfrm>
            <a:off x="822960" y="35661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flashcards nasce aqui: baralhos e cartões num array, com o mesmo CRUD e a mesma busca da agenda. Na atividade, escolha a lista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Flashcards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comece o projeto que vai até o Módulo 11.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2286000" cy="2286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840480" y="868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3858768" y="1417320"/>
            <a:ext cx="4846320" cy="45720"/>
          </a:xfrm>
          <a:prstGeom prst="rect">
            <a:avLst/>
          </a:prstGeom>
          <a:solidFill>
            <a:srgbClr val="E16D34"/>
          </a:solidFill>
          <a:ln w="12700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858768" y="1572768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Compreender e aplicar o padrão CRUD.</a:t>
            </a:r>
            <a:endParaRPr lang="en-US" sz="15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Gerenciar dados em memória com arrays e objetos.</a:t>
            </a:r>
            <a:endParaRPr lang="en-US" sz="15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Aplicar a modularização do módulo anterior.</a:t>
            </a:r>
            <a:endParaRPr lang="en-US" sz="15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Dominar busca e filtragem com .findIndex(), .find() e .filter().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Relacionar dados de listas diferentes usando IDs.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Gerenciamento de dados</a:t>
            </a:r>
            <a:endParaRPr lang="en-US" sz="3000" dirty="0"/>
          </a:p>
        </p:txBody>
      </p:sp>
      <p:pic>
        <p:nvPicPr>
          <p:cNvPr id="5" name="Image 0" descr="Pessoas conectad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48232"/>
            <a:ext cx="3657600" cy="30642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663440" y="16459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Imagine uma loja que precisa cadastrar os seus clientes.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4663440" y="27432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Quais requisitos são necessários para criar um sistema desses?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quatro requisitos de qualquer cadastro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411480" y="1824990"/>
            <a:ext cx="1874520" cy="2129028"/>
          </a:xfrm>
          <a:prstGeom prst="roundRect">
            <a:avLst>
              <a:gd name="adj" fmla="val 487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" y="2007870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446782"/>
            <a:ext cx="1508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Cadastro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804922"/>
            <a:ext cx="150876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Criar novos registros.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2560320" y="1824990"/>
            <a:ext cx="1874520" cy="2129028"/>
          </a:xfrm>
          <a:prstGeom prst="roundRect">
            <a:avLst>
              <a:gd name="adj" fmla="val 487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556" y="200787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743200" y="2446782"/>
            <a:ext cx="1508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Listagem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2743200" y="2804922"/>
            <a:ext cx="150876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 os registros que existem.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709160" y="1824990"/>
            <a:ext cx="1874520" cy="2129028"/>
          </a:xfrm>
          <a:prstGeom prst="roundRect">
            <a:avLst>
              <a:gd name="adj" fmla="val 487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396" y="200787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892040" y="2446782"/>
            <a:ext cx="15087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Atualização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4892040" y="3071622"/>
            <a:ext cx="150876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Alterar os dados de um registro.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6858000" y="1824990"/>
            <a:ext cx="1874520" cy="2129028"/>
          </a:xfrm>
          <a:prstGeom prst="roundRect">
            <a:avLst>
              <a:gd name="adj" fmla="val 487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3236" y="2007870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040880" y="2446782"/>
            <a:ext cx="1508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Remoção</a:t>
            </a:r>
            <a:endParaRPr lang="en-US" sz="1750" dirty="0"/>
          </a:p>
        </p:txBody>
      </p:sp>
      <p:sp>
        <p:nvSpPr>
          <p:cNvPr id="20" name="Text 13"/>
          <p:cNvSpPr txBox="1"/>
          <p:nvPr/>
        </p:nvSpPr>
        <p:spPr>
          <a:xfrm>
            <a:off x="7040880" y="2804922"/>
            <a:ext cx="150876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Apagar um registro.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CRUD: as quatro operações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69848"/>
            <a:ext cx="7863840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Quase todo sistema que gerencia dados faz essas quatro operações: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11480" y="1694688"/>
            <a:ext cx="4023360" cy="1406652"/>
          </a:xfrm>
          <a:prstGeom prst="roundRect">
            <a:avLst>
              <a:gd name="adj" fmla="val 650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8775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reate · Criar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353056"/>
            <a:ext cx="36576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Cadastrar um novo registro.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633472"/>
            <a:ext cx="3657600" cy="284988"/>
          </a:xfrm>
          <a:prstGeom prst="roundRect">
            <a:avLst>
              <a:gd name="adj" fmla="val 2566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0664" y="2750515"/>
            <a:ext cx="3364992" cy="5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array.</a:t>
            </a:r>
            <a:r>
              <a:rPr lang="en-US" sz="9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(novo)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09160" y="1694688"/>
            <a:ext cx="4023360" cy="1406652"/>
          </a:xfrm>
          <a:prstGeom prst="roundRect">
            <a:avLst>
              <a:gd name="adj" fmla="val 650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92040" y="18775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ead · Ler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2353056"/>
            <a:ext cx="36576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Listar e buscar registros.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92040" y="2633472"/>
            <a:ext cx="3657600" cy="284988"/>
          </a:xfrm>
          <a:prstGeom prst="roundRect">
            <a:avLst>
              <a:gd name="adj" fmla="val 2566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38344" y="2750515"/>
            <a:ext cx="3364992" cy="5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/ find / filter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11480" y="3302508"/>
            <a:ext cx="4023360" cy="1406652"/>
          </a:xfrm>
          <a:prstGeom prst="roundRect">
            <a:avLst>
              <a:gd name="adj" fmla="val 650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4853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30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pdate · Atualizar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3960876"/>
            <a:ext cx="36576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Alterar dados de um registro.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" y="4241292"/>
            <a:ext cx="3657600" cy="284988"/>
          </a:xfrm>
          <a:prstGeom prst="roundRect">
            <a:avLst>
              <a:gd name="adj" fmla="val 2566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0664" y="4358335"/>
            <a:ext cx="3364992" cy="5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findIndex + atribuição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09160" y="3302508"/>
            <a:ext cx="4023360" cy="1406652"/>
          </a:xfrm>
          <a:prstGeom prst="roundRect">
            <a:avLst>
              <a:gd name="adj" fmla="val 650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92040" y="34853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13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elete · Deletar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892040" y="3960876"/>
            <a:ext cx="36576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Remover um registro.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892040" y="4241292"/>
            <a:ext cx="3657600" cy="284988"/>
          </a:xfrm>
          <a:prstGeom prst="roundRect">
            <a:avLst>
              <a:gd name="adj" fmla="val 2566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38344" y="4358335"/>
            <a:ext cx="3364992" cy="5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findIndex + splice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0058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Vamos a um exemplo: uma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agenda de contatos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!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Requisitos: cadastro e busca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736852"/>
            <a:ext cx="4023360" cy="2305304"/>
          </a:xfrm>
          <a:prstGeom prst="roundRect">
            <a:avLst>
              <a:gd name="adj" fmla="val 396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19732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91973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Cadastro de contato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395220"/>
            <a:ext cx="3657600" cy="146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Gerar um ID sequencial para cada contato.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Guardar nome, e-mail e uma lista de telefones.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permitir e-mail duplicado e mostrar uma mensagem de erro.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736852"/>
            <a:ext cx="4023360" cy="2305304"/>
          </a:xfrm>
          <a:prstGeom prst="roundRect">
            <a:avLst>
              <a:gd name="adj" fmla="val 396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919732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91973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Busca de contatos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395220"/>
            <a:ext cx="3657600" cy="97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Listar todos os contatos com as informações cadastradas.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Mostrar os telefones como uma lista associada ao contato.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Requisitos: atualização e remoção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1480" y="1983232"/>
            <a:ext cx="4023360" cy="1812544"/>
          </a:xfrm>
          <a:prstGeom prst="roundRect">
            <a:avLst>
              <a:gd name="adj" fmla="val 504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66112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21661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Atualização de contato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641600"/>
            <a:ext cx="3657600" cy="97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Atualizar o nome, o e-mail ou os telefones.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novo e-mail não pode estar em uso: se estiver, mostrar erro.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983232"/>
            <a:ext cx="4023360" cy="1812544"/>
          </a:xfrm>
          <a:prstGeom prst="roundRect">
            <a:avLst>
              <a:gd name="adj" fmla="val 504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166112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21661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Remoção de contato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641600"/>
            <a:ext cx="3657600" cy="97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Remover um contato informando o ID.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Pedir confirmação antes de remover.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estrutura do projeto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938528"/>
            <a:ext cx="4572000" cy="1929384"/>
          </a:xfrm>
          <a:prstGeom prst="roundRect">
            <a:avLst>
              <a:gd name="adj" fmla="val 379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055571"/>
            <a:ext cx="4279392" cy="1695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agenda/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app.js                 (o menu)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contatos.js            (os dados)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adicionar_contato.js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listar_contatos.js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atualizar_contato.js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remover_contato.js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710690"/>
            <a:ext cx="356616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menu: importa tudo e chama cada operação.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contatos.js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 nossa "base de dados": um array de objetos.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uma operação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cada arquivo cuida de uma letra do CRUD. É a modularização do Módulo 5 na prática.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base de dados: contatos.js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153668"/>
            <a:ext cx="4023360" cy="3499104"/>
          </a:xfrm>
          <a:prstGeom prst="roundRect">
            <a:avLst>
              <a:gd name="adj" fmla="val 209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270711"/>
            <a:ext cx="3730752" cy="326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contatos = [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 Silva'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telefones: [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'(11) 91234-5678'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'anasilva@gmail.com'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'Nicolas Motta'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telefones: [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'(11) 93215-6789'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'nicolasmotta@gmail.com'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contatos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413510"/>
            <a:ext cx="4114800" cy="297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 de objetos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cada contato é um objeto; todos ficam num array.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um array dentro do objeto: um contato pode ter vários.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para o menu e as outras operações enxergarem a lista.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 de dados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num sistema real, usaríamos MongoDB (Módulo 8). Aqui, simulamos na memória.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menu: app.js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15568"/>
            <a:ext cx="8321040" cy="3011424"/>
          </a:xfrm>
          <a:prstGeom prst="roundRect">
            <a:avLst>
              <a:gd name="adj" fmla="val 242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32611"/>
            <a:ext cx="8028432" cy="277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promptSync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'prompt-sync'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contatos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'./contatos.js'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listarContatos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'./listar_contatos.js'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import das outras três operações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prompt =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promptSync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opcao =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'0'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(opcao !==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mainMenu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</a:t>
            </a:r>
            <a:r>
              <a:rPr lang="en-US" sz="11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mostra as opções de 1 a 5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opcao =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'Escolha uma opção: 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(opcao)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listarContatos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(contatos);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um case para cada operação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Aqui a opção fica como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sem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Number()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por isso os cases usam aspas (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"1"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 O importante é o tipo bater com o do switch.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todos os arquivos enxergam a mesma lista?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53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60705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módulo carrega uma vez só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Todo arquivo que importa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contatos.js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recebe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mesmo array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não uma cópia.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534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53517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Funções recebem a lista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menu passa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contatos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cada função. Um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ou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lá dentro altera a lista que o menu vê.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815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46329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const não impede mudar o conteúdo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 isso usamos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e nunca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contatos = [...]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(lembra do const com array do Módulo 2?).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Create: adicionando um contato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Validando o e-mail antes de salvar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1480" y="1069848"/>
            <a:ext cx="8321040" cy="3102864"/>
          </a:xfrm>
          <a:prstGeom prst="roundRect">
            <a:avLst>
              <a:gd name="adj" fmla="val 235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186891"/>
            <a:ext cx="8028432" cy="2868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adicionarContato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(contatos, novoContato)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emailExiste 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contatos.length; i++)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(contatos[i].email === novoContato.email)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emailExiste 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 a busca assim que encontrar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(emailExiste)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'Erro: Este e-mail já está cadastrado!'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continua no próximo slide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laço percorre a lista procurando o e-mail. Se achar, avisa e devolve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o menu: nada é salvo.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Gerando o ID e inserindo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69848"/>
            <a:ext cx="8321040" cy="3102864"/>
          </a:xfrm>
          <a:prstGeom prst="roundRect">
            <a:avLst>
              <a:gd name="adj" fmla="val 235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186891"/>
            <a:ext cx="8028432" cy="2868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gera o ID sequencial: último ID + 1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(contatos.length &gt;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ultimoContato = contatos[contatos.length -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novoContato.id = ultimoContato.id +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novoContato.id =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lista vazia: é o primeiro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contatos.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(novoContato)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adicionarContato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insere o objeto no fim do array, e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true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avisa o menu que deu certo.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menu: vários telefones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15568"/>
            <a:ext cx="8321040" cy="3011424"/>
          </a:xfrm>
          <a:prstGeom prst="roundRect">
            <a:avLst>
              <a:gd name="adj" fmla="val 242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32611"/>
            <a:ext cx="8028432" cy="277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novoContato =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nome: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'Nome: 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email: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'Email: 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telefones: [],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addMais =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'sim'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(addMais.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toLowerCase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===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'sim'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novoContato.telefones.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'Telefone: 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addMais =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'Adicionar outro telefone? (sim/nao): 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adicionarContato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(contatos, novoContato))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'Contato adicionado com sucesso!'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array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começa vazio e cresce com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enquanto o usuário responder "sim".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o ID pode se repetir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"último ID + 1", remover o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último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contato faz o próximo cadastro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reaproveitar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 ID dele.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13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IDs 1, 2 e 3 → remove o 3 → o novo contato também ganha o 3.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outra lista guardava o ID 3 (como uma consulta na clínica), agora ela aponta para a pessoa errada.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Solução: um contador separado, que só cresce e nunca volta.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242056"/>
            <a:ext cx="8046720" cy="1182624"/>
          </a:xfrm>
          <a:prstGeom prst="roundRect">
            <a:avLst>
              <a:gd name="adj" fmla="val 618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359099"/>
            <a:ext cx="7754112" cy="948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proximoId =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começa depois do último ID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novoContato.id = proximoId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proximoId++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Ana@Gmail.com e ana@gmail.com</a:t>
            </a:r>
            <a:endParaRPr lang="en-US" sz="23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comparação diferencia maiúsculas: o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mesmo e-mail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passa duas vezes pela validação.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840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Padronize o e-mail antes de comparar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antes de salvar.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trim()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ainda remove os espaços que o usuário digitou sem querer.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949956"/>
            <a:ext cx="8046720" cy="755904"/>
          </a:xfrm>
          <a:prstGeom prst="roundRect">
            <a:avLst>
              <a:gd name="adj" fmla="val 967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066999"/>
            <a:ext cx="7754112" cy="52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'Ana@Gmail.com'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'ana@gmail.com'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'Ana@Gmail.com'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toLowerCase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===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'ana@gmail.com'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Read: listando os contatos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listarContatos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69848"/>
            <a:ext cx="8321040" cy="3102864"/>
          </a:xfrm>
          <a:prstGeom prst="roundRect">
            <a:avLst>
              <a:gd name="adj" fmla="val 235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186891"/>
            <a:ext cx="8028432" cy="2868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listarContatos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(contatos)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(contatos.length ===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'Nenhum contato cadastrado.'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contatos.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((contato) =&gt;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`\nID: ${contato.id}`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`Nome: ${contato.nome}`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`Email: ${contato.email}`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`Telefones: ${contato.telefones.join(' | ')}`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Primeiro confere se a lista está vazia: se estiver, avisa e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encerra a função ali mesmo.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.join(): de array para texto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549908"/>
            <a:ext cx="8321040" cy="2142744"/>
          </a:xfrm>
          <a:prstGeom prst="roundRect">
            <a:avLst>
              <a:gd name="adj" fmla="val 341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666951"/>
            <a:ext cx="8028432" cy="190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telefones = [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'(11) 91234-5678'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'(11) 98765-4321'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(telefones)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 '(11) 91234-5678', '(11) 98765-4321' ]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(telefones.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| 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(11) 91234-5678 | (11) 98765-4321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cola os itens do array numa única string, com o separador que você escolher.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Listar tudo x buscar específico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808226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9110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99110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Listar tudo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466594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Devolve a base inteira. É o que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listarContatos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faz.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808226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99110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99110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Buscar específico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466594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Devolve só o que atende a um critério: um ID, um nome, um médico.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Mais adiante, vamos usar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as buscas específicas.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Update: atualizando um contato</a:t>
            </a:r>
            <a:endParaRPr 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.findIndex(): em que posição está?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1480" y="1629918"/>
            <a:ext cx="8321040" cy="1982724"/>
          </a:xfrm>
          <a:prstGeom prst="roundRect">
            <a:avLst>
              <a:gd name="adj" fmla="val 368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746961"/>
            <a:ext cx="8028432" cy="174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contatos = [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</a:t>
            </a:r>
            <a:r>
              <a:rPr lang="en-US" sz="15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nome: </a:t>
            </a:r>
            <a:r>
              <a:rPr lang="en-US" sz="15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'Lucas'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</a:t>
            </a:r>
            <a:r>
              <a:rPr lang="en-US" sz="15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nome: </a:t>
            </a:r>
            <a:r>
              <a:rPr lang="en-US" sz="15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'Vitoria'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contatos.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findIndex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((contato) =&gt; contato.nome === </a:t>
            </a:r>
            <a:r>
              <a:rPr lang="en-US" sz="15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'Vitoria'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r>
              <a:rPr lang="en-US" sz="15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contatos.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findIndex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((contato) =&gt; contato.nome === </a:t>
            </a:r>
            <a:r>
              <a:rPr lang="en-US" sz="15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'Pedro'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</a:t>
            </a:r>
            <a:r>
              <a:rPr lang="en-US" sz="15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-1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encontrar, devolve a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posição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(0, 1, 2…). Se não encontrar, devolve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-1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porque 0 já é uma posição válida.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atualizarContato: encontrando o contato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1511808"/>
            <a:ext cx="8321040" cy="2218944"/>
          </a:xfrm>
          <a:prstGeom prst="roundRect">
            <a:avLst>
              <a:gd name="adj" fmla="val 329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628851"/>
            <a:ext cx="8028432" cy="1984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atualizarContato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(contatos, id, novosDados) {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indice = contatos.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findIndex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((contato) =&gt; contato.id === id)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(indice === -</a:t>
            </a:r>
            <a:r>
              <a:rPr lang="en-US" sz="15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'Erro: Contato não encontrado!'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continua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findIndex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procura o contato pelo ID. Se devolver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o contato não existe: a função avisa e para.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atualizarContato: o novo e-mail está livre?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11480" y="1252728"/>
            <a:ext cx="8321040" cy="2523744"/>
          </a:xfrm>
          <a:prstGeom prst="roundRect">
            <a:avLst>
              <a:gd name="adj" fmla="val 289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369771"/>
            <a:ext cx="8028432" cy="228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(novosDados.email)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contatos.length; i++)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atual = contatos[i]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(atual.email === novosDados.email &amp;&amp; atual.id !== id)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'Erro: O novo e-mail já está em uso!'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Só valida se o usuário digitou um e-mail novo.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atual.id !== id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deixa a pessoa manter 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próprio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e-mail: só é erro se ele for de outro contato.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atualizarContato: só o que foi preenchido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411480" y="1313688"/>
            <a:ext cx="8321040" cy="2615184"/>
          </a:xfrm>
          <a:prstGeom prst="roundRect">
            <a:avLst>
              <a:gd name="adj" fmla="val 279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430731"/>
            <a:ext cx="8028432" cy="238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contatos[indice].nome = novosDados.nome || contatos[indice].nome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contatos[indice].email = novosDados.email || contatos[indice].email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(novosDados.telefones &amp;&amp; novosDados.telefones.length &gt;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contatos[indice].telefones = novosDados.telefones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atualizarContato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 vazio é texto vazio, que é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falsy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mantém o valor antigo. Se vierem telefones novos, a lista antiga é substituída.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Delete: removendo um contato</a:t>
            </a:r>
            <a:endParaRPr lang="en-US" sz="3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removerContato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85088"/>
            <a:ext cx="8321040" cy="3072384"/>
          </a:xfrm>
          <a:prstGeom prst="roundRect">
            <a:avLst>
              <a:gd name="adj" fmla="val 238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02131"/>
            <a:ext cx="8028432" cy="2838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removerContato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(contatos, id)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indice = contatos.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findIndex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((contato) =&gt; contato.id === id)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(indice === -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'Erro: Contato não encontrado!'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contatos.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splice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(indice,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'Contato removido com sucesso!'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mesmo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findIndex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da atualização acha a posição, e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splice(indice, 1)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recorta exatamente aquele item.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Pedindo confirmação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99388"/>
            <a:ext cx="8321040" cy="2843784"/>
          </a:xfrm>
          <a:prstGeom prst="roundRect">
            <a:avLst>
              <a:gd name="adj" fmla="val 257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316431"/>
            <a:ext cx="8028432" cy="2609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'4'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idRemover = 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parseInt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'ID do contato a ser removido: 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confirmar = 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'Tem certeza? (sim/nao): 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(confirmar.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toLowerCase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===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'sim'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removerContato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(contatos, idRemover)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'Operação cancelada.'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parseInt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essencial: o ID do objeto é número, 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"3" === 3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false. Sem converter,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findIndex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nunca encontraria o contato.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 métodos que economizam laços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1480" y="1290828"/>
            <a:ext cx="8321040" cy="2660904"/>
          </a:xfrm>
          <a:prstGeom prst="roundRect">
            <a:avLst>
              <a:gd name="adj" fmla="val 274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407871"/>
            <a:ext cx="8028432" cy="2426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some: algum item passa no teste?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existe = contatos.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((c) =&gt; c.email === email)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map: transforma cada item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nomes = contatos.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((c) =&gt; c.nome)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['Ana Silva', 'Nicolas Motta']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reduce: junta tudo num valor só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 = contatos.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((soma, c) =&gt; soma + c.id, 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laço de validação do e-mail vira uma linha com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Laço com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continua valendo: esses métodos só deixam a intenção mais clara.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um ID?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"impressão digital" de cada registro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usar IDs?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248156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3103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4310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Unicidade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906524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registro é único. Imagine achar alguém num país onde todos se chamam João ou Maria.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248156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3103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4310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Identificação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1906524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Garante que estamos mexendo no dado certo, e não num parecido.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11480" y="2990088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72968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0642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Relacionamento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594360" y="3648456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IDs ligam dados de listas diferentes, como veremos na clínica.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4709160" y="2990088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7296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0410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Performance</a:t>
            </a:r>
            <a:endParaRPr lang="en-US" sz="1750" dirty="0"/>
          </a:p>
        </p:txBody>
      </p:sp>
      <p:sp>
        <p:nvSpPr>
          <p:cNvPr id="20" name="Text 13"/>
          <p:cNvSpPr txBox="1"/>
          <p:nvPr/>
        </p:nvSpPr>
        <p:spPr>
          <a:xfrm>
            <a:off x="4892040" y="3648456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Buscar por um número é muito rápido: os sistemas são otimizados para isso.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o e-mail precisa ser único?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11480" y="1248156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3103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4310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Integridade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906524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duplicados, não há registros conflitantes e confusos.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248156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3103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4310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Experiência do usuário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1906524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Ninguém se perde com várias contas no mesmo e-mail.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11480" y="2990088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72968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0642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Segurança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594360" y="3648456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E-mails duplicados podem ser explorados para tomar contas.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4709160" y="2990088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7296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0410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Comunicação</a:t>
            </a:r>
            <a:endParaRPr lang="en-US" sz="1750" dirty="0"/>
          </a:p>
        </p:txBody>
      </p:sp>
      <p:sp>
        <p:nvSpPr>
          <p:cNvPr id="20" name="Text 13"/>
          <p:cNvSpPr txBox="1"/>
          <p:nvPr/>
        </p:nvSpPr>
        <p:spPr>
          <a:xfrm>
            <a:off x="4892040" y="3648456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Notificações chegam uma vez só, para a pessoa certa.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Conferindo os requisitos</a:t>
            </a:r>
            <a:endParaRPr lang="en-US" sz="3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24128"/>
          <a:ext cx="78638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29768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Requisito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Onde está no código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ID sequencial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adicionarContato: último ID + 1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Nome, e-mail e lista de telefones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menu, case '2': while com push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E-mail duplicado bloqueado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laço em adicionarContato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Telefones como lista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listarContatos: join(' | ')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Atualizar só o que foi preenchido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atualizarContato: operador ||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Novo e-mail não pode estar em uso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atualizarContato: atual.id !== id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Remover pelo ID, com confirmação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findIndex + splice; menu, case '4'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Relacionamento entre os dados</a:t>
            </a:r>
            <a:endParaRPr lang="en-US" sz="3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Entendendo os relacionamentos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53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60705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Sistemas reais têm várias listas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Uber tem motoristas, passageiros e corridas. O iFood tem restaurantes, clientes e pedidos.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534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53517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Guardamos o ID, não os dados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 vez de repetir o nome do médico em cada consulta, a consulta guarda só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idMedico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815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46329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código faz o papel do garçom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Lê o ID na consulta, vai até a lista de médicos e volta com o nome.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Você já fez um 1 para muitos (1:N)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1480" y="1549908"/>
            <a:ext cx="8321040" cy="2142744"/>
          </a:xfrm>
          <a:prstGeom prst="roundRect">
            <a:avLst>
              <a:gd name="adj" fmla="val 341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666951"/>
            <a:ext cx="8028432" cy="190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contato tem N telefones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contato.telefones = [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'(11) 91234-5678'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contato.telefones.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'(11) 98765-4321'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(contato.telefones)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['(11) 91234-5678', '(11) 98765-4321']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 vez de criar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telefone1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telefone2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telefone3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…, um array guarda quantos telefones forem necessários.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problema da clínica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587246"/>
            <a:ext cx="4023360" cy="1982724"/>
          </a:xfrm>
          <a:prstGeom prst="roundRect">
            <a:avLst>
              <a:gd name="adj" fmla="val 461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7012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77012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Dois cadastros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245614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CRUD de pacientes e um CRUD de médicos.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587246"/>
            <a:ext cx="4023360" cy="1982724"/>
          </a:xfrm>
          <a:prstGeom prst="roundRect">
            <a:avLst>
              <a:gd name="adj" fmla="val 461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77012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77012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Nome repetido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245614"/>
            <a:ext cx="365760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a ficha da Maria guarda "Dra. Grey" e a médica muda de sobrenome, é preciso alterar a ficha de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todos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os pacientes dela.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Como o sistema sabe que a paciente Maria tem consulta com a Dra. Grey, sem repetir os dados?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Usando IDs para conectar as listas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1480" y="1823466"/>
            <a:ext cx="2590800" cy="2132076"/>
          </a:xfrm>
          <a:prstGeom prst="roundRect">
            <a:avLst>
              <a:gd name="adj" fmla="val 42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0634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2006346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Atualiza num lugar só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631186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médica mudou de sobrenome? O ID continua o mesmo: nenhuma consulta precisa mudar.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3276600" y="1823466"/>
            <a:ext cx="2590800" cy="2132076"/>
          </a:xfrm>
          <a:prstGeom prst="roundRect">
            <a:avLst>
              <a:gd name="adj" fmla="val 42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200634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71544" y="2006346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Menos memória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3459480" y="2631186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Guardar um número ocupa bem menos que repetir textos grandes.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141720" y="1823466"/>
            <a:ext cx="2590800" cy="2132076"/>
          </a:xfrm>
          <a:prstGeom prst="roundRect">
            <a:avLst>
              <a:gd name="adj" fmla="val 42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006346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36664" y="200634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Integridade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6324600" y="2481834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Só agendamos consultas para IDs que realmente existem.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dados da clínica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15568"/>
            <a:ext cx="8321040" cy="3011424"/>
          </a:xfrm>
          <a:prstGeom prst="roundRect">
            <a:avLst>
              <a:gd name="adj" fmla="val 242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32611"/>
            <a:ext cx="8028432" cy="277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dados.js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medicos = [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nome: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'Dr. House'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especialidade: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'Diagnóstico'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nome: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'Dra. Grey'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especialidade: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'Cirurgia'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pacientes = [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nome: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'John Doe'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nome: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'Jane Smith'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consultas = [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data: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'2023-01-10'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idMedico: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idPaciente: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data: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'2023-02-15'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idMedico: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idPaciente: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data: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'2023-03-20'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idMedico: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idPaciente: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medicos, pacientes, consultas }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consulta guarda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idMedico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idPaciente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é assim que ela se liga a um médico e a um paciente.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Médico, paciente e consulta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712976"/>
            <a:ext cx="2590800" cy="2353056"/>
          </a:xfrm>
          <a:prstGeom prst="roundRect">
            <a:avLst>
              <a:gd name="adj" fmla="val 388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9585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89585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Médico 1 : N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371344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Dr. House pode ter consultas com vários pacientes ao longo do tempo.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3276600" y="1712976"/>
            <a:ext cx="2590800" cy="2353056"/>
          </a:xfrm>
          <a:prstGeom prst="roundRect">
            <a:avLst>
              <a:gd name="adj" fmla="val 388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89585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71544" y="1895856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Paciente 1 : N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3459480" y="2520696"/>
            <a:ext cx="22250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John Doe pode ter consultas com médicos diferentes, em momentos diferentes.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141720" y="1712976"/>
            <a:ext cx="2590800" cy="2353056"/>
          </a:xfrm>
          <a:prstGeom prst="roundRect">
            <a:avLst>
              <a:gd name="adj" fmla="val 388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895856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36664" y="189585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Consulta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6324600" y="2371344"/>
            <a:ext cx="22250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Liga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médico a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paciente, numa data.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0058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paciente de ID 1 chegou na recepção. Como varrer a lista de consultas e achar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todas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as dele, com o nome de cada médico?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Busca com Parâmetros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Dois métodos de array novos: filter e find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.filter(): a peneira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359408"/>
            <a:ext cx="8321040" cy="2523744"/>
          </a:xfrm>
          <a:prstGeom prst="roundRect">
            <a:avLst>
              <a:gd name="adj" fmla="val 289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476451"/>
            <a:ext cx="8028432" cy="228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usuarios = [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nome: </a:t>
            </a:r>
            <a:r>
              <a:rPr lang="en-US" sz="16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'Ana'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ativo: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nome: </a:t>
            </a:r>
            <a:r>
              <a:rPr lang="en-US" sz="16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'Pedro'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ativo: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nome: </a:t>
            </a:r>
            <a:r>
              <a:rPr lang="en-US" sz="16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'Maria'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ativo: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ativos = usuarios.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((usuario) =&gt; usuario.ativo ===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(ativos)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 { id: 1, nome: 'Ana', ... }, { id: 3, nome: 'Maria', ... } ]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Varre o array inteiro e devolve um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novo array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só com os itens que passaram no teste. Se nenhum passar, devolve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.find(): o primeiro que bater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420368"/>
            <a:ext cx="8321040" cy="2401824"/>
          </a:xfrm>
          <a:prstGeom prst="roundRect">
            <a:avLst>
              <a:gd name="adj" fmla="val 304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537411"/>
            <a:ext cx="8028432" cy="216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medicos = [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nome: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'Dr. House'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nome: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'Dra. Grey'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medico = medicos.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((medico) =&gt; medico.id === 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(medico)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 id: 2, nome: 'Dra. Grey' }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assim que encontra e devolve 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objeto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inteiro. Se não encontrar nada, devolve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x find x findIndex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510284"/>
            <a:ext cx="2590800" cy="2136648"/>
          </a:xfrm>
          <a:prstGeom prst="roundRect">
            <a:avLst>
              <a:gd name="adj" fmla="val 428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693164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168652"/>
            <a:ext cx="222504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Quando você quer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vários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94360" y="2738628"/>
            <a:ext cx="2225040" cy="725424"/>
          </a:xfrm>
          <a:prstGeom prst="roundRect">
            <a:avLst>
              <a:gd name="adj" fmla="val 1008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0664" y="2855671"/>
            <a:ext cx="1932432" cy="4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devolve um array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achou: []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76600" y="1510284"/>
            <a:ext cx="2590800" cy="2136648"/>
          </a:xfrm>
          <a:prstGeom prst="roundRect">
            <a:avLst>
              <a:gd name="adj" fmla="val 428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59480" y="1693164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endParaRPr lang="en-US" sz="1750" dirty="0"/>
          </a:p>
        </p:txBody>
      </p:sp>
      <p:sp>
        <p:nvSpPr>
          <p:cNvPr id="12" name="Text 9"/>
          <p:cNvSpPr txBox="1"/>
          <p:nvPr/>
        </p:nvSpPr>
        <p:spPr>
          <a:xfrm>
            <a:off x="3459480" y="2168652"/>
            <a:ext cx="222504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Quando você quer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objeto.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3459480" y="2738628"/>
            <a:ext cx="2225040" cy="694944"/>
          </a:xfrm>
          <a:prstGeom prst="roundRect">
            <a:avLst>
              <a:gd name="adj" fmla="val 1052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05784" y="2855671"/>
            <a:ext cx="1932432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devolve o objeto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achou: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41720" y="1510284"/>
            <a:ext cx="2590800" cy="2136648"/>
          </a:xfrm>
          <a:prstGeom prst="roundRect">
            <a:avLst>
              <a:gd name="adj" fmla="val 428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24600" y="1693164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findIndex</a:t>
            </a:r>
            <a:endParaRPr lang="en-US" sz="1750" dirty="0"/>
          </a:p>
        </p:txBody>
      </p:sp>
      <p:sp>
        <p:nvSpPr>
          <p:cNvPr id="17" name="Text 14"/>
          <p:cNvSpPr txBox="1"/>
          <p:nvPr/>
        </p:nvSpPr>
        <p:spPr>
          <a:xfrm>
            <a:off x="6324600" y="2168652"/>
            <a:ext cx="222504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Quando você quer a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posição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324600" y="2738628"/>
            <a:ext cx="2225040" cy="725424"/>
          </a:xfrm>
          <a:prstGeom prst="roundRect">
            <a:avLst>
              <a:gd name="adj" fmla="val 1008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70904" y="2855671"/>
            <a:ext cx="1932432" cy="4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devolve o índice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achou: -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Ex.: todas as consultas do paciente 1 →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O médico de ID 2 →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Onde está o contato 3, para remover →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findIndex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Funções auxiliares: médico e paciente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11480" y="1462278"/>
            <a:ext cx="8321040" cy="2318004"/>
          </a:xfrm>
          <a:prstGeom prst="roundRect">
            <a:avLst>
              <a:gd name="adj" fmla="val 315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579321"/>
            <a:ext cx="8028432" cy="2083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dados </a:t>
            </a: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'./dados.js'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buscarMedicoPorId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(idMedico) {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dados.medicos.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((medico) =&gt; medico.id === idMedico)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buscarPacientePorId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(idPaciente) {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dados.pacientes.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((paciente) =&gt; paciente.id === idPaciente)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uma recebe um ID e devolve o objeto completo. No repositório, cada função fica no seu próprio arquivo.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imprimirConsulta: juntando as três listas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411480" y="1130808"/>
            <a:ext cx="8321040" cy="2980944"/>
          </a:xfrm>
          <a:prstGeom prst="roundRect">
            <a:avLst>
              <a:gd name="adj" fmla="val 245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47851"/>
            <a:ext cx="8028432" cy="2746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imprimirConsulta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(consulta) {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medico = 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buscarMedicoPorId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(consulta.idMedico)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paciente = 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buscarPacientePorId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(consulta.idPaciente)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nomeMedico = </a:t>
            </a:r>
            <a:r>
              <a:rPr lang="en-US" sz="14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'Desconhecido'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(medico) nomeMedico = medico.nome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nomePaciente = </a:t>
            </a:r>
            <a:r>
              <a:rPr lang="en-US" sz="14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'Desconhecido'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(paciente) nomePaciente = paciente.nome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`- ${consulta.data}: ${nomeMedico} com ${nomePaciente}`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consulta só tem os IDs: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busca o médico e o paciente.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protege o caso de o ID não existir.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listarConsultasDoPaciente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69848"/>
            <a:ext cx="8321040" cy="3102864"/>
          </a:xfrm>
          <a:prstGeom prst="roundRect">
            <a:avLst>
              <a:gd name="adj" fmla="val 235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186891"/>
            <a:ext cx="8028432" cy="2868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listarConsultasDoPaciente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(idPaciente)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doPaciente = dados.consultas.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(consulta) =&gt; consulta.idPaciente === idPaciente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(doPaciente.length ===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'Nenhuma consulta agendada para este paciente.'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'--- Consultas do Paciente ---'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doPaciente.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(imprimirConsulta)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separa as consultas do paciente e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chama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imprimirConsulta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cada uma delas.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fluxo da busca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Ao chamar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listarConsultasDoPaciente(1)</a:t>
            </a:r>
            <a:r>
              <a:rPr lang="en-US" sz="17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o sistema passa por três listas: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1828800"/>
            <a:ext cx="685800" cy="685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624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Filtro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301752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Separa as consultas com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idPaciente: 1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007108" y="217170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260" y="1828800"/>
            <a:ext cx="685800" cy="6858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606040" y="2624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Laço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2670048" y="301752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passa por cada consulta encontrada.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018788" y="217170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40" y="1828800"/>
            <a:ext cx="685800" cy="685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617720" y="2624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Médico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4681728" y="301752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pelo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idMedico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030468" y="217170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1828800"/>
            <a:ext cx="685800" cy="6858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629400" y="2624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Paciente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6693408" y="301752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pelo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idPaciente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os nomes em mãos, a consulta é impressa, e o laço segue para a próxima.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fica a saída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69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Resultado de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listarConsultasDoPaciente(1)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1480" y="2287524"/>
            <a:ext cx="8321040" cy="1060704"/>
          </a:xfrm>
          <a:prstGeom prst="roundRect">
            <a:avLst>
              <a:gd name="adj" fmla="val 689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" y="2404567"/>
            <a:ext cx="8028432" cy="82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Consultas do Paciente ---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- 2023-01-10: Dr. House com John Doe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- 2023-02-15: Dra. Grey com John Doe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Duas consultas do mesmo paciente, com médicos diferentes: é o relacionamento 1:N funcionando.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o find pode devolver undefined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o ID não existir, 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devolve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e acessar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medico.nome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quebra o programa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840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 isso o código testa se o médico existe antes de usar, e mostra "Desconhecido" no lugar.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Sempre que usar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pense: e se não encontrar?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94995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06699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medico =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buscarMedicoPorId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undefined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(medico.nome)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TypeError: Cannot read properties of undefined (reading 'nome')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0058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Hoje os dados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morrem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quando fechamos o terminal. Mais para a frente no curso, vamos salvar tudo num banco de dados de verdade!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CRUD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97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Termine o exemplo da agenda de contatos visto em sala.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Confira cada requisito da tabela "Conferindo os requisitos".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Faça a lista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codigo_crud_arrays.md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findIndex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Escolha uma lista aplicada: 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Agendamento de Consultas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ou 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Flashcards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3180588"/>
            <a:ext cx="8138160" cy="877824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4366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3272028"/>
            <a:ext cx="7360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tudo está no repositório, em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modulo06/lista_de_exercicios/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Use um contador para os IDs e padronize os e-mails com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toLowerCase()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do módulo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1170432"/>
            <a:ext cx="27889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6" name="Image 0" descr="QR code para https://github.com/nicolassmotta/curso-lions-dev/tree/main/modulo0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07592"/>
            <a:ext cx="2514600" cy="2514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40416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Aponte a câmera do celular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3886200" y="117043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github.com/nicolassmotta/curso-lions-dev/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tree/main/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modulo06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96596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416552" y="192024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conteudo/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teoria comentada e o </a:t>
            </a: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cheat sheet</a:t>
            </a: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módulo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532888"/>
            <a:ext cx="384048" cy="3840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416552" y="2487168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exercicios_slides/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exercícios feitos em aula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3099816"/>
            <a:ext cx="384048" cy="38404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416552" y="3054096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lista_de_exercicios/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listas para praticar em casa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3666744"/>
            <a:ext cx="384048" cy="384048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416552" y="3621024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exercicios_resolvidos/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gabaritos, para conferir depois de tentar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Fim!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Módulo 7, esse CRUD vira uma API de verdade.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Lions 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6</dc:title>
  <dc:subject>PptxGenJS Presentation</dc:subject>
  <dc:creator>Nicolas Cardoso Motta</dc:creator>
  <cp:lastModifiedBy>Nicolas Cardoso Motta</cp:lastModifiedBy>
  <cp:revision>1</cp:revision>
  <dcterms:created xsi:type="dcterms:W3CDTF">2026-09-27T23:25:34Z</dcterms:created>
  <dcterms:modified xsi:type="dcterms:W3CDTF">2026-09-27T23:25:34Z</dcterms:modified>
</cp:coreProperties>
</file>