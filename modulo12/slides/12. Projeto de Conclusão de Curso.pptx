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12 — Projeto final: simulação cliente-dev, levantamento de requisitos, modelagem, backend, frontend, deploy, apresentação e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de abertura (5 minutos) do Módulo 11. Peça para a turma explicar cada cartão com as próprias palavras antes de você falar.
Termine com a pergunta do rodapé. Resposta esperada: livre. Anote as respostas: são os pontos em que o projeto final vai exigir mais atenção.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do curso: hoje é o Módulo 12 (Projeto Final e Requisitos). Os módulos com o sinal de visto já passaram; o laranja é o de hoje.
É o último módulo: tudo o que veio antes entra no projeto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alta. No fim da aula, volte a este slide e peça para cada um dizer qual item já consegue fazer sozinho.
• Descobrir o problema de um cliente por meio de uma entrevista.
• Transformar a conversa em requisitos, escopo e entidades.
• Planejar rotas, telas e a divisão do trabalho no grupo.
• Construir, publicar e apresentar uma aplicação full stack.
• Saber exatamente como o projeto vai ser avaliado.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turma responder: como eles decidiriam o que construir para um cliente de verdade?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Backend: API REST com Node.js, Express, MongoDB e Mongoose, com autenticação e senhas protegidas.
• Frontend: Telas feitas com IA ou FlutterFlow, consumindo a API de verdade.
• Deploy: Backend e frontend publicados no Render, conversando entre si.
• Documentação: Levantamento de requisitos, README, coleção do Postman e registro do uso de IA.
Mensagem principal: O foco não é uma interface perfeita: é um sistema que funciona de ponta a ponta.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Grupos de 2 a 3: Todos participam da apresentação e explicam a própria parte.
• Tema do grupo: Resolve um problema claro, cabe no prazo e não repete o tema de outro grupo.
• Prazo: Definido em aula. O levantamento de requisitos vem antes do código.
• Foco: Simples e funcional vale mais que complexo e quebrado. Mas precisa parecer um sistema real, não um CRUD solto.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Descobrir: Entrevista com o cliente.
• Planejar: Requisitos, escopo e entidades.
• Construir: Backend e frontend.
• Publicar: Deploy no Render.
• Apresentar: Demonstração ao vivo.
Mensagem principal: Não pule etapas: código escrito antes do planejamento costuma ir para o lixo.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"Simulação cliente-dev". Antes de avançar, faça uma pergunta rápida que ligue o assunto novo ao que a turma já sabe.
Frase de apoio: Descobrir o problema antes de escrever código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transição: leia com calma e deixe a ideia assentar antes do próximo slide.
"O cliente quase nunca sabe dizer o que quer em termos técnicos. Mas ele sabe muito bem o que o incomoda. Descobrir isso é trabalho do dev."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Cliente: Fala como uma pessoa comum, sem termos técnicos. Tem um problema, não uma solução pronta. Não conta tudo de uma vez: responde o que perguntarem. Mantém a história coerente do começo ao fim.
• Dev: Pergunta, confirma e organiza as respostas. Não lê a página do cliente. Não propõe solução técnica cedo demais. No fim, preenche o levantamento de requisitos.
Mensagem principal: Depois, troquem os papéis e rodem de novo, com outro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5 minutos para o cliente montar a história antes da entrevista começar.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Cafeteria: Perde o controle das encomendas anotadas no caderno.
• Professor: Tem várias turmas e se enrola com entregas e notas de trabalhos.
• Personal trainer: Monta treinos para os alunos e perde o histórico no papel.
• Eventos: Controla convidados e confirmações por mensagens soltas.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Perguntas abertas primeiro: "Me conta como você faz isso hoje." Sim ou não fica para o final.
• Pergunte o porquê: Pediu uma solução pronta? "Por que você precisa disso?"
• Palavra vaga pede exemplo: Rápido, fácil, simples, seguro: "rápido quanto?"
• Confirme repetindo: "Então, o que você precisa é…"
• Essencial x "seria legal": Separe o que resolve a dor do que é enfeite.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Fechada: Dev: "Você quer um app de encomendas?" Cliente: "Quero." Nada foi aprendido.
• Aberta: Dev: "Me conta como você controla as encomendas hoje?" Cliente: "Anoto no caderno, mas às vezes a folha some e eu esqueço de avisar quando fica pronto…" Apareceram o processo, o problema e uma regra.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roteiro completo, com espaço para anotações, está em modulo12/lista_de_exercicios/simulacao_cliente_dev.md.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"Quero um app igual ao iFood." Isso é uma solução. O problema real pode ser só não perder encomendas.
• Solução pronta esconde o problema: pergunte "por que isso te ajudaria?" até chegar na dor.
• Palavra vaga (rápido, fácil, seguro) precisa virar exemplo ou número.
• Não traduza para termos técnicos na frente do cliente: anote as palavras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(Entrevista): leia o enunciado em voz alta, combine o tempo (15 a 25 minutos, conforme a turma) e circule pela sala.
• Formem duplas: um é o cliente, o outro é o dev.
• O cliente monta a história (5 minutos), sem mostrar ao dev.
• O dev entrevista usando o roteiro e anota as respostas (15 minutos).
• O dev resume em voz alta: "então, o que você precisa é…", e o cliente corrige.
• Troquem os papéis, com outro projeto.
Dica: o dev anota as palavras do cliente, não a tradução técnica. "Perco o caderno" é mais útil que "precisa de persistência".
Quem terminar antes: no fim, o dev lista as três prioridades do cliente, e o cliente confere.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Problema: Consigo descrevê-lo com as palavras do cliente.
• Usuários: Sei quem vai usar o sistema.
• Escopo: Sei o que está dentro e o que fica fora.
• Essencial: Tenho os requisitos que não podem faltar.
• Regras: Sei as regras e os limites do negócio.
• Prioridade: Sei o que é mais urgente para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"Levantamento de requisitos". Antes de avançar, faça uma pergunta rápida que ligue o assunto novo ao que a turma já sabe.
Frase de apoio: Da conversa para o documento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Da entrevista para o template
• O template está em modulo12/lista_de_exercicios/levantamento_requisitos.md.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cafeteria é só o exemplo da aula: cada grupo usa o próprio tema, e os requisitos não podem ser cópia dos exemplos.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 sistema fará: Cadastro e login. Produtos e categorias. Encomendas com itens, ligadas a um cliente. Status da encomenda até "entregue".
• O sistema não fará: Pagamento online. Aviso por WhatsApp. App para o cliente final.
Mensagem principal: O "fora do escopo" protege o prazo. Tudo o que está no levantamento aparece no sistema, ou está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Funcionais: o que faz: RF-003: o sistema deve permitir registrar uma encomenda com um ou mais produtos. RF-004: o sistema deve permitir mudar o status da encomenda até "entregue".
• Não funcionais: como se comporta: RNF-001: as senhas devem ser guardadas com hash. RNF-002: o backend deve ser separado em model, repository, service, controller e routes.
Mensagem principal: Frases específicas e testáveis, cada uma com um ID e uma prioridade.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"O sistema deve ser rápido e fácil de usar." Ninguém consegue conferir se isso foi cumprido.
• Escreva algo que dê para testar no Postman ou na tela.
• Troque a palavra vaga por um comportamento ou por um número.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RN-001: Um usuário só vê e altera os próprios registros.
• RN-002: Uma encomenda só pode ser marcada como entregue se estiver pronta.
• RN-003: Produto inativo não entra em encomenda nova.
Mensagem principal: É o que diferencia o seu sistema de um CRUD genérico. O projeto precisa de pelo menos uma regra que envolva mais de uma entidade, como a RN-003.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Priorizando
• Primeiro, todos os essenciais funcionando. Só depois os importantes.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"Modelando o sistema". Antes de avançar, faça uma pergunta rápida que ligue o assunto novo ao que a turma já sabe.
Frase de apoio: Entidades, campos e relacionamentos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 que ele guarda vira entidade: Coisas que precisam ser lembradas. (com o código do card)
• O que ele faz vira rota e tela: Ações sobre essas coisas. (com o código do card)
Mensagem principal: Cliente quase nunca fala "minha entidade é Pedido". Quem faz essa tradução é o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Entidades por tema
• Exemplos para inspirar: o tema e as entidades são do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As entidades da cafeteria
• Quatro entidades do domínio além do Usuario: o mínimo exigido no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Testado com Mongoose 8: quantidade 0 e status fora do enum geram ValidationError.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Embedding: dentro: Os itens só existem dentro da encomenda: não faz sentido buscar um item sozinho.
• Referência: o _id: Cliente e produto têm vida própria: aparecem em várias encomendas e têm o próprio CRUD.
Mensagem principal: Na dúvida: esse dado é consultado ou editado sozinho? Então ele é uma entidade, ligada por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O Usuario do boilerplate existe para o login. Ele não conta como entidade do domínio.
• São pelo menos 4 entidades além do Usuario, com pelo menos 1 relacionamento entre elas.
• Quatro CRUDs isolados não formam um sistema: precisa de uma regra que ligue as entidades.
• Se cada usuário tem os próprios dados, as entidades guardam o dono e filtram por req.usuario.id.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"Planejando o backend". Antes de avançar, faça uma pergunta rápida que ligue o assunto novo ao que a turma já sabe.
Frase de apoio: Boilerplate, rotas e regras de negócio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Dados: 4 entidades do domínio, além do Usuario. 2 entidades com CRUD completo. 1 relacionamento por referência. 1 regra de negócio entre entidades.
• Código: Camadas: model, repository, service, controller e routes. Middleware de tratamento de erro. Validação dos campos obrigatórios. Rotas das entidades com o middleware autenticar.
Mensagem principal: Dados fixos em array não são aceitos: tudo salvo, buscado, editado e removido no MongoDB Atlas.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boilerplate já traz cadastro, login, perfil, middleware de erro e render.yaml. Se aparecer "MONGO_URI não configurada no ambiente" rodando npm start na raiz, confira o dotenv.config do server.js (ver o patch do boilerplate).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Destaques:
• repository: o único que conversa com o banco.
• service: onde moram as regras de negócio.
• controller: recebe o req, chama o service e responde.
• routes: declara os endpoints e aplica os middlewares.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As rotas de um CRUD
• Todas protegidas: router.post("/", autenticar, EncomendaController.criar)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rota que conecta entidades e aplica uma regra: é o que faz o projeto parecer um sistema.
Pontos para falar:
• Adicionar um item: (com o código do card)
• Concluir uma consulta: (com o código do card)
• Emprestar um livro: (com o código do card)
• Cancelar uma matrícula: (com o código do card)
Mensagem principal: O projeto precisa de pelo menos uma rota assim.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Digite o código ao vivo, em vez de colar, e explique linha a linha.
Mensagem principal: A RN-003 envolve duas entidades: Produto e Encomenda. O controller só chama o service; o erro com status sobe até o middleware de erro.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 dono vem do token: Sempre req.usuario.id, nunca o req.body. Registro de outra pessoa: 404.
• A senha nunca volta: Nem a senha, nem o senhaHash, em nenhuma resposta.
• Segredos no .env: O .env fica fora do GitHub; o .env.example vai, sem valores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"Frontend, deploy e testes". Antes de avançar, faça uma pergunta rápida que ligue o assunto novo ao que a turma já sabe.
Frase de apoio: A API consumida de verdade, e no 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Login: Consumindo POST /api/auth/login.
• Listagem: Dados vindos do backend.
• Cadastro: Formulários para 2 entidades.
• Editar ou excluir: Em pelo menos 2 entidades.
• Relações: Uma tela com dados de entidades ligadas.
• Mensagens: Sucesso e erro na tela.
Mensagem principal: Os quatro estados do Módulo 11 contam: carregando, vazio, erro e sucesso.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Frontend com IA: React (ou outro) gerado com apoio de IA. Publicado como Static Site no Render.
• FlutterFlow: Telas montadas visualmente, com API Calls. Web Publishing, ou o código publicado no Render.
Mensagem principal: Qualquer caminho vale, desde que consuma a API real. O grupo é responsável por entender, testar e ajustar tudo o que foi gerado.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Mensagem principal: Obrigatório no README. Na apresentação, o grupo precisa explicar o que a IA gerou e o que foi corrigido.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
• Usuário: Abre o app no navegador ou no celular.
• Frontend: Static Site no Render (ou FlutterFlow).
• API: Web Service no Render.
• Banco: MongoDB Atlas.
Mensagem principal: Os dois links, do frontend e do backend, vão no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Backend: Web Service: (com o código do card)
• Frontend: Static Site: (com o código do card)
Mensagem principal: O backend usa process.env.PORT, como no boilerplate. O .env não sobe: as variáveis ficam no painel.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No seu computador funciona. Para o resto do mundo, localhost é a máquina de cada um: nada carrega.
• A versão publicada usa a URL do backend no Render, em https.
• A API libera a origem do front no CORS, senão o navegador bloqueia.
• Plano free: o primeiro acesso pode demorar (cold start). Abra o backend antes de apresentar.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o slide:
• O que testar no Postman
• Teste na URL local e na URL do Render. O frontend não substitui os testes no Postman.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Uma coleção por projeto: Com uma pasta por recurso: Auth, Produtos, Encomendas…
• Variáveis: Crie as variáveis baseUrl (local ou Render) e token: troque de ambiente sem reescrever as requisições.
• Exporte e versione: Exporte a coleção (formato v2.1) e coloque o arquivo .json no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"Entrega e avaliação". Antes de avançar, faça uma pergunta rápida que ligue o assunto novo ao que a turma já sabe.
Frase de apoio: README, equipe, apresentação e nota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estrutura parte por parte e diga para que serve cada uma.
Destaques:
• Como rodar: npm install, criar o .env, npm start.
• Variáveis: o que cada uma faz, sem valores reais.
• Deploy: os links do backend e do frontend no Render.
• Uso de IA: o registro do slide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Cuidado: pergunte quem já caiu nesse erro antes de ler a resposta.
Resposta: Apagar o .env num commit novo não resolve: ele continua no histórico do Git.
• Troque a senha do usuário do banco no Atlas e gere um novo JWT_SECRET: o segredo antigo virou público.
• Previna: .env no .gitignore antes do primeiro commit, e só o .env.example no repositório.
Se possível, rode o código para a turma ver o erro acontecer.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Integrante 1: Backend de parte das entidades.
• Integrante 2: Frontend e integração com a API.
• Integrante 3: Requisitos, README e Postman.
• Todos: Testes no Postman e apresentação.
Mensagem principal: Cada um é dono de pelo menos uma funcionalidade. Uma branch por funcionalidade e Pull Request para a main (Módulo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O que fez: A funcionalidade que ficou sob a sua responsabilidade.
• Quais arquivos alterou: O histórico de commits mostra quem fez o quê.
• Qual rota ou tela é sua: E como ela conversa com o resto do sistema.
• Quais erros encontrou: E como resolveu: é aqui que se vê quem aprendeu.
Mensagem principal: Quem não contribuiu ou não sabe explicar a própria parte pode receber nota individual menor.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Problema e público-alvo: Para quem é e qual dor resolve.
• Requisitos e modelagem: Entidades, relacionamentos e a organização do backend.
• Demonstração ao vivo: Login, CRUD e a regra de negócio entre entidades.
• Os dados no Atlas: Mostre que o que foi criado na tela está no banco.
• No ar: Frontend e backend publicados no Render.
• IA, dificuldades e próximos passos: O que ajudou, o que travou e o que viria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Pesos do formulário de avaliação do projeto final (Apps Script). O ajuste individual usa o histórico de commits e as respostas na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completa, com 24 itens, está na seção 17 do projeto_final.md.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(Kickoff): leia o enunciado em voz alta, combine o tempo (15 a 25 minutos, conforme a turma) e circule pela sala.
• Formem os grupos (2 a 3) e escolham o tema, sem repetir o de outro grupo.
• Rodem a simulação cliente-dev e preencham o levantamento de requisitos.
• Definam as entidades, os relacionamentos e as rotas principais.
• Criem o repositório a partir do boilerplate e dividam as tarefas.
• Mostrem o levantamento ao professor antes de começar a programar.
Dica: comecem pelo fluxo mínimo de ponta a ponta: login, uma listagem e um cadastro funcionando no Render. Depois, cresçam.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falar:
• Enunciado do projeto final: Escopo, tecnologias, README, deploy e checklist: projeto_final.md.
• Simulação cliente-dev: O roteiro completo da entrevista: simulacao_cliente_dev.md.
• Template de requisitos: Para preencher antes de programar: levantamento_requisitos.md.
• Lista de código: projeto integrado: Revisão de todas as camadas: codigo_projeto_integrado.md.
Mensagem principal: No repositório: modulo12/lista_de_exercicios/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QR code e peça para a turma abrir a pasta modulo12 no celular agora, antes de ir embora.
Lembre o que tem lá: conteudo, lista_de_exercicios. O cheat sheet do módulo fica em conteudo/ e resume a aula em duas páginas.
Link: https://github.com/nicolassmotta/curso-lions-dev/tree/main/modulo12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retome os objetivos do começo, abra para dúvidas e lembre onde ficam a lista de exercícios e o material no repositório.
Frase de saída: Agora é com vocês. Bom projeto!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image" Target="../media/image-3-2.png"/><Relationship Id="rId9" Type="http://schemas.openxmlformats.org/officeDocument/2006/relationships/image" Target="../media/image-3-2.png"/><Relationship Id="rId10" Type="http://schemas.openxmlformats.org/officeDocument/2006/relationships/image" Target="../media/image-3-2.png"/><Relationship Id="rId11" Type="http://schemas.openxmlformats.org/officeDocument/2006/relationships/image" Target="../media/image-3-2.png"/><Relationship Id="rId12" Type="http://schemas.openxmlformats.org/officeDocument/2006/relationships/image" Target="../media/image-3-2.png"/><Relationship Id="rId13" Type="http://schemas.openxmlformats.org/officeDocument/2006/relationships/image" Target="../media/image-3-2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2-2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6-4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2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17-2.png"/><Relationship Id="rId4" Type="http://schemas.openxmlformats.org/officeDocument/2006/relationships/image" Target="../media/image-1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33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9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2-2.png"/><Relationship Id="rId3" Type="http://schemas.openxmlformats.org/officeDocument/2006/relationships/image" Target="../media/image-12-4.png"/><Relationship Id="rId4" Type="http://schemas.openxmlformats.org/officeDocument/2006/relationships/image" Target="../media/image-8-3.png"/><Relationship Id="rId5" Type="http://schemas.openxmlformats.org/officeDocument/2006/relationships/image" Target="../media/image-44-5.png"/><Relationship Id="rId6" Type="http://schemas.openxmlformats.org/officeDocument/2006/relationships/image" Target="../media/image-2-3.png"/><Relationship Id="rId7" Type="http://schemas.openxmlformats.org/officeDocument/2006/relationships/image" Target="../media/image-14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5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2-2.png"/><Relationship Id="rId4" Type="http://schemas.openxmlformats.org/officeDocument/2006/relationships/image" Target="../media/image-47-4.png"/><Relationship Id="rId5" Type="http://schemas.openxmlformats.org/officeDocument/2006/relationships/image" Target="../media/image-2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47-4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51-2.png"/><Relationship Id="rId3" Type="http://schemas.openxmlformats.org/officeDocument/2006/relationships/image" Target="../media/image-6-2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2-2.png"/><Relationship Id="rId4" Type="http://schemas.openxmlformats.org/officeDocument/2006/relationships/image" Target="../media/image-8-3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8-4.png"/><Relationship Id="rId3" Type="http://schemas.openxmlformats.org/officeDocument/2006/relationships/image" Target="../media/image-51-2.png"/><Relationship Id="rId4" Type="http://schemas.openxmlformats.org/officeDocument/2006/relationships/image" Target="../media/image-2-3.png"/><Relationship Id="rId5" Type="http://schemas.openxmlformats.org/officeDocument/2006/relationships/image" Target="../media/image-1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1-2.png"/><Relationship Id="rId3" Type="http://schemas.openxmlformats.org/officeDocument/2006/relationships/image" Target="../media/image-14-2.png"/><Relationship Id="rId4" Type="http://schemas.openxmlformats.org/officeDocument/2006/relationships/image" Target="../media/image-8-3.png"/><Relationship Id="rId5" Type="http://schemas.openxmlformats.org/officeDocument/2006/relationships/image" Target="../media/image-6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62-2.png"/><Relationship Id="rId3" Type="http://schemas.openxmlformats.org/officeDocument/2006/relationships/image" Target="../media/image-61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"/>
            <a:ext cx="402336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60704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1500" b="1" spc="3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1500" dirty="0"/>
          </a:p>
        </p:txBody>
      </p:sp>
      <p:sp>
        <p:nvSpPr>
          <p:cNvPr id="5" name="Text 1"/>
          <p:cNvSpPr txBox="1"/>
          <p:nvPr/>
        </p:nvSpPr>
        <p:spPr>
          <a:xfrm>
            <a:off x="1060704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Curso de Programação</a:t>
            </a:r>
            <a:endParaRPr lang="en-US" sz="950" dirty="0"/>
          </a:p>
        </p:txBody>
      </p:sp>
      <p:pic>
        <p:nvPicPr>
          <p:cNvPr id="6" name="Image 1" descr="Símbolo Lions Dev em degradê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601047"/>
            <a:ext cx="3520440" cy="400084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5727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12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1938528"/>
            <a:ext cx="4663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Projeto Final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Requisitos</a:t>
            </a:r>
            <a:endParaRPr lang="en-US" sz="3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 Nicolas Cardoso Motta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Revisando o Módulo 11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545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695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Telas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170938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Widgets (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), estado e navegação entre páginas.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69545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1695450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Call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170938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tela chama a rota, mapeia o JSON e mostra na lista; o token vai no header.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512570"/>
            <a:ext cx="2590800" cy="2132076"/>
          </a:xfrm>
          <a:prstGeom prst="roundRect">
            <a:avLst>
              <a:gd name="adj" fmla="val 428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69545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1695450"/>
            <a:ext cx="171297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Quatro estados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320290"/>
            <a:ext cx="2225040" cy="1141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Carregando, vazio, erro e sucesso: toda tela com API precisa dos quatro.</a:t>
            </a:r>
            <a:endParaRPr lang="en-US" sz="1450" dirty="0"/>
          </a:p>
        </p:txBody>
      </p:sp>
      <p:sp>
        <p:nvSpPr>
          <p:cNvPr id="18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 para abrir: qual foi a parte mais difícil de ligar a tela na API?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Mapa do curso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186107" y="1133856"/>
            <a:ext cx="677178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BASE: JAVASCRIPT, GIT E ORGANIZAÇÃO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186107" y="1389888"/>
            <a:ext cx="6771785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1342" y="2779776"/>
            <a:ext cx="56222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1342" y="3035808"/>
            <a:ext cx="5622254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8999" y="2779776"/>
            <a:ext cx="21736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E PROJETO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58999" y="3035808"/>
            <a:ext cx="2173659" cy="0"/>
          </a:xfrm>
          <a:prstGeom prst="line">
            <a:avLst/>
          </a:prstGeom>
          <a:noFill/>
          <a:ln w="9525">
            <a:solidFill>
              <a:srgbClr val="9CA3A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86107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6107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231827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Ambiente</a:t>
            </a:r>
            <a:endParaRPr lang="en-US" sz="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53619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335639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35639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2381359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Fundamentos de JS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5447" y="1536192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485170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85170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530890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Calculadora</a:t>
            </a:r>
            <a:endParaRPr lang="en-US" sz="9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978" y="1536192"/>
            <a:ext cx="219456" cy="219456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634702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634702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19"/>
          <p:cNvSpPr txBox="1"/>
          <p:nvPr/>
        </p:nvSpPr>
        <p:spPr>
          <a:xfrm>
            <a:off x="4680422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e GitHub</a:t>
            </a:r>
            <a:endParaRPr lang="en-US" sz="9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4510" y="1536192"/>
            <a:ext cx="219456" cy="21945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784233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784233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5829953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Módulos</a:t>
            </a:r>
            <a:endParaRPr lang="en-US" sz="95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041" y="1536192"/>
            <a:ext cx="219456" cy="219456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933765" y="148132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933765" y="157276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6979485" y="202996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busca</a:t>
            </a:r>
            <a:endParaRPr lang="en-US" sz="95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573" y="1536192"/>
            <a:ext cx="219456" cy="219456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611342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611342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2400" dirty="0"/>
          </a:p>
        </p:txBody>
      </p:sp>
      <p:sp>
        <p:nvSpPr>
          <p:cNvPr id="37" name="Text 28"/>
          <p:cNvSpPr txBox="1"/>
          <p:nvPr/>
        </p:nvSpPr>
        <p:spPr>
          <a:xfrm>
            <a:off x="657062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APIs com Express</a:t>
            </a:r>
            <a:endParaRPr lang="en-US" sz="950" dirty="0"/>
          </a:p>
        </p:txBody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1150" y="3182112"/>
            <a:ext cx="219456" cy="219456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1760873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1760873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2400" dirty="0"/>
          </a:p>
        </p:txBody>
      </p:sp>
      <p:sp>
        <p:nvSpPr>
          <p:cNvPr id="41" name="Text 31"/>
          <p:cNvSpPr txBox="1"/>
          <p:nvPr/>
        </p:nvSpPr>
        <p:spPr>
          <a:xfrm>
            <a:off x="1806593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</a:t>
            </a:r>
            <a:endParaRPr lang="en-US" sz="950" dirty="0"/>
          </a:p>
        </p:txBody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0681" y="3182112"/>
            <a:ext cx="219456" cy="219456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2910405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2910405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2400" dirty="0"/>
          </a:p>
        </p:txBody>
      </p:sp>
      <p:sp>
        <p:nvSpPr>
          <p:cNvPr id="45" name="Text 34"/>
          <p:cNvSpPr txBox="1"/>
          <p:nvPr/>
        </p:nvSpPr>
        <p:spPr>
          <a:xfrm>
            <a:off x="2956125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JWT e MVC</a:t>
            </a:r>
            <a:endParaRPr lang="en-US" sz="95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0213" y="3182112"/>
            <a:ext cx="219456" cy="219456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4059936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4059936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9B</a:t>
            </a:r>
            <a:endParaRPr lang="en-US" sz="2400" dirty="0"/>
          </a:p>
        </p:txBody>
      </p:sp>
      <p:sp>
        <p:nvSpPr>
          <p:cNvPr id="49" name="Text 37"/>
          <p:cNvSpPr txBox="1"/>
          <p:nvPr/>
        </p:nvSpPr>
        <p:spPr>
          <a:xfrm>
            <a:off x="4105656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</a:t>
            </a:r>
            <a:endParaRPr lang="en-US" sz="95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9744" y="3182112"/>
            <a:ext cx="219456" cy="219456"/>
          </a:xfrm>
          <a:prstGeom prst="rect">
            <a:avLst/>
          </a:prstGeom>
        </p:spPr>
      </p:pic>
      <p:sp>
        <p:nvSpPr>
          <p:cNvPr id="51" name="Shape 38"/>
          <p:cNvSpPr/>
          <p:nvPr/>
        </p:nvSpPr>
        <p:spPr>
          <a:xfrm>
            <a:off x="5209467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5209467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0"/>
          <p:cNvSpPr txBox="1"/>
          <p:nvPr/>
        </p:nvSpPr>
        <p:spPr>
          <a:xfrm>
            <a:off x="5255187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950" dirty="0"/>
          </a:p>
        </p:txBody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9275" y="3182112"/>
            <a:ext cx="219456" cy="219456"/>
          </a:xfrm>
          <a:prstGeom prst="rect">
            <a:avLst/>
          </a:prstGeom>
        </p:spPr>
      </p:pic>
      <p:sp>
        <p:nvSpPr>
          <p:cNvPr id="55" name="Shape 41"/>
          <p:cNvSpPr/>
          <p:nvPr/>
        </p:nvSpPr>
        <p:spPr>
          <a:xfrm>
            <a:off x="6358999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56" name="Text 42"/>
          <p:cNvSpPr txBox="1"/>
          <p:nvPr/>
        </p:nvSpPr>
        <p:spPr>
          <a:xfrm>
            <a:off x="6358999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400" dirty="0"/>
          </a:p>
        </p:txBody>
      </p:sp>
      <p:sp>
        <p:nvSpPr>
          <p:cNvPr id="57" name="Text 43"/>
          <p:cNvSpPr txBox="1"/>
          <p:nvPr/>
        </p:nvSpPr>
        <p:spPr>
          <a:xfrm>
            <a:off x="6404719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950" dirty="0"/>
          </a:p>
        </p:txBody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8807" y="3182112"/>
            <a:ext cx="219456" cy="219456"/>
          </a:xfrm>
          <a:prstGeom prst="rect">
            <a:avLst/>
          </a:prstGeom>
        </p:spPr>
      </p:pic>
      <p:sp>
        <p:nvSpPr>
          <p:cNvPr id="59" name="Shape 44"/>
          <p:cNvSpPr/>
          <p:nvPr/>
        </p:nvSpPr>
        <p:spPr>
          <a:xfrm>
            <a:off x="7508530" y="3127248"/>
            <a:ext cx="1024128" cy="1024128"/>
          </a:xfrm>
          <a:prstGeom prst="roundRect">
            <a:avLst>
              <a:gd name="adj" fmla="val 8929"/>
            </a:avLst>
          </a:prstGeom>
          <a:solidFill>
            <a:srgbClr val="E16D34"/>
          </a:solidFill>
          <a:ln w="19050">
            <a:solidFill>
              <a:srgbClr val="E16D34"/>
            </a:solidFill>
            <a:prstDash val="solid"/>
          </a:ln>
        </p:spPr>
      </p:sp>
      <p:sp>
        <p:nvSpPr>
          <p:cNvPr id="60" name="Text 45"/>
          <p:cNvSpPr txBox="1"/>
          <p:nvPr/>
        </p:nvSpPr>
        <p:spPr>
          <a:xfrm>
            <a:off x="7508530" y="3218688"/>
            <a:ext cx="1024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400" dirty="0"/>
          </a:p>
        </p:txBody>
      </p:sp>
      <p:sp>
        <p:nvSpPr>
          <p:cNvPr id="61" name="Text 46"/>
          <p:cNvSpPr txBox="1"/>
          <p:nvPr/>
        </p:nvSpPr>
        <p:spPr>
          <a:xfrm>
            <a:off x="7554250" y="3675888"/>
            <a:ext cx="932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Projeto final</a:t>
            </a:r>
            <a:endParaRPr lang="en-US" sz="950" dirty="0"/>
          </a:p>
        </p:txBody>
      </p:sp>
      <p:sp>
        <p:nvSpPr>
          <p:cNvPr id="62" name="Text 47"/>
          <p:cNvSpPr txBox="1"/>
          <p:nvPr/>
        </p:nvSpPr>
        <p:spPr>
          <a:xfrm>
            <a:off x="548640" y="43159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Você está aqui: 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Módulo 12</a:t>
            </a:r>
            <a:r>
              <a:rPr lang="en-US" sz="14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Projeto Final e Requisitos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2286000" cy="2286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840480" y="868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3200" dirty="0"/>
          </a:p>
        </p:txBody>
      </p:sp>
      <p:sp>
        <p:nvSpPr>
          <p:cNvPr id="6" name="Shape 2"/>
          <p:cNvSpPr/>
          <p:nvPr/>
        </p:nvSpPr>
        <p:spPr>
          <a:xfrm>
            <a:off x="3858768" y="1417320"/>
            <a:ext cx="4846320" cy="45720"/>
          </a:xfrm>
          <a:prstGeom prst="rect">
            <a:avLst/>
          </a:prstGeom>
          <a:solidFill>
            <a:srgbClr val="E16D34"/>
          </a:solidFill>
          <a:ln w="12700">
            <a:solidFill>
              <a:srgbClr val="E16D3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3858768" y="1572768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Descobrir o problema de um cliente por meio de uma entrevista.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Transformar a conversa em requisitos, escopo e entidades.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Planejar rotas, telas e a divisão do trabalho no grupo.</a:t>
            </a:r>
            <a:endParaRPr lang="en-US" sz="1500" dirty="0"/>
          </a:p>
          <a:p>
            <a:pPr algn="l" marL="177800" indent="-177800">
              <a:spcAft>
                <a:spcPts val="600"/>
              </a:spcAft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Construir, publicar e apresentar uma aplicação full stack.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Saber exatamente como o projeto vai ser avaliado.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 Módulo 1 ao 11, você aprendeu cada peça. Agora a pergunta muda: não é mais "como eu faço isso?", e sim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"o que eu devo construir?"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você vai entregar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74420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573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25730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</a:t>
            </a:r>
            <a:endParaRPr lang="en-US" sz="14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32788"/>
            <a:ext cx="36576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 REST com Node.js, Express, MongoDB e Mongoose, com autenticação e senhas protegidas.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709160" y="1074420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5730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25730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732788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Telas feitas com IA ou FlutterFlow, consumindo a API de verdade.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11480" y="2679192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620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</a:t>
            </a:r>
            <a:endParaRPr lang="en-US" sz="14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337560"/>
            <a:ext cx="3657600" cy="387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e frontend publicados no Render, conversando entre si.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709160" y="2679192"/>
            <a:ext cx="4023360" cy="1403604"/>
          </a:xfrm>
          <a:prstGeom prst="roundRect">
            <a:avLst>
              <a:gd name="adj" fmla="val 651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6207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Documentação</a:t>
            </a:r>
            <a:endParaRPr lang="en-US" sz="14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337560"/>
            <a:ext cx="36576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Levantamento de requisitos, README, coleção do Postman e registro do uso de IA.</a:t>
            </a:r>
            <a:endParaRPr lang="en-US" sz="115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foco não é uma interface perfeita: é um sistema que funciona de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ponta a ponta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Regras do jogo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128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4300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Grupos de 2 a 3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Todos participam da apresentação e explicam a própria parte.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071116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Tema do grupo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Resolve um problema claro, cabe no prazo e não repete o tema de outro grupo.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1752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99923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Prazo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Definido em aula. O levantamento de requisitos vem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código.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4563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92734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Simples e funcional vale mais que complexo e quebrado. Mas precisa parecer um sistema real, não um CRUD solto.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problema à apresentação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Descobrir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Entrevista com o cliente.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1805940" y="189738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756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203704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Planejar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267712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Requisitos, escopo e entidades.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3415284" y="189738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13048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Construir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3877056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e frontend.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024628" y="189738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444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22392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Publicar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5486400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no Render.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633972" y="1897380"/>
            <a:ext cx="704088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88" y="1554480"/>
            <a:ext cx="685800" cy="6858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31736" y="23500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Apresentar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7095744" y="274320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Demonstração ao vivo.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pule etapas: código escrito antes do planejamento costuma ir para o lixo.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Simulação cliente-dev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Descobrir o problema antes de escrever código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188720" y="1005840"/>
            <a:ext cx="6766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cliente quase nunca sabe dizer o que quer em termos técnicos. Mas ele sabe muito bem o que o </a:t>
            </a:r>
            <a:r>
              <a:rPr lang="en-US" sz="2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incomoda</a:t>
            </a:r>
            <a:r>
              <a:rPr lang="en-US" sz="2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Descobrir isso é trabalho do dev.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papéis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93876"/>
            <a:ext cx="4023360" cy="2798064"/>
          </a:xfrm>
          <a:prstGeom prst="roundRect">
            <a:avLst>
              <a:gd name="adj" fmla="val 326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7675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7675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Cliente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52244"/>
            <a:ext cx="365760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Fala como uma pessoa comum, sem termos técnicos.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 um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problema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não uma solução pronta.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conta tudo de uma vez: responde o que perguntarem.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Mantém a história coerente do começo ao fim.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293876"/>
            <a:ext cx="4023360" cy="2798064"/>
          </a:xfrm>
          <a:prstGeom prst="roundRect">
            <a:avLst>
              <a:gd name="adj" fmla="val 326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7675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47675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52244"/>
            <a:ext cx="3657600" cy="173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Pergunta, confirma e organiza as respostas.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lê a página do cliente.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propõe solução técnica cedo demais.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fim, preenche o levantamento de requisitos.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416552"/>
            <a:ext cx="7863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Depois, troquem os papéis e rodem de novo, com outro projeto.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Cliente: monte a sua história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159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7330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é você?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dono de uma pequena cafeteria.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2526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190423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 dor te incomoda hoje?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perco o controle das encomendas que anoto num caderno.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59202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74091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Como você resolve hoje, sem sistema?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anoto tudo e, às vezes, esqueço de avisar o cliente.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90138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37185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você gostaria que melhorasse?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não perder pedido e avisar quando ficar pronto.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21074"/>
            <a:ext cx="502920" cy="50292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463040" y="400278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mais usaria?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Ex.: a funcionária que atende o balcão.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travar, use um cenário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10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Cafeteria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06524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Perde o controle das encomendas anotadas no caderno.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248156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10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4310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Professor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90652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 várias turmas e se enrola com entregas e notas de trabalhos.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trainer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648456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Monta treinos para os alunos e perde o histórico no papel.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990088"/>
            <a:ext cx="4023360" cy="1540764"/>
          </a:xfrm>
          <a:prstGeom prst="roundRect">
            <a:avLst>
              <a:gd name="adj" fmla="val 593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3172968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Eventos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648456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Controla convidados e confirmações por mensagens soltas.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Dev: técnicas do entrevistador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91590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73302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Perguntas abertas primeiro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"Me conta como você faz isso hoje." Sim ou não fica para o final.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28266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10997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Pergunte o porquê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Pediu uma solução pronta? "Por que você precisa disso?"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59202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74091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Palavra vaga pede exemplo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Rápido, fácil, simples, seguro: "rápido quanto?"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390138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37185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Confirme repetindo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"Então, o que você precisa é…"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21074"/>
            <a:ext cx="502920" cy="50292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463040" y="400278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Essencial x "seria legal"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Separe o que resolve a dor do que é enfeite.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 fechada x aberta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15872"/>
            <a:ext cx="4023360" cy="2747264"/>
          </a:xfrm>
          <a:prstGeom prst="roundRect">
            <a:avLst>
              <a:gd name="adj" fmla="val 33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875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69875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Fechada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174240"/>
            <a:ext cx="3657600" cy="102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"Você quer um app de encomendas?"</a:t>
            </a:r>
            <a:endParaRPr lang="en-US" sz="14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Cliente: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"Quero."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Nada foi aprendido.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515872"/>
            <a:ext cx="4023360" cy="2747264"/>
          </a:xfrm>
          <a:prstGeom prst="roundRect">
            <a:avLst>
              <a:gd name="adj" fmla="val 33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98752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69875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Aberta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174240"/>
            <a:ext cx="3657600" cy="19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"Me conta como você controla as encomendas hoje?"</a:t>
            </a:r>
            <a:endParaRPr lang="en-US" sz="14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Cliente: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"Anoto no caderno, mas às vezes a folha some e eu esqueço de avisar quando fica pronto…"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Apareceram o processo, o problema e uma regra.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Roteiro da entrevista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Bloco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Uma pergunta para começar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 Contexto atual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Como você faz isso hoje, sem nenhum sistema?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 Problema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 você pudesse resolver uma coisa só, qual seria?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 Quem usa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Além de você, quem mais usaria?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 O que espera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 o sistema já existisse, o que você faria primeiro?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5. Restrições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 alguma regra, prazo ou limite que eu preciso saber?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6. Prioridades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 fossem só três coisas primeiro, quais seriam?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como guia, não como formulário: a conversa pode mudar de ordem.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cliente pede a solução, não o problema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"Quero um app igual ao iFood." Isso é uma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solução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O problema real pode ser só não perder encomendas.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Solução pronta esconde o problema: pergunte "por que isso te ajudaria?" até chegar na dor.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Palavra vaga (rápido, fácil, seguro) precisa virar exemplo ou número.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traduza para termos técnicos na frente do cliente: anote as palavras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Entrevista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Formem duplas: um é o cliente, o outro é o dev.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cliente monta a história (5 minutos), sem mostrar ao dev.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dev entrevista usando o roteiro e anota as respostas (15 minutos).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dev resume em voz alta: "então, o que você precisa é…", e o cliente corrige.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Troquem os papéis, com outro projeto.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47776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9471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356920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dev anota as palavras do cliente, não a tradução técnica. "Perco o caderno" é mais útil que "precisa de persistência".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3477768"/>
            <a:ext cx="3954780" cy="1304544"/>
          </a:xfrm>
          <a:prstGeom prst="roundRect">
            <a:avLst>
              <a:gd name="adj" fmla="val 5607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39471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26380" y="3569208"/>
            <a:ext cx="317754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Desafio: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fim, o dev lista as três prioridades do cliente, e o cliente confere.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antes de encerrar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339596"/>
            <a:ext cx="259080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224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52247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Problema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997964"/>
            <a:ext cx="2225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Consigo descrevê-lo com as palavras do cliente.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276600" y="1339596"/>
            <a:ext cx="259080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52247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52247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Usuários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9979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Sei quem vai usar o sistema.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141720" y="1339596"/>
            <a:ext cx="259080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5224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522476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Escopo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997964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Sei o que está dentro e o que fica fora.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11480" y="2990088"/>
            <a:ext cx="259080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172968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0642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Essencial</a:t>
            </a:r>
            <a:endParaRPr lang="en-US" sz="1550" dirty="0"/>
          </a:p>
        </p:txBody>
      </p:sp>
      <p:sp>
        <p:nvSpPr>
          <p:cNvPr id="20" name="Text 13"/>
          <p:cNvSpPr txBox="1"/>
          <p:nvPr/>
        </p:nvSpPr>
        <p:spPr>
          <a:xfrm>
            <a:off x="594360" y="3648456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Tenho os requisitos que não podem faltar.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3276600" y="2990088"/>
            <a:ext cx="259080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3172968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7154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Regras</a:t>
            </a:r>
            <a:endParaRPr lang="en-US" sz="1550" dirty="0"/>
          </a:p>
        </p:txBody>
      </p:sp>
      <p:sp>
        <p:nvSpPr>
          <p:cNvPr id="24" name="Text 16"/>
          <p:cNvSpPr txBox="1"/>
          <p:nvPr/>
        </p:nvSpPr>
        <p:spPr>
          <a:xfrm>
            <a:off x="3459480" y="3648456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Sei as regras e os limites do negócio.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141720" y="2990088"/>
            <a:ext cx="2590800" cy="1449324"/>
          </a:xfrm>
          <a:prstGeom prst="roundRect">
            <a:avLst>
              <a:gd name="adj" fmla="val 630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3172968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36664" y="317296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Prioridade</a:t>
            </a:r>
            <a:endParaRPr lang="en-US" sz="1550" dirty="0"/>
          </a:p>
        </p:txBody>
      </p:sp>
      <p:sp>
        <p:nvSpPr>
          <p:cNvPr id="28" name="Text 19"/>
          <p:cNvSpPr txBox="1"/>
          <p:nvPr/>
        </p:nvSpPr>
        <p:spPr>
          <a:xfrm>
            <a:off x="6324600" y="3648456"/>
            <a:ext cx="222504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Sei o que é mais urgente para o cliente.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Levantamento de requisitos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 conversa para o documento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 entrevista para o template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4864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Bloco da entrevista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Vira no levantamento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Contexto atual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Público-alvo e problema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Problema / dor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Problema, solução proposta e objetivos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Quem usa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Público-alvo e atores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 que espera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Escopo, telas, endpoints, entidades e requisitos funcionais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Restrições e limites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Fora do escopo, requisitos não funcionais e regras de negócio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Prioridades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coluna de prioridade dos requisitos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template está em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modulo12/lista_de_exercicios/levantamento_requisitos.md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Exemplo: a cafeteria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97152"/>
            <a:ext cx="78638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Vamos seguir o mesmo exemplo até o fim do módulo.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1978152"/>
            <a:ext cx="2590800" cy="2203704"/>
          </a:xfrm>
          <a:prstGeom prst="roundRect">
            <a:avLst>
              <a:gd name="adj" fmla="val 414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61032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216103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Público-alvo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636520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dona da cafeteria e a funcionária do balcão.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3276600" y="1978152"/>
            <a:ext cx="2590800" cy="2203704"/>
          </a:xfrm>
          <a:prstGeom prst="roundRect">
            <a:avLst>
              <a:gd name="adj" fmla="val 414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216103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1544" y="216103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Problema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3459480" y="2636520"/>
            <a:ext cx="2225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encomendas ficam num caderno: pedidos se perdem e o cliente não é avisado quando fica pronto.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141720" y="1978152"/>
            <a:ext cx="2590800" cy="2203704"/>
          </a:xfrm>
          <a:prstGeom prst="roundRect">
            <a:avLst>
              <a:gd name="adj" fmla="val 4149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161032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36664" y="216103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Solução</a:t>
            </a:r>
            <a:endParaRPr lang="en-US" sz="1750" dirty="0"/>
          </a:p>
        </p:txBody>
      </p:sp>
      <p:sp>
        <p:nvSpPr>
          <p:cNvPr id="17" name="Text 11"/>
          <p:cNvSpPr txBox="1"/>
          <p:nvPr/>
        </p:nvSpPr>
        <p:spPr>
          <a:xfrm>
            <a:off x="6324600" y="2636520"/>
            <a:ext cx="22250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sistema onde o balcão registra as encomendas, acompanha o status e vê o que está pronto.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Escopo: o que entra e o que fica fora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400556"/>
            <a:ext cx="4023360" cy="2356104"/>
          </a:xfrm>
          <a:prstGeom prst="roundRect">
            <a:avLst>
              <a:gd name="adj" fmla="val 388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834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5834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sistema fará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058924"/>
            <a:ext cx="365760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 e login.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Produtos e categorias.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Encomendas com itens, ligadas a um cliente.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 da encomenda até "entregue".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400556"/>
            <a:ext cx="4023360" cy="2356104"/>
          </a:xfrm>
          <a:prstGeom prst="roundRect">
            <a:avLst>
              <a:gd name="adj" fmla="val 3881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834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5834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sistema não fará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058924"/>
            <a:ext cx="3657600" cy="801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Pagamento online.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Aviso por WhatsApp.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 para o cliente final.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"fora do escopo" protege o prazo. Tudo o que está no levantamento aparece no sistema, ou está aqui.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funcionais e não funcionais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11480" y="1451356"/>
            <a:ext cx="4023360" cy="2254504"/>
          </a:xfrm>
          <a:prstGeom prst="roundRect">
            <a:avLst>
              <a:gd name="adj" fmla="val 405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3423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63423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Funcionais: o que faz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109724"/>
            <a:ext cx="3657600" cy="1413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RF-003: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sistema deve permitir registrar uma encomenda com um ou mais produtos.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RF-004: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sistema deve permitir mudar o status da encomenda até "entregue".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451356"/>
            <a:ext cx="4023360" cy="2254504"/>
          </a:xfrm>
          <a:prstGeom prst="roundRect">
            <a:avLst>
              <a:gd name="adj" fmla="val 4056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3423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634236"/>
            <a:ext cx="31455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funcionais: como se comporta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259076"/>
            <a:ext cx="3657600" cy="119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RNF-001: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as senhas devem ser guardadas com hash.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RNF-002: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 backend deve ser separado em model, repository, service, controller e routes.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Frases específicas e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testáveis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cada uma com um ID e uma prioridade.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requisito que não dá para testar</a:t>
            </a:r>
            <a:endParaRPr lang="en-US" sz="21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"O sistema deve ser rápido e fácil de usar." Ninguém consegue conferir se isso foi cumprido.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Escreva algo que dê para testar no Postman ou na tela.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 a palavra vaga por um comportamento ou por um número.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2721356"/>
            <a:ext cx="8046720" cy="1395984"/>
          </a:xfrm>
          <a:prstGeom prst="roundRect">
            <a:avLst>
              <a:gd name="adj" fmla="val 524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2838399"/>
            <a:ext cx="7754112" cy="1161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Ruim: O sistema deve ser fácil de usar.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Bom:  RF-005: listar as encomendas do dia, por horário de retirada.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Ruim: O cadastro deve ser rápido.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Bom:  RNF-003: cadastrar uma encomenda em menos de 30 segundos.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Regras de negócio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83436"/>
            <a:ext cx="259080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766316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RN-001</a:t>
            </a:r>
            <a:endParaRPr lang="en-US" sz="17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24456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 usuário só vê e altera os próprios registros.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276600" y="1583436"/>
            <a:ext cx="259080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9480" y="1766316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RN-002</a:t>
            </a:r>
            <a:endParaRPr lang="en-US" sz="1750" dirty="0"/>
          </a:p>
        </p:txBody>
      </p:sp>
      <p:sp>
        <p:nvSpPr>
          <p:cNvPr id="10" name="Text 7"/>
          <p:cNvSpPr txBox="1"/>
          <p:nvPr/>
        </p:nvSpPr>
        <p:spPr>
          <a:xfrm>
            <a:off x="3459480" y="2124456"/>
            <a:ext cx="222504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encomenda só pode ser marcada como entregue se estiver pronta.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41720" y="1583436"/>
            <a:ext cx="259080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600" y="1766316"/>
            <a:ext cx="222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RN-003</a:t>
            </a:r>
            <a:endParaRPr lang="en-US" sz="1750" dirty="0"/>
          </a:p>
        </p:txBody>
      </p:sp>
      <p:sp>
        <p:nvSpPr>
          <p:cNvPr id="13" name="Text 10"/>
          <p:cNvSpPr txBox="1"/>
          <p:nvPr/>
        </p:nvSpPr>
        <p:spPr>
          <a:xfrm>
            <a:off x="6324600" y="2124456"/>
            <a:ext cx="222504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Produto inativo não entra em encomenda nova.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959352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É o que diferencia o seu sistema de um CRUD genérico. O projeto precisa de pelo menos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regra que envolva mais de uma entidade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como a RN-003.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Priorizando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Prioridade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Significado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Essencial</a:t>
                      </a:r>
                      <a:endParaRPr lang="en-US" sz="13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Sem isso, o sistema não funciona. Tem que ser feito.</a:t>
                      </a:r>
                      <a:endParaRPr lang="en-US" sz="13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Importante</a:t>
                      </a:r>
                      <a:endParaRPr lang="en-US" sz="13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Funciona sem isso, mas fica incompleto. Faça se houver tempo.</a:t>
                      </a:r>
                      <a:endParaRPr lang="en-US" sz="13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Desejável</a:t>
                      </a:r>
                      <a:endParaRPr lang="en-US" sz="13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Não compromete o funcionamento. Pode ficar para uma próxima versão.</a:t>
                      </a:r>
                      <a:endParaRPr lang="en-US" sz="13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Primeiro,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os essenciais funcionando. Só depois os importantes.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Modelando o sistema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Entidades, campos e relacionamentos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cliente fala, o dev traduz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458468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1348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641348"/>
            <a:ext cx="31455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ele guarda vira entidade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266188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Coisas que precisam ser lembradas.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594360" y="2836164"/>
            <a:ext cx="3657600" cy="679704"/>
          </a:xfrm>
          <a:prstGeom prst="roundRect">
            <a:avLst>
              <a:gd name="adj" fmla="val 1076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" y="2953207"/>
            <a:ext cx="3364992" cy="445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"anoto as encomendas de cada cliente"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Encomenda, Cliente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1458468"/>
            <a:ext cx="4023360" cy="2240280"/>
          </a:xfrm>
          <a:prstGeom prst="roundRect">
            <a:avLst>
              <a:gd name="adj" fmla="val 408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64134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04104" y="1641348"/>
            <a:ext cx="31455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ele faz vira rota e tela</a:t>
            </a:r>
            <a:endParaRPr lang="en-US" sz="1750" dirty="0"/>
          </a:p>
        </p:txBody>
      </p:sp>
      <p:sp>
        <p:nvSpPr>
          <p:cNvPr id="14" name="Text 9"/>
          <p:cNvSpPr txBox="1"/>
          <p:nvPr/>
        </p:nvSpPr>
        <p:spPr>
          <a:xfrm>
            <a:off x="4892040" y="2266188"/>
            <a:ext cx="3657600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Ações sobre essas coisas.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4892040" y="2615184"/>
            <a:ext cx="3657600" cy="710184"/>
          </a:xfrm>
          <a:prstGeom prst="roundRect">
            <a:avLst>
              <a:gd name="adj" fmla="val 10300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038344" y="2732227"/>
            <a:ext cx="3364992" cy="47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"marco quando fica pronto"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PATCH /api/encomendas/:id/status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Cliente quase nunca fala "minha entidade é Pedido". Quem faz essa tradução é o dev.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Entidades por tema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Entidades possíveis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Cafeteria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Produto, Categoria, Cliente, Pedido, ItemPedido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Academia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Aluno, Plano, Matrícula, Treino, Avaliação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Eventos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Evento, Lote, Participante, Inscrição, Check-in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Biblioteca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Livro, Autor, Categoria, Empréstimo, Reserva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Clínica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Paciente, Profissional, Especialidade, Consulta, Prontuário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Exemplos para inspirar: o tema e as entidades são do grupo.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entidades da cafeteria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Entidade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Principais campos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Relaciona-se com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Categoria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nome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 vários Produtos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Produto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nome, preço, ativo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pertence a uma Categoria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Cliente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nome, telefone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 várias Encomendas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Encomenda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itens, status, data de retirada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um Cliente; itens apontam para Produtos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Usuario (boilerplate)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nome, e-mail, senhaHash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dono dos registros</a:t>
                      </a:r>
                      <a:endParaRPr lang="en-US" sz="125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Quatro entidades do domínio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além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Usuario: o mínimo exigido no projeto.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model da Encomenda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085088"/>
            <a:ext cx="8321040" cy="3072384"/>
          </a:xfrm>
          <a:prstGeom prst="roundRect">
            <a:avLst>
              <a:gd name="adj" fmla="val 238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202131"/>
            <a:ext cx="8028432" cy="2838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ObjectId } = mongoose.Schema.Types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STATUS = [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'recebida'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'em preparo'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'pronta'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'entregue'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encomendaSchema =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mongoose.</a:t>
            </a:r>
            <a:r>
              <a:rPr lang="en-US" sz="12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cliente: { type: ObjectId, ref: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required: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itens: [{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produto: { type: ObjectId, ref: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'Produto'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required: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quantidade: { type: Number, required: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min: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status: { type: String, enum: STATUS, </a:t>
            </a: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'recebida'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dono: { type: ObjectId, ref: </a:t>
            </a:r>
            <a:r>
              <a:rPr lang="en-US" sz="12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'Usuario'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required: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timestamps: </a:t>
            </a:r>
            <a:r>
              <a:rPr lang="en-US" sz="12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Cliente e produto por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referência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); os itens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dentro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da encomenda;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vem do token, como os livros do Módulo 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ou referência?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11480" y="1697736"/>
            <a:ext cx="402336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8061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06424" y="18806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Embedding: dentro</a:t>
            </a:r>
            <a:endParaRPr lang="en-US" sz="1750" dirty="0"/>
          </a:p>
        </p:txBody>
      </p:sp>
      <p:sp>
        <p:nvSpPr>
          <p:cNvPr id="9" name="Text 5"/>
          <p:cNvSpPr txBox="1"/>
          <p:nvPr/>
        </p:nvSpPr>
        <p:spPr>
          <a:xfrm>
            <a:off x="594360" y="2356104"/>
            <a:ext cx="365760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itens só existem dentro da encomenda: não faz sentido buscar um item sozinho.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4709160" y="1697736"/>
            <a:ext cx="4023360" cy="1761744"/>
          </a:xfrm>
          <a:prstGeom prst="roundRect">
            <a:avLst>
              <a:gd name="adj" fmla="val 5190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8061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4104" y="18806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Referência: o _id</a:t>
            </a:r>
            <a:endParaRPr lang="en-US" sz="175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2356104"/>
            <a:ext cx="3657600" cy="92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Cliente e produto têm vida própria: aparecem em várias encomendas e têm o próprio CRUD.</a:t>
            </a:r>
            <a:endParaRPr lang="en-US" sz="145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 dúvida: esse dado é consultado ou editado sozinho? Então ele é uma entidade, ligada por referência.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Usuario não conta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boilerplate existe para 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Ele não conta como entidade do domínio.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59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São pelo menos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entidades além do Usuario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 pelo menos 1 relacionamento entre elas.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Quatro CRUDs isolados não formam um sistema: precisa de uma regra que ligue as entidades.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cada usuário tem os próprios dados, as entidades guardam 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dono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filtram por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req.usuario.id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Planejando o backend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Boilerplate, rotas e regras de negócio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mínimo do backend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79576"/>
            <a:ext cx="4023360" cy="2798064"/>
          </a:xfrm>
          <a:prstGeom prst="roundRect">
            <a:avLst>
              <a:gd name="adj" fmla="val 326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6245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6245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Dados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37944"/>
            <a:ext cx="3657600" cy="173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entidades do domínio, além do Usuario.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entidades com CRUD completo.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relacionamento por referência.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regra de negócio entre entidades.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179576"/>
            <a:ext cx="4023360" cy="2798064"/>
          </a:xfrm>
          <a:prstGeom prst="roundRect">
            <a:avLst>
              <a:gd name="adj" fmla="val 326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6245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36245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Código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837944"/>
            <a:ext cx="365760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Camadas: model, repository, service, controller e routes.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Middleware de tratamento de erro.</a:t>
            </a:r>
            <a:endParaRPr lang="en-US" sz="1450" dirty="0"/>
          </a:p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Validação dos campos obrigatórios.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Rotas das entidades com o middleware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autenticar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Dados fixos em array não são aceitos: tudo salvo, buscado, editado e removido no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 Atlas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Partindo do boilerplate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908048"/>
            <a:ext cx="8321040" cy="1426464"/>
          </a:xfrm>
          <a:prstGeom prst="roundRect">
            <a:avLst>
              <a:gd name="adj" fmla="val 512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2025091"/>
            <a:ext cx="8028432" cy="1192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https://github.com/nicolassmotta/boilerplate-lions-dev.git cafeteria-api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cafeteria-api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set-url origin https://github.com/grupo/cafeteria-api.git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install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cp .env.example .env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start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antes o repositório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vazio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grupo no GitHub. Depois do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preencha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recurso novo, arquivo por arquivo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778508"/>
            <a:ext cx="4937760" cy="2249424"/>
          </a:xfrm>
          <a:prstGeom prst="roundRect">
            <a:avLst>
              <a:gd name="adj" fmla="val 3252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895551"/>
            <a:ext cx="4645152" cy="201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models/encomenda.model.js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repositories/encomenda.repository.js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services/encomenda.service.js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controllers/encomenda.controller.js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routes/encomenda.routes.js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app.js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app.use("/api/encomendas", encomendaRoutes)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634490"/>
            <a:ext cx="32004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único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que conversa com o banco.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onde moram as regras de negócio.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recebe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chama o service e responde.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declara os endpoints e aplica os middlewares.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rotas de um CRUD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37744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Rota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 que faz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Sucesso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POST /api/encomendas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Cadastra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/api/encomendas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GET /api/encomendas/:id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Busca por ID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PATCH /api/encomendas/:id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Atualiza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DELETE /api/encomendas/:id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Exclui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200 ou 204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Todas protegidas: </a:t>
            </a:r>
            <a:r>
              <a:rPr lang="en-US" sz="14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router.post("/", autenticar, EncomendaController.criar)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Além do CRUD: rotas de fluxo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69848"/>
            <a:ext cx="786384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rota que </a:t>
            </a:r>
            <a:r>
              <a:rPr lang="en-US" sz="1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conecta entidades</a:t>
            </a: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e aplica uma regra: é o que faz o projeto parecer um sistema.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11480" y="1694688"/>
            <a:ext cx="4023360" cy="1210056"/>
          </a:xfrm>
          <a:prstGeom prst="roundRect">
            <a:avLst>
              <a:gd name="adj" fmla="val 755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877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Adicionar um item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2353056"/>
            <a:ext cx="3657600" cy="368808"/>
          </a:xfrm>
          <a:prstGeom prst="roundRect">
            <a:avLst>
              <a:gd name="adj" fmla="val 1983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" y="2470099"/>
            <a:ext cx="3364992" cy="13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/api/pedidos/:id/itens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694688"/>
            <a:ext cx="4023360" cy="1210056"/>
          </a:xfrm>
          <a:prstGeom prst="roundRect">
            <a:avLst>
              <a:gd name="adj" fmla="val 755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8775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Concluir uma consulta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892040" y="2353056"/>
            <a:ext cx="3657600" cy="368808"/>
          </a:xfrm>
          <a:prstGeom prst="roundRect">
            <a:avLst>
              <a:gd name="adj" fmla="val 1983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38344" y="2470099"/>
            <a:ext cx="3364992" cy="13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/api/consultas/:id/concluir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3105912"/>
            <a:ext cx="4023360" cy="1210056"/>
          </a:xfrm>
          <a:prstGeom prst="roundRect">
            <a:avLst>
              <a:gd name="adj" fmla="val 755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3288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Emprestar um livro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3764280"/>
            <a:ext cx="3657600" cy="368808"/>
          </a:xfrm>
          <a:prstGeom prst="roundRect">
            <a:avLst>
              <a:gd name="adj" fmla="val 1983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0664" y="3881323"/>
            <a:ext cx="3364992" cy="13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/api/emprestimos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09160" y="3105912"/>
            <a:ext cx="4023360" cy="1210056"/>
          </a:xfrm>
          <a:prstGeom prst="roundRect">
            <a:avLst>
              <a:gd name="adj" fmla="val 755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32887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Cancelar uma matrícula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892040" y="3764280"/>
            <a:ext cx="3657600" cy="368808"/>
          </a:xfrm>
          <a:prstGeom prst="roundRect">
            <a:avLst>
              <a:gd name="adj" fmla="val 19835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38344" y="3881323"/>
            <a:ext cx="3364992" cy="13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 /api/matriculas/:id/cancelar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4416552"/>
            <a:ext cx="78638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projeto precisa de pelo menos uma rota assim.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regra de negócio mora no service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1069848"/>
            <a:ext cx="8321040" cy="3102864"/>
          </a:xfrm>
          <a:prstGeom prst="roundRect">
            <a:avLst>
              <a:gd name="adj" fmla="val 235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186891"/>
            <a:ext cx="8028432" cy="2868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8B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services/encomenda.service.js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(idDoUsuario, { cliente, itens })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(!itens || itens.length ===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 encomenda precisa de pelo menos um item.'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item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itens)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produto = await ProdutoRepository.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buscarPorId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(item.produto)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(!produto || !produto.ativo) {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criarErro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'Produto indisponível.'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400" b="1" dirty="0">
                <a:solidFill>
                  <a:srgbClr val="F2C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EncomendaRepository.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criar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cliente, itens, dono: idDoUsuario })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RN-003 envolve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duas entidades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Produto e Encomenda. O controller só chama o service; o erro com status sobe até o middleware de erro.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137160" y="109728"/>
            <a:ext cx="1325880" cy="274320"/>
          </a:xfrm>
          <a:prstGeom prst="rect">
            <a:avLst/>
          </a:prstGeom>
          <a:noFill/>
          <a:ln w="12700">
            <a:solidFill>
              <a:srgbClr val="E16D3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Revisando…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Regras do Módulo 9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8216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63040" y="1709928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dono vem do token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Sempre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req.usuario.id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nunca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req.body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 Registro de outra pessoa: 404.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56332"/>
            <a:ext cx="502920" cy="5029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63040" y="2638044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senha nunca volta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Nem a senha, nem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senhaHash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em nenhuma resposta.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8708"/>
            <a:ext cx="502920" cy="5029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63040" y="336042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Segredos no .env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fica fora do GitHub;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.env.example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vai, sem valores reais.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Frontend, deploy e testes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API consumida de verdade, e no ar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mínimo do frontend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30808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13688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1368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89176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Consumindo </a:t>
            </a: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/api/auth/login</a:t>
            </a: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3276600" y="1130808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313688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971544" y="131368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Listagem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3459480" y="1789176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Dados vindos do backend.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141720" y="1130808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313688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36664" y="1313688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Cadastro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6324600" y="1789176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Formulários para 2 entidades.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11480" y="2679192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6207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06424" y="2862072"/>
            <a:ext cx="1712976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Editar ou excluir</a:t>
            </a:r>
            <a:endParaRPr lang="en-US" sz="1550" dirty="0"/>
          </a:p>
        </p:txBody>
      </p:sp>
      <p:sp>
        <p:nvSpPr>
          <p:cNvPr id="20" name="Text 13"/>
          <p:cNvSpPr txBox="1"/>
          <p:nvPr/>
        </p:nvSpPr>
        <p:spPr>
          <a:xfrm>
            <a:off x="594360" y="3425952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 pelo menos 2 entidades.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3276600" y="2679192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480" y="2862072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971544" y="286207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Relações</a:t>
            </a:r>
            <a:endParaRPr lang="en-US" sz="1550" dirty="0"/>
          </a:p>
        </p:txBody>
      </p:sp>
      <p:sp>
        <p:nvSpPr>
          <p:cNvPr id="24" name="Text 16"/>
          <p:cNvSpPr txBox="1"/>
          <p:nvPr/>
        </p:nvSpPr>
        <p:spPr>
          <a:xfrm>
            <a:off x="3459480" y="3337560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tela com dados de entidades ligadas.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141720" y="2679192"/>
            <a:ext cx="2590800" cy="1347216"/>
          </a:xfrm>
          <a:prstGeom prst="roundRect">
            <a:avLst>
              <a:gd name="adj" fmla="val 6787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2862072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836664" y="2862072"/>
            <a:ext cx="171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Mensagens</a:t>
            </a:r>
            <a:endParaRPr lang="en-US" sz="1550" dirty="0"/>
          </a:p>
        </p:txBody>
      </p:sp>
      <p:sp>
        <p:nvSpPr>
          <p:cNvPr id="28" name="Text 19"/>
          <p:cNvSpPr txBox="1"/>
          <p:nvPr/>
        </p:nvSpPr>
        <p:spPr>
          <a:xfrm>
            <a:off x="6324600" y="3337560"/>
            <a:ext cx="2225040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Sucesso e erro na tela.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quatro estados do Módulo 11 contam: carregando, vazio, erro e sucesso.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ou FlutterFlow?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58036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4091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7409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com IA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2216404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(ou outro) gerado com apoio de IA.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Publicado como Static Site no Render.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558036"/>
            <a:ext cx="4023360" cy="1812544"/>
          </a:xfrm>
          <a:prstGeom prst="roundRect">
            <a:avLst>
              <a:gd name="adj" fmla="val 5045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40916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740916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FlutterFlow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2216404"/>
            <a:ext cx="3657600" cy="97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Telas montadas visualmente, com API Calls.</a:t>
            </a:r>
            <a:endParaRPr lang="en-US" sz="1450" dirty="0"/>
          </a:p>
          <a:p>
            <a:pPr algn="l" marL="177800" indent="-177800">
              <a:buSzPct val="100000"/>
              <a:buChar char="●"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Publishing, ou o código publicado no Render.</a:t>
            </a:r>
            <a:endParaRPr lang="en-US" sz="145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3959352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Qualquer caminho vale, desde que consuma a API real. O grupo é responsável por entender, testar e ajustar tudo o que foi gerado.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do uso de IA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549908"/>
            <a:ext cx="8321040" cy="2142744"/>
          </a:xfrm>
          <a:prstGeom prst="roundRect">
            <a:avLst>
              <a:gd name="adj" fmla="val 3414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" y="1666951"/>
            <a:ext cx="8028432" cy="190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Uso de IA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Ferramenta: Claude, ChatGPT, FlutterFlow...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foi gerado: tela de login e listagem de encomendas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ajustamos: nomes dos campos (preco, e não price);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o header Authorization nas rotas protegidas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Erros e solução: 401 na listagem → o token não ia no header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36720"/>
            <a:ext cx="804672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Obrigatório no README. Na apresentação, o grupo precisa explicar o que a IA gerou e o que foi corrigido.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arquitetura do projeto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80" y="1554480"/>
            <a:ext cx="685800" cy="6858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9436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Usuário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5836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Abre o app no navegador ou no celular.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200710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60" y="1554480"/>
            <a:ext cx="685800" cy="6858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60604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267004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Site no Render (ou FlutterFlow).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01878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40" y="1554480"/>
            <a:ext cx="685800" cy="6858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1772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API</a:t>
            </a:r>
            <a:endParaRPr lang="en-US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68172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Service no Render.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030468" y="1897380"/>
            <a:ext cx="1106424" cy="0"/>
          </a:xfrm>
          <a:prstGeom prst="line">
            <a:avLst/>
          </a:prstGeom>
          <a:noFill/>
          <a:ln w="25400">
            <a:solidFill>
              <a:srgbClr val="E6E6E6"/>
            </a:solidFill>
            <a:prstDash val="solid"/>
            <a:tailEnd type="triangle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554480"/>
            <a:ext cx="685800" cy="6858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629400" y="2350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Banco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693408" y="2743200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 Atlas.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dois links, do frontend e do backend, vão no README.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no Render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254252"/>
            <a:ext cx="4023360" cy="2648712"/>
          </a:xfrm>
          <a:prstGeom prst="roundRect">
            <a:avLst>
              <a:gd name="adj" fmla="val 345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37132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4371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Backend: Web Service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94360" y="1912620"/>
            <a:ext cx="3657600" cy="1716024"/>
          </a:xfrm>
          <a:prstGeom prst="roundRect">
            <a:avLst>
              <a:gd name="adj" fmla="val 426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40664" y="2029663"/>
            <a:ext cx="3364992" cy="1481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 npm install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npm start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Variáveis no painel: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MONGO_URI, JWT_SECRET,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JWT_EXPIRES_IN,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BCRYPT_SALT_ROUNDS, NODE_ENV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9160" y="1254252"/>
            <a:ext cx="4023360" cy="2648712"/>
          </a:xfrm>
          <a:prstGeom prst="roundRect">
            <a:avLst>
              <a:gd name="adj" fmla="val 3452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37132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4104" y="143713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Frontend: Static Site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4892040" y="1912620"/>
            <a:ext cx="3657600" cy="1556004"/>
          </a:xfrm>
          <a:prstGeom prst="roundRect">
            <a:avLst>
              <a:gd name="adj" fmla="val 4701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038344" y="2029663"/>
            <a:ext cx="3364992" cy="1321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React/Vite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Build: npm install &amp;&amp; npm run build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Publish: dist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FlutterFlow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Publish: build/web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Rewrite: tudo para index.html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backend usa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process.env.PORT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como no boilerplate.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não sobe: as variáveis ficam no painel.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front publicado chamando localhost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seu computador funciona. Para o resto do mundo,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é a máquina de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um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nada carrega.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36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versão publicada usa a URL do backend no Render, em https.</a:t>
            </a:r>
            <a:endParaRPr lang="en-US" sz="1500" dirty="0"/>
          </a:p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API libera a origem do front no CORS, senão o navegador bloqueia.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Plano free: o primeiro acesso pode demorar (cold start). Abra o backend antes de apresentar.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470656"/>
            <a:ext cx="8046720" cy="542544"/>
          </a:xfrm>
          <a:prstGeom prst="roundRect">
            <a:avLst>
              <a:gd name="adj" fmla="val 13483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587699"/>
            <a:ext cx="7754112" cy="308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00" b="1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 origin: </a:t>
            </a:r>
            <a:r>
              <a:rPr lang="en-US" sz="1400" b="1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'https://cafeteria-front.onrender.com'</a:t>
            </a:r>
            <a:r>
              <a:rPr lang="en-US" sz="14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}))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testar no Postman</a:t>
            </a:r>
            <a:endParaRPr lang="en-US" sz="3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Caminho feliz: deve dar certo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Tente quebrar: deve dar erro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Cadastro e login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Sem token → 401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Listar e buscar por ID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Token inválido → 401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Criar (201)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Campo obrigatório vazio → 400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Atualizar (200)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 inexistente → 404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Excluir (200 ou 204)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 mal formatado → 400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Rota da regra de negócio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Regra violada → 400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 na URL local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</a:t>
            </a: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na URL do Render. O frontend não substitui os testes no Postman.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coleção do Postman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8216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70992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Uma coleção por projeto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 uma pasta por recurso: Auth, Produtos, Encomendas…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0592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432304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Variáveis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 as variáveis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baseUrl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(local ou Render) e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troque de ambiente sem reescrever as requisições.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8708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3360420"/>
            <a:ext cx="699516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Exporte e versione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Exporte a coleção (formato v2.1) e coloque o arquivo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.json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repositório.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 e avaliação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README, equipe, apresentação e nota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README do projeto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184148"/>
            <a:ext cx="3840480" cy="3438144"/>
          </a:xfrm>
          <a:prstGeom prst="roundRect">
            <a:avLst>
              <a:gd name="adj" fmla="val 2128"/>
            </a:avLst>
          </a:prstGeom>
          <a:solidFill>
            <a:srgbClr val="121212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12064" y="1301191"/>
            <a:ext cx="3547872" cy="320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Nome do Projeto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Descrição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Tecnologias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Funcionalidades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Como rodar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Variáveis de ambiente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Rotas da API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Frontend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Deploy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Postman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Uso de IA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Integrantes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480560" y="1744980"/>
            <a:ext cx="4297680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rodar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criar o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,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Variáveis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que cada uma faz, </a:t>
            </a:r>
            <a:r>
              <a:rPr lang="en-US" sz="14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valores reais.</a:t>
            </a:r>
            <a:endParaRPr lang="en-US" sz="145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os links do backend e do frontend no Render.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 de IA  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o registro do slide anterior.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502920" cy="5029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005840" y="20116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Cuidado: o .env foi para o GitHub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548640" y="1097280"/>
            <a:ext cx="8046720" cy="737616"/>
          </a:xfrm>
          <a:prstGeom prst="roundRect">
            <a:avLst>
              <a:gd name="adj" fmla="val 9917"/>
            </a:avLst>
          </a:prstGeom>
          <a:solidFill>
            <a:srgbClr val="1A1A1A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1207008"/>
            <a:ext cx="74980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Apagar o </a:t>
            </a:r>
            <a:r>
              <a:rPr lang="en-US" sz="17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num commit novo </a:t>
            </a:r>
            <a:r>
              <a:rPr lang="en-US" sz="1700" b="1" dirty="0">
                <a:solidFill>
                  <a:srgbClr val="F8514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não resolve</a:t>
            </a:r>
            <a:r>
              <a:rPr lang="en-US" sz="17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ele continua no histórico do Git.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036064"/>
            <a:ext cx="7772400" cy="106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Troque a senha do usuário do banco no Atlas e gere um novo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: o segredo antigo virou público.</a:t>
            </a:r>
            <a:endParaRPr lang="en-US" sz="1500" dirty="0"/>
          </a:p>
          <a:p>
            <a:pPr algn="l" marL="177800" indent="-177800">
              <a:buSzPct val="100000"/>
              <a:buChar char="●"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Previna: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antes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primeiro commit, e só o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.env.example</a:t>
            </a: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repositório.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178556"/>
            <a:ext cx="8046720" cy="969264"/>
          </a:xfrm>
          <a:prstGeom prst="roundRect">
            <a:avLst>
              <a:gd name="adj" fmla="val 7547"/>
            </a:avLst>
          </a:prstGeom>
          <a:solidFill>
            <a:srgbClr val="0A0A0A"/>
          </a:solidFill>
          <a:ln w="9525">
            <a:solidFill>
              <a:srgbClr val="2E2E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94944" y="3295599"/>
            <a:ext cx="7754112" cy="73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".env" &gt;&gt; .gitignore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rm --cached .env      # tira do Git, sem apagar do computador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"remove o .env do repositório"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Divisão de trabalho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58240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4112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06424" y="13411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Integrante 1</a:t>
            </a:r>
            <a:endParaRPr lang="en-US" sz="175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6608"/>
            <a:ext cx="3657600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de parte das entidades.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09160" y="1158240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4112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04104" y="134112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Integrante 2</a:t>
            </a:r>
            <a:endParaRPr lang="en-US" sz="1750" dirty="0"/>
          </a:p>
        </p:txBody>
      </p:sp>
      <p:sp>
        <p:nvSpPr>
          <p:cNvPr id="12" name="Text 7"/>
          <p:cNvSpPr txBox="1"/>
          <p:nvPr/>
        </p:nvSpPr>
        <p:spPr>
          <a:xfrm>
            <a:off x="4892040" y="1816608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e integração com a API.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11480" y="2679192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8620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0642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7A07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Integrante 3</a:t>
            </a:r>
            <a:endParaRPr lang="en-US" sz="1750" dirty="0"/>
          </a:p>
        </p:txBody>
      </p:sp>
      <p:sp>
        <p:nvSpPr>
          <p:cNvPr id="16" name="Text 10"/>
          <p:cNvSpPr txBox="1"/>
          <p:nvPr/>
        </p:nvSpPr>
        <p:spPr>
          <a:xfrm>
            <a:off x="594360" y="3337560"/>
            <a:ext cx="3657600" cy="257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Requisitos, README e Postman.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4709160" y="2679192"/>
            <a:ext cx="4023360" cy="1319784"/>
          </a:xfrm>
          <a:prstGeom prst="roundRect">
            <a:avLst>
              <a:gd name="adj" fmla="val 692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86207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404104" y="286207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Todos</a:t>
            </a:r>
            <a:endParaRPr lang="en-US" sz="1750" dirty="0"/>
          </a:p>
        </p:txBody>
      </p:sp>
      <p:sp>
        <p:nvSpPr>
          <p:cNvPr id="20" name="Text 13"/>
          <p:cNvSpPr txBox="1"/>
          <p:nvPr/>
        </p:nvSpPr>
        <p:spPr>
          <a:xfrm>
            <a:off x="4892040" y="3337560"/>
            <a:ext cx="3657600" cy="47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Testes no Postman e apresentação.</a:t>
            </a:r>
            <a:endParaRPr lang="en-US" sz="145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418795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um é dono de pelo menos uma funcionalidade. Uma branch por funcionalidade e Pull Request para a main (Módulo 4).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um precisa saber explicar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5272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234440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fez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funcionalidade que ficou sob a sua responsabilidade.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7510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195681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Quais arquivos alterou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histórico de commits mostra quem fez o quê.</a:t>
            </a:r>
            <a:endParaRPr lang="en-US" sz="16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9748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679192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 rota ou tela é sua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 como ela conversa com o resto do sistema.</a:t>
            </a:r>
            <a:endParaRPr lang="en-US" sz="16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1985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40156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Quais erros encontrou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 como resolveu: é aqui que se vê quem aprendeu.</a:t>
            </a:r>
            <a:endParaRPr lang="en-US" sz="1650" dirty="0"/>
          </a:p>
        </p:txBody>
      </p:sp>
      <p:sp>
        <p:nvSpPr>
          <p:cNvPr id="13" name="Text 6"/>
          <p:cNvSpPr txBox="1"/>
          <p:nvPr/>
        </p:nvSpPr>
        <p:spPr>
          <a:xfrm>
            <a:off x="731520" y="41605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Quem não contribuiu ou não sabe explicar a própria parte pode receber </a:t>
            </a:r>
            <a:r>
              <a:rPr lang="en-US" sz="1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nota individual menor</a:t>
            </a: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Roteiro da apresentação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475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129284"/>
            <a:ext cx="7086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Problema e público-alvo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quem é e qual dor resolve.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5564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737360"/>
            <a:ext cx="7086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Requisitos e modelagem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Entidades, relacionamentos e a organização do backend.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363724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2345436"/>
            <a:ext cx="7086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Demonstração ao vivo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Login, CRUD e a regra de negócio entre entidades.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97180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0" y="2953512"/>
            <a:ext cx="7086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Os dados no Atlas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Mostre que o que foi criado na tela está no banco.</a:t>
            </a:r>
            <a:endParaRPr lang="en-US" sz="165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579876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371600" y="3561588"/>
            <a:ext cx="7086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e backend publicados no Render.</a:t>
            </a:r>
            <a:endParaRPr lang="en-US" sz="165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418795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71600" y="4169664"/>
            <a:ext cx="7086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IA, dificuldades e próximos passos</a:t>
            </a:r>
            <a:endParaRPr lang="en-US" sz="165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que ajudou, o que travou e o que viria depois.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o projeto vai ser avaliado</a:t>
            </a:r>
            <a:endParaRPr lang="en-US" sz="30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486400"/>
                <a:gridCol w="822960"/>
              </a:tblGrid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Critério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 que conta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Peso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6D34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Backend / API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CRUD completo, camadas, 4+ entidades, regra entre entidades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Autenticação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Senha com hash, login com JWT, rotas protegidas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15%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Frontend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Telas consumindo a API: login, listagem, cadastro, mensagens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15%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Banco de dados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Persistência real no Atlas: salva, busca, edita e exclui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Deploy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Backend e frontend no Render, integrados de ponta a ponta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Requisitos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Coerente com o tema, e aparece no sistema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Organização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GitHub, README, .env.example e coleção do Postman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Uso de IA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Documentado; o grupo explica o que gerou e ajustou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3154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Apresentação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Clareza, demonstração ao vivo e todos participando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5%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critério vale de 0 a 10, e a nota final é a média ponderada. A nota individual pode ser ajustada.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final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11480" y="1189736"/>
            <a:ext cx="2590800" cy="1599184"/>
          </a:xfrm>
          <a:prstGeom prst="roundRect">
            <a:avLst>
              <a:gd name="adj" fmla="val 571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7261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Funcionando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48104"/>
            <a:ext cx="2225040" cy="75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e front sem erro.</a:t>
            </a:r>
            <a:endParaRPr lang="en-US" sz="1100" dirty="0"/>
          </a:p>
          <a:p>
            <a:pPr algn="l" marL="177800" indent="-177800"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MongoDB salvando de verdade.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76600" y="1189736"/>
            <a:ext cx="2590800" cy="1599184"/>
          </a:xfrm>
          <a:prstGeom prst="roundRect">
            <a:avLst>
              <a:gd name="adj" fmla="val 571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59480" y="137261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59480" y="1848104"/>
            <a:ext cx="2225040" cy="59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 e front no Render.</a:t>
            </a:r>
            <a:endParaRPr lang="en-US" sz="1100" dirty="0"/>
          </a:p>
          <a:p>
            <a:pPr algn="l" marL="177800" indent="-177800"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 usando a URL pública da API.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41720" y="1189736"/>
            <a:ext cx="2590800" cy="1599184"/>
          </a:xfrm>
          <a:prstGeom prst="roundRect">
            <a:avLst>
              <a:gd name="adj" fmla="val 571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600" y="1372616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24600" y="1848104"/>
            <a:ext cx="2225040" cy="75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4+ entidades além do Usuario.</a:t>
            </a:r>
            <a:endParaRPr lang="en-US" sz="1100" dirty="0"/>
          </a:p>
          <a:p>
            <a:pPr algn="l" marL="177800" indent="-177800"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CRUDs, 1 relacionamento, 1 regra.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11480" y="2990088"/>
            <a:ext cx="2590800" cy="1599184"/>
          </a:xfrm>
          <a:prstGeom prst="roundRect">
            <a:avLst>
              <a:gd name="adj" fmla="val 571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648456"/>
            <a:ext cx="2225040" cy="75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Hash, JWT e rotas com autenticar.</a:t>
            </a:r>
            <a:endParaRPr lang="en-US" sz="1100" dirty="0"/>
          </a:p>
          <a:p>
            <a:pPr algn="l" marL="177800" indent="-177800"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.env fora, .env.example dentro.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76600" y="2990088"/>
            <a:ext cx="2590800" cy="1599184"/>
          </a:xfrm>
          <a:prstGeom prst="roundRect">
            <a:avLst>
              <a:gd name="adj" fmla="val 571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45948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Documentação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459480" y="3648456"/>
            <a:ext cx="2225040" cy="75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Requisitos e README com os links.</a:t>
            </a:r>
            <a:endParaRPr lang="en-US" sz="1100" dirty="0"/>
          </a:p>
          <a:p>
            <a:pPr algn="l" marL="177800" indent="-177800"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Postman e uso de IA no repositório.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41720" y="2990088"/>
            <a:ext cx="2590800" cy="1599184"/>
          </a:xfrm>
          <a:prstGeom prst="roundRect">
            <a:avLst>
              <a:gd name="adj" fmla="val 5718"/>
            </a:avLst>
          </a:prstGeom>
          <a:solidFill>
            <a:srgbClr val="1A1A1A"/>
          </a:solidFill>
          <a:ln w="635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24600" y="3172968"/>
            <a:ext cx="222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Equipe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324600" y="3648456"/>
            <a:ext cx="2225040" cy="75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Todos sabem explicar o projeto.</a:t>
            </a:r>
            <a:endParaRPr lang="en-US" sz="1100" dirty="0"/>
          </a:p>
          <a:p>
            <a:pPr algn="l" marL="177800" indent="-177800">
              <a:buSzPct val="100000"/>
              <a:buChar char="●"/>
            </a:pPr>
            <a:r>
              <a:rPr lang="en-US" sz="11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Cada um mostra a própria parte.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16D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560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Atividade Prática 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492240" y="329184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Kickoff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932688"/>
            <a:ext cx="81381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Formem os grupos (2 a 3) e escolham o tema, sem repetir o de outro grupo.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Rodem a simulação cliente-dev e preencham o levantamento de requisitos.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Definam as entidades, os relacionamentos e as rotas principais.</a:t>
            </a:r>
            <a:endParaRPr lang="en-US" sz="1700" dirty="0"/>
          </a:p>
          <a:p>
            <a:pPr algn="l"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Criem o repositório a partir do boilerplate e dividam as tarefas.</a:t>
            </a:r>
            <a:endParaRPr lang="en-US" sz="17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7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Mostrem o levantamento ao professor antes de começar a programar.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02920" y="3995928"/>
            <a:ext cx="8138160" cy="664464"/>
          </a:xfrm>
          <a:prstGeom prst="roundRect">
            <a:avLst>
              <a:gd name="adj" fmla="val 11009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414528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4087368"/>
            <a:ext cx="7360920" cy="48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Dica: </a:t>
            </a: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comecem pelo fluxo mínimo de ponta a ponta: login, uma listagem e um cadastro funcionando no Render. Depois, cresçam.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Materiais do módulo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4148"/>
            <a:ext cx="502920" cy="5029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463040" y="1165860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Enunciado do projeto final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Escopo, tecnologias, README, deploy e checklist: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projeto_final.md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89404"/>
            <a:ext cx="502920" cy="502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463040" y="2071116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Simulação cliente-dev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 roteiro completo da entrevista: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simulacao_cliente_dev.md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11780"/>
            <a:ext cx="502920" cy="5029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463040" y="2793492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de requisitos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preencher antes de programar: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levantamento_requisitos.md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17036"/>
            <a:ext cx="502920" cy="5029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463040" y="3698748"/>
            <a:ext cx="6995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 de código: projeto integrado</a:t>
            </a:r>
            <a:endParaRPr lang="en-US" sz="160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Revisão de todas as camadas: </a:t>
            </a:r>
            <a:r>
              <a:rPr lang="en-US" sz="14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codigo_projeto_integrado.md</a:t>
            </a:r>
            <a:r>
              <a:rPr lang="en-US" sz="14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6"/>
          <p:cNvSpPr txBox="1"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6D3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repositório: </a:t>
            </a:r>
            <a:r>
              <a:rPr lang="en-US" sz="150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modulo12/lista_de_exercicios/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846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LIONS</a:t>
            </a:r>
            <a:r>
              <a:rPr lang="en-US" sz="800" b="1" spc="200" kern="0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do módulo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85800" y="1170432"/>
            <a:ext cx="278892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E16D34"/>
            </a:solidFill>
            <a:prstDash val="solid"/>
          </a:ln>
        </p:spPr>
      </p:sp>
      <p:pic>
        <p:nvPicPr>
          <p:cNvPr id="6" name="Image 0" descr="QR code para https://github.com/nicolassmotta/curso-lions-dev/tree/main/modulo1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07592"/>
            <a:ext cx="2514600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4041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Aponte a câmera do celular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86200" y="117043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github.com/nicolassmotta/curso-lions-dev/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tree/main/</a:t>
            </a:r>
            <a:r>
              <a:rPr lang="en-US" sz="1500" b="1" dirty="0">
                <a:solidFill>
                  <a:srgbClr val="E16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modulo12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96596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16552" y="1920240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conteudo/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teoria comentada e o </a:t>
            </a: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cheat sheet</a:t>
            </a: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do módulo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264261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16552" y="2596896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A0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lista_de_exercicios/</a:t>
            </a:r>
            <a:endParaRPr lang="en-US" sz="12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listas para praticar em casa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8B8B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Símbolo Lions D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502920"/>
            <a:ext cx="658368" cy="74980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6D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Fim!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097280" y="27432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6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Agora é com vocês. Bom projeto!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Lions 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12</dc:title>
  <dc:subject>PptxGenJS Presentation</dc:subject>
  <dc:creator>Nicolas Cardoso Motta</dc:creator>
  <cp:lastModifiedBy>Nicolas Cardoso Motta</cp:lastModifiedBy>
  <cp:revision>1</cp:revision>
  <dcterms:created xsi:type="dcterms:W3CDTF">2026-09-27T23:25:49Z</dcterms:created>
  <dcterms:modified xsi:type="dcterms:W3CDTF">2026-09-27T23:25:49Z</dcterms:modified>
</cp:coreProperties>
</file>