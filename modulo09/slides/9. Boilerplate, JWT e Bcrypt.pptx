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9 — Boilerplate em camadas, token JWT e bcrypt.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8. Peça para a turma explicar cada cartão com as próprias palavras antes de você falar.
Termine com a pergunta do rodapé. Resposta esperada: o controller recebe uma consulta pendente em vez dos dados, e a resposta sai errada (é o quiz do Módulo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9 (Autenticação, JWT e MVC). Os módulos com o sinal de visto já passaram; o laranja é o de hoje.
Adiante o próximo passo: o Módulo 9B (Testes Automatizados da API)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o exemplo da aula é o recurso Livro, mas o fio continua: no desafio do fim, a turma leva Baralho e Flashcard para o boilerplate, com dono vindo do token. Mostre que é o mesmo padrão do Livro, aplicado ao projeto de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Organizar a API em camadas, a partir do boilerplate da Lions Dev.
• Guardar senhas com segurança usando bcrypt.
• Autenticar usuários com JWT e proteger rotas com middleware.
• Tratar validação e erros em middlewares próprios.
• Controlar permissões por papel (admin x usuário) e trocar a senha com segurança.
• Criar um recurso novo, protegido e com dono: os livros.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"Até agora, a API inteira cabia num server.js e qualquer pessoa acessava qualquer rota. Num projeto de verdade, as duas coisas precisam mudar."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"Boilerplate". Antes de avançar, faça uma pergunta rápida que ligue o assunto novo ao que a turma já sabe.
Frase de apoio: Uma base organizada em camadas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Tudo no server.js: Rotas, regras e acesso ao banco misturados. Difícil de testar, manter e dividir em equipe.
• Camadas: Cada arquivo com uma responsabilidade. O projeto cresce sem perder a clareza.
Mensagem principal: O boilerplate é o ponto de partida pronto: você só adiciona os recursos do seu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das camadas do boilerplate. Voltar nesta tabela sempre que surgir a dúvida "onde coloco esse código?".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Rota: Qual controller atende.
• Middleware: Está logado? Os dados vieram?
• Controller: Lê o req e responde.
• Service: Aplica as regras.
• Repository: Lê e grava no banco.
Mensagem principal: O resultado volta pelo mesmo caminho até virar a resposta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nomes: um arquivo por recurso em cada camada: livro.routes.js, livro.service.js…
• ES Modules: o boilerplate usa "type": "module".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são os nomes do boilerplate: config/database.js e conectarBanco(). No petshop resolvido do repositório, a função se chama conectarDB() e era chamada sem await dentro de um try/catch: se a conexão falhasse, o catch não pegava o erro, porque ele acontece depois, de forma assíncrona. O boilerplate carrega o .env com um caminho relativo ao próprio arquivo, new URL("../.env", import.meta.url), para funcionar de qualquer pasta.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A rota só aponta o controller. O controller é o único que conhece req e res: lê, delega ao service e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petshop do repositório, um serviço inválido só faz console.log e segue com valor 0. Lançar o erro faz a API responder 400 em vez de salvar um agendamento de graça. O "...dados" copia os campos do objeto e acrescenta o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Controller: Não fala com o banco.
• Service: Não conhece req nem res.
• Repository: Não tem regra de negócio.
Mensagem principal: Se uma camada começa a fazer o trabalho da outra, o código volta a virar o server.js de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"Autenticação". Antes de avançar, faça uma pergunta rápida que ligue o assunto novo ao que a turma já sabe.
Frase de apoio: Provar quem você 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Públicas: Qualquer um acessa. Ex.: cadastro e login.
• Protegidas: Só com um token válido. Ex.: ver e editar o perfil, cadastrar livros.
Mensagem principal: Autenticar dá controle de acesso, rastreabilidade (quem fez o quê) e segurança para os dados de cada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1. Envia: O cliente manda e-mail e senha.
• 2. Confere: A API compara a senha com o hash (bcrypt).
• 3. Gera o token: Deu certo: a API cria um JWT.
• 4. Usa o token: O cliente envia o token nas rotas protegidas.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"bcrypt". Antes de avançar, faça uma pergunta rápida que ligue o assunto novo ao que a turma já sabe.
Frase de apoio: Senhas nunca são guardadas como texto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Transformação de mão única: "123456" vira algo como "$2b$10$k4P4...", e não dá para voltar.
• Salvamos só o hash: A senha em texto nunca vai para o banco.
• Comparar, não descriptografar: No login, o bcrypt calcula de novo e compara: confere ou não confere.
• Se o banco vazar: Quem pegar os dados vê hashes, não as senhas dos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bcrypt.hash: gera o hash da senha. É assíncrono: precisa de await.
• saltRounds: o "custo": quanto maior, mais lento para gerar e para um atacante quebrar. 10 é um bom ponto de partida.
• senhaHash: o nome do campo já deixa claro que ali não está a senha.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A mensagem é a mesma nos dois casos: a API não entrega se o e-mail existe. Isso dificulta quem tenta descobrir contas cadastradas.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Uma resposta com senhaHash entrega um pedaço da segurança do usuário.
• No Schema, use select: false: o campo não vem nas buscas, a não ser que você peça com .select("+senhaHash").
• E remova o hash ao transformar o documento em JSON, como o boilerplate faz no Model.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"JSON Web Token".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Login = bilheteria: Você mostra o documento e prova quem é.
• Token = pulseira: Você recebe uma pulseira que vale por um tempo.
• Middleware = segurança: Em cada área, alguém confere a pulseira.
• Autorização = área VIP: Nem toda pulseira entra em todo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payload: o que vai dentro do token: o id e o e-mail do usuário.
• JWT_SECRET: a chave que assina o token. Fica no .env.
• expiresIn: o prazo de validade. Depois disso, é preciso logar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Qualquer pessoa consegue ler o conteúdo de um token (cole um em jwt.io). A assinatura só impede que ele seja alterado.
• Nunca coloque senha, hash ou dados sensíveis no payload: só o necessário, como o id.
• O JWT_SECRET precisa ser longo, aleatório e ficar no .env. Quem tem o secret consegue gerar tokens válidos.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jwt.verify confere a assinatura e a validade. Deu certo? O payload vai para req.usuario e o next() libera a 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jwt.verify lança erros diferentes, e dá para avisar o cliente do jeito certo.
• TokenExpiredError: o token era bom, mas venceu. O app deve mandar o usuário logar de novo.
• JsonWebTokenError: token alterado ou assinado com outro secret.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"Sem token" x "Com token". Pergunte qual diferença chama mais atenção antes de explicar.
Mensagem principal: Na rota: router.get("/api/usuarios/perfil", autenticar, UsuarioController.perfil). O middleware vem antes do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header precisa ser exatamente Authorization: Bearer &lt;token&gt;, com um espaço entre os dois.
• No Postman, use a aba Authorization &gt; Bearer Token e cole só o token, sem aspas.
• Token expirado dá 401 mesmo estando certo: faça login de novo e copie o token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Autenticação: Quem é você? Sem token, ou token inválido: 401 Unauthorized.
• Autorização: O que você pode fazer? Logado, mas sem permissão: 403 Forbidden.
Mensagem principal: Exemplo: você está logado (autenticado), mas não pode apagar o livro de outra pessoa (não autorizado).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"Validação e erros". Antes de avançar, faça uma pergunta rápida que ligue o assunto novo ao que a turma já sabe.
Frase de apoio: Middlewares que deixam os controllers limpos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Uma função que cria um middleware: cada rota diz quais campos exige, e o controller já recebe os dados completos.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service não conhece o res, mas pode dizer qual status o erro merece.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Todo erro passa pelo next(erro) e cai num único lugar: as respostas de erro ficam padronizadas.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"Autorização por papel". Antes de avançar, faça uma pergunta rápida que ligue o assunto novo ao que a turma já sabe.
Frase de apoio: Admin e usuário comum: os dois logados, com permissões diferentes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enum: o campo só aceita esses valores.
• default: todo cadastro novo nasce usuário comum.
• cadastro: o auth.service monta o usuário campo a campo: ninguém escolhe o próprio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"auth.service.js (gerarToken)" x "autenticacao.middleware.js". Pergunte qual diferença chama mais atenção antes de explicar.
Mensagem principal: O boilerplate copia do token só o que estiver listado: o papel precisa entrar nos dois 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...papeis: aceita um ou vários: autorizar("admin") ou autorizar("admin", "gerente").
• return (req, res, next): uma função que cria o middleware, como o validarCampos.
• 403: sabemos quem é (autenticado), mas ele não tem permissão.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UsuarioController.listar e o UsuarioService.listarUsuarios já existem no boilerplate: só falta registrar a rota em usuario.routes.js. Sem token continua 401: quem responde é o autenticar.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Com o autorizar antes do autenticar, o req.usuario ainda não existe: o servidor quebra com 500.
• Quem preenche o req.usuario é o autenticar. Ele vem sempre primeiro.
• Leia a rota da esquerda para a direita: é a ordem em que os middlewares rodam.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 o cadastro salvasse o req.body inteiro, bastaria mandar "papel": "admin" para virar administrador.
• O auth.service do boilerplate monta o usuário campo a campo (nome, e-mail e senhaHash): o papel fica no default.
• Mantenha assim, e faça o mesmo no PATCH /perfil: só nome e senha podem mudar.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Cadastre-se normalmente: POST /api/auth/cadastro: o usuário nasce comum.
• Edite o documento no banco: No Atlas (Browse Collections) ou no Compass, troque o campo para papel: "admin".
• Faça login de novo: Só o token novo carrega o papel de admin.
Mensagem principal: Depois disso, um admin pode promover outros usuários, se o sistema tiver essa rota (protegida com autorizar("admin")).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papel entra no token no login. Promoveu ou rebaixou alguém? O token antigo continua com o papel antigo até vencer.
• Quem foi promovido precisa fazer login de novo.
• Token gerado antes de o papel existir nem tem o campo: o autorizar responde 403.
• Precisa de efeito imediato? O middleware busca o usuário no banco a cada requisição: mais seguro, com uma consulta a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"Trocando a senha". Antes de avançar, faça uma pergunta rápida que ligue o assunto novo ao que a turma já sabe.
Frase de apoio: Só o token não basta: peça a senha atual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"Boilerplate: PATCH /perfil" x "Mais seguro: PATCH /senha". Pergunte qual diferença chama mais atenção antes de explicar.
Mensagem principal: Só com o token, quem pegar um computador logado toma a conta. Pedir a senha atual prova que é o 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validarSenha e o saltRounds são os mesmos que o usuario.service.js do boilerplate já usa no atualizarPerfil.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select("+senhaHash") é necessário porque o Model tem select: false. E cada função nova entra no objeto exportado do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Trocar a senha não invalida os tokens já emitidos: o JWT é conferido só pela assinatura e pela validade.
• Por isso um expiresIn curto importa: limita o tempo de vida de um token vazado.
• Solução avançada: salvar senhaAlteradaEm na troca e recusar tokens emitidos antes disso. O iat do token diz quando ele foi criado, em segundos.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"Testando a segurança".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Cadastre um usuário: POST /api/auth/cadastro com nome, e-mail e senha.
• Faça login: POST /api/auth/login e copie o token da resposta.
• Acesse uma rota protegida: Com Authorization &gt; Bearer Token: deve dar 200.
• Tente quebrar: Sem token, com token errado e com senha errada: 401 em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Só o hash: O banco guarda apenas o senhaHash.
• Nada de hash na resposta: select: false e remoção no JSON.
• Erro genérico no login: "E-mail ou senha incorretos."
• Secret no .env: E o .env no .gitignore.
• Token com prazo: Sempre com expiresIn.
• Rotas protegidas: O middleware em toda rota privada.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Atividade: Livros: combine o tempo, peça para a turma abrir o VS Code e circule pela sala durante as atividades.
Um recurso novo, protegido e com dono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Completar os demais campos conforme o enunciado da atividade.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rotas usam o middleware autenticar. O idDoUsuario sempre vem de req.usuario.id.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 o dono vier do req.body, qualquer usuário cadastra ou lê livros em nome de outro.
• O id de quem está logado está em req.usuario.id, colocado lá pelo middleware.
• Toda busca filtra pelo dono: Livro.findOne({ _id: id, dono: idDoUsuario }). Livro de outra pessoa = não encontrado.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Mensagem principal: Um arquivo por camada: o mesmo caminho da requisição que vimos no começo do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(Livros): leia o enunciado em voz alta, combine o tempo (15 a 25 minutos, conforme a turma) e circule pela sala.
• Crie o Model livro.model.js, com o campo dono referenciando o usuário.
• Crie o repository, o service, o controller e o arquivo de rotas, e registre as rotas no app.js.
• Implemente as cinco rotas protegidas da tabela, todas com o middleware autenticar.
• Teste no Postman com dois usuários: um não pode ver nem alterar os livros do outro.
Dica: o id do dono é sempre req.usuario.id. Se precisar de uma consulta nova, ela nasce no repository.
Quem terminar antes: crie o papel admin e a rota GET /api/usuarios só para admins. Bônus: a troca de senha com a senha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Lista de código: Autenticação e MVC: bcrypt, JWT e camadas, em peças soltas.
• APIs com o boilerplate: Biblioteca, Academia e Petshop.
• Desafios: Finanças, Lions Bet e Tarefas: APIs completas com login.
Mensagem principal: No repositório: modulo09/lista_de_exercicios/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Desafio do fio condutor (casa ou próxima aula). É o recurso Livro aplicado ao flashcards. Pontos para conferir: o usuario vem de req.usuario.id, a listagem filtra por usuario e o teste com dois usuários mostra o isolamento. Quem terminar pode fazer o mesmo com o Flashcard.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modulo09 no celular agora, antes de ir embora.
Lembre o que tem lá: conteudo, lista_de_exercicios, exercicios_resolvidos. O cheat sheet do módulo fica em conteudo/ e resume a aula em duas páginas.
Link: https://github.com/nicolassmotta/curso-lions-dev/tree/main/modulo09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No Módulo 9B, a API ganha testes automatizados: nada de clicar em tudo no Postman a cada mudança.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image" Target="../media/image-3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2-2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2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-4.png"/><Relationship Id="rId3" Type="http://schemas.openxmlformats.org/officeDocument/2006/relationships/image" Target="../media/image-10-5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4-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5.png"/><Relationship Id="rId3" Type="http://schemas.openxmlformats.org/officeDocument/2006/relationships/image" Target="../media/image-20-3.png"/><Relationship Id="rId4" Type="http://schemas.openxmlformats.org/officeDocument/2006/relationships/image" Target="../media/image-3-2.png"/><Relationship Id="rId5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4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8-4.png"/><Relationship Id="rId3" Type="http://schemas.openxmlformats.org/officeDocument/2006/relationships/image" Target="../media/image-25-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5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2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9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Autenticação,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e MVC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8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012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Documentos em coleções, no Atlas; a conexão fica no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7012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Mongoose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245614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schema define campos e regras; o model faz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…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7012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async/await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 operação no banco é assíncrona: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dentro 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try/catch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o que acontece se você esquecer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Baralho.find()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1" y="153619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573" y="1536192"/>
            <a:ext cx="219456" cy="2194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1150" y="3182112"/>
            <a:ext cx="219456" cy="2194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0681" y="3182112"/>
            <a:ext cx="219456" cy="219456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5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7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8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0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51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3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4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6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7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8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9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Autenticação, JWT e MVC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projeto flashcards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23406" y="1755648"/>
            <a:ext cx="6897189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23406" y="1755648"/>
            <a:ext cx="3448594" cy="0"/>
          </a:xfrm>
          <a:prstGeom prst="line">
            <a:avLst/>
          </a:prstGeom>
          <a:noFill/>
          <a:ln w="38100">
            <a:solidFill>
              <a:srgbClr val="E16D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070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481328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 em memória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70601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17" y="1481328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8171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M7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698171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698171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020133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149" y="148132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847703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M8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847703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2847703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169664" y="1353312"/>
            <a:ext cx="804672" cy="804672"/>
          </a:xfrm>
          <a:prstGeom prst="ellipse">
            <a:avLst/>
          </a:prstGeom>
          <a:solidFill>
            <a:srgbClr val="E16D34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481328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97234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3997234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dono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3997234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e JWT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319195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5447211" y="1481328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46766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M9B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146766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Testado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146766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468727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96743" y="1481328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96297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M10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296297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6296297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618258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7746274" y="1481328"/>
            <a:ext cx="548640" cy="54864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445829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M11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7445829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tela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7445829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548640" y="3127248"/>
            <a:ext cx="804672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2296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MÓDULO 9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flashcards entra no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boilerplate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ganha dono: cada baralho pertence a um usuário, e só quem está logado vê os próprios baralhos. É o desafio do fim da aula.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Organizar a API em camadas, a partir do boilerplate da Lions Dev.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Guardar senhas com segurança usando bcrypt.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Autenticar usuários com JWT e proteger rotas com middleware.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Tratar validação e erros em middlewares próprios.</a:t>
            </a:r>
            <a:endParaRPr lang="en-US" sz="14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Controlar permissões por papel (admin x usuário) e trocar a senha com segurança.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um recurso novo, protegido e com dono: os livros.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Até agora, a API inteira cabia num </a:t>
            </a:r>
            <a:r>
              <a:rPr lang="en-US" sz="2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qualquer pessoa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acessava qualquer rota. Num projeto de verdade, as duas coisas precisam mudar.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Boilerplate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base organizada em camadas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organização atual ao boilerplate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672336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5521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8552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Tudo no server.js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30704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Rotas, regras e acesso ao banco misturados.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Difícil de testar, manter e dividir em equipe.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672336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552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8552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Camadas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30704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arquivo com uma responsabilidade.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projeto cresce sem perder a clareza.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boilerplate é o ponto de partida pronto: você só adiciona os recursos do seu projeto.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camadas e o que cada uma faz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051560"/>
          <a:ext cx="7498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3035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Camada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Responsabilidade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routes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Liga o método e o caminho ao controller certo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middlewares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Autenticação, validação e tratamento de erros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controllers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Lê o req, chama o service e monta o res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services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 regras de negócio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repositories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Conversa com o banco, pelo Model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Schema do Mongoose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config / utils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Conexão com o banco e funções de apoio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caminho de uma requisição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 controller atende.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805940" y="189738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756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203704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Middleware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267712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Está logado? Os dados vieram?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415284" y="189738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13048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3877056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Lê o req e responde.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4628" y="189738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444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22392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0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Aplica as regras.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633972" y="189738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1554480"/>
            <a:ext cx="685800" cy="6858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31736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7095744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Lê e grava no banco.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resultado volta pelo mesmo caminho até virar a resposta HTTP.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de pastas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732788"/>
            <a:ext cx="4937760" cy="2340864"/>
          </a:xfrm>
          <a:prstGeom prst="roundRect">
            <a:avLst>
              <a:gd name="adj" fmla="val 312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849831"/>
            <a:ext cx="4645152" cy="2106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app.js           (Express, middlewares, rotas)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server.js        (conecta o banco e sobe)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config/database.js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middlewares/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repositories/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utils/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118360"/>
            <a:ext cx="3200400" cy="156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 arquivo por recurso em cada camada: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livro.routes.js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livro.service.js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…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Modules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boilerplate usa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"module"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app.js x server.js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5834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app.js: monta o Express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58340"/>
            <a:ext cx="4069080" cy="1700784"/>
          </a:xfrm>
          <a:prstGeom prst="roundRect">
            <a:avLst>
              <a:gd name="adj" fmla="val 430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075383"/>
            <a:ext cx="3776472" cy="146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imports: express, rotas e erro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=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(express.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authRoutes)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'/api/usuarios'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usuarioRoutes)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(erroMiddleware)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5834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server.js: sobe a aplicação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958340"/>
            <a:ext cx="4069080" cy="1700784"/>
          </a:xfrm>
          <a:prstGeom prst="roundRect">
            <a:avLst>
              <a:gd name="adj" fmla="val 430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075383"/>
            <a:ext cx="3776472" cy="146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dotenv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'dotenv'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'./app.js'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conectarBanco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'./config/database.js'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conectarBanco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(process.env.PORT ||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Separar os dois deixa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testável sem subir servidor.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garante que a API só abre depois de o banco conectar.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e controller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5568"/>
            <a:ext cx="8321040" cy="3011424"/>
          </a:xfrm>
          <a:prstGeom prst="roundRect">
            <a:avLst>
              <a:gd name="adj" fmla="val 242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32611"/>
            <a:ext cx="8028432" cy="277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routes/agendamento.routes.js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router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'/api/agendamento/cadastro'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AgendamentoController.cadastrar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controllers/agendamento.controller.js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cadastrar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res, next)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novo = await AgendamentoService.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cadastrar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(req.body)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agendamento: novo 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rota só aponta o controller. O controller é o único que conhece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lê, delega ao service e responde.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e repository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73658"/>
            <a:ext cx="8321040" cy="3095244"/>
          </a:xfrm>
          <a:prstGeom prst="roundRect">
            <a:avLst>
              <a:gd name="adj" fmla="val 23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90701"/>
            <a:ext cx="8028432" cy="286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services/agendamento.service.js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cadastrar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(dados) {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= 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calcularValor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(dados.especie, dados.servico)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(!valor)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'Serviço inválido'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AgendamentoRepository.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...dados, valor })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repositories/agendamento.repository.js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(dados) {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Agendamento.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(dados)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service aplica a regra (o preço de cada serviço) 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lança um erro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quando algo não faz sentido. O repository só conversa com o banco.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 de ouro das camadas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57934"/>
            <a:ext cx="2590800" cy="1641348"/>
          </a:xfrm>
          <a:prstGeom prst="roundRect">
            <a:avLst>
              <a:gd name="adj" fmla="val 557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6" y="194081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379726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Controller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737866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fala com o banco.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757934"/>
            <a:ext cx="2590800" cy="1641348"/>
          </a:xfrm>
          <a:prstGeom prst="roundRect">
            <a:avLst>
              <a:gd name="adj" fmla="val 557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94081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59480" y="2379726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737866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conhece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nem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757934"/>
            <a:ext cx="2590800" cy="1641348"/>
          </a:xfrm>
          <a:prstGeom prst="roundRect">
            <a:avLst>
              <a:gd name="adj" fmla="val 557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096" y="1940814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324600" y="2379726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Repository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737866"/>
            <a:ext cx="222504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tem regra de negócio.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uma camada começa a fazer o trabalho da outra, o código volta a virar o server.js de antes.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Autenticação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Provar quem você é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Rotas públicas e protegidas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82826"/>
            <a:ext cx="4023360" cy="1591564"/>
          </a:xfrm>
          <a:prstGeom prst="roundRect">
            <a:avLst>
              <a:gd name="adj" fmla="val 57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70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6570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Públicas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441194"/>
            <a:ext cx="3657600" cy="52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Qualquer um acessa.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cadastro e login.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782826"/>
            <a:ext cx="4023360" cy="1591564"/>
          </a:xfrm>
          <a:prstGeom prst="roundRect">
            <a:avLst>
              <a:gd name="adj" fmla="val 57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6570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96570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Protegidas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441194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com um token válido.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ver e editar o perfil, cadastrar livros.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Autenticar dá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controle de acesso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rastreabilidade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(quem fez o quê) 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segurança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os dados de cada usuário.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login, passo a passo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Envia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manda e-mail e senha.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Confere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API compara a senha com o hash (bcrypt).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Gera o token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 certo: a API cria um JWT.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Usa o token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envia o token nas rotas protegidas.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bcrypt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Senhas nunca são guardadas como texto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hash?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415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4587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Transformação de mão única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"123456"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vira algo como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"$2b$10$k4P4..."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não dá para voltar.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227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17398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Salvamos só o hash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senha em texto nunca vai para o banco.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1465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89636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Comparar, não descriptografar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login, o bcrypt calcula de novo e compara: confere ou não confere.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276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82447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banco vazar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pegar os dados vê hashes, não as senhas dos usuários.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Cadastro: bcrypt.hash()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167128"/>
            <a:ext cx="5577840" cy="1472184"/>
          </a:xfrm>
          <a:prstGeom prst="roundRect">
            <a:avLst>
              <a:gd name="adj" fmla="val 496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284171"/>
            <a:ext cx="5285232" cy="12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bcrypt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'bcryptjs'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saltRounds = 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senhaHash = await bcrypt.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(senha, saltRounds)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Usuario.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nome, email, senhaHash })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047750"/>
            <a:ext cx="2560320" cy="371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bcrypt.hash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gera o hash da senha. É assíncrono: precisa de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saltRounds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"custo": quanto maior, mais lento para gerar e para um atacante quebrar. 10 é um bom ponto de partida.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senhaHash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nome do campo já deixa claro que ali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está a senha.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Login: bcrypt.compare()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27988"/>
            <a:ext cx="8321040" cy="2386584"/>
          </a:xfrm>
          <a:prstGeom prst="roundRect">
            <a:avLst>
              <a:gd name="adj" fmla="val 306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45031"/>
            <a:ext cx="8028432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usuario = await Usuario.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findOne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email }).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'+senhaHash'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(!usuario)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'E-mail ou senha incorretos.'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senhaCorreta = await bcrypt.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(senha, usuario.senhaHash)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(!senhaCorreta)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'E-mail ou senha incorretos.'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mensagem é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mesma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nos dois casos: a API não entrega se o e-mail existe. Isso dificulta quem tenta descobrir contas cadastradas.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nunca devolva a senha nem o hash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resposta com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senhaHash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entrega um pedaço da segurança do usuário.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Schema, use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select: false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campo não vem nas buscas, a não ser que você peça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.select("+senhaHash")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 remova o hash ao transformar o documento em JSON, como o boilerplate faz no Model.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542544"/>
          </a:xfrm>
          <a:prstGeom prst="roundRect">
            <a:avLst>
              <a:gd name="adj" fmla="val 134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30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senhaHash: { type: String, required: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select: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 Web Token</a:t>
            </a:r>
            <a:endParaRPr 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Autenticação é como um evento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69136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201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6520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= bilheteria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2750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mostra o documento e prova quem é.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469136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520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6520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= pulseira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12750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recebe uma pulseira que vale por um tempo.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Middleware = segurança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cada área, alguém confere a pulseira.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Autorização = área VIP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Nem toda pulseira entra em todo lugar.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Gerando o token: jwt.sign()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847088"/>
            <a:ext cx="4724400" cy="2112264"/>
          </a:xfrm>
          <a:prstGeom prst="roundRect">
            <a:avLst>
              <a:gd name="adj" fmla="val 34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964131"/>
            <a:ext cx="4431792" cy="18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jwt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'jsonwebtoken'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token = jwt.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usuario._id, email: usuario.email },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process.env.JWT_SECRET,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expiresIn: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'1d'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token })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364480" y="1710690"/>
            <a:ext cx="341376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que vai dentro do token: o id e o e-mail do usuário.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chave que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assina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token. Fica no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expiresIn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prazo de validade. Depois disso, é preciso logar de novo.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JWT não é criptografado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Qualquer pessoa consegue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ler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conteúdo de um token (cole um em jwt.io). A assinatura só impede que ele seja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alterado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4942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Nunca coloque senha, hash ou dados sensíveis no payload: só o necessário, como o id.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precisa ser longo, aleatório e ficar no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Quem tem o secret consegue gerar tokens válidos.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391916"/>
            <a:ext cx="8046720" cy="755904"/>
          </a:xfrm>
          <a:prstGeom prst="roundRect">
            <a:avLst>
              <a:gd name="adj" fmla="val 967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08959"/>
            <a:ext cx="7754112" cy="52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JWT_SECRET=uma_frase_longa_e_aleatoria_que_ninguem_adivinha_3f9a1c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middleware de autenticação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96518"/>
            <a:ext cx="8321040" cy="3049524"/>
          </a:xfrm>
          <a:prstGeom prst="roundRect">
            <a:avLst>
              <a:gd name="adj" fmla="val 23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3561"/>
            <a:ext cx="8028432" cy="281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res, next)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authHeader = req.headers.authorization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(!authHeader)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 não informado.'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[tipo, token] = authHeader.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(tipo !== 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'Bearer'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!token)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'Formato inválido.'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req.usuario = jwt.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(token, process.env.JWT_SECRET)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 inválido.'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jwt.verify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confere a assinatura e a validade. Deu certo? O payload vai para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libera a rota.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token expirado ou inválido?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jwt.verify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lança erros diferentes, e dá para avisar o cliente do jeito certo.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TokenExpiredError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token era bom, mas venceu. O app deve mandar o usuário logar de novo.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JsonWebTokenError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token alterado ou assinado com outro secret.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99744"/>
          </a:xfrm>
          <a:prstGeom prst="roundRect">
            <a:avLst>
              <a:gd name="adj" fmla="val 731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7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expirou = erro.name ===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'TokenExpiredError'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expirou ?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'Sessão expirada'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 inválido'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 protegida na prática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8882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token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263140"/>
            <a:ext cx="4069080" cy="1091184"/>
          </a:xfrm>
          <a:prstGeom prst="roundRect">
            <a:avLst>
              <a:gd name="adj" fmla="val 670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380183"/>
            <a:ext cx="3776472" cy="85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/api/usuarios/perfil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401 Unauthorized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"message": "Token não informado." }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8882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token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263140"/>
            <a:ext cx="4069080" cy="1091184"/>
          </a:xfrm>
          <a:prstGeom prst="roundRect">
            <a:avLst>
              <a:gd name="adj" fmla="val 670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380183"/>
            <a:ext cx="3776472" cy="85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/api/usuarios/perfil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eyJhbGci...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OK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"nome": "Maria", "email": "maria@email.com" }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rota: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router.get("/api/usuarios/perfil", autenticar, UsuarioController.perfil)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middleware vem antes do controller.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formato do header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header precisa ser exatamente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&lt;token&gt;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um espaço entre os dois.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Postman, use a aba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Authorization &gt; Bearer Token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cole só o token, sem aspas.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expirado dá 401 mesmo estando certo: faça login de novo e copie o token novo.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Autenticação x autorização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82826"/>
            <a:ext cx="4023360" cy="1591564"/>
          </a:xfrm>
          <a:prstGeom prst="roundRect">
            <a:avLst>
              <a:gd name="adj" fmla="val 57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70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6570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Autenticação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441194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é você?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token, ou token inválido: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401 Unauthorized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782826"/>
            <a:ext cx="4023360" cy="1591564"/>
          </a:xfrm>
          <a:prstGeom prst="roundRect">
            <a:avLst>
              <a:gd name="adj" fmla="val 57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6570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96570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Autorização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441194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você pode fazer?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Logado, mas sem permissão: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403 Forbidden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Exemplo: você está logado (autenticado), mas não pode apagar o livro de outra pessoa (não autorizado).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e erros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Middlewares que deixam os controllers limpos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Middleware de validação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15568"/>
            <a:ext cx="8321040" cy="3011424"/>
          </a:xfrm>
          <a:prstGeom prst="roundRect">
            <a:avLst>
              <a:gd name="adj" fmla="val 242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32611"/>
            <a:ext cx="8028432" cy="277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validarCampos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(campos)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(req, res, next) =&gt;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faltando = campos.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((campo) =&gt; !req.body[campo])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(faltando.length &gt; 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 = faltando.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 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`Faltou: ${lista}`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'/api/auth/cadastro'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validarCampos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'senha'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AuthController.cadastrar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função que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um middleware: cada rota diz quais campos exige, e o controller já recebe os dados completos.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Criando erros com status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66088"/>
            <a:ext cx="8321040" cy="2523744"/>
          </a:xfrm>
          <a:prstGeom prst="roundRect">
            <a:avLst>
              <a:gd name="adj" fmla="val 28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83131"/>
            <a:ext cx="8028432" cy="228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utils/criarErro.js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(mensagem, status)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 =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(mensagem)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erro.status =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service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(emailJaExiste)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'E-mail já cadastrado.'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service não conhece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mas pode dizer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 status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erro merece.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Middleware de erro: um lugar só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middlewares/erro.middleware.js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tratarErros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(err, req, res, next)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(err.status ||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err.message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controller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(erro)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middleware de erro responde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app.js, depois de todas as rotas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(tratarErros)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 erro passa pelo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next(erro)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cai num único lugar: as respostas de erro ficam padronizadas.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Autorização por papel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e usuário comum: os dois logados, com permissões diferentes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papel no Model do usuário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144268"/>
            <a:ext cx="5318760" cy="1517904"/>
          </a:xfrm>
          <a:prstGeom prst="roundRect">
            <a:avLst>
              <a:gd name="adj" fmla="val 481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261311"/>
            <a:ext cx="5026152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src/models/usuario.model.js  (dentro do Schema)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papel: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String,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enum: [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'usuario'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'usuario'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58840" y="1600200"/>
            <a:ext cx="2819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campo só aceita esses valores.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todo cadastro novo nasce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 comum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auth.service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monta o usuário campo a campo: ninguém escolhe o próprio papel.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papel dentro do token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6977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auth.service.js (gerarToken)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072640"/>
            <a:ext cx="4069080" cy="1472184"/>
          </a:xfrm>
          <a:prstGeom prst="roundRect">
            <a:avLst>
              <a:gd name="adj" fmla="val 496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189683"/>
            <a:ext cx="3776472" cy="12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dadosDoToken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usuario._id.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usuario.email,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papel: usuario.papel,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6977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autenticacao.middleware.js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072640"/>
            <a:ext cx="4069080" cy="1472184"/>
          </a:xfrm>
          <a:prstGeom prst="roundRect">
            <a:avLst>
              <a:gd name="adj" fmla="val 496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189683"/>
            <a:ext cx="3776472" cy="123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dadosDoToken.id,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dadosDoToken.email,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papel: dadosDoToken.papel,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boilerplate copia do token só o que estiver listado: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precisa entrar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 dois lados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middleware autorizar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549908"/>
            <a:ext cx="5577840" cy="2706624"/>
          </a:xfrm>
          <a:prstGeom prst="roundRect">
            <a:avLst>
              <a:gd name="adj" fmla="val 270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666951"/>
            <a:ext cx="5285232" cy="247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src/middlewares/autorizacao.middleware.js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criarErro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'../utils/criarErro.js'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autorizar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(...papeisPermitidos)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(req, res, next)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(!papeisPermitidos.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(req.usuario.papel))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'Acesso negado.'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autorizar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158240"/>
            <a:ext cx="2560320" cy="3489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...papeis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aceita um ou vários: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autorizar("admin")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autorizar("admin", "gerente")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(req, res, next)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uma função que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middleware, como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validarCampos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sabemos quem é (autenticado), mas ele não tem permissão.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rota só para admin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8120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 comum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186940"/>
            <a:ext cx="406908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303983"/>
            <a:ext cx="377647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/api/usuarios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(token de usuário)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403 Forbidden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"message": "Acesso negado." }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8120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186940"/>
            <a:ext cx="406908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303983"/>
            <a:ext cx="377647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/api/usuarios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(token de admin)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OK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"usuarios": [ ... ] }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rota: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router.get("/", autenticar, autorizar("admin"), UsuarioController.listar)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ordem dos middlewares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ainda não existe: o servidor quebra com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preenche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Ele vem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sempre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primeiro.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Leia a rota da esquerda para a direita: é a ordem em que os middlewares rodam.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autorizar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autenticar, UsuarioController.listar) </a:t>
            </a: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autenticar,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autorizar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UsuarioController.listar) </a:t>
            </a: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certo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papel nunca vem do body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cadastro salvasse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inteiro, bastaria mandar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"papel": "admin"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virar administrador.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auth.service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boilerplate monta o usuário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campo a campo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(nome, e-mail e senhaHash): o papel fica no default.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Mantenha assim, e faça o mesmo no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/perfil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só nome e senha podem mudar.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00684"/>
          </a:xfrm>
          <a:prstGeom prst="roundRect">
            <a:avLst>
              <a:gd name="adj" fmla="val 81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66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/api/auth/cadastro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"ana@email.com"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"senha"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"123456"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"papel"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Ana é criada com papel "usuario": o campo extra é ignorado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nasce o primeiro admin?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53390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515618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Cadastre-se normalmente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/api/auth/cadastro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usuário nasce comum.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3342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215134"/>
            <a:ext cx="7040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Edite o documento no banco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Atlas (Browse Collections) ou no Compass, troque o campo para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papel: "admin"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6153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314325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login de novo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o token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carrega o papel de admin.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 disso, um admin pode promover outros usuários, se o sistema tiver essa rota (protegida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autorizar("admin")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token guarda o papel antigo</a:t>
            </a:r>
            <a:endParaRPr lang="en-US" sz="23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papel entra no token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login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Promoveu ou rebaixou alguém? O token antigo continua com o papel antigo até vencer.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4942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foi promovido precisa fazer login de novo.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gerado antes de o papel existir nem tem o campo: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autorizar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responde 403.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Precisa de efeito imediato? O middleware busca o usuário no banco a cada requisição: mais seguro, com uma consulta a mais.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Trocando a senha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o token não basta: peça a senha atual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Duas formas de trocar a senha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4691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Boilerplate: PATCH /perfil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844040"/>
            <a:ext cx="4069080" cy="1929384"/>
          </a:xfrm>
          <a:prstGeom prst="roundRect">
            <a:avLst>
              <a:gd name="adj" fmla="val 3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961083"/>
            <a:ext cx="3776472" cy="16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/api/usuarios/perfil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"senha": "novaSenha123"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200: senha trocada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4691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Mais seguro: PATCH /senha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844040"/>
            <a:ext cx="4069080" cy="1929384"/>
          </a:xfrm>
          <a:prstGeom prst="roundRect">
            <a:avLst>
              <a:gd name="adj" fmla="val 37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1961083"/>
            <a:ext cx="3776472" cy="1695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/api/usuarios/senha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"senhaAtual": "123456",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"novaSenha": "novaSenha123"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200: senha trocada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com o token, quem pegar um computador logado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toma a conta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Pedir a senha atual prova que é o dono.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service: trocarSenha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services/usuario.service.js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trocarSenha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(idDoUsuario, { senhaAtual, novaSenha })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(!senhaAtual || !novaSenha)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'Informe a senha atual e a nova senha.'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validarSenha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(novaSenha)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usuario = await UsuarioRepository.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buscarPorIdComSenha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(idDoUsuario)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(!usuario)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'Usuário não encontrado.'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confere = await bcrypt.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(senhaAtual, usuario.senhaHash)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(!confere)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'Senha atual incorreta.'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saltRounds =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(process.env.BCRYPT_SALT_ROUNDS || 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senhaHash = await bcrypt.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(novaSenha, saltRounds)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UsuarioRepository.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atualizarPorId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(idDoUsuario, { senhaHash 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message: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'Senha alterada com sucesso.'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Senha atual errada: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não 401. No frontend, 401 significa "sua sessão acabou, faça login" (Módulo 11).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Repository, rota e controller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96518"/>
            <a:ext cx="8321040" cy="3049524"/>
          </a:xfrm>
          <a:prstGeom prst="roundRect">
            <a:avLst>
              <a:gd name="adj" fmla="val 239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3561"/>
            <a:ext cx="8028432" cy="281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repositories/usuario.repository.js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buscarPorIdComSenha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Usuario.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'+senhaHash'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routes/usuario.routes.js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'/senha'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autenticar, UsuarioController.trocarSenha)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controllers/usuario.controller.js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trocarSenha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res, next)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await UsuarioService.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trocarSenha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(req.usuario.id, req.body)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(resultado)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(error)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(error)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select("+senhaHash")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necessário porque o Model tem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select: false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E cada função nova entra no objeto exportado do arquivo.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token antigo continua valendo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Trocar a senha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invalida os tokens já emitidos: o JWT é conferido só pela assinatura e pela validade.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8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isso um </a:t>
            </a: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expiresIn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curto importa: limita o tempo de vida de um token vazado.</a:t>
            </a:r>
            <a:endParaRPr lang="en-US" sz="1200" dirty="0"/>
          </a:p>
          <a:p>
            <a:pPr algn="l" marL="177800" indent="-177800">
              <a:buSzPct val="100000"/>
              <a:buChar char="●"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Solução avançada: salvar </a:t>
            </a: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senhaAlteradaEm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troca e recusar tokens emitidos antes disso. O </a:t>
            </a:r>
            <a:r>
              <a:rPr lang="en-US" sz="12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iat</a:t>
            </a: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token diz quando ele foi criado, em segundos.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995676"/>
            <a:ext cx="8046720" cy="1609344"/>
          </a:xfrm>
          <a:prstGeom prst="roundRect">
            <a:avLst>
              <a:gd name="adj" fmla="val 454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112719"/>
            <a:ext cx="7754112" cy="1375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avançado: no middleware, depois de buscar o usuário no banco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(usuario.senhaAlteradaEm)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alterouEm = Math.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(usuario.senhaAlteradaEm.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getTime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/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(dadosDoToken.iat &lt; alterouEm)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'Sessão expirada. Faça login de novo.'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a segurança</a:t>
            </a:r>
            <a:endParaRPr lang="en-US" sz="3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testar a API no Postman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5041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4859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Cadastre um usuário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/api/auth/cadastro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nome, e-mail e senha.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8541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login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copie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resposta.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032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8493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Acesse uma rota protegida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Authorization &gt; Bearer Token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deve dar 200.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027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84448"/>
            <a:ext cx="7040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Tente quebrar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token, com token errado e com senha errada: 401 em todos.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de segurança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41704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458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624584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o hash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00072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banco guarda apenas o 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senhaHash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76600" y="1441704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2458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624584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Nada de hash na resposta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1884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select: false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remoção no JSON.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41720" y="1441704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24584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624584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 genérico no login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1884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"E-mail ou senha incorretos."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11480" y="2990088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6424" y="3172968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Secret no .env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736848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 o 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3276600" y="2990088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1729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71544" y="3172968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com prazo</a:t>
            </a:r>
            <a:endParaRPr lang="en-US" sz="1550" dirty="0"/>
          </a:p>
        </p:txBody>
      </p:sp>
      <p:sp>
        <p:nvSpPr>
          <p:cNvPr id="24" name="Text 16"/>
          <p:cNvSpPr txBox="1"/>
          <p:nvPr/>
        </p:nvSpPr>
        <p:spPr>
          <a:xfrm>
            <a:off x="3459480" y="3736848"/>
            <a:ext cx="222504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Sempre com 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expiresIn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141720" y="2990088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172968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36664" y="3172968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 protegidas</a:t>
            </a:r>
            <a:endParaRPr lang="en-US" sz="1550" dirty="0"/>
          </a:p>
        </p:txBody>
      </p:sp>
      <p:sp>
        <p:nvSpPr>
          <p:cNvPr id="28" name="Text 19"/>
          <p:cNvSpPr txBox="1"/>
          <p:nvPr/>
        </p:nvSpPr>
        <p:spPr>
          <a:xfrm>
            <a:off x="6324600" y="3736848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middleware em toda rota privada.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Atividade: Livros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recurso novo, protegido e com dono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livro pertence a alguém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src/models/livro.model.js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livroSchema =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mongoose.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titulo: { type: String, required: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trim: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autor: { type: String, required: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trim: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dono: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mongoose.Schema.Types.ObjectId,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ref: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'Usuario'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timestamps: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Diferente do usuário, o livro guarda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mesmo relacionamento por referência do Módulo 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rotas dos livros</a:t>
            </a:r>
            <a:endParaRPr lang="en-US" sz="3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Rota (protegida)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Service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que garante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POST /api/livros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registrar(idDoUsuario, dados)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dono é quem está logado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/api/livros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listarMeus(idDoUsuario)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Só os livros do usuário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/api/livros/:id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buscarMeu(idDoUsuario, id)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Livro de outro: 404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PATCH /api/livros/:id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atualizarMeu(idDoUsuario, id, dados)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Só altera os próprios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DELETE /api/livros/:id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removerMeu(idDoUsuario, id)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Só remove os próprios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Ordem sugerida: Model → Repository → Routes (registradas no </a:t>
            </a:r>
            <a:r>
              <a:rPr lang="en-US" sz="13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r>
              <a:rPr lang="en-US" sz="13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 → Service → Controller.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dono vem do token, nunca do body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o dono vier do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qualquer usuário cadastra ou lê livros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nome de outro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id de quem está logado está em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req.usuario.id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colocado lá pelo middleware.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 busca filtra pelo dono: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Livro.findOne({ _id: id, dono: idDoUsuario })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Livro de outra pessoa = não encontrado.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controller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idDoUsuario = req.usuario.id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livro = await LivroService.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(idDoUsuario, req.body)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Arquivos do recurso Livro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79448"/>
            <a:ext cx="8321040" cy="1883664"/>
          </a:xfrm>
          <a:prstGeom prst="roundRect">
            <a:avLst>
              <a:gd name="adj" fmla="val 38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796491"/>
            <a:ext cx="8028432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models/livro.model.js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repositories/livro.repository.js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services/livro.service.js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controllers/livro.controller.js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routes/livro.routes.js      (registrar no app.js)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arquivo por camada: o mesmo caminho da requisição que vimos no começo do módulo.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Livros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232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Model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livro.model.js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o campo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referenciando o usuário.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repository, o service, o controller e o arquivo de rotas, e registre as rotas no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Implemente as cinco rotas protegidas da tabela, todas com o middleware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no Postman com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dois usuários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um não pode ver nem alterar os livros do outro.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43966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9090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53110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id do dono é sempre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req.usuario.id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Se precisar de uma consulta nova, ela nasce no repository.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343966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39090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353110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papel admin e a rota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/api/usuarios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só para admins. Bônus: a troca de senha com a senha atual.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de exercícios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 de código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Autenticação e MVC: bcrypt, JWT e camadas, em peças soltas.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o boilerplate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Biblioteca, Academia e Petshop.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583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25755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Finanças, Lions Bet e Tarefas: APIs completas com login.</a:t>
            </a:r>
            <a:endParaRPr lang="en-US" sz="1650" dirty="0"/>
          </a:p>
        </p:txBody>
      </p:sp>
      <p:sp>
        <p:nvSpPr>
          <p:cNvPr id="11" name="Text 5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repositório: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modulo09/lista_de_exercicios/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flashcards com dono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Fio condutor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Leve o flashcards do Módulo 8 para o boilerplate e dê um 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dono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cada baralho.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84376"/>
            <a:ext cx="8138160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o recurso 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Baralho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arquivo por arquivo, como o Livro: model, repository, service, controller e rotas.</a:t>
            </a:r>
            <a:endParaRPr lang="en-US" sz="145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model, acrescente </a:t>
            </a: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</a:t>
            </a: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ObjectId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</a:t>
            </a: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"Usuario"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obrigatório.</a:t>
            </a:r>
            <a:endParaRPr lang="en-US" sz="145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Proteja as rotas </a:t>
            </a: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/api/baralhos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 middleware </a:t>
            </a: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cadastro, o dono vem de </a:t>
            </a: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req.usuario.id</a:t>
            </a: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; na listagem, busque só os baralhos desse usuário.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no Postman com dois usuários: um não vê nem apaga o baralho do outro.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3945636"/>
            <a:ext cx="3954780" cy="854964"/>
          </a:xfrm>
          <a:prstGeom prst="roundRect">
            <a:avLst>
              <a:gd name="adj" fmla="val 8556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19023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037076"/>
            <a:ext cx="317754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dono vem do token, nunca do body.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686300" y="3945636"/>
            <a:ext cx="3954780" cy="854964"/>
          </a:xfrm>
          <a:prstGeom prst="roundRect">
            <a:avLst>
              <a:gd name="adj" fmla="val 8556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419023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6380" y="4037076"/>
            <a:ext cx="317754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faça o mesmo com o Flashcard: só o dono do baralho cria cartões nele.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9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modulo09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64261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5968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319272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2735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9B, a API ganha testes automatizados: nada de clicar em tudo no Postman a cada mudança.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9</dc:title>
  <dc:subject>PptxGenJS Presentation</dc:subject>
  <dc:creator>Nicolas Cardoso Motta</dc:creator>
  <cp:lastModifiedBy>Nicolas Cardoso Motta</cp:lastModifiedBy>
  <cp:revision>1</cp:revision>
  <dcterms:created xsi:type="dcterms:W3CDTF">2026-09-27T23:25:41Z</dcterms:created>
  <dcterms:modified xsi:type="dcterms:W3CDTF">2026-09-27T23:25:41Z</dcterms:modified>
</cp:coreProperties>
</file>