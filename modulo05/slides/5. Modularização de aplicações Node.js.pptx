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5 — Modularização de aplicações Node.js.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Revisão de abertura (5 minutos) do Módulo 4. Peça para a turma explicar cada cartão com as próprias palavras antes de você falar.
Termine com a pergunta do rodapé. Resposta esperada: ela é pesada e pode ser recriada a qualquer momento com npm install, a partir do package.json.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do curso: hoje é o Módulo 5 (Modularização de aplicações Node.js). Os módulos com o sinal de visto já passaram; o laranja é o de hoje.
Adiante o próximo passo: o Módulo 6 (Sistema de Cadastro e Busca) depende do que a turma aprender hoje.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os objetivos em voz alta. No fim da aula, volte a este slide e peça para cada um dizer qual item já consegue fazer sozinho.
• Entender o que é um módulo e por que dividir o código em arquivos.
• Usar os módulos nativos do Node.js.
• Diferenciar CommonJS e ES Modules.
• Exportar e importar com export default e export nomeado.
• Refatorar a calculadora do Módulo 3 em módulos.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 de transição: leia com calma e deixe a ideia assentar antes do próximo slide.
"No Módulo 3, a calculadora inteira ficou num arquivo só. Funciona… mas imagine um projeto com milhares de linhas."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Difícil de ler: Centenas ou milhares de linhas num único arquivo.
• Difícil achar bugs: Tudo misturado: menu, regras e contas.
• Difícil em equipe: Todo mundo mexendo no mesmo arquivo gera conflitos no Git.
• Nada se reaproveita: Para usar uma função em outro projeto, só copiando e colando.
Mensagem principal: Monolítico = tudo num lugar só. A solução é dividir o código em módulos.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"O que é um módulo?". Antes de avançar, faça uma pergunta rápida que ligue o assunto novo ao que a turma já sabe.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Um arquivo JavaScript: Cada módulo é um arquivo que guarda um pedaço do código, com uma responsabilidade clara.
• Escopo próprio: O que está dentro do arquivo só é visível para fora se for exportado.
• Exporta e importa: Um arquivo disponibiliza o código (export) e outro traz para usar (import).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Reutilização: Escreva uma vez e use em vários lugares, sem duplicar código.
• Manutenção: Arquivos pequenos: é fácil achar e corrigir erros ou adicionar funcionalidades.
• Organização: Cada módulo cuida de uma responsabilidade. O projeto fica fácil de ler.
• Colaboração: Cada pessoa trabalha num módulo diferente, ao mesmo tempo.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"Módulos Nativos". Antes de avançar, faça uma pergunta rápida que ligue o assunto novo ao que a turma já sabe.
Frase de apoio: Ferramentas que já vêm com o Node.js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Node.js já vem com várias ferramentas "de fábrica". Não precisa instalar nada: basta importar pelo nome.
Pontos para falar:
• fs: Lê e cria arquivos no computador (você viu nas ferramentas do Módulo 2).
• path: Monta caminhos de pastas e arquivos do jeito certo.
• http: Cria servidores web. O Express do Módulo 7 é construído em cima dele.
Mensagem principal: CommonJS: const fs = require("fs") · ES Modules: import fs from "node:fs"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"CommonJS x ES Modules". Antes de avançar, faça uma pergunta rápida que ligue o assunto novo ao que a turma já sabe.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CommonJS (CJS): Criado pelo Node.js quando o JavaScript ainda não tinha módulos oficiais. Usa require e module.exports.
• ES Modules (ESM): O padrão oficial do JavaScript, usado também nos navegadores e no React. Usa import e export.
Mensagem principal: O Node.js suporta os dois. Como desenvolvedores, precisamos saber ler e escrever ambos.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os dois lados: "CommonJS" x "ES Modules". Pergunte qual diferença chama mais atenção antes de explicar.
Mensagem principal: Mesma ideia, sintaxe diferente. No ES Modules, o caminho do arquivo leva a extensão .js.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Destaques:
• "type": "module": avisa o Node.js que o projeto usa import e export.
• padrão: sem essa linha, o Node.js trata todo arquivo .js como CommonJS.
• Módulo 2: lembra do aviso no terminal e do require que para de funcionar? É esta linha.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"Exportação Padrão x Nomeada". Antes de avançar, faça uma pergunta rápida que ligue o assunto novo ao que a turma já sabe.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Destaques:
• export default: a coisa principal do arquivo. Só pode haver uma por arquivo.
• import: sem chaves, e o nome é livre: você escolhe como chamar.
• quando usar: quando o arquivo tem uma única responsabilidade, como somar.js.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Destaques:
• export: na frente de cada coisa que o arquivo disponibiliza. Pode haver várias.
• { }: no import, os nomes vêm entre chaves e precisam ser exatamente iguais aos do export.
• quando usar: quando o arquivo reúne várias funções relacionadas.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No ES Modules, o caminho de um arquivo seu precisa do ./ e da extensão .js.
• Sem o ./, o Node.js procura um pacote na node_modules e dá ERR_MODULE_NOT_FOUND.
• Sem o .js, também dá erro: diferente do require, o import não completa a extensão.
• No Linux, maiúsculas contam: ./Somar.js e ./somar.js são arquivos diferentes.
Se possível, rode o código para a turma ver o erro acontecer.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Import nomeado usa chaves e o mesmo nome do export. O default não usa chaves.
• Trocar um pelo outro é o erro mais comum de quem está começando com módulos.
• O Node.js avisa: "does not provide an export named…" ou "does not provide an export named default".
Se possível, rode o código para a turma ver o erro acontecer.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módulo é carregado uma única vez. Se dois arquivos importam o mesmo array, os dois mexem no mesmo array: isso vai ser a base do CRUD do Módulo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O caminho do import é relativo ao arquivo que está importando, não à pasta onde você rodou o node.
• ./ é a pasta do próprio arquivo; ../ sobe uma pasta.
• De src/routes/livros.js para src/models/livro.js: ../models/livro.js.
Se possível, rode o código para a turma ver o erro acontecer.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"Modularizando a Calculadora". Antes de avançar, faça uma pergunta rápida que ligue o assunto novo ao que a turma já sabe.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operação matemática vira um módulo separado. Isso deixa o código mais organizado, fácil de manter e de estender.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os dois lados: "somar.js" x "porcentagem.js". Pergunte qual diferença chama mais atenção antes de explicar.
Mensagem principal: subtrair.js, multiplicar.js e dividir.js seguem o mesmo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repositório, modulo05/exercicios_slides/calculadora/calculadora.js ficou sem o isNaN do Módulo 3. Vale devolver a validação.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Hora da Prática: combine o tempo, peça para a turma abrir o VS Code e circule pela sala durante as atividades.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(Módulos): leia o enunciado em voz alta, combine o tempo (15 a 25 minutos, conforme a turma) e circule pela sala.
Desenvolva do zero uma calculadora estatística no terminal, já com a arquitetura de módulos:
• Inicie o projeto (npm init -y), instale o prompt-sync e ative o ES Modules (ou use CommonJS).
• O arquivo principal tem um menu que roda em laço até o usuário escolher sair.
• Opções: adicionar número, remover número, calcular a média, calcular a mediana e ver a lista.
• O arquivo principal não faz contas: crie media.js, mediana.js, adicionar.js e remover.js.
• Exporte as funções e importe no arquivo principal, chamando cada uma pela opção do menu.
Dica: converta a entrada com parseFloat e confira se a lista não está vazia antes de calcular: média de uma lista vazia divide por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mediana.js do repositório (modulo05/exercicios_slides/calculadora_estatistica) calcula a mediana sem ordenar a lista: com números fora de ordem, o resultado fica errado.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Parte 0 e 1: aquecimento e complete o código: Exports por default e exports nomeados.
• Parte 2: ache o bug: Import quebrado e default x nomeado.
• Parte 3: prever o resultado: Vai rodar ou dar erro?
• Parte 4: desafio: Um mini projeto modular, escrito do zero.
Mensagem principal: No repositório: modulo05/lista_de_exercicios/codigo_modulos.md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QR code e peça para a turma abrir a pasta modulo05 no celular agora, antes de ir embora.
Lembre o que tem lá: conteudo, exercicios_slides, lista_de_exercicios, exercicios_resolvidos. O cheat sheet do módulo fica em conteudo/ e resume a aula em duas páginas.
Link: https://github.com/nicolassmotta/curso-lions-dev/tree/main/modulo05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Encerramento: retome os objetivos do começo, abra para dúvidas e lembre onde ficam a lista de exercícios e o material no repositório.
Frase de saída: No Módulo 6, os módulos vão organizar um sistema de cadastro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2.png"/><Relationship Id="rId4" Type="http://schemas.openxmlformats.org/officeDocument/2006/relationships/image" Target="../media/image-3-2.png"/><Relationship Id="rId5" Type="http://schemas.openxmlformats.org/officeDocument/2006/relationships/image" Target="../media/image-3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image" Target="../media/image-6-2.png"/><Relationship Id="rId5" Type="http://schemas.openxmlformats.org/officeDocument/2006/relationships/image" Target="../media/image-6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3-2.png"/><Relationship Id="rId3" Type="http://schemas.openxmlformats.org/officeDocument/2006/relationships/image" Target="../media/image-11-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image" Target="../media/image-3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4048"/>
            <a:ext cx="402336" cy="4572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60704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1500" b="1" spc="3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1500" dirty="0"/>
          </a:p>
        </p:txBody>
      </p:sp>
      <p:sp>
        <p:nvSpPr>
          <p:cNvPr id="5" name="Text 1"/>
          <p:cNvSpPr txBox="1"/>
          <p:nvPr/>
        </p:nvSpPr>
        <p:spPr>
          <a:xfrm>
            <a:off x="1060704" y="6583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Curso de Programação</a:t>
            </a:r>
            <a:endParaRPr lang="en-US" sz="950" dirty="0"/>
          </a:p>
        </p:txBody>
      </p:sp>
      <p:pic>
        <p:nvPicPr>
          <p:cNvPr id="6" name="Image 1" descr="Símbolo Lions Dev em degradê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601047"/>
            <a:ext cx="3520440" cy="4000841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48640" y="157276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MÓDULO 5</a:t>
            </a:r>
            <a:endParaRPr lang="en-US" sz="1300" dirty="0"/>
          </a:p>
        </p:txBody>
      </p:sp>
      <p:sp>
        <p:nvSpPr>
          <p:cNvPr id="8" name="Text 3"/>
          <p:cNvSpPr txBox="1"/>
          <p:nvPr/>
        </p:nvSpPr>
        <p:spPr>
          <a:xfrm>
            <a:off x="548640" y="1938528"/>
            <a:ext cx="4663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Modularização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aplicações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Node.js</a:t>
            </a:r>
            <a:endParaRPr lang="en-US" sz="3600" dirty="0"/>
          </a:p>
        </p:txBody>
      </p:sp>
      <p:sp>
        <p:nvSpPr>
          <p:cNvPr id="9" name="Text 4"/>
          <p:cNvSpPr txBox="1"/>
          <p:nvPr/>
        </p:nvSpPr>
        <p:spPr>
          <a:xfrm>
            <a:off x="548640" y="4434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Professor Nicolas Cardoso Motta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137160" y="109728"/>
            <a:ext cx="1325880" cy="274320"/>
          </a:xfrm>
          <a:prstGeom prst="rect">
            <a:avLst/>
          </a:prstGeom>
          <a:noFill/>
          <a:ln w="12700">
            <a:solidFill>
              <a:srgbClr val="E16D3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Revisando…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Revisando o Módulo 4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11480" y="1512570"/>
            <a:ext cx="2590800" cy="2132076"/>
          </a:xfrm>
          <a:prstGeom prst="roundRect">
            <a:avLst>
              <a:gd name="adj" fmla="val 428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95450"/>
            <a:ext cx="384048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06424" y="1695450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Commit</a:t>
            </a:r>
            <a:endParaRPr lang="en-US" sz="1750" dirty="0"/>
          </a:p>
        </p:txBody>
      </p:sp>
      <p:sp>
        <p:nvSpPr>
          <p:cNvPr id="9" name="Text 5"/>
          <p:cNvSpPr txBox="1"/>
          <p:nvPr/>
        </p:nvSpPr>
        <p:spPr>
          <a:xfrm>
            <a:off x="594360" y="2170938"/>
            <a:ext cx="2225040" cy="1141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escolhe o que entra;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salva uma foto do projeto.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3276600" y="1512570"/>
            <a:ext cx="2590800" cy="2132076"/>
          </a:xfrm>
          <a:prstGeom prst="roundRect">
            <a:avLst>
              <a:gd name="adj" fmla="val 428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480" y="1695450"/>
            <a:ext cx="384048" cy="38404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971544" y="1695450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Remoto</a:t>
            </a:r>
            <a:endParaRPr lang="en-US" sz="1750" dirty="0"/>
          </a:p>
        </p:txBody>
      </p:sp>
      <p:sp>
        <p:nvSpPr>
          <p:cNvPr id="13" name="Text 8"/>
          <p:cNvSpPr txBox="1"/>
          <p:nvPr/>
        </p:nvSpPr>
        <p:spPr>
          <a:xfrm>
            <a:off x="3459480" y="2170938"/>
            <a:ext cx="2225040" cy="1141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envia,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traz e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baixa o repositório inteiro.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6141720" y="1512570"/>
            <a:ext cx="2590800" cy="2132076"/>
          </a:xfrm>
          <a:prstGeom prst="roundRect">
            <a:avLst>
              <a:gd name="adj" fmla="val 428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1695450"/>
            <a:ext cx="384048" cy="38404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836664" y="1695450"/>
            <a:ext cx="17129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7A0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Branches e PR</a:t>
            </a:r>
            <a:endParaRPr lang="en-US" sz="1750" dirty="0"/>
          </a:p>
        </p:txBody>
      </p:sp>
      <p:sp>
        <p:nvSpPr>
          <p:cNvPr id="17" name="Text 11"/>
          <p:cNvSpPr txBox="1"/>
          <p:nvPr/>
        </p:nvSpPr>
        <p:spPr>
          <a:xfrm>
            <a:off x="6324600" y="2320290"/>
            <a:ext cx="2225040" cy="1141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Cada tarefa numa branch; o Pull Request revisa antes do merge na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50" dirty="0"/>
          </a:p>
        </p:txBody>
      </p:sp>
      <p:sp>
        <p:nvSpPr>
          <p:cNvPr id="18" name="Text 12"/>
          <p:cNvSpPr txBox="1"/>
          <p:nvPr/>
        </p:nvSpPr>
        <p:spPr>
          <a:xfrm>
            <a:off x="640080" y="418795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Pergunta para abrir: por que a pasta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node_modules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vai no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.gitignore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Mapa do curso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86107" y="1133856"/>
            <a:ext cx="677178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BASE: JAVASCRIPT, GIT E ORGANIZAÇÃO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1186107" y="1389888"/>
            <a:ext cx="6771785" cy="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11342" y="2779776"/>
            <a:ext cx="56222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BACKEND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11342" y="3035808"/>
            <a:ext cx="5622254" cy="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58999" y="2779776"/>
            <a:ext cx="21736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FRONTEND E PROJETO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358999" y="3035808"/>
            <a:ext cx="2173659" cy="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86107" y="148132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186107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1231827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Ambiente</a:t>
            </a:r>
            <a:endParaRPr lang="en-US" sz="9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915" y="1536192"/>
            <a:ext cx="219456" cy="219456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335639" y="148132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2335639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3"/>
          <p:cNvSpPr txBox="1"/>
          <p:nvPr/>
        </p:nvSpPr>
        <p:spPr>
          <a:xfrm>
            <a:off x="2381359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Fundamentos de JS</a:t>
            </a:r>
            <a:endParaRPr lang="en-US" sz="9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5447" y="1536192"/>
            <a:ext cx="219456" cy="21945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485170" y="148132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3485170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6"/>
          <p:cNvSpPr txBox="1"/>
          <p:nvPr/>
        </p:nvSpPr>
        <p:spPr>
          <a:xfrm>
            <a:off x="3530890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Calculadora</a:t>
            </a:r>
            <a:endParaRPr lang="en-US" sz="95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4978" y="1536192"/>
            <a:ext cx="219456" cy="219456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634702" y="148132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4634702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19"/>
          <p:cNvSpPr txBox="1"/>
          <p:nvPr/>
        </p:nvSpPr>
        <p:spPr>
          <a:xfrm>
            <a:off x="4680422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 e GitHub</a:t>
            </a:r>
            <a:endParaRPr lang="en-US" sz="95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4510" y="1536192"/>
            <a:ext cx="219456" cy="219456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5784233" y="148132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E16D34"/>
          </a:solidFill>
          <a:ln w="19050">
            <a:solidFill>
              <a:srgbClr val="E16D34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5784233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2400" dirty="0"/>
          </a:p>
        </p:txBody>
      </p:sp>
      <p:sp>
        <p:nvSpPr>
          <p:cNvPr id="29" name="Text 22"/>
          <p:cNvSpPr txBox="1"/>
          <p:nvPr/>
        </p:nvSpPr>
        <p:spPr>
          <a:xfrm>
            <a:off x="5829953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Módulos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6933765" y="1481328"/>
            <a:ext cx="1024128" cy="1024128"/>
          </a:xfrm>
          <a:prstGeom prst="roundRect">
            <a:avLst>
              <a:gd name="adj" fmla="val 8929"/>
            </a:avLst>
          </a:prstGeom>
          <a:ln w="9525">
            <a:solidFill>
              <a:srgbClr val="9CA3AF"/>
            </a:solidFill>
            <a:prstDash val="dash"/>
          </a:ln>
        </p:spPr>
      </p:sp>
      <p:sp>
        <p:nvSpPr>
          <p:cNvPr id="31" name="Text 24"/>
          <p:cNvSpPr txBox="1"/>
          <p:nvPr/>
        </p:nvSpPr>
        <p:spPr>
          <a:xfrm>
            <a:off x="6933765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2400" dirty="0"/>
          </a:p>
        </p:txBody>
      </p:sp>
      <p:sp>
        <p:nvSpPr>
          <p:cNvPr id="32" name="Text 25"/>
          <p:cNvSpPr txBox="1"/>
          <p:nvPr/>
        </p:nvSpPr>
        <p:spPr>
          <a:xfrm>
            <a:off x="6979485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Cadastro e busca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611342" y="3127248"/>
            <a:ext cx="1024128" cy="1024128"/>
          </a:xfrm>
          <a:prstGeom prst="roundRect">
            <a:avLst>
              <a:gd name="adj" fmla="val 8929"/>
            </a:avLst>
          </a:prstGeom>
          <a:ln w="9525">
            <a:solidFill>
              <a:srgbClr val="9CA3AF"/>
            </a:solidFill>
            <a:prstDash val="dash"/>
          </a:ln>
        </p:spPr>
      </p:sp>
      <p:sp>
        <p:nvSpPr>
          <p:cNvPr id="34" name="Text 27"/>
          <p:cNvSpPr txBox="1"/>
          <p:nvPr/>
        </p:nvSpPr>
        <p:spPr>
          <a:xfrm>
            <a:off x="611342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2400" dirty="0"/>
          </a:p>
        </p:txBody>
      </p:sp>
      <p:sp>
        <p:nvSpPr>
          <p:cNvPr id="35" name="Text 28"/>
          <p:cNvSpPr txBox="1"/>
          <p:nvPr/>
        </p:nvSpPr>
        <p:spPr>
          <a:xfrm>
            <a:off x="657062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APIs com Express</a:t>
            </a:r>
            <a:endParaRPr lang="en-US" sz="950" dirty="0"/>
          </a:p>
        </p:txBody>
      </p:sp>
      <p:sp>
        <p:nvSpPr>
          <p:cNvPr id="36" name="Shape 29"/>
          <p:cNvSpPr/>
          <p:nvPr/>
        </p:nvSpPr>
        <p:spPr>
          <a:xfrm>
            <a:off x="1760873" y="3127248"/>
            <a:ext cx="1024128" cy="1024128"/>
          </a:xfrm>
          <a:prstGeom prst="roundRect">
            <a:avLst>
              <a:gd name="adj" fmla="val 8929"/>
            </a:avLst>
          </a:prstGeom>
          <a:ln w="9525">
            <a:solidFill>
              <a:srgbClr val="9CA3AF"/>
            </a:solidFill>
            <a:prstDash val="dash"/>
          </a:ln>
        </p:spPr>
      </p:sp>
      <p:sp>
        <p:nvSpPr>
          <p:cNvPr id="37" name="Text 30"/>
          <p:cNvSpPr txBox="1"/>
          <p:nvPr/>
        </p:nvSpPr>
        <p:spPr>
          <a:xfrm>
            <a:off x="1760873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2400" dirty="0"/>
          </a:p>
        </p:txBody>
      </p:sp>
      <p:sp>
        <p:nvSpPr>
          <p:cNvPr id="38" name="Text 31"/>
          <p:cNvSpPr txBox="1"/>
          <p:nvPr/>
        </p:nvSpPr>
        <p:spPr>
          <a:xfrm>
            <a:off x="1806593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MongoDB</a:t>
            </a:r>
            <a:endParaRPr lang="en-US" sz="950" dirty="0"/>
          </a:p>
        </p:txBody>
      </p:sp>
      <p:sp>
        <p:nvSpPr>
          <p:cNvPr id="39" name="Shape 32"/>
          <p:cNvSpPr/>
          <p:nvPr/>
        </p:nvSpPr>
        <p:spPr>
          <a:xfrm>
            <a:off x="2910405" y="3127248"/>
            <a:ext cx="1024128" cy="1024128"/>
          </a:xfrm>
          <a:prstGeom prst="roundRect">
            <a:avLst>
              <a:gd name="adj" fmla="val 8929"/>
            </a:avLst>
          </a:prstGeom>
          <a:ln w="9525">
            <a:solidFill>
              <a:srgbClr val="9CA3AF"/>
            </a:solidFill>
            <a:prstDash val="dash"/>
          </a:ln>
        </p:spPr>
      </p:sp>
      <p:sp>
        <p:nvSpPr>
          <p:cNvPr id="40" name="Text 33"/>
          <p:cNvSpPr txBox="1"/>
          <p:nvPr/>
        </p:nvSpPr>
        <p:spPr>
          <a:xfrm>
            <a:off x="2910405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</a:t>
            </a:r>
            <a:endParaRPr lang="en-US" sz="2400" dirty="0"/>
          </a:p>
        </p:txBody>
      </p:sp>
      <p:sp>
        <p:nvSpPr>
          <p:cNvPr id="41" name="Text 34"/>
          <p:cNvSpPr txBox="1"/>
          <p:nvPr/>
        </p:nvSpPr>
        <p:spPr>
          <a:xfrm>
            <a:off x="2956125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JWT e MVC</a:t>
            </a:r>
            <a:endParaRPr lang="en-US" sz="950" dirty="0"/>
          </a:p>
        </p:txBody>
      </p:sp>
      <p:sp>
        <p:nvSpPr>
          <p:cNvPr id="42" name="Shape 35"/>
          <p:cNvSpPr/>
          <p:nvPr/>
        </p:nvSpPr>
        <p:spPr>
          <a:xfrm>
            <a:off x="4059936" y="3127248"/>
            <a:ext cx="1024128" cy="1024128"/>
          </a:xfrm>
          <a:prstGeom prst="roundRect">
            <a:avLst>
              <a:gd name="adj" fmla="val 8929"/>
            </a:avLst>
          </a:prstGeom>
          <a:ln w="9525">
            <a:solidFill>
              <a:srgbClr val="9CA3AF"/>
            </a:solidFill>
            <a:prstDash val="dash"/>
          </a:ln>
        </p:spPr>
      </p:sp>
      <p:sp>
        <p:nvSpPr>
          <p:cNvPr id="43" name="Text 36"/>
          <p:cNvSpPr txBox="1"/>
          <p:nvPr/>
        </p:nvSpPr>
        <p:spPr>
          <a:xfrm>
            <a:off x="4059936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9B</a:t>
            </a:r>
            <a:endParaRPr lang="en-US" sz="2400" dirty="0"/>
          </a:p>
        </p:txBody>
      </p:sp>
      <p:sp>
        <p:nvSpPr>
          <p:cNvPr id="44" name="Text 37"/>
          <p:cNvSpPr txBox="1"/>
          <p:nvPr/>
        </p:nvSpPr>
        <p:spPr>
          <a:xfrm>
            <a:off x="4105656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Testes</a:t>
            </a:r>
            <a:endParaRPr lang="en-US" sz="950" dirty="0"/>
          </a:p>
        </p:txBody>
      </p:sp>
      <p:sp>
        <p:nvSpPr>
          <p:cNvPr id="45" name="Shape 38"/>
          <p:cNvSpPr/>
          <p:nvPr/>
        </p:nvSpPr>
        <p:spPr>
          <a:xfrm>
            <a:off x="5209467" y="3127248"/>
            <a:ext cx="1024128" cy="1024128"/>
          </a:xfrm>
          <a:prstGeom prst="roundRect">
            <a:avLst>
              <a:gd name="adj" fmla="val 8929"/>
            </a:avLst>
          </a:prstGeom>
          <a:ln w="9525">
            <a:solidFill>
              <a:srgbClr val="9CA3AF"/>
            </a:solidFill>
            <a:prstDash val="dash"/>
          </a:ln>
        </p:spPr>
      </p:sp>
      <p:sp>
        <p:nvSpPr>
          <p:cNvPr id="46" name="Text 39"/>
          <p:cNvSpPr txBox="1"/>
          <p:nvPr/>
        </p:nvSpPr>
        <p:spPr>
          <a:xfrm>
            <a:off x="5209467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2400" dirty="0"/>
          </a:p>
        </p:txBody>
      </p:sp>
      <p:sp>
        <p:nvSpPr>
          <p:cNvPr id="47" name="Text 40"/>
          <p:cNvSpPr txBox="1"/>
          <p:nvPr/>
        </p:nvSpPr>
        <p:spPr>
          <a:xfrm>
            <a:off x="5255187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Deploy</a:t>
            </a:r>
            <a:endParaRPr lang="en-US" sz="950" dirty="0"/>
          </a:p>
        </p:txBody>
      </p:sp>
      <p:sp>
        <p:nvSpPr>
          <p:cNvPr id="48" name="Shape 41"/>
          <p:cNvSpPr/>
          <p:nvPr/>
        </p:nvSpPr>
        <p:spPr>
          <a:xfrm>
            <a:off x="6358999" y="3127248"/>
            <a:ext cx="1024128" cy="1024128"/>
          </a:xfrm>
          <a:prstGeom prst="roundRect">
            <a:avLst>
              <a:gd name="adj" fmla="val 8929"/>
            </a:avLst>
          </a:prstGeom>
          <a:ln w="9525">
            <a:solidFill>
              <a:srgbClr val="9CA3AF"/>
            </a:solidFill>
            <a:prstDash val="dash"/>
          </a:ln>
        </p:spPr>
      </p:sp>
      <p:sp>
        <p:nvSpPr>
          <p:cNvPr id="49" name="Text 42"/>
          <p:cNvSpPr txBox="1"/>
          <p:nvPr/>
        </p:nvSpPr>
        <p:spPr>
          <a:xfrm>
            <a:off x="6358999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endParaRPr lang="en-US" sz="2400" dirty="0"/>
          </a:p>
        </p:txBody>
      </p:sp>
      <p:sp>
        <p:nvSpPr>
          <p:cNvPr id="50" name="Text 43"/>
          <p:cNvSpPr txBox="1"/>
          <p:nvPr/>
        </p:nvSpPr>
        <p:spPr>
          <a:xfrm>
            <a:off x="6404719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FlutterFlow</a:t>
            </a:r>
            <a:endParaRPr lang="en-US" sz="950" dirty="0"/>
          </a:p>
        </p:txBody>
      </p:sp>
      <p:sp>
        <p:nvSpPr>
          <p:cNvPr id="51" name="Shape 44"/>
          <p:cNvSpPr/>
          <p:nvPr/>
        </p:nvSpPr>
        <p:spPr>
          <a:xfrm>
            <a:off x="7508530" y="3127248"/>
            <a:ext cx="1024128" cy="1024128"/>
          </a:xfrm>
          <a:prstGeom prst="roundRect">
            <a:avLst>
              <a:gd name="adj" fmla="val 8929"/>
            </a:avLst>
          </a:prstGeom>
          <a:ln w="9525">
            <a:solidFill>
              <a:srgbClr val="9CA3AF"/>
            </a:solidFill>
            <a:prstDash val="dash"/>
          </a:ln>
        </p:spPr>
      </p:sp>
      <p:sp>
        <p:nvSpPr>
          <p:cNvPr id="52" name="Text 45"/>
          <p:cNvSpPr txBox="1"/>
          <p:nvPr/>
        </p:nvSpPr>
        <p:spPr>
          <a:xfrm>
            <a:off x="7508530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2400" dirty="0"/>
          </a:p>
        </p:txBody>
      </p:sp>
      <p:sp>
        <p:nvSpPr>
          <p:cNvPr id="53" name="Text 46"/>
          <p:cNvSpPr txBox="1"/>
          <p:nvPr/>
        </p:nvSpPr>
        <p:spPr>
          <a:xfrm>
            <a:off x="7554250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Projeto final</a:t>
            </a:r>
            <a:endParaRPr lang="en-US" sz="950" dirty="0"/>
          </a:p>
        </p:txBody>
      </p:sp>
      <p:sp>
        <p:nvSpPr>
          <p:cNvPr id="54" name="Text 47"/>
          <p:cNvSpPr txBox="1"/>
          <p:nvPr/>
        </p:nvSpPr>
        <p:spPr>
          <a:xfrm>
            <a:off x="548640" y="43159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Você está aqui: 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Módulo 5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Modularização de aplicações Node.js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17320"/>
            <a:ext cx="2286000" cy="22860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3840480" y="868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Objetivo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3858768" y="1417320"/>
            <a:ext cx="4846320" cy="45720"/>
          </a:xfrm>
          <a:prstGeom prst="rect">
            <a:avLst/>
          </a:prstGeom>
          <a:solidFill>
            <a:srgbClr val="E16D34"/>
          </a:solidFill>
          <a:ln w="12700">
            <a:solidFill>
              <a:srgbClr val="E16D3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3858768" y="1572768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Entender o que é um módulo e por que dividir o código em arquivos.</a:t>
            </a:r>
            <a:endParaRPr lang="en-US" sz="1500" dirty="0"/>
          </a:p>
          <a:p>
            <a:pPr algn="l" marL="177800" indent="-1778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Usar os módulos nativos do Node.js.</a:t>
            </a:r>
            <a:endParaRPr lang="en-US" sz="1500" dirty="0"/>
          </a:p>
          <a:p>
            <a:pPr algn="l" marL="177800" indent="-1778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Diferenciar CommonJS e ES Modules.</a:t>
            </a:r>
            <a:endParaRPr lang="en-US" sz="1500" dirty="0"/>
          </a:p>
          <a:p>
            <a:pPr algn="l" marL="177800" indent="-1778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Exportar e importar com export default e export nomeado.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Refatorar a calculadora do Módulo 3 em módulos.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1188720" y="1005840"/>
            <a:ext cx="6766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Módulo 3, a calculadora inteira ficou num arquivo só. Funciona… mas imagine um projeto com </a:t>
            </a:r>
            <a:r>
              <a:rPr lang="en-US" sz="2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milhares de linhas</a:t>
            </a: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problema do código monolítico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158240"/>
            <a:ext cx="4023360" cy="1319784"/>
          </a:xfrm>
          <a:prstGeom prst="roundRect">
            <a:avLst>
              <a:gd name="adj" fmla="val 6928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41120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341120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Difícil de ler</a:t>
            </a:r>
            <a:endParaRPr lang="en-US" sz="17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1816608"/>
            <a:ext cx="3657600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Centenas ou milhares de linhas num único arquivo.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4709160" y="1158240"/>
            <a:ext cx="4023360" cy="1319784"/>
          </a:xfrm>
          <a:prstGeom prst="roundRect">
            <a:avLst>
              <a:gd name="adj" fmla="val 6928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341120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04104" y="1341120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Difícil achar bugs</a:t>
            </a:r>
            <a:endParaRPr lang="en-US" sz="1750" dirty="0"/>
          </a:p>
        </p:txBody>
      </p:sp>
      <p:sp>
        <p:nvSpPr>
          <p:cNvPr id="12" name="Text 7"/>
          <p:cNvSpPr txBox="1"/>
          <p:nvPr/>
        </p:nvSpPr>
        <p:spPr>
          <a:xfrm>
            <a:off x="4892040" y="1816608"/>
            <a:ext cx="3657600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Tudo misturado: menu, regras e contas.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411480" y="2679192"/>
            <a:ext cx="4023360" cy="1319784"/>
          </a:xfrm>
          <a:prstGeom prst="roundRect">
            <a:avLst>
              <a:gd name="adj" fmla="val 6928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862072"/>
            <a:ext cx="384048" cy="38404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106424" y="286207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Difícil em equipe</a:t>
            </a:r>
            <a:endParaRPr lang="en-US" sz="1750" dirty="0"/>
          </a:p>
        </p:txBody>
      </p:sp>
      <p:sp>
        <p:nvSpPr>
          <p:cNvPr id="16" name="Text 10"/>
          <p:cNvSpPr txBox="1"/>
          <p:nvPr/>
        </p:nvSpPr>
        <p:spPr>
          <a:xfrm>
            <a:off x="594360" y="3337560"/>
            <a:ext cx="3657600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Todo mundo mexendo no mesmo arquivo gera conflitos no Git.</a:t>
            </a:r>
            <a:endParaRPr lang="en-US" sz="1450" dirty="0"/>
          </a:p>
        </p:txBody>
      </p:sp>
      <p:sp>
        <p:nvSpPr>
          <p:cNvPr id="17" name="Shape 11"/>
          <p:cNvSpPr/>
          <p:nvPr/>
        </p:nvSpPr>
        <p:spPr>
          <a:xfrm>
            <a:off x="4709160" y="2679192"/>
            <a:ext cx="4023360" cy="1319784"/>
          </a:xfrm>
          <a:prstGeom prst="roundRect">
            <a:avLst>
              <a:gd name="adj" fmla="val 6928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2862072"/>
            <a:ext cx="384048" cy="38404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404104" y="286207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Nada se reaproveita</a:t>
            </a:r>
            <a:endParaRPr lang="en-US" sz="1750" dirty="0"/>
          </a:p>
        </p:txBody>
      </p:sp>
      <p:sp>
        <p:nvSpPr>
          <p:cNvPr id="20" name="Text 13"/>
          <p:cNvSpPr txBox="1"/>
          <p:nvPr/>
        </p:nvSpPr>
        <p:spPr>
          <a:xfrm>
            <a:off x="4892040" y="3337560"/>
            <a:ext cx="3657600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Para usar uma função em outro projeto, só copiando e colando.</a:t>
            </a:r>
            <a:endParaRPr lang="en-US" sz="1450" dirty="0"/>
          </a:p>
        </p:txBody>
      </p:sp>
      <p:sp>
        <p:nvSpPr>
          <p:cNvPr id="21" name="Text 14"/>
          <p:cNvSpPr txBox="1"/>
          <p:nvPr/>
        </p:nvSpPr>
        <p:spPr>
          <a:xfrm>
            <a:off x="640080" y="418795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Monolítico = tudo num lugar só. A solução é dividir o código em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módulos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é um módulo?</a:t>
            </a:r>
            <a:endParaRPr lang="en-US"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módulo é um arquivo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25346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1607058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 arquivo JavaScript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Cada módulo é um arquivo que guarda um pedaço do código, com uma responsabilidade clara.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53462"/>
            <a:ext cx="502920" cy="502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63040" y="2535174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Escopo próprio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que está dentro do arquivo só é visível para fora se for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exportado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481578"/>
            <a:ext cx="502920" cy="5029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463040" y="3463290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Exporta e importa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 arquivo disponibiliza o código (export) e outro traz para usar (import).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que modularizar?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248156"/>
            <a:ext cx="4023360" cy="1540764"/>
          </a:xfrm>
          <a:prstGeom prst="roundRect">
            <a:avLst>
              <a:gd name="adj" fmla="val 593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31036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43103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Reutilização</a:t>
            </a:r>
            <a:endParaRPr lang="en-US" sz="17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1906524"/>
            <a:ext cx="3657600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Escreva uma vez e use em vários lugares, sem duplicar código.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4709160" y="1248156"/>
            <a:ext cx="4023360" cy="1540764"/>
          </a:xfrm>
          <a:prstGeom prst="roundRect">
            <a:avLst>
              <a:gd name="adj" fmla="val 593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431036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04104" y="143103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Manutenção</a:t>
            </a:r>
            <a:endParaRPr lang="en-US" sz="1750" dirty="0"/>
          </a:p>
        </p:txBody>
      </p:sp>
      <p:sp>
        <p:nvSpPr>
          <p:cNvPr id="12" name="Text 7"/>
          <p:cNvSpPr txBox="1"/>
          <p:nvPr/>
        </p:nvSpPr>
        <p:spPr>
          <a:xfrm>
            <a:off x="4892040" y="1906524"/>
            <a:ext cx="365760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Arquivos pequenos: é fácil achar e corrigir erros ou adicionar funcionalidades.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411480" y="2990088"/>
            <a:ext cx="4023360" cy="1540764"/>
          </a:xfrm>
          <a:prstGeom prst="roundRect">
            <a:avLst>
              <a:gd name="adj" fmla="val 593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172968"/>
            <a:ext cx="384048" cy="38404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106424" y="3172968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7A0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Organização</a:t>
            </a:r>
            <a:endParaRPr lang="en-US" sz="1750" dirty="0"/>
          </a:p>
        </p:txBody>
      </p:sp>
      <p:sp>
        <p:nvSpPr>
          <p:cNvPr id="16" name="Text 10"/>
          <p:cNvSpPr txBox="1"/>
          <p:nvPr/>
        </p:nvSpPr>
        <p:spPr>
          <a:xfrm>
            <a:off x="594360" y="3648456"/>
            <a:ext cx="365760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Cada módulo cuida de uma responsabilidade. O projeto fica fácil de ler.</a:t>
            </a:r>
            <a:endParaRPr lang="en-US" sz="1450" dirty="0"/>
          </a:p>
        </p:txBody>
      </p:sp>
      <p:sp>
        <p:nvSpPr>
          <p:cNvPr id="17" name="Shape 11"/>
          <p:cNvSpPr/>
          <p:nvPr/>
        </p:nvSpPr>
        <p:spPr>
          <a:xfrm>
            <a:off x="4709160" y="2990088"/>
            <a:ext cx="4023360" cy="1540764"/>
          </a:xfrm>
          <a:prstGeom prst="roundRect">
            <a:avLst>
              <a:gd name="adj" fmla="val 593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3172968"/>
            <a:ext cx="384048" cy="38404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404104" y="3172968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Colaboração</a:t>
            </a:r>
            <a:endParaRPr lang="en-US" sz="1750" dirty="0"/>
          </a:p>
        </p:txBody>
      </p:sp>
      <p:sp>
        <p:nvSpPr>
          <p:cNvPr id="20" name="Text 13"/>
          <p:cNvSpPr txBox="1"/>
          <p:nvPr/>
        </p:nvSpPr>
        <p:spPr>
          <a:xfrm>
            <a:off x="4892040" y="3648456"/>
            <a:ext cx="3657600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Cada pessoa trabalha num módulo diferente, ao mesmo tempo.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Módulos Nativos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1097280" y="2743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Ferramentas que já vêm com o Node.js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Módulos nativos (core modules)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086612"/>
            <a:ext cx="768096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Node.js já vem com várias ferramentas "de fábrica". Não precisa instalar nada: basta importar pelo nome.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57172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738884"/>
            <a:ext cx="6995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fs</a:t>
            </a:r>
            <a:endParaRPr lang="en-US" sz="160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Lê e cria arquivos no computador (você viu nas ferramentas do Módulo 2).</a:t>
            </a:r>
            <a:endParaRPr lang="en-US" sz="1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662428"/>
            <a:ext cx="502920" cy="5029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463040" y="2644140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path</a:t>
            </a:r>
            <a:endParaRPr lang="en-US" sz="160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Monta caminhos de pastas e arquivos do jeito certo.</a:t>
            </a:r>
            <a:endParaRPr lang="en-US" sz="16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384804"/>
            <a:ext cx="502920" cy="50292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463040" y="3366516"/>
            <a:ext cx="6995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http</a:t>
            </a:r>
            <a:endParaRPr lang="en-US" sz="160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Cria servidores web. O Express do Módulo 7 é construído em cima dele.</a:t>
            </a:r>
            <a:endParaRPr lang="en-US" sz="1600" dirty="0"/>
          </a:p>
        </p:txBody>
      </p:sp>
      <p:sp>
        <p:nvSpPr>
          <p:cNvPr id="12" name="Text 6"/>
          <p:cNvSpPr txBox="1"/>
          <p:nvPr/>
        </p:nvSpPr>
        <p:spPr>
          <a:xfrm>
            <a:off x="731520" y="41605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CommonJS: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fs = require("fs")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· ES Modules: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fs from "node:fs"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CommonJS x ES Modules</a:t>
            </a:r>
            <a:endParaRPr lang="en-US" sz="3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Dois sistemas de módulos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672336"/>
            <a:ext cx="4023360" cy="1812544"/>
          </a:xfrm>
          <a:prstGeom prst="roundRect">
            <a:avLst>
              <a:gd name="adj" fmla="val 504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55216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85521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CommonJS (CJS)</a:t>
            </a:r>
            <a:endParaRPr lang="en-US" sz="17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2330704"/>
            <a:ext cx="3657600" cy="97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Criado pelo Node.js quando o JavaScript ainda não tinha módulos oficiais.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Usa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module.exports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4709160" y="1672336"/>
            <a:ext cx="4023360" cy="1812544"/>
          </a:xfrm>
          <a:prstGeom prst="roundRect">
            <a:avLst>
              <a:gd name="adj" fmla="val 504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855216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04104" y="185521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 Modules (ESM)</a:t>
            </a:r>
            <a:endParaRPr lang="en-US" sz="1750" dirty="0"/>
          </a:p>
        </p:txBody>
      </p:sp>
      <p:sp>
        <p:nvSpPr>
          <p:cNvPr id="12" name="Text 7"/>
          <p:cNvSpPr txBox="1"/>
          <p:nvPr/>
        </p:nvSpPr>
        <p:spPr>
          <a:xfrm>
            <a:off x="4892040" y="2330704"/>
            <a:ext cx="3657600" cy="97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padrão oficial do JavaScript, usado também nos navegadores e no React.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Usa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50" dirty="0"/>
          </a:p>
        </p:txBody>
      </p:sp>
      <p:sp>
        <p:nvSpPr>
          <p:cNvPr id="13" name="Text 8"/>
          <p:cNvSpPr txBox="1"/>
          <p:nvPr/>
        </p:nvSpPr>
        <p:spPr>
          <a:xfrm>
            <a:off x="640080" y="418795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Node.js suporta os dois. Como desenvolvedores, precisamos saber ler e escrever ambos.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Exportando e importando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160248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CommonJS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65760" y="1977390"/>
            <a:ext cx="4069080" cy="1662684"/>
          </a:xfrm>
          <a:prstGeom prst="roundRect">
            <a:avLst>
              <a:gd name="adj" fmla="val 4400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12064" y="2094433"/>
            <a:ext cx="3776472" cy="1428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mensagem.js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mensagem = </a:t>
            </a:r>
            <a:r>
              <a:rPr lang="en-US" sz="12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'Olá, Lions!'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module.exports = mensagem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app.js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mensagem = </a:t>
            </a:r>
            <a:r>
              <a:rPr lang="en-US" sz="12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'./mensagem'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2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(mensagem)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4709160" y="160248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 Modules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709160" y="1977390"/>
            <a:ext cx="4069080" cy="1662684"/>
          </a:xfrm>
          <a:prstGeom prst="roundRect">
            <a:avLst>
              <a:gd name="adj" fmla="val 4400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55464" y="2094433"/>
            <a:ext cx="3776472" cy="1428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mensagem.js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mensagem = </a:t>
            </a:r>
            <a:r>
              <a:rPr lang="en-US" sz="12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'Olá, Lions!'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</a:t>
            </a:r>
            <a:r>
              <a:rPr lang="en-US" sz="12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mensagem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app.js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mensagem </a:t>
            </a:r>
            <a:r>
              <a:rPr lang="en-US" sz="12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'./mensagem.js'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2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(mensagem)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Mesma ideia, sintaxe diferente. No ES Modules, o caminho do arquivo leva a extensão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.js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Ativando o ES Modules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1572768"/>
            <a:ext cx="4023360" cy="2660904"/>
          </a:xfrm>
          <a:prstGeom prst="roundRect">
            <a:avLst>
              <a:gd name="adj" fmla="val 2749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1689811"/>
            <a:ext cx="3730752" cy="2426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"calculadora"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"version"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"1.0.0"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"main"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"calculadora.js"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"type"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"module"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"dependencies"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"prompt-sync"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"^4.2.0"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4663440" y="1710690"/>
            <a:ext cx="4114800" cy="2385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"type": "module"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avisa o Node.js que o projeto usa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padrão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sem essa linha, o Node.js trata todo arquivo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.js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como CommonJS.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2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lembra do aviso no terminal e do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que para de funcionar? É esta linha.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Exportação Padrão x Nomeada</a:t>
            </a:r>
            <a:endParaRPr lang="en-US" sz="3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Exportação padrão (default)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1949958"/>
            <a:ext cx="5577840" cy="1906524"/>
          </a:xfrm>
          <a:prstGeom prst="roundRect">
            <a:avLst>
              <a:gd name="adj" fmla="val 3837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2067001"/>
            <a:ext cx="5285232" cy="1672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somar.js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somar</a:t>
            </a: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(a, b) {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+ b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</a:t>
            </a:r>
            <a:r>
              <a:rPr lang="en-US" sz="11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somar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app.js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somar </a:t>
            </a:r>
            <a:r>
              <a:rPr lang="en-US" sz="11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'./somar.js'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qualquerNome </a:t>
            </a:r>
            <a:r>
              <a:rPr lang="en-US" sz="11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'./somar.js'</a:t>
            </a: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1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também funciona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6217920" y="1158240"/>
            <a:ext cx="2560320" cy="3489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a coisa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principal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do arquivo. Só pode haver uma por arquivo.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sem chaves, e o nome é livre: você escolhe como chamar.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quando usar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quando o arquivo tem uma única responsabilidade, como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somar.js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Exportação nomeada (named)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1748028"/>
            <a:ext cx="5120640" cy="2310384"/>
          </a:xfrm>
          <a:prstGeom prst="roundRect">
            <a:avLst>
              <a:gd name="adj" fmla="val 3166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1865071"/>
            <a:ext cx="4828032" cy="2076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operacoes.js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</a:t>
            </a: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somar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(a, b)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+ b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</a:t>
            </a: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subtrair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(a, b)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- b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app.js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somar, subtrair } </a:t>
            </a: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'./operacoes.js'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760720" y="1489710"/>
            <a:ext cx="3017520" cy="2827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na frente de cada coisa que o arquivo disponibiliza. Pode haver várias.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no import, os nomes vêm entre chaves e precisam ser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exatamente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iguais aos do export.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quando usar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quando o arquivo reúne várias funções relacionadas.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o ./ e o .js são obrigatórios</a:t>
            </a:r>
            <a:endParaRPr lang="en-US" sz="23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737616"/>
          </a:xfrm>
          <a:prstGeom prst="roundRect">
            <a:avLst>
              <a:gd name="adj" fmla="val 991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ES Modules, o caminho de um arquivo seu precisa do </a:t>
            </a:r>
            <a:r>
              <a:rPr lang="en-US" sz="17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da extensão </a:t>
            </a:r>
            <a:r>
              <a:rPr lang="en-US" sz="17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.js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36064"/>
            <a:ext cx="7772400" cy="159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Sem 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o Node.js procura um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pacote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na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node_modules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dá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ERR_MODULE_NOT_FOUND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500" dirty="0"/>
          </a:p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Sem 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.js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também dá erro: diferente do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não completa a extensão.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Linux, maiúsculas contam: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./Somar.js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./somar.js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são arquivos diferentes.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3699256"/>
            <a:ext cx="8046720" cy="969264"/>
          </a:xfrm>
          <a:prstGeom prst="roundRect">
            <a:avLst>
              <a:gd name="adj" fmla="val 7547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4944" y="3816299"/>
            <a:ext cx="7754112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somar </a:t>
            </a: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'somar.js'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4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procura um pacote na node_modules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somar </a:t>
            </a: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'./somar'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4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falta a extensão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somar </a:t>
            </a: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'./somar.js'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4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correto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chaves e nomes no import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737616"/>
          </a:xfrm>
          <a:prstGeom prst="roundRect">
            <a:avLst>
              <a:gd name="adj" fmla="val 991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Import nomeado usa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chaves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o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mesmo nome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do export. O default não usa chaves.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36064"/>
            <a:ext cx="7772400" cy="1069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Trocar um pelo outro é o erro mais comum de quem está começando com módulos.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Node.js avisa: "does not provide an export named…" ou "does not provide an export named default".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3178556"/>
            <a:ext cx="8046720" cy="1152144"/>
          </a:xfrm>
          <a:prstGeom prst="roundRect">
            <a:avLst>
              <a:gd name="adj" fmla="val 6349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4944" y="3295599"/>
            <a:ext cx="7754112" cy="918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operacoes.js tem: export function somar(a, b) { ... }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3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somar } </a:t>
            </a:r>
            <a:r>
              <a:rPr lang="en-US" sz="13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3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'./operacoes.js'</a:t>
            </a:r>
            <a:r>
              <a:rPr lang="en-US" sz="13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3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correto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3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somar </a:t>
            </a:r>
            <a:r>
              <a:rPr lang="en-US" sz="13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3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'./operacoes.js'</a:t>
            </a:r>
            <a:r>
              <a:rPr lang="en-US" sz="13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3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erro: não existe export default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3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soma } </a:t>
            </a:r>
            <a:r>
              <a:rPr lang="en-US" sz="13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3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'./operacoes.js'</a:t>
            </a:r>
            <a:r>
              <a:rPr lang="en-US" sz="13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erro: o nome é somar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módulo tem o seu escopo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199388"/>
            <a:ext cx="8321040" cy="2843784"/>
          </a:xfrm>
          <a:prstGeom prst="roundRect">
            <a:avLst>
              <a:gd name="adj" fmla="val 2572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316431"/>
            <a:ext cx="8028432" cy="2609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contador.js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 = </a:t>
            </a:r>
            <a:r>
              <a:rPr lang="en-US" sz="15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</a:t>
            </a: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incrementar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total++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app.js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incrementar } </a:t>
            </a: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'./contador.js'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5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incrementar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   </a:t>
            </a:r>
            <a:r>
              <a:rPr lang="en-US" sz="15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5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(total)           </a:t>
            </a:r>
            <a:r>
              <a:rPr lang="en-US" sz="15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ReferenceError: total is not defined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que não é exportado fica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privado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do módulo. E o prompt também: cada arquivo que usa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precisa importar o prompt-sync.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caminhos entre pastas</a:t>
            </a:r>
            <a:endParaRPr lang="en-US" sz="29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737616"/>
          </a:xfrm>
          <a:prstGeom prst="roundRect">
            <a:avLst>
              <a:gd name="adj" fmla="val 991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caminho do import é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relativo ao arquivo que está importando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não à pasta onde você rodou o node.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36064"/>
            <a:ext cx="7772400" cy="840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é a pasta do próprio arquivo;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../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sobe uma pasta.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src/routes/livros.js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para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src/models/livro.js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../models/livro.js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2949956"/>
            <a:ext cx="8046720" cy="969264"/>
          </a:xfrm>
          <a:prstGeom prst="roundRect">
            <a:avLst>
              <a:gd name="adj" fmla="val 7547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4944" y="3066999"/>
            <a:ext cx="7754112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routes/livros.js    import Livro from "../models/livro.js"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models/livro.js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Modularizando a Calculadora</a:t>
            </a:r>
            <a:endParaRPr lang="en-US" sz="3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arquivo por operação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1854708"/>
            <a:ext cx="4389120" cy="2097024"/>
          </a:xfrm>
          <a:prstGeom prst="roundRect">
            <a:avLst>
              <a:gd name="adj" fmla="val 3488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1971751"/>
            <a:ext cx="4096512" cy="1862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calculadora/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package.json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calculadora.js     (menu e laço)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somar.js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subtrair.js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multiplicar.js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dividir.js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porcentagem.js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5029200" y="1710690"/>
            <a:ext cx="3749040" cy="2385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calculadora.js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o arquivo principal: importa as operações e cuida só do menu e do laço.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uma operação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cada arquivo exporta uma única função, com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extensível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uma operação nova é um arquivo novo e um import. O resto não muda.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operação no seu arquivo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191871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somar.js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65760" y="2293620"/>
            <a:ext cx="4069080" cy="1243584"/>
          </a:xfrm>
          <a:prstGeom prst="roundRect">
            <a:avLst>
              <a:gd name="adj" fmla="val 5882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12064" y="2410663"/>
            <a:ext cx="3776472" cy="1009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somar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(num1, num2)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num1 + num2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</a:t>
            </a: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somar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709160" y="191871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porcentagem.js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709160" y="2293620"/>
            <a:ext cx="4069080" cy="1243584"/>
          </a:xfrm>
          <a:prstGeom prst="roundRect">
            <a:avLst>
              <a:gd name="adj" fmla="val 5882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55464" y="2410663"/>
            <a:ext cx="3776472" cy="1009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porcentagem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(valor, percentual)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(valor * percentual) / </a:t>
            </a:r>
            <a:r>
              <a:rPr lang="en-US" sz="12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</a:t>
            </a: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porcentagem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450080"/>
            <a:ext cx="8046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subtrair.js, multiplicar.js e dividir.js seguem o mesmo modelo.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arquivo principal: calculadora.js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11480" y="1092708"/>
            <a:ext cx="8321040" cy="2843784"/>
          </a:xfrm>
          <a:prstGeom prst="roundRect">
            <a:avLst>
              <a:gd name="adj" fmla="val 2572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209751"/>
            <a:ext cx="8028432" cy="2609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promptSync </a:t>
            </a: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'prompt-sync'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somar </a:t>
            </a: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'./somar.js'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subtrair </a:t>
            </a: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'./subtrair.js'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multiplicar </a:t>
            </a: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'./multiplicar.js'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dividir </a:t>
            </a: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'./dividir.js'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porcentagem </a:t>
            </a: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'./porcentagem.js'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prompt = </a:t>
            </a:r>
            <a:r>
              <a:rPr lang="en-US" sz="15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promptSync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sigint: </a:t>
            </a:r>
            <a:r>
              <a:rPr lang="en-US" sz="15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 o mesmo menu, laço e switch do Módulo 3,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 a mesma validação em cada case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023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menu e a validação continuam iguais: só as funções saíram do arquivo. Separar em módulos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não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é motivo para tirar a validação da entrada.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Hora da Prática</a:t>
            </a:r>
            <a:endParaRPr lang="en-US" sz="3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Atividade · Calculadora Estatística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Módulos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Desenvolva do zero uma </a:t>
            </a: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calculadora estatística</a:t>
            </a: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no terminal, já com a arquitetura de módulos: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1469136"/>
            <a:ext cx="8138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Inicie o projeto (</a:t>
            </a: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init -y</a:t>
            </a: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), instale o </a:t>
            </a: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prompt-sync</a:t>
            </a: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ative o ES Modules (ou use CommonJS).</a:t>
            </a:r>
            <a:endParaRPr lang="en-US" sz="140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arquivo principal tem um menu que roda em laço até o usuário escolher sair.</a:t>
            </a:r>
            <a:endParaRPr lang="en-US" sz="140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Opções: adicionar número, remover número, calcular a média, calcular a mediana e ver a lista.</a:t>
            </a:r>
            <a:endParaRPr lang="en-US" sz="140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arquivo principal </a:t>
            </a: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não</a:t>
            </a: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faz contas: crie </a:t>
            </a: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media.js</a:t>
            </a: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</a:t>
            </a: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mediana.js</a:t>
            </a: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</a:t>
            </a: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adicionar.js</a:t>
            </a: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</a:t>
            </a: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remover.js</a:t>
            </a: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00" dirty="0"/>
          </a:p>
          <a:p>
            <a:pPr algn="l" marL="342900" indent="-342900">
              <a:buSzPct val="100000"/>
              <a:buFont typeface="+mj-lt"/>
              <a:buAutoNum type="arabicPeriod" startAt="1"/>
            </a:pP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Exporte as funções e importe no arquivo principal, chamando cada uma pela opção do menu.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2920" y="4075176"/>
            <a:ext cx="8138160" cy="633984"/>
          </a:xfrm>
          <a:prstGeom prst="roundRect">
            <a:avLst>
              <a:gd name="adj" fmla="val 11538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4209288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4166616"/>
            <a:ext cx="736092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Dica: </a:t>
            </a: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converta a entrada com </a:t>
            </a: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parseFloat</a:t>
            </a: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confira se a lista não está vazia antes de calcular: média de uma lista vazia divide por zero.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a mediana precisa da lista ordenada</a:t>
            </a:r>
            <a:endParaRPr lang="en-US" sz="20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737616"/>
          </a:xfrm>
          <a:prstGeom prst="roundRect">
            <a:avLst>
              <a:gd name="adj" fmla="val 991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</a:t>
            </a:r>
            <a:r>
              <a:rPr lang="en-US" sz="17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sort()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sem parâmetro ordena como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texto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</a:t>
            </a:r>
            <a:r>
              <a:rPr lang="en-US" sz="17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[10, 9, 2].sort()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dá </a:t>
            </a:r>
            <a:r>
              <a:rPr lang="en-US" sz="17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[10, 2, 9]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36064"/>
            <a:ext cx="7772400" cy="159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mediana é o valor do meio da lista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ordenada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Sem ordenar, o resultado sai errado.</a:t>
            </a:r>
            <a:endParaRPr lang="en-US" sz="1500" dirty="0"/>
          </a:p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Para números, passe a regra de comparação: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sort((a, b) =&gt; a - b)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altera o array original. Para não bagunçar a lista do usuário, ordene uma cópia: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numeros.slice().sort(...)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3699256"/>
            <a:ext cx="8046720" cy="694944"/>
          </a:xfrm>
          <a:prstGeom prst="roundRect">
            <a:avLst>
              <a:gd name="adj" fmla="val 10526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4944" y="3816299"/>
            <a:ext cx="7754112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</a:t>
            </a:r>
            <a:r>
              <a:rPr lang="en-US" sz="12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2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2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2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                  </a:t>
            </a:r>
            <a:r>
              <a:rPr lang="en-US" sz="12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[1, 10, 2, 9]  (como texto!)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</a:t>
            </a:r>
            <a:r>
              <a:rPr lang="en-US" sz="12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2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2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2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((a, b) =&gt; a - b))   </a:t>
            </a:r>
            <a:r>
              <a:rPr lang="en-US" sz="12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[1, 2, 9, 10]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Lista de exercícios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67028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1348740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Parte 0 e 1: aquecimento e complete o código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Exports por default e exports nomeados.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89404"/>
            <a:ext cx="502920" cy="502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63040" y="2071116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Parte 2: ache o bug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Import quebrado e default x nomeado.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811780"/>
            <a:ext cx="502920" cy="5029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463040" y="2793492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Parte 3: prever o resultado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Vai rodar ou dar erro?</a:t>
            </a:r>
            <a:endParaRPr lang="en-US" sz="16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534156"/>
            <a:ext cx="502920" cy="50292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463040" y="3515868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Parte 4: desafio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 mini projeto modular, escrito do zero.</a:t>
            </a:r>
            <a:endParaRPr lang="en-US" sz="1650" dirty="0"/>
          </a:p>
        </p:txBody>
      </p:sp>
      <p:sp>
        <p:nvSpPr>
          <p:cNvPr id="13" name="Text 6"/>
          <p:cNvSpPr txBox="1"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repositório: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modulo05/lista_de_exercicios/codigo_modulos.md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Material do módulo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85800" y="1170432"/>
            <a:ext cx="278892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9050">
            <a:solidFill>
              <a:srgbClr val="E16D34"/>
            </a:solidFill>
            <a:prstDash val="solid"/>
          </a:ln>
        </p:spPr>
      </p:sp>
      <p:pic>
        <p:nvPicPr>
          <p:cNvPr id="6" name="Image 0" descr="QR code para https://github.com/nicolassmotta/curso-lions-dev/tree/main/modulo05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07592"/>
            <a:ext cx="2514600" cy="2514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85800" y="404164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Aponte a câmera do celular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3886200" y="1170432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github.com/nicolassmotta/curso-lions-dev/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tree/main/</a:t>
            </a: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modulo05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965960"/>
            <a:ext cx="384048" cy="38404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416552" y="1920240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conteudo/</a:t>
            </a:r>
            <a:endParaRPr lang="en-US" sz="12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teoria comentada e o </a:t>
            </a:r>
            <a:r>
              <a:rPr lang="en-US" sz="11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cheat sheet</a:t>
            </a:r>
            <a:r>
              <a:rPr lang="en-US" sz="11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do módulo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2532888"/>
            <a:ext cx="384048" cy="38404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4416552" y="2487168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exercicios_slides/</a:t>
            </a:r>
            <a:endParaRPr lang="en-US" sz="12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os exercícios feitos em aula</a:t>
            </a:r>
            <a:endParaRPr lang="en-US" sz="12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6200" y="3099816"/>
            <a:ext cx="384048" cy="384048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4416552" y="3054096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lista_de_exercicios/</a:t>
            </a:r>
            <a:endParaRPr lang="en-US" sz="12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listas para praticar em casa</a:t>
            </a:r>
            <a:endParaRPr lang="en-US" sz="12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6200" y="3666744"/>
            <a:ext cx="384048" cy="384048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4416552" y="3621024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exercicios_resolvidos/</a:t>
            </a:r>
            <a:endParaRPr lang="en-US" sz="12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gabaritos, para conferir depois de tentar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Fim!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1097280" y="2743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Módulo 6, os módulos vão organizar um sistema de cadastro completo.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Lions 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5</dc:title>
  <dc:subject>PptxGenJS Presentation</dc:subject>
  <dc:creator>Nicolas Cardoso Motta</dc:creator>
  <cp:lastModifiedBy>Nicolas Cardoso Motta</cp:lastModifiedBy>
  <cp:revision>1</cp:revision>
  <dcterms:created xsi:type="dcterms:W3CDTF">2026-09-27T23:25:32Z</dcterms:created>
  <dcterms:modified xsi:type="dcterms:W3CDTF">2026-09-27T23:25:32Z</dcterms:modified>
</cp:coreProperties>
</file>