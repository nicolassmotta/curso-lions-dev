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Deploy com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de abertura (5 minutos) do Módulo 9B. Peça para a turma explicar cada cartão com as próprias palavras antes de você falar.
Termine com a pergunta do rodapé. Resposta esperada: não: a produção tem outra porta, outras variáveis e outro banco. Por isso a rota /health e o teste depois do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curso: hoje é o Módulo 10 (Deploy com Render). Os módulos com o sinal de visto já passaram; o laranja é o de hoje.
Adiante o próximo passo: o Módulo 11 (Frontend NoCode com FlutterFlow) depende do que a turma aprender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desafio do fim é publicar a API do flashcards (a versão do boilerplate, com login). Reforce que a URL pública anotada hoje é a base de todas as API Calls do Módulo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alta. No fim da aula, volte a este slide e peça para cada um dizer qual item já consegue fazer sozinho.
• Entender o que é deploy e o caminho de uma requisição na internet: DNS e HTTPS.
• Preparar a API para produção: porta, variáveis de ambiente e segurança.
• Publicar a API no Render, pelo render.yaml ou pelo painel.
• Automatizar novos deploys a cada push no GitHub.
• Testar a API publicada com o Postman.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"Até agora, as APIs rodavam só no nosso computador. Para virar um produto de verdade, falta o próximo passo: o deploy."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Publicar a aplicação: Colocar a API num ambiente online e estável, fora do seu computador.
• Acessível de qualquer lugar: Qualquer cliente, de qualquer lugar, consome a API pela internet.
• Disponível 24 horas: Não depende de o seu computador estar ligado.
• Deploy contínuo: Cada push no GitHub publica uma versão nova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"DNS e HTTPS". Antes de avançar, faça uma pergunta rápida que ligue o assunto novo ao que a turma já sabe.
Frase de apoio: O caminho até a sua API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DNS é a "agenda de contatos" da internet: traduz nomes em endereços IP.
Explique o fluxo da esquerda para a direita:
• 1. Pergunta: Qual é o IP de minha-api.onrender.com?
• 2. DNS responde: O servidor DNS devolve o endereço IP.
• 3. Acessa: O cliente conecta no servidor da aplicação.
• 4. Recebe: A API devolve os dados.
Mensagem principal: No Render, você ganha um domínio .onrender.com com DNS já configurado.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Bloquear os IPs compartilhados da Cloudflare derrubaria bancos e outros serviços, o que tornou o bloqueio impraticável por um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HTTP: sem SSL: Os dados trafegam em texto puro. Quem intercepta a conexão lê senhas, tokens e tudo o mais.
• HTTPS: com SSL/TLS: Os dados vão criptografados. Quem intercepta vê só um texto embaralhado.
Mensagem principal: O Render emite e renova o certificado SSL sozinho: a sua API já nasce em https.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Local: Roda em localhost, só na sua máquina. Variáveis no arquivo .env. Banco de testes, sem preocupação com escala.
• Produção: URL pública, com HTTPS. Variáveis configuradas no painel do Render. Banco oficial no Atlas, com dados reais.
Mensagem principal: Fazer deploy é levar a API do mundo controlado para o mundo real, por isso os cuidados a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Arquitetura: Camadas claras, como no boilerplate.
• Credenciais: Senhas com hash e segredos só em variáveis de ambiente.
• Acesso: Rotas privadas protegidas com JWT.
• Respostas: JSON e status corretos: 200, 201, 400, 401, 404, 500.
• Erros: Middleware de erro: a API não cai com uma exceção.
• Documentação: README com as rotas e as variáveis necessárias.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PaaS: Plataforma pronta: você só envia o código. O provedor cuida de servidor, sistema e escala. Ex.: Render, Heroku, Vercel.
• IaaS: Você recebe uma máquina e configura tudo. Mais controle, mais trabalho. Ex.: AWS EC2, Azure VM.
Mensagem principal: Como queremos focar no código, e não na infraestrutura, o PaaS é o ideal: por isso o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"Preparando a API".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"package.json" x "server.js". Pergunte qual diferença chama mais atenção antes de explicar.
Mensagem principal: O Render define a porta na variável PORT e roda npm start. Porta fixa ou script start faltando: o deploy fica no ar, mas a API não responde.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Porta fixa: Use process.env.PORT.
• Variável faltando: MONGO_URI e JWT_SECRET configuradas no Render.
• Atlas bloqueando: O Render usa IPs variáveis: libere 0.0.0.0/0 no Network Access.
• Maiúsculas no import: ./Models/User.js funciona no Windows e quebra no Linux do Render.
• Pasta errada: O package.json precisa estar na raiz do repositório (ou configure o Root Directory).
• node_modules no Git: O Render instala tudo com npm install: deixe no .gitignore.
Mensagem principal: Deu erro? Os logs do Render dizem exatamente onde: leia de baixo para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os dois lados: "package.json" x "No terminal". Pergunte qual diferença chama mais atenção antes de explicar.
Mensagem principal: O dev reinicia a cada mudança, para desenvolver. O start é o comando de produção. O start não precisa do "run".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No Render, informe /health no Health Check Path: ele confere se a API está respondendo e só troca a versão no ar quando a nova estiver saudável.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"Deploy no Render". Antes de avançar, faça uma pergunta rápida que ligue o assunto novo ao que a turma já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push ao ar, o Render cuida de tudo:
Explique o fluxo da esquerda para a direita:
• 1. git push: O código vai para o GitHub.
• 2. Detecta: O Render percebe o commit novo.
• 3. Build: Roda npm install.
• 4. Start: Roda npm start.
• 5. Live: API no ar, em HTTPS.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Arquivo completo em modulo10/conteudo/render.yaml.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Suba o projeto para o GitHub: Com o render.yaml na raiz.
• Entre no Render com o GitHub: Assim ele enxerga os seus repositórios.
• New &gt; Blueprint: Escolha o repositório: o Render lê o render.yaml.
• Preencha a MONGO_URI e faça o deploy: Acompanhe o build pelos logs até aparecer "Live".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Blueprint passo a passo
• Acesse o Render
• Crie um Blueprint
• Configure a MONGO_URI
• Deploy subindo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New &gt; Web Service: Conecte o repositório do GitHub.
• Definições iniciais: Nome, região e branch.
• Linguagem e comandos: Node, build npm install e start npm start.
• Plano e variáveis: Plano Free e as variáveis de ambiente, uma a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Configuração manual passo a passo
• Crie um Web Service
• Definições iniciais
• Linguagem e comandos
• Variáveis de ambiente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No plano gratuito, o serviço dorme depois de uns 15 minutos sem requisições.
• A primeira requisição depois disso acorda o serviço e pode levar perto de um minuto.
• Não é erro: espere e tente de novo. Antes de uma apresentação, faça uma requisição para "acordar" 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helmet: Um middleware que adiciona headers de segurança às respostas. (com o código do card)
• Rate limit: Limita requisições por IP: dificulta ataques de força bruta no login. (com o código do card)
Mensagem principal: Pacotes helmet e express-rate-limit. Com a API pública na internet, qualquer um pode tentar acessá-la.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Domínio próprio: Troque o .onrender.com pelo seu domínio, com SSL automático.
• Rollback: O Render guarda o histórico: volte para um deploy anterior em um clique.
• Logs e health check: Acompanhe a execução e deixe o Render verificar se a API está viva.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(Deploy): leia o enunciado em voz alta, combine o tempo (15 a 25 minutos, conforme a turma) e circule pela sala.
Sua API no ar: publique o boilerplate no Render.
• Garanta o process.env.PORT no server.js e o script start no package.json.
• Suba o projeto para o GitHub, com o .env no .gitignore.
• Publique pelo Blueprint ou pelo Web Service, configurando MONGO_URI e JWT_SECRET.
• Acesse a URL pública e confira a rota 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(Deploy): leia o enunciado em voz alta, combine o tempo (15 a 25 minutos, conforme a turma) e circule pela sala.
Sua API no Postman: publique um exercício que você já fez.
• Escolha uma das APIs dos módulos 8 ou 9.
• Publique no Render do mesmo jeito.
• No Postman, troque http://localhost:3000 pela URL do Render e teste todas as rotas.
Dica: crie uma variável baseUrl no Postman: trocar entre local e produção vira um clique.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Deploy e variáveis de ambiente: process.env, porta dinâmica, .env e o script start.
• API de Banco Digital: Um projeto completo, pronto para publicar no Render.
Mensagem principal: No repositório: modulo10/lista_de_exercicios/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Desafio do fio condutor. A URL publicada aqui é usada no Módulo 11, então peça para anotarem. Erros mais comuns: variável de ambiente com nome diferente do código, Atlas bloqueando o IP e porta fixa no app.listen.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QR code e peça para a turma abrir a pasta modulo10 no celular agora, antes de ir embora.
Lembre o que tem lá: conteudo, lista_de_exercicios, exercicios_resolvidos. O cheat sheet do módulo fica em conteudo/ e resume a aula em duas páginas.
Link: https://github.com/nicolassmotta/curso-lions-dev/tree/main/modulo10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retome os objetivos do começo, abra para dúvidas e lembre onde ficam a lista de exercícios e o material no repositório.
Frase de saída: No Módulo 11, a sua API ganha uma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image" Target="../media/image-3-2.png"/><Relationship Id="rId9" Type="http://schemas.openxmlformats.org/officeDocument/2006/relationships/image" Target="../media/image-3-2.png"/><Relationship Id="rId10" Type="http://schemas.openxmlformats.org/officeDocument/2006/relationships/image" Target="../media/image-3-2.png"/><Relationship Id="rId11" Type="http://schemas.openxmlformats.org/officeDocument/2006/relationships/image" Target="../media/image-3-2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2-2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7.png"/><Relationship Id="rId3" Type="http://schemas.openxmlformats.org/officeDocument/2006/relationships/image" Target="../media/image-4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9-4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4-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9-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4-5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9-5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image" Target="../media/image-17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9-5.png"/><Relationship Id="rId3" Type="http://schemas.openxmlformats.org/officeDocument/2006/relationships/image" Target="../media/image-21-3.png"/><Relationship Id="rId4" Type="http://schemas.openxmlformats.org/officeDocument/2006/relationships/image" Target="../media/image-14-3.png"/><Relationship Id="rId5" Type="http://schemas.openxmlformats.org/officeDocument/2006/relationships/image" Target="../media/image-21-5.png"/><Relationship Id="rId6" Type="http://schemas.openxmlformats.org/officeDocument/2006/relationships/image" Target="../media/image-4-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3-6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3.png"/><Relationship Id="rId3" Type="http://schemas.openxmlformats.org/officeDocument/2006/relationships/image" Target="../media/image-7-5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2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13-7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40233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070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1500" b="1" spc="3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1060704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Curso de Programação</a:t>
            </a:r>
            <a:endParaRPr lang="en-US" sz="950" dirty="0"/>
          </a:p>
        </p:txBody>
      </p:sp>
      <p:pic>
        <p:nvPicPr>
          <p:cNvPr id="6" name="Image 1" descr="Símbolo Lions Dev em degrad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01047"/>
            <a:ext cx="3520440" cy="400084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10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938528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Render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 Nicolas Cardoso Motta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Revisando o Módulo 9B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7012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Vitest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245614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teste descreve o que a API deve fazer.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27660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77012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supertest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2245614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request(app)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testa as rotas sem subir o servidor; por isso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fica separado.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1720" y="1587246"/>
            <a:ext cx="2590800" cy="1982724"/>
          </a:xfrm>
          <a:prstGeom prst="roundRect">
            <a:avLst>
              <a:gd name="adj" fmla="val 461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770126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177012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Mocks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2245614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vi.mock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troca o repository por um dublê: teste rápido e sem banco.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Pergunta para abrir: os testes passam na sua máquina. Isso garante que a API vai funcionar na internet?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do curso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86107" y="1133856"/>
            <a:ext cx="6771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BASE: JAVASCRIPT, GIT E ORGANIZAÇÃO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186107" y="1389888"/>
            <a:ext cx="6771785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342" y="2779776"/>
            <a:ext cx="5622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1342" y="3035808"/>
            <a:ext cx="5622254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8999" y="2779776"/>
            <a:ext cx="21736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 PROJETO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8999" y="3035808"/>
            <a:ext cx="2173659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6107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6107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31827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15" y="1536192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35639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35639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2381359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Fundamentos de JS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447" y="1536192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485170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485170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3530890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Calculadora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978" y="1536192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634702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634702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4680422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e GitHub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510" y="1536192"/>
            <a:ext cx="219456" cy="21945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784233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784233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5829953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endParaRPr lang="en-US" sz="9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041" y="1536192"/>
            <a:ext cx="219456" cy="21945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933765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933765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25"/>
          <p:cNvSpPr txBox="1"/>
          <p:nvPr/>
        </p:nvSpPr>
        <p:spPr>
          <a:xfrm>
            <a:off x="6979485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busca</a:t>
            </a:r>
            <a:endParaRPr lang="en-US" sz="9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3573" y="1536192"/>
            <a:ext cx="219456" cy="219456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611342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611342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400" dirty="0"/>
          </a:p>
        </p:txBody>
      </p:sp>
      <p:sp>
        <p:nvSpPr>
          <p:cNvPr id="37" name="Text 28"/>
          <p:cNvSpPr txBox="1"/>
          <p:nvPr/>
        </p:nvSpPr>
        <p:spPr>
          <a:xfrm>
            <a:off x="657062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Express</a:t>
            </a:r>
            <a:endParaRPr lang="en-US" sz="95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1150" y="3182112"/>
            <a:ext cx="219456" cy="219456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1760873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1760873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400" dirty="0"/>
          </a:p>
        </p:txBody>
      </p:sp>
      <p:sp>
        <p:nvSpPr>
          <p:cNvPr id="41" name="Text 31"/>
          <p:cNvSpPr txBox="1"/>
          <p:nvPr/>
        </p:nvSpPr>
        <p:spPr>
          <a:xfrm>
            <a:off x="1806593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95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0681" y="3182112"/>
            <a:ext cx="219456" cy="219456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2910405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2910405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400" dirty="0"/>
          </a:p>
        </p:txBody>
      </p:sp>
      <p:sp>
        <p:nvSpPr>
          <p:cNvPr id="45" name="Text 34"/>
          <p:cNvSpPr txBox="1"/>
          <p:nvPr/>
        </p:nvSpPr>
        <p:spPr>
          <a:xfrm>
            <a:off x="2956125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e MVC</a:t>
            </a:r>
            <a:endParaRPr lang="en-US" sz="95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0213" y="3182112"/>
            <a:ext cx="219456" cy="219456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4059936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4059936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9B</a:t>
            </a:r>
            <a:endParaRPr lang="en-US" sz="2400" dirty="0"/>
          </a:p>
        </p:txBody>
      </p:sp>
      <p:sp>
        <p:nvSpPr>
          <p:cNvPr id="49" name="Text 37"/>
          <p:cNvSpPr txBox="1"/>
          <p:nvPr/>
        </p:nvSpPr>
        <p:spPr>
          <a:xfrm>
            <a:off x="4105656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</a:t>
            </a:r>
            <a:endParaRPr lang="en-US" sz="950" dirty="0"/>
          </a:p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9744" y="3182112"/>
            <a:ext cx="219456" cy="219456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5209467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E16D34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5209467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40"/>
          <p:cNvSpPr txBox="1"/>
          <p:nvPr/>
        </p:nvSpPr>
        <p:spPr>
          <a:xfrm>
            <a:off x="5255187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950" dirty="0"/>
          </a:p>
        </p:txBody>
      </p:sp>
      <p:sp>
        <p:nvSpPr>
          <p:cNvPr id="54" name="Shape 41"/>
          <p:cNvSpPr/>
          <p:nvPr/>
        </p:nvSpPr>
        <p:spPr>
          <a:xfrm>
            <a:off x="6358999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5" name="Text 42"/>
          <p:cNvSpPr txBox="1"/>
          <p:nvPr/>
        </p:nvSpPr>
        <p:spPr>
          <a:xfrm>
            <a:off x="6358999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400" dirty="0"/>
          </a:p>
        </p:txBody>
      </p:sp>
      <p:sp>
        <p:nvSpPr>
          <p:cNvPr id="56" name="Text 43"/>
          <p:cNvSpPr txBox="1"/>
          <p:nvPr/>
        </p:nvSpPr>
        <p:spPr>
          <a:xfrm>
            <a:off x="6404719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950" dirty="0"/>
          </a:p>
        </p:txBody>
      </p:sp>
      <p:sp>
        <p:nvSpPr>
          <p:cNvPr id="57" name="Shape 44"/>
          <p:cNvSpPr/>
          <p:nvPr/>
        </p:nvSpPr>
        <p:spPr>
          <a:xfrm>
            <a:off x="7508530" y="3127248"/>
            <a:ext cx="1024128" cy="1024128"/>
          </a:xfrm>
          <a:prstGeom prst="roundRect">
            <a:avLst>
              <a:gd name="adj" fmla="val 8929"/>
            </a:avLst>
          </a:prstGeom>
          <a:ln w="9525">
            <a:solidFill>
              <a:srgbClr val="9CA3AF"/>
            </a:solidFill>
            <a:prstDash val="dash"/>
          </a:ln>
        </p:spPr>
      </p:sp>
      <p:sp>
        <p:nvSpPr>
          <p:cNvPr id="58" name="Text 45"/>
          <p:cNvSpPr txBox="1"/>
          <p:nvPr/>
        </p:nvSpPr>
        <p:spPr>
          <a:xfrm>
            <a:off x="7508530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6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400" dirty="0"/>
          </a:p>
        </p:txBody>
      </p:sp>
      <p:sp>
        <p:nvSpPr>
          <p:cNvPr id="59" name="Text 46"/>
          <p:cNvSpPr txBox="1"/>
          <p:nvPr/>
        </p:nvSpPr>
        <p:spPr>
          <a:xfrm>
            <a:off x="7554250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 final</a:t>
            </a:r>
            <a:endParaRPr lang="en-US" sz="950" dirty="0"/>
          </a:p>
        </p:txBody>
      </p:sp>
      <p:sp>
        <p:nvSpPr>
          <p:cNvPr id="60" name="Text 47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está aqui: 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10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Deploy com Render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projeto flashcards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123406" y="1755648"/>
            <a:ext cx="6897189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123406" y="1755648"/>
            <a:ext cx="5747657" cy="0"/>
          </a:xfrm>
          <a:prstGeom prst="line">
            <a:avLst/>
          </a:prstGeom>
          <a:noFill/>
          <a:ln w="38100">
            <a:solidFill>
              <a:srgbClr val="E16D3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1070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6" y="1481328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M6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CRUD em memória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870601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617" y="1481328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8171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M7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1698171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698171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Express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020133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149" y="1481328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847703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M8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2847703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2847703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169664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481328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997234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3997234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dono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3997234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 e JWT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319195" y="1353312"/>
            <a:ext cx="804672" cy="80467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7211" y="1481328"/>
            <a:ext cx="548640" cy="54864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146766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M9B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5146766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Testado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5146766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Vitest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468727" y="1353312"/>
            <a:ext cx="804672" cy="804672"/>
          </a:xfrm>
          <a:prstGeom prst="ellipse">
            <a:avLst/>
          </a:prstGeom>
          <a:solidFill>
            <a:srgbClr val="E16D34"/>
          </a:solidFill>
          <a:ln w="25400">
            <a:solidFill>
              <a:srgbClr val="E16D3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6743" y="1481328"/>
            <a:ext cx="548640" cy="54864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296297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M10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6296297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ar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6296297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Render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7618258" y="1353312"/>
            <a:ext cx="804672" cy="8046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9CA3A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7746274" y="1481328"/>
            <a:ext cx="548640" cy="54864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445829" y="1024128"/>
            <a:ext cx="11495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M11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7445829" y="2231136"/>
            <a:ext cx="1149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tela</a:t>
            </a:r>
            <a:endParaRPr lang="en-US" sz="1250" dirty="0"/>
          </a:p>
        </p:txBody>
      </p:sp>
      <p:sp>
        <p:nvSpPr>
          <p:cNvPr id="41" name="Text 31"/>
          <p:cNvSpPr txBox="1"/>
          <p:nvPr/>
        </p:nvSpPr>
        <p:spPr>
          <a:xfrm>
            <a:off x="7445829" y="2487168"/>
            <a:ext cx="11495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548640" y="3127248"/>
            <a:ext cx="8046720" cy="1481328"/>
          </a:xfrm>
          <a:prstGeom prst="roundRect">
            <a:avLst>
              <a:gd name="adj" fmla="val 6173"/>
            </a:avLst>
          </a:prstGeom>
          <a:solidFill>
            <a:srgbClr val="1A1A1A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822960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MÓDULO 10</a:t>
            </a:r>
            <a:endParaRPr lang="en-US" sz="1100" dirty="0"/>
          </a:p>
        </p:txBody>
      </p:sp>
      <p:sp>
        <p:nvSpPr>
          <p:cNvPr id="44" name="Text 34"/>
          <p:cNvSpPr txBox="1"/>
          <p:nvPr/>
        </p:nvSpPr>
        <p:spPr>
          <a:xfrm>
            <a:off x="82296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API do flashcards vai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a internet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Render, com o banco no Atlas. A URL pública é o que o app do Módulo 11 vai chamar.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40480" y="868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3858768" y="1417320"/>
            <a:ext cx="4846320" cy="45720"/>
          </a:xfrm>
          <a:prstGeom prst="rect">
            <a:avLst/>
          </a:prstGeom>
          <a:solidFill>
            <a:srgbClr val="E16D34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58768" y="1572768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Entender o que é deploy e o caminho de uma requisição na internet: DNS e HTTPS.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Preparar a API para produção: porta, variáveis de ambiente e segurança.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Publicar a API no Render, pelo render.yaml ou pelo painel.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Automatizar novos deploys a cada push no GitHub.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Testar a API publicada com o Postman.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Até agora, as APIs rodavam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só no nosso computador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Para virar um produto de verdade, falta o próximo passo: o deploy.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é deploy?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702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34874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Publicar a aplicação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Colocar a API num ambiente online e estável, fora do seu computador.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9514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276856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Acessível de qualquer lugar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Qualquer cliente, de qualquer lugar, consome a API pela internet.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2326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20497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Disponível 24 horas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depende de o seu computador estar ligado.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4563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92734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contínuo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push no GitHub publica uma versão nova sozinho.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DNS e HTTPS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caminho até a sua API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o DNS funciona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DNS é a "agenda de contatos" da internet: traduz nomes em endereços IP.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828800"/>
            <a:ext cx="685800" cy="685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624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Pergunta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0175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 é o IP de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minha-api.onrender.com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?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007108" y="217170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1828800"/>
            <a:ext cx="6858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606040" y="2624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DNS responde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2670048" y="30175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servidor DNS devolve o endereço IP.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018788" y="217170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828800"/>
            <a:ext cx="685800" cy="685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617720" y="2624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Acessa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4681728" y="30175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cliente conecta no servidor da aplicação.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030468" y="217170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828800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629400" y="2624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Recebe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6693408" y="301752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API devolve os dados.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Render, você ganha um domínio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.onrender.com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DNS já configurado.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caso real: o bloqueio do X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787652"/>
            <a:ext cx="2590800" cy="2203704"/>
          </a:xfrm>
          <a:prstGeom prst="roundRect">
            <a:avLst>
              <a:gd name="adj" fmla="val 414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7053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97053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bloqueio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446020"/>
            <a:ext cx="2225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2024, as operadoras bloquearam os IPs e domínios do X no Brasil, por decisão judicial.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276600" y="1787652"/>
            <a:ext cx="2590800" cy="2203704"/>
          </a:xfrm>
          <a:prstGeom prst="roundRect">
            <a:avLst>
              <a:gd name="adj" fmla="val 414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970532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97053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desvio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2446020"/>
            <a:ext cx="2225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X passou a usar a Cloudflare: o tráfego saía de IPs compartilhados com milhares de outros sites.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141720" y="1787652"/>
            <a:ext cx="2590800" cy="2203704"/>
          </a:xfrm>
          <a:prstGeom prst="roundRect">
            <a:avLst>
              <a:gd name="adj" fmla="val 414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97053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97053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lição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2446020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Nomes (DNS) e endereços (IP) são as alavancas que controlam o acesso na internet.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 x HTTPS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697736"/>
            <a:ext cx="402336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8061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8806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HTTP: sem SSL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356104"/>
            <a:ext cx="365760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dados trafegam em texto puro. Quem intercepta a conexão lê senhas, tokens e tudo o mais.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697736"/>
            <a:ext cx="402336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8061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8806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HTTPS: com SSL/TLS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356104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dados vão criptografados. Quem intercepta vê só um texto embaralhado.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Render emite e renova o certificado SSL sozinho: a sua API já nasce em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https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Ambiente local x produção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536446"/>
            <a:ext cx="4023360" cy="2084324"/>
          </a:xfrm>
          <a:prstGeom prst="roundRect">
            <a:avLst>
              <a:gd name="adj" fmla="val 43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1932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71932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194814"/>
            <a:ext cx="3657600" cy="1243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Roda em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só na sua máquina.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Variáveis no arquivo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 de testes, sem preocupação com escala.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536446"/>
            <a:ext cx="4023360" cy="2084324"/>
          </a:xfrm>
          <a:prstGeom prst="roundRect">
            <a:avLst>
              <a:gd name="adj" fmla="val 43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1932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71932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Produção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194814"/>
            <a:ext cx="3657600" cy="1243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URL pública, com HTTPS.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Variáveis configuradas no painel do Render.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 oficial no Atlas, com dados reais.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Fazer deploy é levar a API do mundo controlado para o mundo real, por isso os cuidados a seguir.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antes do deploy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49096"/>
            <a:ext cx="2590800" cy="1639824"/>
          </a:xfrm>
          <a:prstGeom prst="roundRect">
            <a:avLst>
              <a:gd name="adj" fmla="val 557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319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33197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Arquitetura</a:t>
            </a:r>
            <a:endParaRPr lang="en-US" sz="15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07464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Camadas claras, como no boilerplate.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276600" y="1149096"/>
            <a:ext cx="2590800" cy="1639824"/>
          </a:xfrm>
          <a:prstGeom prst="roundRect">
            <a:avLst>
              <a:gd name="adj" fmla="val 557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33197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33197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Credenciais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1807464"/>
            <a:ext cx="222504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Senhas com hash e segredos só em variáveis de ambiente.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141720" y="1149096"/>
            <a:ext cx="2590800" cy="1639824"/>
          </a:xfrm>
          <a:prstGeom prst="roundRect">
            <a:avLst>
              <a:gd name="adj" fmla="val 557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33197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33197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Acesso</a:t>
            </a:r>
            <a:endParaRPr lang="en-US" sz="15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1807464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Rotas privadas protegidas com JWT.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11480" y="2990088"/>
            <a:ext cx="2590800" cy="1639824"/>
          </a:xfrm>
          <a:prstGeom prst="roundRect">
            <a:avLst>
              <a:gd name="adj" fmla="val 557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0642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Respostas</a:t>
            </a:r>
            <a:endParaRPr lang="en-US" sz="1550" dirty="0"/>
          </a:p>
        </p:txBody>
      </p:sp>
      <p:sp>
        <p:nvSpPr>
          <p:cNvPr id="20" name="Text 13"/>
          <p:cNvSpPr txBox="1"/>
          <p:nvPr/>
        </p:nvSpPr>
        <p:spPr>
          <a:xfrm>
            <a:off x="594360" y="3648456"/>
            <a:ext cx="22250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JSON e status corretos: 200, 201, 400, 401, 404, 500.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3276600" y="2990088"/>
            <a:ext cx="2590800" cy="1639824"/>
          </a:xfrm>
          <a:prstGeom prst="roundRect">
            <a:avLst>
              <a:gd name="adj" fmla="val 557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480" y="3172968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97154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Erros</a:t>
            </a:r>
            <a:endParaRPr lang="en-US" sz="1550" dirty="0"/>
          </a:p>
        </p:txBody>
      </p:sp>
      <p:sp>
        <p:nvSpPr>
          <p:cNvPr id="24" name="Text 16"/>
          <p:cNvSpPr txBox="1"/>
          <p:nvPr/>
        </p:nvSpPr>
        <p:spPr>
          <a:xfrm>
            <a:off x="3459480" y="3648456"/>
            <a:ext cx="22250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Middleware de erro: a API não cai com uma exceção.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141720" y="2990088"/>
            <a:ext cx="2590800" cy="1639824"/>
          </a:xfrm>
          <a:prstGeom prst="roundRect">
            <a:avLst>
              <a:gd name="adj" fmla="val 557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3172968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3666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Documentação</a:t>
            </a:r>
            <a:endParaRPr lang="en-US" sz="1550" dirty="0"/>
          </a:p>
        </p:txBody>
      </p:sp>
      <p:sp>
        <p:nvSpPr>
          <p:cNvPr id="28" name="Text 19"/>
          <p:cNvSpPr txBox="1"/>
          <p:nvPr/>
        </p:nvSpPr>
        <p:spPr>
          <a:xfrm>
            <a:off x="6324600" y="3648456"/>
            <a:ext cx="22250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README com as rotas e as variáveis necessárias.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Servidores na nuvem: PaaS x IaaS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411480" y="1536446"/>
            <a:ext cx="4023360" cy="2084324"/>
          </a:xfrm>
          <a:prstGeom prst="roundRect">
            <a:avLst>
              <a:gd name="adj" fmla="val 43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1932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71932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PaaS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194814"/>
            <a:ext cx="3657600" cy="1243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pronta: você só envia o código.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provedor cuida de servidor, sistema e escala.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Ex.: Render, Heroku, Vercel.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536446"/>
            <a:ext cx="4023360" cy="2084324"/>
          </a:xfrm>
          <a:prstGeom prst="roundRect">
            <a:avLst>
              <a:gd name="adj" fmla="val 43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1932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71932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IaaS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194814"/>
            <a:ext cx="3657600" cy="102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recebe uma máquina e configura tudo.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Mais controle, mais trabalho.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Ex.: AWS EC2, Azure VM.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Como queremos focar no código, e não na infraestrutura, o PaaS é o ideal: por isso o Render.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Preparando a API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porta vem do Render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8120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package.json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186940"/>
            <a:ext cx="4069080" cy="1243584"/>
          </a:xfrm>
          <a:prstGeom prst="roundRect">
            <a:avLst>
              <a:gd name="adj" fmla="val 58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303983"/>
            <a:ext cx="3776472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"scripts":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"start": "node src/server.js"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81203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server.js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186940"/>
            <a:ext cx="4069080" cy="1243584"/>
          </a:xfrm>
          <a:prstGeom prst="roundRect">
            <a:avLst>
              <a:gd name="adj" fmla="val 588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303983"/>
            <a:ext cx="3776472" cy="1009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PORT = process.env.PORT ||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(PORT, () =&gt;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`Rodando na porta ${PORT}`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Render define a porta na variável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roda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Porta fixa ou script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faltando: o deploy fica no ar, mas a API não responde.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Erros comuns no deploy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259080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52728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25272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Porta fixa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728216"/>
            <a:ext cx="2225040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</a:t>
            </a:r>
            <a:r>
              <a:rPr lang="en-US" sz="10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process.env.PORT</a:t>
            </a: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76600" y="1069848"/>
            <a:ext cx="259080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252728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252728"/>
            <a:ext cx="171297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Variável faltando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1740408"/>
            <a:ext cx="22250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</a:t>
            </a: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0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configuradas no Render.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141720" y="1069848"/>
            <a:ext cx="259080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25272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25272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Atlas bloqueando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1728216"/>
            <a:ext cx="222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Render usa IPs variáveis: libere </a:t>
            </a:r>
            <a:r>
              <a:rPr lang="en-US" sz="10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</a:t>
            </a: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Network Access.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11480" y="2679192"/>
            <a:ext cx="259080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86207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06424" y="2862072"/>
            <a:ext cx="171297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Maiúsculas no import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94360" y="3349752"/>
            <a:ext cx="222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./Models/User.js</a:t>
            </a: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funciona no Windows e quebra no Linux do Render.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3276600" y="2679192"/>
            <a:ext cx="259080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480" y="2862072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971544" y="286207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Pasta errada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3459480" y="3337560"/>
            <a:ext cx="222504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0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precisa estar na raiz do repositório (ou configure o Root Directory).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6141720" y="2679192"/>
            <a:ext cx="2590800" cy="1408176"/>
          </a:xfrm>
          <a:prstGeom prst="roundRect">
            <a:avLst>
              <a:gd name="adj" fmla="val 6494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2862072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36664" y="2862072"/>
            <a:ext cx="171297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node_modules no Git</a:t>
            </a:r>
            <a:endParaRPr lang="en-US" sz="1300" dirty="0"/>
          </a:p>
        </p:txBody>
      </p:sp>
      <p:sp>
        <p:nvSpPr>
          <p:cNvPr id="28" name="Text 19"/>
          <p:cNvSpPr txBox="1"/>
          <p:nvPr/>
        </p:nvSpPr>
        <p:spPr>
          <a:xfrm>
            <a:off x="6324600" y="3349752"/>
            <a:ext cx="222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Render instala tudo com </a:t>
            </a:r>
            <a:r>
              <a:rPr lang="en-US" sz="10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deixe no </a:t>
            </a:r>
            <a:r>
              <a:rPr lang="en-US" sz="10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r>
              <a:rPr lang="en-US" sz="10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Deu erro? Os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logs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Render dizem exatamente onde: leia de baixo para cima.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Scripts: dev e start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90347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package.json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2278380"/>
            <a:ext cx="4069080" cy="1060704"/>
          </a:xfrm>
          <a:prstGeom prst="roundRect">
            <a:avLst>
              <a:gd name="adj" fmla="val 689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2395423"/>
            <a:ext cx="3776472" cy="82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"scripts":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"dev": "node --watch src/server.js",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"start": "node src/server.js"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90347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terminal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09160" y="2278380"/>
            <a:ext cx="4069080" cy="1060704"/>
          </a:xfrm>
          <a:prstGeom prst="roundRect">
            <a:avLst>
              <a:gd name="adj" fmla="val 6897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55464" y="2395423"/>
            <a:ext cx="3776472" cy="826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dev      # no seu computador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start        # o que o Render roda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reinicia a cada mudança, para desenvolver.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o comando de produção.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não precisa do "run".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rota de saúde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961388"/>
            <a:ext cx="8321040" cy="1106424"/>
          </a:xfrm>
          <a:prstGeom prst="roundRect">
            <a:avLst>
              <a:gd name="adj" fmla="val 661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2078431"/>
            <a:ext cx="8028432" cy="872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'/health'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(req, res) =&gt; {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7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status: </a:t>
            </a:r>
            <a:r>
              <a:rPr lang="en-US" sz="17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'ok'</a:t>
            </a: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23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Render, informe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Health Check Path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ele confere se a API está respondendo e só troca a versão no ar quando a nova estiver saudável.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3258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no Render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fluxo de um deploy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push ao ar, o Render cuida de tudo: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1828800"/>
            <a:ext cx="685800" cy="685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62432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git push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01752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código vai para o GitHub.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805940" y="217170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756" y="1828800"/>
            <a:ext cx="685800" cy="685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203704" y="262432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Detecta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2267712" y="301752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Render percebe o commit novo.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3415284" y="217170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1828800"/>
            <a:ext cx="685800" cy="685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813048" y="262432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Build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3877056" y="301752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Roda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024628" y="217170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444" y="1828800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22392" y="262432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Start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0" y="301752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Roda </a:t>
            </a:r>
            <a:r>
              <a:rPr lang="en-US" sz="13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633972" y="217170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788" y="1828800"/>
            <a:ext cx="685800" cy="6858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031736" y="262432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Live</a:t>
            </a:r>
            <a:endParaRPr lang="en-US" sz="1700" dirty="0"/>
          </a:p>
        </p:txBody>
      </p:sp>
      <p:sp>
        <p:nvSpPr>
          <p:cNvPr id="24" name="Text 16"/>
          <p:cNvSpPr txBox="1"/>
          <p:nvPr/>
        </p:nvSpPr>
        <p:spPr>
          <a:xfrm>
            <a:off x="7095744" y="301752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no ar, em HTTPS.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Opção 1: o render.yaml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153668"/>
            <a:ext cx="4206240" cy="3499104"/>
          </a:xfrm>
          <a:prstGeom prst="roundRect">
            <a:avLst>
              <a:gd name="adj" fmla="val 209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270711"/>
            <a:ext cx="3913632" cy="326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type: web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api-banco-digital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runtime: node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plan: free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buildCommand: "npm install"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startCommand: "npm start"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autoDeploy: true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envVars: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key: MONGO_URI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sync: false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key: JWT_SECRET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generateValue: true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413510"/>
            <a:ext cx="3931920" cy="297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 como código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em vez de clicar no painel, você descreve o serviço num arquivo versionado.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/ start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os comandos para instalar e iniciar a API.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sync: false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valor não fica no arquivo: o Render pergunta no painel. Ideal para a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generateValue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Render gera um segredo aleatório, perfeito para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Publicando com Blueprint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60020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Suba o projeto para o GitHub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render.yaml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 raiz.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3180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299716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 no Render com o GitHub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Assim ele enxerga os seus repositórios.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999232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&gt; Blueprint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Escolha o repositório: o Render lê o render.yaml.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7170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698748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Preencha a MONGO_URI e faça o deploy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Acompanhe o build pelos logs até aparecer "Live".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Blueprint passo a passo</a:t>
            </a:r>
            <a:endParaRPr lang="en-US" sz="3000" dirty="0"/>
          </a:p>
        </p:txBody>
      </p:sp>
      <p:pic>
        <p:nvPicPr>
          <p:cNvPr id="4" name="Image 0" descr="Acesse o Ren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27" y="1024128"/>
            <a:ext cx="3554425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4527" y="1024128"/>
            <a:ext cx="3554425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5237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Acesse o Render</a:t>
            </a:r>
            <a:endParaRPr lang="en-US" sz="1200" dirty="0"/>
          </a:p>
        </p:txBody>
      </p:sp>
      <p:pic>
        <p:nvPicPr>
          <p:cNvPr id="7" name="Image 1" descr="Crie um Bluepri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195" y="1024128"/>
            <a:ext cx="2796129" cy="1463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54195" y="1024128"/>
            <a:ext cx="2796129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09160" y="25237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Blueprint</a:t>
            </a:r>
            <a:endParaRPr lang="en-US" sz="1200" dirty="0"/>
          </a:p>
        </p:txBody>
      </p:sp>
      <p:pic>
        <p:nvPicPr>
          <p:cNvPr id="10" name="Image 2" descr="Configure a MONGO_UR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91" y="2852928"/>
            <a:ext cx="3068698" cy="14630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57391" y="2852928"/>
            <a:ext cx="3068698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48640" y="4352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Configure a MONGO_URI</a:t>
            </a:r>
            <a:endParaRPr lang="en-US" sz="1200" dirty="0"/>
          </a:p>
        </p:txBody>
      </p:sp>
      <p:pic>
        <p:nvPicPr>
          <p:cNvPr id="13" name="Image 3" descr="Deploy subin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925" y="2852928"/>
            <a:ext cx="2794669" cy="1463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254925" y="2852928"/>
            <a:ext cx="2794669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4709160" y="4352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subindo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Opção 2: configuração manual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6184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60020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New &gt; Web Service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Conecte o repositório do GitHub.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3180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299716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Definições iniciais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Nome, região e branch.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999232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Linguagem e comandos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Node, build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start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7170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3698748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Plano e variáveis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Plano Free e as variáveis de ambiente, uma a uma.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Configuração manual passo a passo</a:t>
            </a:r>
            <a:endParaRPr lang="en-US" sz="2800" dirty="0"/>
          </a:p>
        </p:txBody>
      </p:sp>
      <p:pic>
        <p:nvPicPr>
          <p:cNvPr id="4" name="Image 0" descr="Crie um Web Servi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36" y="1024128"/>
            <a:ext cx="3330607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6436" y="1024128"/>
            <a:ext cx="3330607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5237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 Web Service</a:t>
            </a:r>
            <a:endParaRPr lang="en-US" sz="1200" dirty="0"/>
          </a:p>
        </p:txBody>
      </p:sp>
      <p:pic>
        <p:nvPicPr>
          <p:cNvPr id="7" name="Image 1" descr="Definições iniciai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719" y="1024128"/>
            <a:ext cx="3509082" cy="1463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897719" y="1024128"/>
            <a:ext cx="3509082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709160" y="25237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Definições iniciais</a:t>
            </a:r>
            <a:endParaRPr lang="en-US" sz="1200" dirty="0"/>
          </a:p>
        </p:txBody>
      </p:sp>
      <p:pic>
        <p:nvPicPr>
          <p:cNvPr id="10" name="Image 2" descr="Linguagem e comand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73" y="2852928"/>
            <a:ext cx="3539734" cy="14630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21873" y="2852928"/>
            <a:ext cx="3539734" cy="1463040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48640" y="4352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Linguagem e comandos</a:t>
            </a:r>
            <a:endParaRPr lang="en-US" sz="1200" dirty="0"/>
          </a:p>
        </p:txBody>
      </p:sp>
      <p:pic>
        <p:nvPicPr>
          <p:cNvPr id="13" name="Image 3" descr="Variáveis de ambien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932962"/>
            <a:ext cx="3886200" cy="1302971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709160" y="2932962"/>
            <a:ext cx="3886200" cy="1302971"/>
          </a:xfrm>
          <a:prstGeom prst="rect">
            <a:avLst/>
          </a:prstGeom>
          <a:ln w="15875">
            <a:solidFill>
              <a:srgbClr val="E16D34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4709160" y="4352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Variáveis de ambiente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plano free e cold start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plano gratuito, o serviço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dorme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depois de uns 15 minutos sem requisições.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primeira requisição depois disso acorda o serviço e pode levar perto de um minuto.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é erro: espere e tente de novo. Antes de uma apresentação, faça uma requisição para "acordar" a API.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Segurança em produção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01674"/>
            <a:ext cx="4023360" cy="2753868"/>
          </a:xfrm>
          <a:prstGeom prst="roundRect">
            <a:avLst>
              <a:gd name="adj" fmla="val 332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84554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38455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helmet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60042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middleware que adiciona headers de segurança às respostas.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94360" y="2650998"/>
            <a:ext cx="3657600" cy="527304"/>
          </a:xfrm>
          <a:prstGeom prst="roundRect">
            <a:avLst>
              <a:gd name="adj" fmla="val 1387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" y="2768041"/>
            <a:ext cx="3364992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helmet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09160" y="1201674"/>
            <a:ext cx="4023360" cy="2753868"/>
          </a:xfrm>
          <a:prstGeom prst="roundRect">
            <a:avLst>
              <a:gd name="adj" fmla="val 332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8455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04104" y="138455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Rate limit</a:t>
            </a:r>
            <a:endParaRPr lang="en-US" sz="175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1860042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Limita requisições por IP: dificulta ataques de força bruta no login.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892040" y="2650998"/>
            <a:ext cx="3657600" cy="1121664"/>
          </a:xfrm>
          <a:prstGeom prst="roundRect">
            <a:avLst>
              <a:gd name="adj" fmla="val 652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038344" y="2768041"/>
            <a:ext cx="3364992" cy="887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rateLimit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windowMs: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limit: </a:t>
            </a:r>
            <a:r>
              <a:rPr lang="en-US" sz="13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Pacotes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helmet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express-rate-limit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Com a API pública na internet, qualquer um pode tentar acessá-la.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ir além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823466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0634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2006346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Domínio próprio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631186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Troque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.onrender.com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pelo seu domínio, com SSL automático.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3276600" y="1823466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200634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200634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Rollback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2481834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Render guarda o histórico: volte para um deploy anterior em um clique.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141720" y="1823466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00634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2006346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Logs e health check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2631186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Acompanhe a execução e deixe o Render verificar se a API está viva.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01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Sua API no ar: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publique o boilerplate no Render.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01496"/>
            <a:ext cx="813816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Garanta 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process.env.PORT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server.js e o script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package.json.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Suba o projeto para o GitHub, com 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Publique pelo Blueprint ou pelo Web Service, configurando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Acesse a URL pública e confira a rota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02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Sua API no Postman: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publique um exercício que você já fez.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301496"/>
            <a:ext cx="81381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Escolha uma das APIs dos módulos 8 ou 9.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Publique no Render do mesmo jeito.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Postman, troque </a:t>
            </a:r>
            <a:r>
              <a:rPr lang="en-US" sz="17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pela URL do Render e teste todas as rotas.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02920" y="2734056"/>
            <a:ext cx="8138160" cy="664464"/>
          </a:xfrm>
          <a:prstGeom prst="roundRect">
            <a:avLst>
              <a:gd name="adj" fmla="val 110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8834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2825496"/>
            <a:ext cx="736092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uma variável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baseUrl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Postman: trocar entre local e produção vira um clique.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Lista de exercícios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89404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207111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e variáveis de ambiente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porta dinâmica,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o script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11780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79349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de Banco Digital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projeto completo, pronto para publicar no Render.</a:t>
            </a:r>
            <a:endParaRPr lang="en-US" sz="1650" dirty="0"/>
          </a:p>
        </p:txBody>
      </p:sp>
      <p:sp>
        <p:nvSpPr>
          <p:cNvPr id="9" name="Text 4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repositório: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modulo10/lista_de_exercicios/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flashcards no ar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Fio condutor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Publique no Render a API do flashcards (a versão do boilerplate, com login).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530096"/>
            <a:ext cx="8138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Confira a porta de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process.env.PORT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o script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a rota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Render, cadastre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nas variáveis de ambiente.</a:t>
            </a:r>
            <a:endParaRPr lang="en-US" sz="16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Atlas, libere o acesso de rede para o Render.</a:t>
            </a:r>
            <a:endParaRPr lang="en-US" sz="1600" dirty="0"/>
          </a:p>
          <a:p>
            <a:pPr algn="l" marL="177800" indent="-177800">
              <a:spcAft>
                <a:spcPts val="300"/>
              </a:spcAft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pelo Postman na URL pública: cadastro, login e </a:t>
            </a: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/api/baralhos</a:t>
            </a: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com o token.</a:t>
            </a:r>
            <a:endParaRPr lang="en-US" sz="1600" dirty="0"/>
          </a:p>
          <a:p>
            <a:pPr algn="l" marL="177800" indent="-177800">
              <a:buSzPct val="100000"/>
              <a:buChar char="●"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Coloque a URL pública no README do repositório.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3953256"/>
            <a:ext cx="395478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20928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4044696"/>
            <a:ext cx="3177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Cuidado: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nunca vai para o GitHub: confira o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 do push.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86300" y="3953256"/>
            <a:ext cx="3954780" cy="877824"/>
          </a:xfrm>
          <a:prstGeom prst="roundRect">
            <a:avLst>
              <a:gd name="adj" fmla="val 8333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420928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26380" y="4044696"/>
            <a:ext cx="31775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rode </a:t>
            </a: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antes de cada deploy e só publique se tudo passar.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do módulo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170432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QR code para https://github.com/nicolassmotta/curso-lions-dev/tree/main/modulo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251460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Aponte a câmera do celular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886200" y="11704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tree/main/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modulo10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6596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16552" y="1920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teoria comentada e o </a:t>
            </a: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cheat sheet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módulo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642616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416552" y="259689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lista_de_exercicios/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listas para praticar em casa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319272"/>
            <a:ext cx="384048" cy="38404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416552" y="3273552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exercicios_resolvidos/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gabaritos, para conferir depois de tentar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Fim!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Módulo 11, a sua API ganha uma interface.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Lions 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10</dc:title>
  <dc:subject>PptxGenJS Presentation</dc:subject>
  <dc:creator>Nicolas Cardoso Motta</dc:creator>
  <cp:lastModifiedBy>Nicolas Cardoso Motta</cp:lastModifiedBy>
  <cp:revision>1</cp:revision>
  <dcterms:created xsi:type="dcterms:W3CDTF">2026-09-27T23:25:45Z</dcterms:created>
  <dcterms:modified xsi:type="dcterms:W3CDTF">2026-09-27T23:25:45Z</dcterms:modified>
</cp:coreProperties>
</file>