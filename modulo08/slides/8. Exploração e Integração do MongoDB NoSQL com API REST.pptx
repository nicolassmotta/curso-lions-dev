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8 — Explorando banco de dados: MongoDB, MongoDB Atlas e Mongoose.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de abertura (5 minutos) do Módulo 7. Peça para a turma explicar cada cartão com as próprias palavras antes de você falar.
Termine com a pergunta do rodapé. Resposta esperada: sumiram: os dados ficavam num array, na memória do processo. Hoje eles vão para um banco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curso: hoje é o Módulo 8 (Banco de Dados com MongoDB). Os módulos com o sinal de visto já passaram; o laranja é o de hoje.
Adiante o próximo passo: o Módulo 9 (Autenticação, JWT e MVC) depende do que a turma aprender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com a pergunta da revisão: reiniciar o servidor apagava tudo. Hoje o flashcards ganha persistência. Adiante que o model Flashcard referencia o Baralho, como os relacionamentos por id do Módulo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No fim da aula, volte a este slide e peça para cada um dizer qual item já consegue fazer sozinho.
• Compreender o que é um banco de dados e por que usar um.
• Diferenciar bancos relacionais e não relacionais.
• Entender documentos, coleções e schema design no MongoDB.
• Configurar o MongoDB Atlas e proteger a conexão com variáveis de ambiente.
• Usar o Mongoose, com async/await e try/catch, para levar os flashcards para o banco.
• Atualizar só uma parte do documento e excluir sem perder os dados (soft delete).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"Até agora, todos os dados viviam na memória. Fechou o servidor, os baralhos sumiram."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memória, os dados ficam temporariamente na RAM da aplicação: rápidos, mas voláteis.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"Antes: memória" x "Agora: MongoDB". Pergunte qual diferença chama mais atenção antes de explicar.
Mensagem principal: A lógica das rotas continua parecida. O que muda é onde os dados ficam guardados.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"O que é um banco de dados?".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Armazena e organiza: Um sistema para guardar, organizar e gerenciar dados de forma estruturada.
• Persistência: Os dados continuam lá mesmo depois que a aplicação é desligada.
• Gestão centralizada e segura: Um único lugar, com controle de acesso, que vários servidores podem usar.
• Consultas eficientes: Buscar, filtrar e ordenar milhões de registros com rapidez.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os dois diagramas: na memória, a API guarda os dados nela mesma; com banco, a API conversa com um serviço separado, que guarda os dados de forma permanente.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"Tipos de banco de dados".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Relacional (SQL): Dados em tabelas, com linhas e colunas. Estrutura fixa, definida antes. Relações por chaves; consultas em SQL.
• Não relacional (NoSQL): Dados em documentos parecidos com JSON. Estrutura flexível: cada documento pode variar. Documentos agrupados em coleções.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Tabelas representam os tipos de dados; linhas são os registros e colunas as características. A chave primária identifica cada linha e a chave estrangeira aponta para outra tabela.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MySQL: fácil de usar e muito popular na web. PostgreSQL: robusto e cheio de recursos. SQL Server: da Microsoft, comum em empresas.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banco que vamos usar no curso.
Pontos para falar:
• Orientado a documentos: Guarda os dados num formato parecido com JSON: quase um objeto JavaScript.
• Flexível: Não exige que todos os documentos tenham os mesmos campos.
• Na nuvem, de graça: O MongoDB Atlas oferece um cluster gratuito para estudar.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dado nos dois modelos: no SQL, uma linha numa tabela com colunas fixas; no MongoDB, um documento com chave e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Feito para JavaScript: Os documentos parecem objetos JS: menos tradução entre o código e o banco.
• Flexível: Dá para evoluir a estrutura dos dados sem migrações complicadas.
• Escalável: Aguenta muito volume e muitas requisições.
• Atlas gratuito: Um banco na nuvem, pronto em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"Documentos e coleções".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documento: uma unidade de dados: um usuário, um produto, um flashcard.
• chave: valor: cada informação tem um nome (chave) e um valor.
• _id: criado automaticamente pelo MongoDB: um ObjectId único, não um número 1, 2,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banco guarda várias coleções; cada coleção agrupa documentos do mesmo 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"Schema design". Antes de avançar, faça uma pergunta rápida que ligue o assunto novo ao que a turma já sabe.
Frase de apoio: Como organizar os dados relacionados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"Embedding: tudo junto" x "Referência: coleções separadas". Pergunte qual diferença chama mais atenção antes de explicar.
Mensagem principal: Embedding quando os dados são sempre lidos juntos e são poucos. Referência quando crescem muito ou são usados sozinhos. Os flashcards usam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1 : 1 Um para um: Um usuário tem um perfil.
• 1 : N Um para muitos: Um baralho tem vários flashcards.
• N : N Muitos para muitos: Alunos fazem várias turmas; turmas têm vários alunos.
Mensagem principal: É o mesmo relacionamento por IDs do Módulo 6. Agora o ID é o _id do MongoDB.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"MongoDB Atlas". Antes de avançar, faça uma pergunta rápida que ligue o assunto novo ao que a turma já sabe.
Frase de apoio: O nosso banco de dados na nuvem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Crie a conta: Em mongodb.com/atlas, com e-mail, Google ou GitHub.
• Escolha o plano gratuito: O cluster M0 (Free) é suficiente para o curso.
• Crie o cluster: Um "servidor" de banco de dados só seu.
• Crie um usuário do banco: Nome e senha que a aplicação vai usar para se conectar. Não é o login do site!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Método de conexão: Drivers: Escolha a opção para conectar pelo código.
• Driver Node.js: Vamos usar o Mongoose, que usa esse driver por baixo.
• Copie a connection string: E guarde no arquivo .env, nunca direto no código.
• Libere o IP (Network Access): Adicione o IP da máquina. 0.0.0.0/0 libera qualquer IP: só para estudo.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Telas do passo a passo no Atlas. A interface muda com frequência, mas os passos continuam os mesmos.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Caracteres como @, : ou / na senha quebram a connection string.
• A URI usa esses caracteres como separadores: uma senha com @ faz o Mongoose achar que o endereço começou antes.
• Crie uma senha só com letras e números, ou codifique os especiais (@ vira %40).
• Erro de autenticação? Confira o usuário do banco (passo 4), que não é o login do site.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"Variáveis de ambiente".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 parte por parte e diga para que serve cada uma.
Mensagem principal: A connection string tem usuário, senha e endereço do banco: informação sensível. Por isso ela fica no .env, fora do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dotenv: pacote que lê o arquivo .env: npm install dotenv.
• config(): carrega as variáveis. Chame antes de usar qualquer uma.
• process.env: o objeto onde o Node guarda as variáveis de ambiente.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Um .env commitado expõe a senha do banco para qualquer pessoa.
• Coloque o .env no .gitignore antes do primeiro commit.
• Suba um .env.example, com os nomes das variáveis e valores de exemplo, para quem clonar saber o que configurar.
• Vazou? Troque a senha do usuário do banco no Atlas na hora.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"Mongoose".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Mongoose é a biblioteca que conecta a aplicação ao MongoDB:
Explique o fluxo da esquerda para a direita:
• Node.js: Trabalha com objetos JavaScript.
• Mongoose: Faz o mapeamento entre objetos e documentos.
• MongoDB: Guarda os documentos nas coleções.
Mensagem principal: Com ele, definimos um Schema (o formato dos dados) e um Model (a interface para o CRUD).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 parte por parte e diga para que serve cada uma.
Destaques:
• database.js: conecta ao MongoDB.
• models/: um arquivo por coleção, com o Schema e o Model.
• instalação: npm install express mongoose dotenv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Se a conexão falhar, não adianta a API subir: o process.exit(1) encerra o programa com uma mensagem 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required: campo obrigatório, com a mensagem de erro.
• trim: tira os espaços das pontas antes de salvar.
• timestamps: cria createdAt e updatedAt sozinho.
• model('Baralho'): vira a coleção baralhos: minúscula e no plural.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campo baralho guarda o _id do baralho, e o ref diz para qual model esse id aponta: o relacionamento 1:N.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create(): Cria um documento. (com o código do card)
• find(): Lista (com filtro opcional). (com o código do card)
• findById(): Busca pelo _id. (com o código do card)
• findByIdAndUpdate(): Atualiza pelo _id. (com o código do card)
• findByIdAndDelete(): Remove pelo _id. (com o código do card)
• deleteMany(): Remove vários de uma vez. (com o código do card)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populate usa o ref do Schema para trocar o id pelo documento. É o "garçom" do Módulo 6, feito pelo Mongoose.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Buscas e filtros que antes eram laços no nosso código agora são feitos pelo banco: bem mais rápido com muitos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O unique: true cria um índice no banco. E-mail repetido não dá erro de validação: dá E11000 duplicate key.
• Trate esse erro pelo código 11000 e responda 409 Conflict.
• Use lowercase e trim no campo: "Ana@Email.com " e "ana@email.com" viram o mesmo e-mail.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"Operações assíncronas". Antes de avançar, faça uma pergunta rápida que ligue o assunto novo ao que a turma já sabe.
Frase de apoio: O banco está longe: as respostas demoram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Enquanto o MongoDB responde, o Node.js continua atendendo outras requisições. Toda operação do Mongoose devolve uma Promise.
Pontos para falar:
• Pending: A operação ainda está acontecendo.
• Fulfilled: Terminou com sucesso e trouxe o resultado.
• Rejected: Deu erro no caminho.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".then() e .catch()" x "async / await". Pergunte qual diferença chama mais atenção antes de explicar.
Mensagem principal: O async/await não elimina a Promise: ela continua lá. O código só fica parecido com uma sequência normal, fácil de 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Antes da espera
Depois de 2 segundos
Mensagem principal: O await pausa só esta função até a Promise terminar. E ele só funciona dentro de uma função async.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dê uns 30 segundos para a turma pensar e colete palpites (mão levantada ou chat) antes de avançar. Depois da resposta, se der tempo, rode o código na frente de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A variável recebe a consulta, não os dados. O res.json não consegue converter a consulta em JSON, e a rota responde 500.
• Sem await, Baralho.find() devolve uma consulta que ainda nem rodou.
• Toda chamada ao Mongoose precisa de await, e a função precisa ser async.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Se o banco falhar, a execução pula para o catch: o cliente recebe um 500 com a mensagem, e o servidor não cai. É o try/catch do Módulo 2 em 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"Flashcards com MongoDB".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"Antes: memória" x "Agora: MongoDB". Pergunte qual diferença chama mais atenção antes de explicar.
Mensagem principal: A validação do título saiu do nosso código e foi para o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Aqui o erro vira 400: quase sempre é validação do Schema, como o título faltando.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Testando: POST /baralhos
• Requisição
• POST /baralhos
• { "titulo": "MongoDB"}
• Resposta
• 201 Created
• { "message": "Baralho criado com sucesso", "baralho": { "_id": "665f1c...", "titulo": "MongoDB", "descricao": "", "createdAt": "..." }}
• Confira no Atlas (Browse Collections): o documento está lá, na coleção baralhos.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Se o id não existe, o findById devolve null: é o nosso 404. O GET /baralhos é igual, com Baralho.find().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Um id com formato errado, como /baralhos/123, não devolve null: lança um CastError.
• Sem tratar, cai no catch e vira um 500, como se o servidor tivesse quebrado.
• Valide antes com mongoose.isValidObjectId(id) e responda 400.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new: true devolve o documento depois da atualização. O runValidators faz o update respeitar as validações do Schema, que por padrão ele ignora.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MongoDB não apaga os flashcards sozinho: o deleteMany faz a "cascata" que o laço de trás para frente fazia no Módulo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Rotas do exemplo completo em modulo08/exercicios_slides/flashcards/src/server.js.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"Atualização parcial e soft delete". Antes de avançar, faça uma pergunta rápida que ligue o assunto novo ao que a turma já sabe.
Frase de apoio: Como APIs de verdade atualizam e removem dados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trocar o documento inteiro existe o findOneAndReplace, mas quase nunca é o que a API precisa.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Com findByIdAndUpdate(id, req.body), o cliente altera qualquer campo: até trocar o flashcard de baralho.
• Numa API com login (Módulo 9), seria trocar o dono de um registro.
• Monte o update só com os campos permitidos: o que não está na lista é ignorado.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 significa "apagar" é uma convenção combinada com quem consome a API: precisa estar na documentação. Testado com Mongoose 8: $unset ou null num campo required, com runValidators, lança ValidationError.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Hard delete: O documento é apagado do banco: findByIdAndDelete. Simples, mas não tem volta.
• Soft delete: O documento fica, marcado com a data da exclusão: excluidoEm. Dá para desfazer, manter o histórico e não quebrar relacionamentos.
Mensagem principal: Soft delete não serve para tudo: dados pessoais que o usuário pediu para apagar precisam sair de verdade (LGPD).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filtro excluidoEm: null impede excluir de novo o que já foi excluído: vira 404. E o 204 do Módulo 7 volta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Buscar por excluidoEm: null também encontra os documentos antigos, que nem têm o campo. O $ne significa "diferente de".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Um findById devolve o flashcard mesmo excluído. O soft delete só funciona se toda consulta filtrar.
• Troque findById(id) por findOne({ _id: id, excluidoEm: null }).
• O mesmo vale para listar, atualizar e contar: qualquer consulta sem o filtro "ressuscita" os excluídos.
• No Módulo 9, as consultas ficam num lugar só, o repository: é lá que o filtro entra, uma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(MongoDB): leia o enunciado em voz alta, combine o tempo (15 a 25 minutos, conforme a turma) e circule pela sala.
• Crie a pasta modulo08, o cluster no Atlas e o arquivo .env com a connection string.
• Use o flashcards dos slides (ou do repositório) para entender o Mongoose.
• Leve as APIs do Módulo 7 para o MongoDB: um Schema e um Model por recurso.
• Troque as operações em memória pelas do Mongoose, com async/await e try/catch.
• Teste no Postman e confira os documentos no Atlas.
Dica: coloque o .env no .gitignore antes do primeiro commit e suba um .env.example.
Quem terminar antes: troque o DELETE de um recurso por soft delete e crie a rota de restaurar.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Lista de código: Schema, model, create, find e findById: complete, ache o bug e preveja o resultado.
• APIs com banco: Academia, Biblioteca, Cantina, Imóvel e Petshop Lions: uma API completa em cada.
• Desafio: Um CRUD com Mongoose escrito do zero.
Mensagem principal: No repositório: modulo08/lista_de_exercicios/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QR code e peça para a turma abrir a pasta modulo08 no celular agora, antes de ir embora.
Lembre o que tem lá: conteudo, exercicios_slides, lista_de_exercicios, exercicios_resolvidos. O cheat sheet do módulo fica em conteudo/ e resume a aula em duas páginas.
Link: https://github.com/nicolassmotta/curso-lions-dev/tree/main/modulo08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retome os objetivos do começo, abra para dúvidas e lembre onde ficam a lista de exercícios e o material no repositório.
Frase de saída: No Módulo 9: senhas, login com JWT e o padrão MVC.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image" Target="../media/image-3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2-2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4.png"/><Relationship Id="rId3" Type="http://schemas.openxmlformats.org/officeDocument/2006/relationships/image" Target="../media/image-10-3.png"/><Relationship Id="rId4" Type="http://schemas.openxmlformats.org/officeDocument/2006/relationships/image" Target="../media/image-4-5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3-3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7-4.png"/><Relationship Id="rId5" Type="http://schemas.openxmlformats.org/officeDocument/2006/relationships/image" Target="../media/image-1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5-2.png"/><Relationship Id="rId3" Type="http://schemas.openxmlformats.org/officeDocument/2006/relationships/image" Target="../media/image-3-2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6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image" Target="../media/image-6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image" Target="../media/image-71-4.png"/><Relationship Id="rId5" Type="http://schemas.openxmlformats.org/officeDocument/2006/relationships/image" Target="../media/image-71-5.png"/><Relationship Id="rId6" Type="http://schemas.openxmlformats.org/officeDocument/2006/relationships/image" Target="../media/image-3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40233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1500" b="1" spc="3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060704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Curso de Programação</a:t>
            </a:r>
            <a:endParaRPr lang="en-US" sz="950" dirty="0"/>
          </a:p>
        </p:txBody>
      </p:sp>
      <p:pic>
        <p:nvPicPr>
          <p:cNvPr id="6" name="Image 1" descr="Símbolo Lions Dev em degrad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01047"/>
            <a:ext cx="3520440" cy="400084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8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938528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Banco de Dados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MongoDB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Nicolas Cardoso Motta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Revisando o Módulo 7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623060"/>
            <a:ext cx="2590800" cy="1911096"/>
          </a:xfrm>
          <a:prstGeom prst="roundRect">
            <a:avLst>
              <a:gd name="adj" fmla="val 478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0594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80594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HTTP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281428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Método + rota na requisição; status na resposta: 200, 201, 400, 404…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1623060"/>
            <a:ext cx="2590800" cy="1911096"/>
          </a:xfrm>
          <a:prstGeom prst="roundRect">
            <a:avLst>
              <a:gd name="adj" fmla="val 478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80594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180594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Dados da requisição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2430780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req.params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(na rota),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req.query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(depois do ?)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(JSON).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1623060"/>
            <a:ext cx="2590800" cy="1911096"/>
          </a:xfrm>
          <a:prstGeom prst="roundRect">
            <a:avLst>
              <a:gd name="adj" fmla="val 478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80594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180594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Middlewares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2281428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Funções no meio do caminho: validam, barram ou deixam passar com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next()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 para abrir: reinicie o servidor do Módulo 7. O que aconteceu com os flashcards cadastrados?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do curso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86107" y="1133856"/>
            <a:ext cx="6771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BASE: JAVASCRIPT, GIT E ORGANIZAÇÃO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186107" y="1389888"/>
            <a:ext cx="6771785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342" y="2779776"/>
            <a:ext cx="5622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342" y="3035808"/>
            <a:ext cx="5622254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8999" y="2779776"/>
            <a:ext cx="21736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PROJETO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8999" y="3035808"/>
            <a:ext cx="2173659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6107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6107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1827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15" y="153619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5639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5639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381359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de JS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447" y="1536192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485170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85170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530890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978" y="153619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634702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634702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4680422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e GitHub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510" y="1536192"/>
            <a:ext cx="219456" cy="21945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784233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784233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5829953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9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041" y="1536192"/>
            <a:ext cx="219456" cy="219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933765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933765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6979485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9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573" y="1536192"/>
            <a:ext cx="219456" cy="219456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611342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11342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400" dirty="0"/>
          </a:p>
        </p:txBody>
      </p:sp>
      <p:sp>
        <p:nvSpPr>
          <p:cNvPr id="37" name="Text 28"/>
          <p:cNvSpPr txBox="1"/>
          <p:nvPr/>
        </p:nvSpPr>
        <p:spPr>
          <a:xfrm>
            <a:off x="657062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Express</a:t>
            </a:r>
            <a:endParaRPr lang="en-US" sz="9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1150" y="3182112"/>
            <a:ext cx="219456" cy="21945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1760873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1760873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400" dirty="0"/>
          </a:p>
        </p:txBody>
      </p:sp>
      <p:sp>
        <p:nvSpPr>
          <p:cNvPr id="41" name="Text 31"/>
          <p:cNvSpPr txBox="1"/>
          <p:nvPr/>
        </p:nvSpPr>
        <p:spPr>
          <a:xfrm>
            <a:off x="1806593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2910405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3" name="Text 33"/>
          <p:cNvSpPr txBox="1"/>
          <p:nvPr/>
        </p:nvSpPr>
        <p:spPr>
          <a:xfrm>
            <a:off x="2910405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400" dirty="0"/>
          </a:p>
        </p:txBody>
      </p:sp>
      <p:sp>
        <p:nvSpPr>
          <p:cNvPr id="44" name="Text 34"/>
          <p:cNvSpPr txBox="1"/>
          <p:nvPr/>
        </p:nvSpPr>
        <p:spPr>
          <a:xfrm>
            <a:off x="2956125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 MVC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4059936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6" name="Text 36"/>
          <p:cNvSpPr txBox="1"/>
          <p:nvPr/>
        </p:nvSpPr>
        <p:spPr>
          <a:xfrm>
            <a:off x="4059936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9B</a:t>
            </a:r>
            <a:endParaRPr lang="en-US" sz="2400" dirty="0"/>
          </a:p>
        </p:txBody>
      </p:sp>
      <p:sp>
        <p:nvSpPr>
          <p:cNvPr id="47" name="Text 37"/>
          <p:cNvSpPr txBox="1"/>
          <p:nvPr/>
        </p:nvSpPr>
        <p:spPr>
          <a:xfrm>
            <a:off x="410565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5209467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9" name="Text 39"/>
          <p:cNvSpPr txBox="1"/>
          <p:nvPr/>
        </p:nvSpPr>
        <p:spPr>
          <a:xfrm>
            <a:off x="5209467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50" name="Text 40"/>
          <p:cNvSpPr txBox="1"/>
          <p:nvPr/>
        </p:nvSpPr>
        <p:spPr>
          <a:xfrm>
            <a:off x="5255187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950" dirty="0"/>
          </a:p>
        </p:txBody>
      </p:sp>
      <p:sp>
        <p:nvSpPr>
          <p:cNvPr id="51" name="Shape 41"/>
          <p:cNvSpPr/>
          <p:nvPr/>
        </p:nvSpPr>
        <p:spPr>
          <a:xfrm>
            <a:off x="6358999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2" name="Text 42"/>
          <p:cNvSpPr txBox="1"/>
          <p:nvPr/>
        </p:nvSpPr>
        <p:spPr>
          <a:xfrm>
            <a:off x="6358999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400" dirty="0"/>
          </a:p>
        </p:txBody>
      </p:sp>
      <p:sp>
        <p:nvSpPr>
          <p:cNvPr id="53" name="Text 43"/>
          <p:cNvSpPr txBox="1"/>
          <p:nvPr/>
        </p:nvSpPr>
        <p:spPr>
          <a:xfrm>
            <a:off x="6404719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950" dirty="0"/>
          </a:p>
        </p:txBody>
      </p:sp>
      <p:sp>
        <p:nvSpPr>
          <p:cNvPr id="54" name="Shape 44"/>
          <p:cNvSpPr/>
          <p:nvPr/>
        </p:nvSpPr>
        <p:spPr>
          <a:xfrm>
            <a:off x="7508530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5" name="Text 45"/>
          <p:cNvSpPr txBox="1"/>
          <p:nvPr/>
        </p:nvSpPr>
        <p:spPr>
          <a:xfrm>
            <a:off x="7508530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400" dirty="0"/>
          </a:p>
        </p:txBody>
      </p:sp>
      <p:sp>
        <p:nvSpPr>
          <p:cNvPr id="56" name="Text 46"/>
          <p:cNvSpPr txBox="1"/>
          <p:nvPr/>
        </p:nvSpPr>
        <p:spPr>
          <a:xfrm>
            <a:off x="7554250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final</a:t>
            </a:r>
            <a:endParaRPr lang="en-US" sz="950" dirty="0"/>
          </a:p>
        </p:txBody>
      </p:sp>
      <p:sp>
        <p:nvSpPr>
          <p:cNvPr id="57" name="Text 4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está aqui: 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8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Banco de Dados com MongoDB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projeto flashcards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123406" y="1755648"/>
            <a:ext cx="6897189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123406" y="1755648"/>
            <a:ext cx="2299063" cy="0"/>
          </a:xfrm>
          <a:prstGeom prst="line">
            <a:avLst/>
          </a:prstGeom>
          <a:noFill/>
          <a:ln w="38100">
            <a:solidFill>
              <a:srgbClr val="E16D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1070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1481328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M6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CRUD em memória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870601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617" y="1481328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8171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M7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698171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698171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Express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020133" y="1353312"/>
            <a:ext cx="804672" cy="804672"/>
          </a:xfrm>
          <a:prstGeom prst="ellipse">
            <a:avLst/>
          </a:prstGeom>
          <a:solidFill>
            <a:srgbClr val="E16D34"/>
          </a:solidFill>
          <a:ln w="25400">
            <a:solidFill>
              <a:srgbClr val="E16D3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149" y="1481328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847703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M8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2847703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2847703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169664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4297680" y="1481328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997234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3997234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dono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3997234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e JWT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319195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5447211" y="1481328"/>
            <a:ext cx="548640" cy="5486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146766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M9B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5146766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Testado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5146766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Vitest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468727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6596743" y="1481328"/>
            <a:ext cx="548640" cy="54864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296297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M10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6296297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ar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6296297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Render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7618258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7746274" y="1481328"/>
            <a:ext cx="548640" cy="54864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445829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M11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7445829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tela</a:t>
            </a:r>
            <a:endParaRPr lang="en-US" sz="1250" dirty="0"/>
          </a:p>
        </p:txBody>
      </p:sp>
      <p:sp>
        <p:nvSpPr>
          <p:cNvPr id="41" name="Text 31"/>
          <p:cNvSpPr txBox="1"/>
          <p:nvPr/>
        </p:nvSpPr>
        <p:spPr>
          <a:xfrm>
            <a:off x="7445829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548640" y="3127248"/>
            <a:ext cx="8046720" cy="1481328"/>
          </a:xfrm>
          <a:prstGeom prst="roundRect">
            <a:avLst>
              <a:gd name="adj" fmla="val 6173"/>
            </a:avLst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822960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MÓDULO 8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82296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baralhos e flashcards saem da memória e vão para 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dois models do Mongoose, ligados por referência. Reiniciar o servidor não apaga mais nada.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868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858768" y="1417320"/>
            <a:ext cx="4846320" cy="45720"/>
          </a:xfrm>
          <a:prstGeom prst="rect">
            <a:avLst/>
          </a:prstGeom>
          <a:solidFill>
            <a:srgbClr val="E16D34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58768" y="157276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Compreender o que é um banco de dados e por que usar um.</a:t>
            </a:r>
            <a:endParaRPr lang="en-US" sz="13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Diferenciar bancos relacionais e não relacionais.</a:t>
            </a:r>
            <a:endParaRPr lang="en-US" sz="13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Entender documentos, coleções e schema design no MongoDB.</a:t>
            </a:r>
            <a:endParaRPr lang="en-US" sz="13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Configurar o MongoDB Atlas e proteger a conexão com variáveis de ambiente.</a:t>
            </a:r>
            <a:endParaRPr lang="en-US" sz="13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Usar o Mongoose, com async/await e try/catch, para levar os flashcards para o banco.</a:t>
            </a:r>
            <a:endParaRPr lang="en-US" sz="1300" dirty="0"/>
          </a:p>
          <a:p>
            <a:pPr algn="l" marL="177800" indent="-177800">
              <a:buSzPct val="100000"/>
              <a:buChar char="●"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Atualizar só uma parte do documento e excluir sem perder os dados (soft delete).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Até agora, todos os dados viviam na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memória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Fechou o servidor, os baralhos sumiram.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limites do armazenamento em memória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10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Perda de dados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0652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Reiniciou ou encerrou a aplicação, as informações somem.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310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Difícil compartilhar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90652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servidor tem a sua própria cópia dos dados na RAM.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Escalabilidade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memória é limitada e cara para guardar muita informação.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Consultas limitadas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Buscas e filtros ficam todos por conta do nosso código.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 memória para o banco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87299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Antes: memória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247900"/>
            <a:ext cx="4069080" cy="1121664"/>
          </a:xfrm>
          <a:prstGeom prst="roundRect">
            <a:avLst>
              <a:gd name="adj" fmla="val 652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364943"/>
            <a:ext cx="377647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os dados vivem num array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baralhos = []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baralhos.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(novo)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87299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Agora: MongoDB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247900"/>
            <a:ext cx="4069080" cy="1121664"/>
          </a:xfrm>
          <a:prstGeom prst="roundRect">
            <a:avLst>
              <a:gd name="adj" fmla="val 652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364943"/>
            <a:ext cx="377647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os dados vivem no banco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baralhos = await Baralho.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Baralho.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(novo)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lógica das rotas continua parecida. O que muda é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onde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os dados ficam guardados.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um banco de dados?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Banco de dados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128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14300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Armazena e organiza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sistema para guardar, organizar e gerenciar dados de forma estruturada.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8940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071116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Persistência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dados continuam lá mesmo depois que a aplicação é desligada.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999232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Gestão centralizada e segura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único lugar, com controle de acesso, que vários servidores podem usar.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4563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92734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Consultas eficientes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Buscar, filtrar e ordenar milhões de registros com rapidez.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Memória x banco de dados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97280"/>
            <a:ext cx="402336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Fluxo com armazenamento em memór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529013"/>
            <a:ext cx="3877056" cy="2199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09160" y="1097280"/>
            <a:ext cx="402336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8" name="Image 1" descr="Fluxo com banco de dad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250728"/>
            <a:ext cx="3877056" cy="275634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11480" y="4224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Memória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4709160" y="4224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 de dados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Tipos de banco de dados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Relacional x não relacional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736852"/>
            <a:ext cx="4023360" cy="2305304"/>
          </a:xfrm>
          <a:prstGeom prst="roundRect">
            <a:avLst>
              <a:gd name="adj" fmla="val 396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1973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9197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Relacional (SQL)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395220"/>
            <a:ext cx="3657600" cy="1243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Dados em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tabelas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 linhas e colunas.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Estrutura fixa, definida antes.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Relações por chaves; consultas em SQL.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736852"/>
            <a:ext cx="4023360" cy="2305304"/>
          </a:xfrm>
          <a:prstGeom prst="roundRect">
            <a:avLst>
              <a:gd name="adj" fmla="val 396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91973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9197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relacional (NoSQL)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395220"/>
            <a:ext cx="3657600" cy="146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Dados em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documentos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parecidos com JSON.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Estrutura flexível: cada documento pode variar.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Documentos agrupados em coleções.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é um banco relacional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84632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Tabelas relacionad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89503"/>
            <a:ext cx="4700016" cy="30902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57784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Tabelas</a:t>
            </a:r>
            <a:endParaRPr lang="en-US" sz="160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Linhas são os registros; colunas, as características.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577840" y="27432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Chaves</a:t>
            </a:r>
            <a:endParaRPr lang="en-US" sz="160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</a:t>
            </a: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primária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identifica cada linha; a </a:t>
            </a: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estrangeira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liga uma tabela a outra.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Exemplos de bancos relacionais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37160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MySQ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1444752"/>
            <a:ext cx="1133856" cy="11338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MySQL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Popular, fácil de usar e muito presente na web.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24612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49040" y="137160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ostgreSQ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146" y="1444752"/>
            <a:ext cx="907988" cy="11338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33756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42900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Robusto, completo e de código aberto.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08076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583680" y="137160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SQL Ser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852" y="1444752"/>
            <a:ext cx="1133856" cy="11338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7220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 Microsoft, comum em empresas.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MongoDB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402842"/>
            <a:ext cx="7680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o banco que vamos usar no curso.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9562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811274"/>
            <a:ext cx="4572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Orientado a documentos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Guarda os dados num formato parecido com JSON: quase um objeto JavaScript.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57678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63040" y="2739390"/>
            <a:ext cx="4572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Flexível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exige que todos os documentos tenham os mesmos campos.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85794"/>
            <a:ext cx="502920" cy="5029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63040" y="3667506"/>
            <a:ext cx="4572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nuvem, de graça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MongoDB Atlas oferece um cluster gratuito para estudar.</a:t>
            </a:r>
            <a:endParaRPr lang="en-US" sz="1650" dirty="0"/>
          </a:p>
        </p:txBody>
      </p:sp>
      <p:sp>
        <p:nvSpPr>
          <p:cNvPr id="12" name="Shape 6"/>
          <p:cNvSpPr/>
          <p:nvPr/>
        </p:nvSpPr>
        <p:spPr>
          <a:xfrm>
            <a:off x="6309360" y="178308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13" name="Image 3" descr="Logo do MongoD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218" y="1874520"/>
            <a:ext cx="1359725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mesmo dado nos dois modelos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188720" y="1097280"/>
            <a:ext cx="67665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Comparação entre SQL e MongoD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940" y="1152144"/>
            <a:ext cx="5494121" cy="29992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42793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Tabela com colunas fixas x documento com chave e valor.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MongoDB?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10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Feito para JavaScript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0652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documentos parecem objetos JS: menos tradução entre o código e o banco.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310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Flexível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90652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Dá para evoluir a estrutura dos dados sem migrações complicadas.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Escalável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Aguenta muito volume e muitas requisições.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Atlas gratuito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banco na nuvem, pronto em minutos.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Documentos e coleções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de um documento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144268"/>
            <a:ext cx="4922520" cy="1517904"/>
          </a:xfrm>
          <a:prstGeom prst="roundRect">
            <a:avLst>
              <a:gd name="adj" fmla="val 481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261311"/>
            <a:ext cx="4629912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"_id"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ObjectId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"5f4f7fef2d4b45b7f11b6d7a"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"Joao"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"idade"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"profissao"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"Programador"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562600" y="1600200"/>
            <a:ext cx="3215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uma unidade de dados: um usuário, um produto, um flashcard.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chave: valor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cada informação tem um nome (chave) e um valor.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criado automaticamente pelo MongoDB: um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ObjectId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único, não um número 1, 2, 3.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Banco, coleções e documentos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8046720" cy="3566160"/>
          </a:xfrm>
          <a:prstGeom prst="roundRect">
            <a:avLst>
              <a:gd name="adj" fmla="val 2564"/>
            </a:avLst>
          </a:prstGeom>
          <a:solidFill>
            <a:srgbClr val="1A1A1A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 de dados: flashcards_modulo08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7240" y="1691640"/>
            <a:ext cx="2377440" cy="2743200"/>
          </a:xfrm>
          <a:prstGeom prst="roundRect">
            <a:avLst>
              <a:gd name="adj" fmla="val 3077"/>
            </a:avLst>
          </a:prstGeom>
          <a:solidFill>
            <a:srgbClr val="10101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" y="17556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Coleção: 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baralhos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86968" y="2194560"/>
            <a:ext cx="2157984" cy="822960"/>
          </a:xfrm>
          <a:prstGeom prst="roundRect">
            <a:avLst>
              <a:gd name="adj" fmla="val 6667"/>
            </a:avLst>
          </a:prstGeom>
          <a:solidFill>
            <a:srgbClr val="121212"/>
          </a:solidFill>
          <a:ln w="9525">
            <a:solidFill>
              <a:srgbClr val="E16D3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titulo: "JavaScript" }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86968" y="3200400"/>
            <a:ext cx="2157984" cy="822960"/>
          </a:xfrm>
          <a:prstGeom prst="roundRect">
            <a:avLst>
              <a:gd name="adj" fmla="val 6667"/>
            </a:avLst>
          </a:prstGeom>
          <a:solidFill>
            <a:srgbClr val="121212"/>
          </a:solidFill>
          <a:ln w="9525">
            <a:solidFill>
              <a:srgbClr val="E16D3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titulo: "Matemática" }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83280" y="1691640"/>
            <a:ext cx="2377440" cy="2743200"/>
          </a:xfrm>
          <a:prstGeom prst="roundRect">
            <a:avLst>
              <a:gd name="adj" fmla="val 3077"/>
            </a:avLst>
          </a:prstGeom>
          <a:solidFill>
            <a:srgbClr val="10101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93008" y="17556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Coleção: 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flashcards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493008" y="2194560"/>
            <a:ext cx="2157984" cy="822960"/>
          </a:xfrm>
          <a:prstGeom prst="roundRect">
            <a:avLst>
              <a:gd name="adj" fmla="val 6667"/>
            </a:avLst>
          </a:prstGeom>
          <a:solidFill>
            <a:srgbClr val="121212"/>
          </a:solidFill>
          <a:ln w="9525">
            <a:solidFill>
              <a:srgbClr val="E16D3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6616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pergunta: "O que é let?" }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493008" y="3200400"/>
            <a:ext cx="2157984" cy="822960"/>
          </a:xfrm>
          <a:prstGeom prst="roundRect">
            <a:avLst>
              <a:gd name="adj" fmla="val 6667"/>
            </a:avLst>
          </a:prstGeom>
          <a:solidFill>
            <a:srgbClr val="121212"/>
          </a:solidFill>
          <a:ln w="9525">
            <a:solidFill>
              <a:srgbClr val="E16D3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6616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pergunta: "Quanto é 1+1?" }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989320" y="1691640"/>
            <a:ext cx="2377440" cy="2743200"/>
          </a:xfrm>
          <a:prstGeom prst="roundRect">
            <a:avLst>
              <a:gd name="adj" fmla="val 3077"/>
            </a:avLst>
          </a:prstGeom>
          <a:solidFill>
            <a:srgbClr val="10101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99048" y="17556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Coleção: 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usuarios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099048" y="2194560"/>
            <a:ext cx="2157984" cy="822960"/>
          </a:xfrm>
          <a:prstGeom prst="roundRect">
            <a:avLst>
              <a:gd name="adj" fmla="val 6667"/>
            </a:avLst>
          </a:prstGeom>
          <a:solidFill>
            <a:srgbClr val="121212"/>
          </a:solidFill>
          <a:ln w="9525">
            <a:solidFill>
              <a:srgbClr val="E16D3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7220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nome: "Ana" }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99048" y="3200400"/>
            <a:ext cx="2157984" cy="822960"/>
          </a:xfrm>
          <a:prstGeom prst="roundRect">
            <a:avLst>
              <a:gd name="adj" fmla="val 6667"/>
            </a:avLst>
          </a:prstGeom>
          <a:solidFill>
            <a:srgbClr val="121212"/>
          </a:solidFill>
          <a:ln w="9525">
            <a:solidFill>
              <a:srgbClr val="E16D3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7220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nome: "Bia" }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design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Como organizar os dados relacionados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 x referência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4310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Embedding: tudo junto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805940"/>
            <a:ext cx="4069080" cy="1792224"/>
          </a:xfrm>
          <a:prstGeom prst="roundRect">
            <a:avLst>
              <a:gd name="adj" fmla="val 40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922983"/>
            <a:ext cx="3776472" cy="155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coleção baralhos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"titulo": "JS",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"flashcards": [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"pergunta": "let?"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"pergunta": "const?"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4310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Referência: coleções separadas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805940"/>
            <a:ext cx="4069080" cy="1792224"/>
          </a:xfrm>
          <a:prstGeom prst="roundRect">
            <a:avLst>
              <a:gd name="adj" fmla="val 40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1922983"/>
            <a:ext cx="3776472" cy="155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coleção baralhos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"_id": "b1", "titulo": "JS"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coleção flashcards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"pergunta": "let?", "baralho": "b1"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"pergunta": "const?", "baralho": "b1" }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Embedding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quando os dados são sempre lidos juntos e são poucos.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Referência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quando crescem muito ou são usados sozinhos. Os flashcards usam referência.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Relacionamentos entre documentos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411480" y="1280160"/>
            <a:ext cx="2590800" cy="2596896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463040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: 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48840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para um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506980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usuário tem um perfil.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276600" y="1280160"/>
            <a:ext cx="2590800" cy="2596896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9480" y="1463040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: N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3459480" y="2148840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para muitos</a:t>
            </a:r>
            <a:endParaRPr lang="en-US" sz="1750" dirty="0"/>
          </a:p>
        </p:txBody>
      </p:sp>
      <p:sp>
        <p:nvSpPr>
          <p:cNvPr id="12" name="Text 9"/>
          <p:cNvSpPr txBox="1"/>
          <p:nvPr/>
        </p:nvSpPr>
        <p:spPr>
          <a:xfrm>
            <a:off x="3459480" y="2506980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baralho tem vários flashcards.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41720" y="1280160"/>
            <a:ext cx="2590800" cy="2596896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4600" y="1463040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: N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324600" y="2148840"/>
            <a:ext cx="22250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Muitos para muitos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6324600" y="2773680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Alunos fazem várias turmas; turmas têm vários alunos.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o mesmo relacionamento por IDs do Módulo 6. Agora o ID é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MongoDB.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MongoDB Atlas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nosso banco de dados na nuvem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Criando o banco no Atlas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5041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48590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a conta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mongodb.com/atlas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 e-mail, Google ou GitHub.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2037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185416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Escolha o plano gratuito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cluster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M0 (Free)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suficiente para o curso.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9032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84932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 cluster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"servidor" de banco de dados só seu.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6027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584448"/>
            <a:ext cx="7040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usuário do banco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Nome e senha que a aplicação vai usar para se conectar. Não é o login do site!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Conectando a aplicação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5041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48590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Método de conexão: Drivers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Escolha a opção para conectar pelo código.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2037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185416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Driver Node.js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Vamos usar o Mongoose, que usa esse driver por baixo.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9032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84932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Copie a connection string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 guarde no arquivo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nunca direto no código.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6027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584448"/>
            <a:ext cx="7040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Libere o IP (Network Access)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Adicione o IP da máquina.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libera qualquer IP: só para estudo.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a passo no Atlas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Plano gratui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28" y="1078992"/>
            <a:ext cx="3523024" cy="13533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5054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Plano gratuito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709160" y="1024128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9" name="Image 1" descr="Criação do clus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058" y="1078992"/>
            <a:ext cx="2374403" cy="135331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09160" y="25054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Criação do cluster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48640" y="2852928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12" name="Image 2" descr="Usuário do banc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594" y="2907792"/>
            <a:ext cx="1570292" cy="135331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8640" y="4334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Usuário do banco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709160" y="2852928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15" name="Image 3" descr="Connection str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674" y="2907792"/>
            <a:ext cx="2335173" cy="135331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709160" y="4334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Connection string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 senha na connection string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Caracteres como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 senha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quebram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 connection string.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URI usa esses caracteres como separadores: uma senha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faz o Mongoose achar que o endereço começou antes.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senha só com letras e números, ou codifique os especiais (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vira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%40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 de autenticação? Confira 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usuário do banco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(passo 4), que não é o login do site.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699256"/>
            <a:ext cx="8046720" cy="542544"/>
          </a:xfrm>
          <a:prstGeom prst="roundRect">
            <a:avLst>
              <a:gd name="adj" fmla="val 1348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816299"/>
            <a:ext cx="7754112" cy="308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mongodb+srv://aluno:&lt;senha&gt;@cluster0.xxxxx.mongodb.net/flashcards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Variáveis de ambiente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arquivo .env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2136648"/>
            <a:ext cx="832104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2253691"/>
            <a:ext cx="802843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MONGO_URI=mongodb+srv://aluno:senha@cluster0.xxxxx.mongodb.net/flashcards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PORT=3000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connection string tem usuário, senha e endereço do banco: informação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sensível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Por isso ela fica no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fora do código.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Lendo o .env com o dotenv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205228"/>
            <a:ext cx="4023360" cy="1395984"/>
          </a:xfrm>
          <a:prstGeom prst="roundRect">
            <a:avLst>
              <a:gd name="adj" fmla="val 524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322271"/>
            <a:ext cx="3730752" cy="116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dotenv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'dotenv'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(process.env.MONGO_URI)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(process.env.PORT)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931670"/>
            <a:ext cx="41148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pacote que lê o arquivo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dotenv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config()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carrega as variáveis. Chame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 usar qualquer uma.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objeto onde o Node guarda as variáveis de ambiente.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.env não vai para o GitHub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commitado expõe a senha do banco para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qualquer pessoa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13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Coloque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 do primeiro commit.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Suba um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.env.example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 os nomes das variáveis e valores de exemplo, para quem clonar saber o que configurar.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Vazou? Troque a senha do usuário do banco no Atlas na hora.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2420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3590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Mongoose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o Mongoose funciona?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Mongoose é a biblioteca que conecta a aplicação ao MongoDB: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420" y="1828800"/>
            <a:ext cx="868680" cy="868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Node.js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Trabalha com objetos JavaScript.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433828" y="2263140"/>
            <a:ext cx="159410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1828800"/>
            <a:ext cx="868680" cy="8686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27660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Mongoose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334060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Faz o </a:t>
            </a: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mapeamento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entre objetos e documentos.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116068" y="2263140"/>
            <a:ext cx="159410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1828800"/>
            <a:ext cx="868680" cy="8686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95884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602284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Guarda os documentos nas coleções.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ele, definimos um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(o formato dos dados) e um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(a interface para o CRUD).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de pastas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595628"/>
            <a:ext cx="4206240" cy="2615184"/>
          </a:xfrm>
          <a:prstGeom prst="roundRect">
            <a:avLst>
              <a:gd name="adj" fmla="val 279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712671"/>
            <a:ext cx="3913632" cy="238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projeto/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server.js       (rotas)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database.js     (conexão)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models/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Baralho.js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Flashcard.js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.env.example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package.json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042160"/>
            <a:ext cx="393192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database.js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conecta ao MongoDB.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 arquivo por coleção, com o Schema e o Model.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instalação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 mongoose dotenv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Conectando: database.js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8321040" cy="3102864"/>
          </a:xfrm>
          <a:prstGeom prst="roundRect">
            <a:avLst>
              <a:gd name="adj" fmla="val 235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86891"/>
            <a:ext cx="8028432" cy="2868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mongoose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'mongoose'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conectarBanco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mongoose.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(process.env.MONGO_URI)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'Conectado ao MongoDB'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(error)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 ao conectar:'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error.message)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conectarBanco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a conexão falhar, não adianta a API subir: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process.exit(1)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encerra o programa com uma mensagem clara.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Schema e o Model: Baralho.js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458468"/>
            <a:ext cx="5577840" cy="2889504"/>
          </a:xfrm>
          <a:prstGeom prst="roundRect">
            <a:avLst>
              <a:gd name="adj" fmla="val 253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575511"/>
            <a:ext cx="5285232" cy="265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baralhoSchema =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mongoose.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titulo: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String,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required: [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 título é obrigatório.'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trim: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descricao: { type: String,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timestamps: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 = mongoose.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'Baralho'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baralhoSchema)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192530"/>
            <a:ext cx="2560320" cy="3421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campo obrigatório, com a mensagem de erro.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tira os espaços das pontas antes de salvar.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cria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updatedAt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sozinho.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model('Baralho')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vira a coleção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baralhos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minúscula e no plural.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Referenciando outro model: Flashcard.js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085088"/>
            <a:ext cx="8321040" cy="3072384"/>
          </a:xfrm>
          <a:prstGeom prst="roundRect">
            <a:avLst>
              <a:gd name="adj" fmla="val 238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2131"/>
            <a:ext cx="8028432" cy="2838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flashcardSchema =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mongoose.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pergunta: { type: String, required: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trim: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resposta: { type: String, required: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trim: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baralho: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mongoose.Schema.Types.ObjectId,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ref: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'Baralho'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required: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timestamps: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campo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baralho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guarda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baralho,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diz para qual model esse id aponta: o relacionamento 1:N.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operações do Mongoose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259080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5272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create()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28216"/>
            <a:ext cx="222504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 um documento.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" y="2008632"/>
            <a:ext cx="2225040" cy="473964"/>
          </a:xfrm>
          <a:prstGeom prst="roundRect">
            <a:avLst>
              <a:gd name="adj" fmla="val 1543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" y="2125675"/>
            <a:ext cx="1932432" cy="23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antes: push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76600" y="1069848"/>
            <a:ext cx="259080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9480" y="125272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find()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59480" y="1728216"/>
            <a:ext cx="2225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 (com filtro opcional).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59480" y="2161032"/>
            <a:ext cx="2225040" cy="445008"/>
          </a:xfrm>
          <a:prstGeom prst="roundRect">
            <a:avLst>
              <a:gd name="adj" fmla="val 1643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05784" y="2278075"/>
            <a:ext cx="1932432" cy="21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antes: o array / filter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41720" y="1069848"/>
            <a:ext cx="259080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600" y="125272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findById()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324600" y="1728216"/>
            <a:ext cx="222504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Busca pelo _id.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24600" y="2008632"/>
            <a:ext cx="2225040" cy="473964"/>
          </a:xfrm>
          <a:prstGeom prst="roundRect">
            <a:avLst>
              <a:gd name="adj" fmla="val 1543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70904" y="2125675"/>
            <a:ext cx="1932432" cy="23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antes: find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2990088"/>
            <a:ext cx="259080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17296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findByIdAndUpdate()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3648456"/>
            <a:ext cx="222504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Atualiza pelo _id.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94360" y="3928872"/>
            <a:ext cx="2225040" cy="451104"/>
          </a:xfrm>
          <a:prstGeom prst="roundRect">
            <a:avLst>
              <a:gd name="adj" fmla="val 1621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0664" y="4045915"/>
            <a:ext cx="1932432" cy="21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antes: findIndex + atribuição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276600" y="2990088"/>
            <a:ext cx="259080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59480" y="317296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findByIdAndDelete()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459480" y="3648456"/>
            <a:ext cx="222504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 pelo _id.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459480" y="3928872"/>
            <a:ext cx="2225040" cy="473964"/>
          </a:xfrm>
          <a:prstGeom prst="roundRect">
            <a:avLst>
              <a:gd name="adj" fmla="val 1543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605784" y="4045915"/>
            <a:ext cx="1932432" cy="23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antes: findIndex + splice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141720" y="2990088"/>
            <a:ext cx="259080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24600" y="317296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deleteMany()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324600" y="3648456"/>
            <a:ext cx="222504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 vários de uma vez.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324600" y="3928872"/>
            <a:ext cx="2225040" cy="473964"/>
          </a:xfrm>
          <a:prstGeom prst="roundRect">
            <a:avLst>
              <a:gd name="adj" fmla="val 1543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70904" y="4045915"/>
            <a:ext cx="1932432" cy="23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antes: laço com splice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populate(): trazendo o documento relacionado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11480" y="1999488"/>
            <a:ext cx="8321040" cy="1243584"/>
          </a:xfrm>
          <a:prstGeom prst="roundRect">
            <a:avLst>
              <a:gd name="adj" fmla="val 58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2116531"/>
            <a:ext cx="8028432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flashcards = await Flashcard.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baralho: id })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[{ pergunta: '...', baralho: '665f1c...' }]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completos = await Flashcard.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baralho: id }).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'baralho'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'titulo'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[{ pergunta: '...', baralho: { _id: '665f1c...', titulo: 'JavaScript' } }]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usa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Schema para trocar o id pelo documento. É o "garçom" do Módulo 6, feito pelo Mongoose.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Ordenar, limitar e contar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999488"/>
            <a:ext cx="8321040" cy="1243584"/>
          </a:xfrm>
          <a:prstGeom prst="roundRect">
            <a:avLst>
              <a:gd name="adj" fmla="val 58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2116531"/>
            <a:ext cx="8028432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Baralho.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createdAt: -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mais novos primeiro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Baralho.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só 10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Baralho.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titulo: /java/i })      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busca parcial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Baralho.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countDocuments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          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quantos existem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Buscas e filtros que antes eram laços no nosso código agora são feitos pelo banco: bem mais rápido com muitos dados.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unique não é validação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22376"/>
          </a:xfrm>
          <a:prstGeom prst="roundRect">
            <a:avLst>
              <a:gd name="adj" fmla="val 1012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6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unique: true</a:t>
            </a:r>
            <a:r>
              <a:rPr lang="en-US" sz="16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cria um índice no banco. E-mail repetido não dá erro de validação: dá </a:t>
            </a:r>
            <a:r>
              <a:rPr lang="en-US" sz="16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E11000 duplicate key</a:t>
            </a:r>
            <a:r>
              <a:rPr lang="en-US" sz="16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2082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Trate esse erro pelo código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11000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responda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409 Conflict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lowercase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campo: "Ana@Email.com " e "ana@email.com" viram o mesmo e-mail.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34716"/>
            <a:ext cx="8046720" cy="832104"/>
          </a:xfrm>
          <a:prstGeom prst="roundRect">
            <a:avLst>
              <a:gd name="adj" fmla="val 87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51759"/>
            <a:ext cx="7754112" cy="59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{ type: String, required: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unique: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lowercase: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trim: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(error.code ===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11000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'E-mail já cadastrado'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Operações assíncronas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banco está longe: as respostas demoram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Promise: uma resposta que ainda vai chegar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21942"/>
            <a:ext cx="7863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Enquanto o MongoDB responde, o Node.js continua atendendo outras requisições. Toda operação do Mongoose devolve uma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Promise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2416302"/>
            <a:ext cx="259080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99182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259918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Pending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3074670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operação ainda está acontecendo.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2416302"/>
            <a:ext cx="259080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2599182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259918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Fulfilled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3074670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Terminou com sucesso e trouxe o resultado.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2416302"/>
            <a:ext cx="259080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599182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259918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Rejected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3074670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Deu erro no caminho.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.then() x async/await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5377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.then() e .catch()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912620"/>
            <a:ext cx="4069080" cy="1792224"/>
          </a:xfrm>
          <a:prstGeom prst="roundRect">
            <a:avLst>
              <a:gd name="adj" fmla="val 40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029663"/>
            <a:ext cx="3776472" cy="155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Baralho.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((baralhos)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(baralhos)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((erro)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(erro.message)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5377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async / await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912620"/>
            <a:ext cx="4069080" cy="1792224"/>
          </a:xfrm>
          <a:prstGeom prst="roundRect">
            <a:avLst>
              <a:gd name="adj" fmla="val 40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029663"/>
            <a:ext cx="3776472" cy="155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baralhos = await Baralho.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(baralhos)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(erro.message)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async/await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não elimina a Promise: ela continua lá. O código só fica parecido com uma sequência normal, fácil de 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Simulando uma espera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576578"/>
            <a:ext cx="5120640" cy="2089404"/>
          </a:xfrm>
          <a:prstGeom prst="roundRect">
            <a:avLst>
              <a:gd name="adj" fmla="val 350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693621"/>
            <a:ext cx="4828032" cy="185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esperar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(ms)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((resolve) =&gt;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(resolve, ms))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'Antes da espera'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esperar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'Depois de 2 segundos'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20223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15000" y="2296668"/>
            <a:ext cx="3063240" cy="923544"/>
          </a:xfrm>
          <a:prstGeom prst="roundRect">
            <a:avLst>
              <a:gd name="adj" fmla="val 7921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61304" y="2413711"/>
            <a:ext cx="277063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async.js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da espera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Depois de 2 segundos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pausa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esta função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até a Promise terminar. E ele só funciona dentro de uma função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o await: o que aparece?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554480" y="2130552"/>
            <a:ext cx="6035040" cy="1152144"/>
          </a:xfrm>
          <a:prstGeom prst="roundRect">
            <a:avLst>
              <a:gd name="adj" fmla="val 634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700784" y="2247595"/>
            <a:ext cx="5742432" cy="918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3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(req, res) =&gt; {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baralhos = Baralho.</a:t>
            </a:r>
            <a:r>
              <a:rPr lang="en-US" sz="13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</a:t>
            </a:r>
            <a:r>
              <a:rPr lang="en-US" sz="13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esqueceu o await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3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(baralhos)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34198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Pense antes de rodar: qual é a saída?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esqueceu o await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950976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variável recebe a </a:t>
            </a:r>
            <a:r>
              <a:rPr lang="en-US" sz="16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consulta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não os dados. O </a:t>
            </a:r>
            <a:r>
              <a:rPr lang="en-US" sz="16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não consegue converter a consulta em JSON, e a rota responde </a:t>
            </a:r>
            <a:r>
              <a:rPr lang="en-US" sz="16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24942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Baralho.find()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devolve uma consulta que ainda nem rodou.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 chamada ao Mongoose precisa de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 a função precisa ser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391916"/>
            <a:ext cx="8046720" cy="534924"/>
          </a:xfrm>
          <a:prstGeom prst="roundRect">
            <a:avLst>
              <a:gd name="adj" fmla="val 1367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508959"/>
            <a:ext cx="7754112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baralhos = await Baralho.</a:t>
            </a:r>
            <a:r>
              <a:rPr lang="en-US" sz="13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</a:t>
            </a:r>
            <a:r>
              <a:rPr lang="en-US" sz="13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agora sim: a lista de baralhos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try/catch com async/await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92708"/>
            <a:ext cx="8321040" cy="2843784"/>
          </a:xfrm>
          <a:prstGeom prst="roundRect">
            <a:avLst>
              <a:gd name="adj" fmla="val 257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9751"/>
            <a:ext cx="8028432" cy="260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(req, res) =&gt;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baralhos = await Baralho.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(baralhos)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(error)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 ao listar'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error: error.message,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o banco falhar, a execução pula para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cliente recebe um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a mensagem, e o servidor não cai. É o try/catch do Módulo 2 em 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Flashcards com MongoDB</a:t>
            </a:r>
            <a:endParaRPr lang="en-US" sz="3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CREATE: antes e agora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213588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Antes: memória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510790"/>
            <a:ext cx="4069080" cy="809244"/>
          </a:xfrm>
          <a:prstGeom prst="roundRect">
            <a:avLst>
              <a:gd name="adj" fmla="val 904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627833"/>
            <a:ext cx="3776472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titulo = req.body.titulo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resultado =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adicionarBaralho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(titulo)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push no array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213588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Agora: MongoDB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510790"/>
            <a:ext cx="4069080" cy="809244"/>
          </a:xfrm>
          <a:prstGeom prst="roundRect">
            <a:avLst>
              <a:gd name="adj" fmla="val 904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627833"/>
            <a:ext cx="3776472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 = await Baralho.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(req.body)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required do Schema já valida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validação do título saiu do nosso código e foi para 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 /baralhos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81328"/>
            <a:ext cx="8321040" cy="2279904"/>
          </a:xfrm>
          <a:prstGeom prst="roundRect">
            <a:avLst>
              <a:gd name="adj" fmla="val 320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598371"/>
            <a:ext cx="8028432" cy="2045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(req, res) =&gt;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 = await Baralho.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(req.body)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'Criado!'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baralho })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(error)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error.message })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Aqui o erro vira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400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quase sempre é validação do Schema, como o título faltando.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Testando: POST /baralhos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90472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00200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/baralhos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011680"/>
            <a:ext cx="3602736" cy="923544"/>
          </a:xfrm>
          <a:prstGeom prst="roundRect">
            <a:avLst>
              <a:gd name="adj" fmla="val 7921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2128723"/>
            <a:ext cx="3310128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"MongoDB"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490472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9472" y="1600200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19472" y="2011680"/>
            <a:ext cx="3602736" cy="1700784"/>
          </a:xfrm>
          <a:prstGeom prst="roundRect">
            <a:avLst>
              <a:gd name="adj" fmla="val 4301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65776" y="2128723"/>
            <a:ext cx="3310128" cy="146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"Baralho criado com sucesso"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"baralho"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"_id"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"665f1c..."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"MongoDB"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"descricao"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"createdAt"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Confira no Atlas (Browse Collections): o documento está lá, na coleção </a:t>
            </a:r>
            <a:r>
              <a:rPr lang="en-US" sz="13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baralhos</a:t>
            </a:r>
            <a:r>
              <a:rPr lang="en-US" sz="13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/baralhos/:id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15568"/>
            <a:ext cx="8321040" cy="3011424"/>
          </a:xfrm>
          <a:prstGeom prst="roundRect">
            <a:avLst>
              <a:gd name="adj" fmla="val 242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32611"/>
            <a:ext cx="8028432" cy="277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'/baralhos/:id'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(req, res) =&gt;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 = await Baralho.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(req.params.id)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(!baralho)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'Não encontrado'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(baralho)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(error)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error.message })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o id não existe,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devolve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é o nosso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404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/baralhos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igual, com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Baralho.find()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id que não é um ObjectId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id com formato errado, como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/baralhos/123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não devolve null: lança um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CastError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tratar, cai no catch e vira um 500, como se o servidor tivesse quebrado.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Valide antes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mongoose.isValidObjectId(id)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responda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400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499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669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(!mongoose.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isValidObjectId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(req.params.id))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 inválido'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PUT /baralhos/:id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07008"/>
            <a:ext cx="8321040" cy="2615184"/>
          </a:xfrm>
          <a:prstGeom prst="roundRect">
            <a:avLst>
              <a:gd name="adj" fmla="val 279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324051"/>
            <a:ext cx="8028432" cy="238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atualizado = await Baralho.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findByIdAndUpdate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req.params.id,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req.body,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runValidators: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(!atualizado)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'Baralho não encontrado'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baralho: atualizado })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new: true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devolve o documento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depois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 atualização.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runValidators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faz o update respeitar as validações do Schema, que por padrão ele ignora.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DELETE /baralhos/:id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389888"/>
            <a:ext cx="8321040" cy="2462784"/>
          </a:xfrm>
          <a:prstGeom prst="roundRect">
            <a:avLst>
              <a:gd name="adj" fmla="val 297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506931"/>
            <a:ext cx="8028432" cy="222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deletado = await Baralho.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findByIdAndDelete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(req.params.id)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(!deletado)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'Baralho não encontrado'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cascata manual: apaga os flashcards desse baralho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Flashcard.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deleteMany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baralho: req.params.id })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'Baralho e flashcards deletados'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MongoDB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apaga os flashcards sozinho: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deleteMany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faz a "cascata" que o laço de trás para frente fazia no Módulo 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Todas as rotas do sistema</a:t>
            </a:r>
            <a:endParaRPr lang="en-US" sz="30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1097280"/>
          <a:ext cx="67665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Baralhos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Flashcards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/baralhos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/flashcards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/baralhos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/flashcards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/baralhos/:id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/flashcards/:id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/baralhos/:id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/flashcards/:id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/baralhos/:id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/flashcards/:id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/baralhos/:id/flashcards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1520" y="43159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Agora as rotas usam o plural e o id é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MongoDB.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Atualização parcial e soft delete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Como APIs de verdade atualizam e removem dados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o findByIdAndUpdate envia ao banco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cliente mandou só a pergunta nova. O que acontece com a resposta e o baralho?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2249424"/>
            <a:ext cx="8321040" cy="1365504"/>
          </a:xfrm>
          <a:prstGeom prst="roundRect">
            <a:avLst>
              <a:gd name="adj" fmla="val 535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2366467"/>
            <a:ext cx="8028432" cy="1131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Flashcard.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findByIdAndUpdate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(id, { pergunta: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'Nova?'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Mongoose envia para o MongoDB: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 $set: { pergunta: 'Nova?', updatedAt: ... } }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altera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os campos enviados: o resto fica como estava. Ou seja, o nosso PUT já funciona como um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PATCH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req.body inteiro no update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findByIdAndUpdate(id, req.body)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cliente altera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qualquer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campo: até trocar o flashcard de baralho.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Numa API com login (Módulo 9), seria trocar 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dono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 um registro.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Monte o update só com os campos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permitidos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que não está na lista é ignorado.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1335024"/>
          </a:xfrm>
          <a:prstGeom prst="roundRect">
            <a:avLst>
              <a:gd name="adj" fmla="val 547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1100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permitidos = [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'pergunta'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'resposta'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dados = {}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campo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permitidos)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(req.body[campo] !==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dados[campo] = req.body[campo]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Flashcard.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findByIdAndUpdate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(req.params.id, dados, {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runValidators: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Apagando um campo: $unset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flashcard ganhou um campo opcional, 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Como o cliente pede para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apagar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 dica?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1700784"/>
            <a:ext cx="8321040" cy="2462784"/>
          </a:xfrm>
          <a:prstGeom prst="roundRect">
            <a:avLst>
              <a:gd name="adj" fmla="val 297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1817827"/>
            <a:ext cx="8028432" cy="222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body: { "dica": null }   → apagar a dica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= {}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unset = {}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campo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'pergunta'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'resposta'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'dica'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 = req.body[campo]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(valor === 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unset[campo] = 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0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null: apagar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(valor !== 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set[campo] = valor </a:t>
            </a:r>
            <a:r>
              <a:rPr lang="en-US" sz="10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veio: alterar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atualizado = await Flashcard.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findByIdAndUpdate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req.params.id,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$set: set, $unset: unset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runValidators: 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Campo que não veio (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fica como está.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runValidators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barra apagar a pergunta, que é obrigatória: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ValidationError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resposta 400.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 delete x soft delete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561846"/>
            <a:ext cx="4023360" cy="2033524"/>
          </a:xfrm>
          <a:prstGeom prst="roundRect">
            <a:avLst>
              <a:gd name="adj" fmla="val 449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4472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74472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 delete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220214"/>
            <a:ext cx="3657600" cy="75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documento é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apagado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banco: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findByIdAndDelete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Simples, mas não tem volta.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561846"/>
            <a:ext cx="4023360" cy="2033524"/>
          </a:xfrm>
          <a:prstGeom prst="roundRect">
            <a:avLst>
              <a:gd name="adj" fmla="val 449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4472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74472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 delete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220214"/>
            <a:ext cx="3657600" cy="119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documento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fica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marcado com a data da exclusão: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excluidoEm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Dá para desfazer, manter o histórico e não quebrar relacionamentos.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 delete não serve para tudo: dados pessoais que o usuário pediu para apagar precisam sair de verdade (LGPD).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 delete: o Schema e a rota DELETE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8321040" cy="3102864"/>
          </a:xfrm>
          <a:prstGeom prst="roundRect">
            <a:avLst>
              <a:gd name="adj" fmla="val 235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86891"/>
            <a:ext cx="8028432" cy="2868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Schema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excluidoEm: { type: Date,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/flashcards/:id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excluido = await Flashcard.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findOneAndUpdate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_id: req.params.id, excluidoEm: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excluidoEm: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},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(!excluido)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'Flashcard não encontrado'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filtro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excluidoEm: null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impede excluir de novo o que já foi excluído: vira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404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E o 204 do Módulo 7 volta aqui.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Escondendo os excluídos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85088"/>
            <a:ext cx="8321040" cy="3072384"/>
          </a:xfrm>
          <a:prstGeom prst="roundRect">
            <a:avLst>
              <a:gd name="adj" fmla="val 238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2131"/>
            <a:ext cx="8028432" cy="2838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listar: só os que não foram excluídos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Flashcard.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excluidoEm: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buscar um: o _id e não excluído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Flashcard.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findOne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_id: req.params.id, excluidoEm: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restaurar: PATCH /flashcards/:id/restaurar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Flashcard.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findOneAndUpdate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_id: req.params.id, excluidoEm: { $ne: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excluidoEm: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Buscar por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excluidoEm: null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também encontra os documentos antigos, que nem têm o campo.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significa "diferente de".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findById não sabe do soft delete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devolve o flashcard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mesmo excluído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soft delete só funciona se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consulta filtrar.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Troque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findById(id)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por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findOne({ _id: id, excluidoEm: null })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mesmo vale para listar, atualizar e contar: qualquer consulta sem o filtro "ressuscita" os excluídos.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9, as consultas ficam num lugar só, 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repository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é lá que o filtro entra, uma vez.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252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a pasta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modulo08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cluster no Atlas e o arquivo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a connection string.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o flashcards dos slides (ou do repositório) para entender o Mongoose.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Leve as APIs do Módulo 7 para o MongoDB: um Schema e um Model por recurso.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Troque as operações em memória pelas do Mongoose,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async/await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try/catch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no Postman e confira os documentos no Atlas.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37368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0995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8282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coloque 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 do primeiro commit e suba um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.env.example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37368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40995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38282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troque o DELETE de um recurso por soft delete e crie a rota de restaurar.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 de exercícios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247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50418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 de código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Schema, model, create, find e findById: complete, ache o bug e preveja o resultado.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5059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43230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banco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Academia, Biblioteca, Cantina, Imóvel e Petshop Lions: uma API completa em cada.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870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36042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CRUD com Mongoose escrito do zero.</a:t>
            </a:r>
            <a:endParaRPr lang="en-US" sz="1650" dirty="0"/>
          </a:p>
        </p:txBody>
      </p:sp>
      <p:sp>
        <p:nvSpPr>
          <p:cNvPr id="11" name="Text 5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repositório: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modulo08/lista_de_exercicios/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do módulo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70432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QR code para https://github.com/nicolassmotta/curso-lions-dev/tree/main/modulo0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Aponte a câmera do celular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86200" y="1170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tree/main/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modulo08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6596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16552" y="1920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teoria comentada e o </a:t>
            </a: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cheat sheet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532888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16552" y="2487168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exercicios_slides/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exercícios feitos em aula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099816"/>
            <a:ext cx="384048" cy="38404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416552" y="305409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lista_de_exercicios/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listas para praticar em casa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3666744"/>
            <a:ext cx="384048" cy="38404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416552" y="3621024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exercicios_resolvidos/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gabaritos, para conferir depois de tentar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Fim!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9: senhas, login com JWT e o padrão MVC.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Lions 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8</dc:title>
  <dc:subject>PptxGenJS Presentation</dc:subject>
  <dc:creator>Nicolas Cardoso Motta</dc:creator>
  <cp:lastModifiedBy>Nicolas Cardoso Motta</cp:lastModifiedBy>
  <cp:revision>1</cp:revision>
  <dcterms:created xsi:type="dcterms:W3CDTF">2026-09-27T23:25:38Z</dcterms:created>
  <dcterms:modified xsi:type="dcterms:W3CDTF">2026-09-27T23:25:38Z</dcterms:modified>
</cp:coreProperties>
</file>